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4.xml" ContentType="application/vnd.openxmlformats-officedocument.presentationml.slide+xml"/>
  <Override PartName="/ppt/slides/slide15.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4"/>
    <p:sldId id="259" r:id="rId7"/>
    <p:sldId id="272" r:id="rId9"/>
    <p:sldId id="262" r:id="rId10"/>
    <p:sldId id="275" r:id="rId25"/>
    <p:sldId id="260" r:id="rId8"/>
    <p:sldId id="263" r:id="rId11"/>
    <p:sldId id="264" r:id="rId12"/>
    <p:sldId id="265" r:id="rId13"/>
    <p:sldId id="269" r:id="rId14"/>
    <p:sldId id="267" r:id="rId20"/>
    <p:sldId id="268" r:id="rId23"/>
    <p:sldId id="270" r:id="rId24"/>
    <p:sldId id="273" r:id="rId21"/>
    <p:sldId id="276" r:id="rId26"/>
    <p:sldId id="274" r:id="rId22"/>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  <Relationship Id="rId25" Type="http://schemas.openxmlformats.org/officeDocument/2006/relationships/slide" Target="slides/slide19.xml"/>
  <Relationship Id="rId26" Type="http://schemas.openxmlformats.org/officeDocument/2006/relationships/slide" Target="slides/slide20.xml"/>
</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sociii-cover-logo.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sociii-corner.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sociii-corner.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shot-dashboard.png"/><Relationship Id="rId4" Type="http://schemas.openxmlformats.org/officeDocument/2006/relationships/image" Target="../media/shot-marketplace.png"/><Relationship Id="rId5" Type="http://schemas.openxmlformats.org/officeDocument/2006/relationships/image" Target="../media/shot-pc12.png"/><Relationship Id="rId6" Type="http://schemas.openxmlformats.org/officeDocument/2006/relationships/image" Target="../media/sociii-corner.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sociii-corner.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sociii-corner.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sociii-corner.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sociii-corner.png"/></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sociii-corner.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sociii-corner.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ociii-corner.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ociii-corner.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ociii-corner.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ociii-corner.png"/></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ociii-corner.png"/></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ociii-corner.png"/></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ociii-corner.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A1D8C"/>
          </a:solidFill>
          <a:ln/>
        </p:spPr>
        <p:txBody>
          <a:bodyPr/>
          <a:p/>
        </p:txBody>
      </p:sp>
      <p:sp>
        <p:nvSpPr>
          <p:cNvPr id="3" name="Shape 1"/>
          <p:cNvSpPr/>
          <p:nvPr/>
        </p:nvSpPr>
        <p:spPr>
          <a:xfrm>
            <a:off x="164592" y="0"/>
            <a:ext cx="8979408" cy="18288"/>
          </a:xfrm>
          <a:prstGeom prst="rect">
            <a:avLst/>
          </a:prstGeom>
          <a:solidFill>
            <a:srgbClr val="7B3FE4">
              <a:alpha val="12000"/>
            </a:srgbClr>
          </a:solidFill>
          <a:ln/>
        </p:spPr>
        <p:txBody>
          <a:bodyPr/>
          <a:p/>
        </p:txBody>
      </p:sp>
      <p:sp>
        <p:nvSpPr>
          <p:cNvPr id="4" name="Shape 2"/>
          <p:cNvSpPr/>
          <p:nvPr/>
        </p:nvSpPr>
        <p:spPr>
          <a:xfrm>
            <a:off x="164592" y="658368"/>
            <a:ext cx="8979408" cy="18288"/>
          </a:xfrm>
          <a:prstGeom prst="rect">
            <a:avLst/>
          </a:prstGeom>
          <a:solidFill>
            <a:srgbClr val="7B3FE4">
              <a:alpha val="12000"/>
            </a:srgbClr>
          </a:solidFill>
          <a:ln/>
        </p:spPr>
        <p:txBody>
          <a:bodyPr/>
          <a:p/>
        </p:txBody>
      </p:sp>
      <p:sp>
        <p:nvSpPr>
          <p:cNvPr id="5" name="Shape 3"/>
          <p:cNvSpPr/>
          <p:nvPr/>
        </p:nvSpPr>
        <p:spPr>
          <a:xfrm>
            <a:off x="164592" y="1316736"/>
            <a:ext cx="8979408" cy="18288"/>
          </a:xfrm>
          <a:prstGeom prst="rect">
            <a:avLst/>
          </a:prstGeom>
          <a:solidFill>
            <a:srgbClr val="7B3FE4">
              <a:alpha val="12000"/>
            </a:srgbClr>
          </a:solidFill>
          <a:ln/>
        </p:spPr>
        <p:txBody>
          <a:bodyPr/>
          <a:p/>
        </p:txBody>
      </p:sp>
      <p:sp>
        <p:nvSpPr>
          <p:cNvPr id="6" name="Shape 4"/>
          <p:cNvSpPr/>
          <p:nvPr/>
        </p:nvSpPr>
        <p:spPr>
          <a:xfrm>
            <a:off x="164592" y="1975104"/>
            <a:ext cx="8979408" cy="18288"/>
          </a:xfrm>
          <a:prstGeom prst="rect">
            <a:avLst/>
          </a:prstGeom>
          <a:solidFill>
            <a:srgbClr val="7B3FE4">
              <a:alpha val="12000"/>
            </a:srgbClr>
          </a:solidFill>
          <a:ln/>
        </p:spPr>
        <p:txBody>
          <a:bodyPr/>
          <a:p/>
        </p:txBody>
      </p:sp>
      <p:sp>
        <p:nvSpPr>
          <p:cNvPr id="7" name="Shape 5"/>
          <p:cNvSpPr/>
          <p:nvPr/>
        </p:nvSpPr>
        <p:spPr>
          <a:xfrm>
            <a:off x="164592" y="2633472"/>
            <a:ext cx="8979408" cy="18288"/>
          </a:xfrm>
          <a:prstGeom prst="rect">
            <a:avLst/>
          </a:prstGeom>
          <a:solidFill>
            <a:srgbClr val="7B3FE4">
              <a:alpha val="12000"/>
            </a:srgbClr>
          </a:solidFill>
          <a:ln/>
        </p:spPr>
        <p:txBody>
          <a:bodyPr/>
          <a:p/>
        </p:txBody>
      </p:sp>
      <p:sp>
        <p:nvSpPr>
          <p:cNvPr id="8" name="Shape 6"/>
          <p:cNvSpPr/>
          <p:nvPr/>
        </p:nvSpPr>
        <p:spPr>
          <a:xfrm>
            <a:off x="164592" y="3291840"/>
            <a:ext cx="8979408" cy="18288"/>
          </a:xfrm>
          <a:prstGeom prst="rect">
            <a:avLst/>
          </a:prstGeom>
          <a:solidFill>
            <a:srgbClr val="7B3FE4">
              <a:alpha val="12000"/>
            </a:srgbClr>
          </a:solidFill>
          <a:ln/>
        </p:spPr>
        <p:txBody>
          <a:bodyPr/>
          <a:p/>
        </p:txBody>
      </p:sp>
      <p:sp>
        <p:nvSpPr>
          <p:cNvPr id="9" name="Shape 7"/>
          <p:cNvSpPr/>
          <p:nvPr/>
        </p:nvSpPr>
        <p:spPr>
          <a:xfrm>
            <a:off x="164592" y="3950208"/>
            <a:ext cx="8979408" cy="18288"/>
          </a:xfrm>
          <a:prstGeom prst="rect">
            <a:avLst/>
          </a:prstGeom>
          <a:solidFill>
            <a:srgbClr val="7B3FE4">
              <a:alpha val="12000"/>
            </a:srgbClr>
          </a:solidFill>
          <a:ln/>
        </p:spPr>
        <p:txBody>
          <a:bodyPr/>
          <a:p/>
        </p:txBody>
      </p:sp>
      <p:sp>
        <p:nvSpPr>
          <p:cNvPr id="10" name="Shape 8"/>
          <p:cNvSpPr/>
          <p:nvPr/>
        </p:nvSpPr>
        <p:spPr>
          <a:xfrm>
            <a:off x="164592" y="4608576"/>
            <a:ext cx="8979408" cy="18288"/>
          </a:xfrm>
          <a:prstGeom prst="rect">
            <a:avLst/>
          </a:prstGeom>
          <a:solidFill>
            <a:srgbClr val="7B3FE4">
              <a:alpha val="12000"/>
            </a:srgbClr>
          </a:solidFill>
          <a:ln/>
        </p:spPr>
        <p:txBody>
          <a:bodyPr/>
          <a:p/>
        </p:txBody>
      </p:sp>
      <p:sp>
        <p:nvSpPr>
          <p:cNvPr id="12" name="Text 10"/>
          <p:cNvSpPr/>
          <p:nvPr/>
        </p:nvSpPr>
        <p:spPr>
          <a:xfrm>
            <a:off x="411480" y="822960"/>
            <a:ext cx="6858000" cy="1920240"/>
          </a:xfrm>
          <a:prstGeom prst="rect">
            <a:avLst/>
          </a:prstGeom>
          <a:noFill/>
          <a:ln/>
        </p:spPr>
        <p:txBody>
          <a:bodyPr wrap="square" rtlCol="0" anchor="ctr"/>
          <a:lstStyle/>
          <a:p>
            <a:pPr indent="0" marL="0">
              <a:lnSpc>
                <a:spcPct val="108000"/>
              </a:lnSpc>
              <a:buNone/>
            </a:pPr>
            <a:r>
              <a:rPr lang="en-US" sz="5400" b="1" dirty="0">
                <a:solidFill>
                  <a:srgbClr val="FFFFFF"/>
                </a:solidFill>
                <a:latin typeface="Calibri" pitchFamily="34" charset="0"/>
                <a:ea typeface="Calibri" pitchFamily="34" charset="-122"/>
                <a:cs typeface="Calibri" pitchFamily="34" charset="-120"/>
              </a:rPr>
              <a:t>Digital Workers,</a:t>
            </a:r>
            <a:endParaRPr lang="en-US" sz="5400" dirty="0"/>
          </a:p>
          <a:p>
            <a:pPr indent="0" marL="0">
              <a:lnSpc>
                <a:spcPct val="108000"/>
              </a:lnSpc>
              <a:buNone/>
            </a:pPr>
            <a:r>
              <a:rPr lang="en-US" sz="5400" b="1" dirty="0">
                <a:solidFill>
                  <a:srgbClr val="FFFFFF"/>
                </a:solidFill>
                <a:latin typeface="Calibri" pitchFamily="34" charset="0"/>
                <a:ea typeface="Calibri" pitchFamily="34" charset="-122"/>
                <a:cs typeface="Calibri" pitchFamily="34" charset="-120"/>
              </a:rPr>
              <a:t>governed by design.</a:t>
            </a:r>
            <a:endParaRPr lang="en-US" sz="5400" dirty="0"/>
          </a:p>
        </p:txBody>
      </p:sp>
      <p:sp>
        <p:nvSpPr>
          <p:cNvPr id="13" name="Text 11"/>
          <p:cNvSpPr/>
          <p:nvPr/>
        </p:nvSpPr>
        <p:spPr>
          <a:xfrm>
            <a:off x="411480" y="2743200"/>
            <a:ext cx="5486400" cy="384048"/>
          </a:xfrm>
          <a:prstGeom prst="rect">
            <a:avLst/>
          </a:prstGeom>
          <a:noFill/>
          <a:ln/>
        </p:spPr>
        <p:txBody>
          <a:bodyPr wrap="square" rtlCol="0" anchor="ctr"/>
          <a:lstStyle/>
          <a:p>
            <a:pPr indent="0" marL="0">
              <a:buNone/>
            </a:pPr>
            <a:r>
              <a:rPr lang="en-US" sz="1600" i="1" dirty="0">
                <a:solidFill>
                  <a:srgbClr val="10B981"/>
                </a:solidFill>
                <a:latin typeface="Calibri" pitchFamily="34" charset="0"/>
                <a:ea typeface="Calibri" pitchFamily="34" charset="-122"/>
                <a:cs typeface="Calibri" pitchFamily="34" charset="-120"/>
              </a:rPr>
              <a:t>Investor Memorandum</a:t>
            </a:r>
            <a:endParaRPr lang="en-US" sz="1600" dirty="0"/>
          </a:p>
        </p:txBody>
      </p:sp>
      <p:sp>
        <p:nvSpPr>
          <p:cNvPr id="14" name="Text 12"/>
          <p:cNvSpPr/>
          <p:nvPr/>
        </p:nvSpPr>
        <p:spPr>
          <a:xfrm>
            <a:off x="411480" y="3182112"/>
            <a:ext cx="6858000" cy="320040"/>
          </a:xfrm>
          <a:prstGeom prst="rect">
            <a:avLst/>
          </a:prstGeom>
          <a:noFill/>
          <a:ln/>
        </p:spPr>
        <p:txBody>
          <a:bodyPr wrap="square" rtlCol="0" anchor="ctr"/>
          <a:lstStyle/>
          <a:p>
            <a:pPr indent="0" marL="0">
              <a:buNone/>
            </a:pPr>
            <a:r>
              <a:rPr lang="en-US" sz="1200" dirty="0">
                <a:solidFill>
                  <a:srgbClr val="8892A4"/>
                </a:solidFill>
                <a:latin typeface="Calibri" pitchFamily="34" charset="0"/>
                <a:ea typeface="Calibri" pitchFamily="34" charset="-122"/>
                <a:cs typeface="Calibri" pitchFamily="34" charset="-120"/>
              </a:rPr>
              <a:t>Where SOCIII actually stands today — corrected and source-verified.</a:t>
            </a:r>
            <a:endParaRPr lang="en-US" sz="1200" dirty="0"/>
          </a:p>
        </p:txBody>
      </p:sp>
      <p:sp>
        <p:nvSpPr>
          <p:cNvPr id="15" name="Shape 13"/>
          <p:cNvSpPr/>
          <p:nvPr/>
        </p:nvSpPr>
        <p:spPr>
          <a:xfrm>
            <a:off x="411480" y="3913632"/>
            <a:ext cx="1993392" cy="896112"/>
          </a:xfrm>
          <a:prstGeom prst="rect">
            <a:avLst/>
          </a:prstGeom>
          <a:solidFill>
            <a:srgbClr val="4A1D8C">
              <a:alpha val="25000"/>
            </a:srgbClr>
          </a:solidFill>
          <a:ln w="12700">
            <a:solidFill>
              <a:srgbClr val="7B3FE4">
                <a:alpha val="40000"/>
              </a:srgbClr>
            </a:solidFill>
            <a:prstDash val="solid"/>
          </a:ln>
        </p:spPr>
        <p:txBody>
          <a:bodyPr/>
          <a:p/>
        </p:txBody>
      </p:sp>
      <p:sp>
        <p:nvSpPr>
          <p:cNvPr id="16" name="Text 14"/>
          <p:cNvSpPr/>
          <p:nvPr/>
        </p:nvSpPr>
        <p:spPr>
          <a:xfrm>
            <a:off x="411480" y="3895344"/>
            <a:ext cx="1993392" cy="502920"/>
          </a:xfrm>
          <a:prstGeom prst="rect">
            <a:avLst/>
          </a:prstGeom>
          <a:noFill/>
          <a:ln/>
        </p:spPr>
        <p:txBody>
          <a:bodyPr wrap="square" rtlCol="0" anchor="ctr"/>
          <a:lstStyle/>
          <a:p>
            <a:pPr algn="ctr" indent="0" marL="0">
              <a:buNone/>
            </a:pPr>
            <a:r>
              <a:rPr lang="en-US" sz="2600" b="1" dirty="0">
                <a:solidFill>
                  <a:srgbClr val="10B981"/>
                </a:solidFill>
                <a:latin typeface="Calibri" pitchFamily="34" charset="0"/>
                <a:ea typeface="Calibri" pitchFamily="34" charset="-122"/>
                <a:cs typeface="Calibri" pitchFamily="34" charset="-120"/>
              </a:rPr>
              <a:t>RAAS</a:t>
            </a:r>
            <a:endParaRPr lang="en-US" sz="2600" dirty="0"/>
          </a:p>
        </p:txBody>
      </p:sp>
      <p:sp>
        <p:nvSpPr>
          <p:cNvPr id="17" name="Text 15"/>
          <p:cNvSpPr/>
          <p:nvPr/>
        </p:nvSpPr>
        <p:spPr>
          <a:xfrm>
            <a:off x="411480" y="4370832"/>
            <a:ext cx="1993392" cy="292608"/>
          </a:xfrm>
          <a:prstGeom prst="rect">
            <a:avLst/>
          </a:prstGeom>
          <a:noFill/>
          <a:ln/>
        </p:spPr>
        <p:txBody>
          <a:bodyPr wrap="square" rtlCol="0" anchor="ctr"/>
          <a:lstStyle/>
          <a:p>
            <a:pPr algn="ctr" indent="0" marL="0">
              <a:buNone/>
            </a:pPr>
            <a:r>
              <a:rPr lang="en-US" sz="1000" dirty="0">
                <a:solidFill>
                  <a:srgbClr val="8892A4"/>
                </a:solidFill>
                <a:latin typeface="Calibri" pitchFamily="34" charset="0"/>
                <a:ea typeface="Calibri" pitchFamily="34" charset="-122"/>
                <a:cs typeface="Calibri" pitchFamily="34" charset="-120"/>
              </a:rPr>
              <a:t>The moat generic AI can’t copy</a:t>
            </a:r>
            <a:endParaRPr lang="en-US" sz="1000" dirty="0"/>
          </a:p>
        </p:txBody>
      </p:sp>
      <p:sp>
        <p:nvSpPr>
          <p:cNvPr id="18" name="Shape 16"/>
          <p:cNvSpPr/>
          <p:nvPr/>
        </p:nvSpPr>
        <p:spPr>
          <a:xfrm>
            <a:off x="2587752" y="3913632"/>
            <a:ext cx="1993392" cy="896112"/>
          </a:xfrm>
          <a:prstGeom prst="rect">
            <a:avLst/>
          </a:prstGeom>
          <a:solidFill>
            <a:srgbClr val="4A1D8C">
              <a:alpha val="25000"/>
            </a:srgbClr>
          </a:solidFill>
          <a:ln w="12700">
            <a:solidFill>
              <a:srgbClr val="7B3FE4">
                <a:alpha val="40000"/>
              </a:srgbClr>
            </a:solidFill>
            <a:prstDash val="solid"/>
          </a:ln>
        </p:spPr>
        <p:txBody>
          <a:bodyPr/>
          <a:p/>
        </p:txBody>
      </p:sp>
      <p:sp>
        <p:nvSpPr>
          <p:cNvPr id="19" name="Text 17"/>
          <p:cNvSpPr/>
          <p:nvPr/>
        </p:nvSpPr>
        <p:spPr>
          <a:xfrm>
            <a:off x="2587752" y="3895344"/>
            <a:ext cx="1993392" cy="502920"/>
          </a:xfrm>
          <a:prstGeom prst="rect">
            <a:avLst/>
          </a:prstGeom>
          <a:noFill/>
          <a:ln/>
        </p:spPr>
        <p:txBody>
          <a:bodyPr wrap="square" rtlCol="0" anchor="ctr"/>
          <a:lstStyle/>
          <a:p>
            <a:pPr algn="ctr" indent="0" marL="0">
              <a:buNone/>
            </a:pPr>
            <a:r>
              <a:rPr lang="en-US" sz="2600" b="1" dirty="0">
                <a:solidFill>
                  <a:srgbClr val="10B981"/>
                </a:solidFill>
                <a:latin typeface="Calibri" pitchFamily="34" charset="0"/>
                <a:ea typeface="Calibri" pitchFamily="34" charset="-122"/>
                <a:cs typeface="Calibri" pitchFamily="34" charset="-120"/>
              </a:rPr>
              <a:t>4 Verticals</a:t>
            </a:r>
            <a:endParaRPr lang="en-US" sz="2600" dirty="0"/>
          </a:p>
        </p:txBody>
      </p:sp>
      <p:sp>
        <p:nvSpPr>
          <p:cNvPr id="20" name="Text 18"/>
          <p:cNvSpPr/>
          <p:nvPr/>
        </p:nvSpPr>
        <p:spPr>
          <a:xfrm>
            <a:off x="2587752" y="4370832"/>
            <a:ext cx="1993392" cy="292608"/>
          </a:xfrm>
          <a:prstGeom prst="rect">
            <a:avLst/>
          </a:prstGeom>
          <a:noFill/>
          <a:ln/>
        </p:spPr>
        <p:txBody>
          <a:bodyPr wrap="square" rtlCol="0" anchor="ctr"/>
          <a:lstStyle/>
          <a:p>
            <a:pPr algn="ctr" indent="0" marL="0">
              <a:buNone/>
            </a:pPr>
            <a:r>
              <a:rPr lang="en-US" sz="1000" dirty="0">
                <a:solidFill>
                  <a:srgbClr val="8892A4"/>
                </a:solidFill>
                <a:latin typeface="Calibri" pitchFamily="34" charset="0"/>
                <a:ea typeface="Calibri" pitchFamily="34" charset="-122"/>
                <a:cs typeface="Calibri" pitchFamily="34" charset="-120"/>
              </a:rPr>
              <a:t>Real product, demo-verified</a:t>
            </a:r>
            <a:endParaRPr lang="en-US" sz="1000" dirty="0"/>
          </a:p>
        </p:txBody>
      </p:sp>
      <p:sp>
        <p:nvSpPr>
          <p:cNvPr id="21" name="Shape 19"/>
          <p:cNvSpPr/>
          <p:nvPr/>
        </p:nvSpPr>
        <p:spPr>
          <a:xfrm>
            <a:off x="4764024" y="3913632"/>
            <a:ext cx="1993392" cy="896112"/>
          </a:xfrm>
          <a:prstGeom prst="rect">
            <a:avLst/>
          </a:prstGeom>
          <a:solidFill>
            <a:srgbClr val="4A1D8C">
              <a:alpha val="25000"/>
            </a:srgbClr>
          </a:solidFill>
          <a:ln w="12700">
            <a:solidFill>
              <a:srgbClr val="7B3FE4">
                <a:alpha val="40000"/>
              </a:srgbClr>
            </a:solidFill>
            <a:prstDash val="solid"/>
          </a:ln>
        </p:spPr>
        <p:txBody>
          <a:bodyPr/>
          <a:p/>
        </p:txBody>
      </p:sp>
      <p:sp>
        <p:nvSpPr>
          <p:cNvPr id="22" name="Text 20"/>
          <p:cNvSpPr/>
          <p:nvPr/>
        </p:nvSpPr>
        <p:spPr>
          <a:xfrm>
            <a:off x="4764024" y="3895344"/>
            <a:ext cx="1993392" cy="502920"/>
          </a:xfrm>
          <a:prstGeom prst="rect">
            <a:avLst/>
          </a:prstGeom>
          <a:noFill/>
          <a:ln/>
        </p:spPr>
        <p:txBody>
          <a:bodyPr wrap="square" rtlCol="0" anchor="ctr"/>
          <a:lstStyle/>
          <a:p>
            <a:pPr algn="ctr" indent="0" marL="0">
              <a:buNone/>
            </a:pPr>
            <a:r>
              <a:rPr lang="en-US" sz="1800" b="1" dirty="0">
                <a:solidFill>
                  <a:srgbClr val="10B981"/>
                </a:solidFill>
                <a:latin typeface="Calibri" pitchFamily="34" charset="0"/>
                <a:ea typeface="Calibri" pitchFamily="34" charset="-122"/>
                <a:cs typeface="Calibri" pitchFamily="34" charset="-120"/>
              </a:rPr>
              <a:t>24 Industries</a:t>
            </a:r>
            <a:endParaRPr lang="en-US" sz="2600" dirty="0"/>
          </a:p>
        </p:txBody>
      </p:sp>
      <p:sp>
        <p:nvSpPr>
          <p:cNvPr id="23" name="Text 21"/>
          <p:cNvSpPr/>
          <p:nvPr/>
        </p:nvSpPr>
        <p:spPr>
          <a:xfrm>
            <a:off x="4764024" y="4370832"/>
            <a:ext cx="1993392" cy="292608"/>
          </a:xfrm>
          <a:prstGeom prst="rect">
            <a:avLst/>
          </a:prstGeom>
          <a:noFill/>
          <a:ln/>
        </p:spPr>
        <p:txBody>
          <a:bodyPr wrap="square" rtlCol="0" anchor="ctr"/>
          <a:lstStyle/>
          <a:p>
            <a:pPr algn="ctr" indent="0" marL="0">
              <a:buNone/>
            </a:pPr>
            <a:r>
              <a:rPr lang="en-US" sz="1000" dirty="0">
                <a:solidFill>
                  <a:srgbClr val="8892A4"/>
                </a:solidFill>
                <a:latin typeface="Calibri" pitchFamily="34" charset="0"/>
                <a:ea typeface="Calibri" pitchFamily="34" charset="-122"/>
                <a:cs typeface="Calibri" pitchFamily="34" charset="-120"/>
              </a:rPr>
              <a:t>Not a single-vertical bet</a:t>
            </a:r>
            <a:endParaRPr lang="en-US" sz="1000" dirty="0"/>
          </a:p>
        </p:txBody>
      </p:sp>
      <p:sp>
        <p:nvSpPr>
          <p:cNvPr id="24" name="Shape 22"/>
          <p:cNvSpPr/>
          <p:nvPr/>
        </p:nvSpPr>
        <p:spPr>
          <a:xfrm>
            <a:off x="6940296" y="3913632"/>
            <a:ext cx="1993392" cy="896112"/>
          </a:xfrm>
          <a:prstGeom prst="rect">
            <a:avLst/>
          </a:prstGeom>
          <a:solidFill>
            <a:srgbClr val="4A1D8C">
              <a:alpha val="25000"/>
            </a:srgbClr>
          </a:solidFill>
          <a:ln w="12700">
            <a:solidFill>
              <a:srgbClr val="7B3FE4">
                <a:alpha val="40000"/>
              </a:srgbClr>
            </a:solidFill>
            <a:prstDash val="solid"/>
          </a:ln>
        </p:spPr>
        <p:txBody>
          <a:bodyPr/>
          <a:p/>
        </p:txBody>
      </p:sp>
      <p:sp>
        <p:nvSpPr>
          <p:cNvPr id="25" name="Text 23"/>
          <p:cNvSpPr/>
          <p:nvPr/>
        </p:nvSpPr>
        <p:spPr>
          <a:xfrm>
            <a:off x="6940296" y="3895344"/>
            <a:ext cx="1993392" cy="502920"/>
          </a:xfrm>
          <a:prstGeom prst="rect">
            <a:avLst/>
          </a:prstGeom>
          <a:noFill/>
          <a:ln/>
        </p:spPr>
        <p:txBody>
          <a:bodyPr wrap="square" rtlCol="0" anchor="ctr"/>
          <a:lstStyle/>
          <a:p>
            <a:pPr algn="ctr" indent="0" marL="0">
              <a:buNone/>
            </a:pPr>
            <a:r>
              <a:rPr lang="en-US" sz="2600" b="1" dirty="0">
                <a:solidFill>
                  <a:srgbClr val="10B981"/>
                </a:solidFill>
                <a:latin typeface="Calibri" pitchFamily="34" charset="0"/>
                <a:ea typeface="Calibri" pitchFamily="34" charset="-122"/>
                <a:cs typeface="Calibri" pitchFamily="34" charset="-120"/>
              </a:rPr>
              <a:t>Open-SDK</a:t>
            </a:r>
            <a:endParaRPr lang="en-US" sz="2600" dirty="0"/>
          </a:p>
        </p:txBody>
      </p:sp>
      <p:sp>
        <p:nvSpPr>
          <p:cNvPr id="26" name="Text 24"/>
          <p:cNvSpPr/>
          <p:nvPr/>
        </p:nvSpPr>
        <p:spPr>
          <a:xfrm>
            <a:off x="6940296" y="4370832"/>
            <a:ext cx="1993392" cy="292608"/>
          </a:xfrm>
          <a:prstGeom prst="rect">
            <a:avLst/>
          </a:prstGeom>
          <a:noFill/>
          <a:ln/>
        </p:spPr>
        <p:txBody>
          <a:bodyPr wrap="square" rtlCol="0" anchor="ctr"/>
          <a:lstStyle/>
          <a:p>
            <a:pPr algn="ctr" indent="0" marL="0">
              <a:buNone/>
            </a:pPr>
            <a:r>
              <a:rPr lang="en-US" sz="1000" dirty="0">
                <a:solidFill>
                  <a:srgbClr val="8892A4"/>
                </a:solidFill>
                <a:latin typeface="Calibri" pitchFamily="34" charset="0"/>
                <a:ea typeface="Calibri" pitchFamily="34" charset="-122"/>
                <a:cs typeface="Calibri" pitchFamily="34" charset="-120"/>
              </a:rPr>
              <a:t>The catalog grows itself</a:t>
            </a:r>
            <a:endParaRPr lang="en-US" sz="1000" dirty="0"/>
          </a:p>
        </p:txBody>
      </p:sp>
      <p:pic>
        <p:nvPicPr>
          <p:cNvPr id="901" name="CoverLogo"/>
          <p:cNvPicPr>
            <a:picLocks noChangeAspect="1"/>
          </p:cNvPicPr>
          <p:nvPr/>
        </p:nvPicPr>
        <p:blipFill>
          <a:blip r:embed="rId3"/>
          <a:stretch>
            <a:fillRect/>
          </a:stretch>
        </p:blipFill>
        <p:spPr>
          <a:xfrm>
            <a:off x="7632520" y="380000"/>
            <a:ext cx="1100000" cy="568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sociii.ai  ·  CONFIDENTIAL  ·  SOCIII Inc. (Delaware C-Corp)  ·  Sep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sp>
      <p:sp>
        <p:nvSpPr>
          <p:cNvPr id="3" name="Text 1"/>
          <p:cNvSpPr/>
          <p:nvPr/>
        </p:nvSpPr>
        <p:spPr>
          <a:xfrm>
            <a:off x="320040" y="292608"/>
            <a:ext cx="3657600" cy="256032"/>
          </a:xfrm>
          <a:prstGeom prst="rect">
            <a:avLst/>
          </a:prstGeom>
          <a:noFill/>
          <a:ln/>
        </p:spPr>
        <p:txBody>
          <a:bodyPr wrap="square" rtlCol="0" anchor="ctr"/>
          <a:lstStyle/>
          <a:p>
            <a:pPr indent="0" marL="0">
              <a:buNone/>
            </a:pPr>
            <a:r>
              <a:rPr lang="en-US" sz="1100" b="1" spc="300" kern="0" dirty="0">
                <a:solidFill>
                  <a:srgbClr val="7B3FE4"/>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320040" y="530352"/>
            <a:ext cx="8412480" cy="1188720"/>
          </a:xfrm>
          <a:prstGeom prst="rect">
            <a:avLst/>
          </a:prstGeom>
          <a:noFill/>
          <a:ln/>
        </p:spPr>
        <p:txBody>
          <a:bodyPr wrap="square" rtlCol="0" anchor="ctr"/>
          <a:lstStyle/>
          <a:p>
            <a:pPr indent="0" marL="0">
              <a:lnSpc>
                <a:spcPct val="110000"/>
              </a:lnSpc>
              <a:buNone/>
            </a:pPr>
            <a:r>
              <a:rPr lang="en-US" sz="3600" b="1" dirty="0">
                <a:solidFill>
                  <a:srgbClr val="FFFFFF"/>
                </a:solidFill>
                <a:latin typeface="Calibri" pitchFamily="34" charset="0"/>
                <a:ea typeface="Calibri" pitchFamily="34" charset="-122"/>
                <a:cs typeface="Calibri" pitchFamily="34" charset="-120"/>
              </a:rPr>
              <a:t>Regulated Industries</a:t>
            </a:r>
            <a:endParaRPr lang="en-US" sz="3600" dirty="0"/>
          </a:p>
          <a:p>
            <a:pPr indent="0" marL="0">
              <a:lnSpc>
                <a:spcPct val="110000"/>
              </a:lnSpc>
              <a:buNone/>
            </a:pPr>
            <a:r>
              <a:rPr lang="en-US" sz="3600" b="1" dirty="0">
                <a:solidFill>
                  <a:srgbClr val="FFFFFF"/>
                </a:solidFill>
                <a:latin typeface="Calibri" pitchFamily="34" charset="0"/>
                <a:ea typeface="Calibri" pitchFamily="34" charset="-122"/>
                <a:cs typeface="Calibri" pitchFamily="34" charset="-120"/>
              </a:rPr>
              <a:t>Are Underserved by AI.</a:t>
            </a:r>
            <a:endParaRPr lang="en-US" sz="3600" dirty="0"/>
          </a:p>
        </p:txBody>
      </p:sp>
      <p:sp>
        <p:nvSpPr>
          <p:cNvPr id="5" name="Shape 3"/>
          <p:cNvSpPr/>
          <p:nvPr/>
        </p:nvSpPr>
        <p:spPr>
          <a:xfrm>
            <a:off x="320040" y="1993392"/>
            <a:ext cx="2743200" cy="2852928"/>
          </a:xfrm>
          <a:prstGeom prst="rect">
            <a:avLst/>
          </a:prstGeom>
          <a:solidFill>
            <a:srgbClr val="1E3A6E">
              <a:alpha val="70000"/>
            </a:srgbClr>
          </a:solidFill>
          <a:ln w="12700">
            <a:solidFill>
              <a:srgbClr val="2D6BE4">
                <a:alpha val="30000"/>
              </a:srgbClr>
            </a:solidFill>
            <a:prstDash val="solid"/>
          </a:ln>
        </p:spPr>
      </p:sp>
      <p:sp>
        <p:nvSpPr>
          <p:cNvPr id="6" name="Text 4"/>
          <p:cNvSpPr/>
          <p:nvPr/>
        </p:nvSpPr>
        <p:spPr>
          <a:xfrm>
            <a:off x="502920" y="2103120"/>
            <a:ext cx="457200" cy="411480"/>
          </a:xfrm>
          <a:prstGeom prst="rect">
            <a:avLst/>
          </a:prstGeom>
          <a:noFill/>
          <a:ln/>
        </p:spPr>
        <p:txBody>
          <a:bodyPr wrap="square" rtlCol="0" anchor="ctr"/>
          <a:lstStyle/>
          <a:p>
            <a:pPr indent="0" marL="0">
              <a:buNone/>
            </a:pPr>
            <a:r>
              <a:rPr lang="en-US" sz="2200" b="1" dirty="0">
                <a:solidFill>
                  <a:srgbClr val="10B981"/>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457200" y="2578608"/>
            <a:ext cx="2468880" cy="566928"/>
          </a:xfrm>
          <a:prstGeom prst="rect">
            <a:avLst/>
          </a:prstGeom>
          <a:noFill/>
          <a:ln/>
        </p:spPr>
        <p:txBody>
          <a:bodyPr wrap="square"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Generic AI fails compliance</a:t>
            </a:r>
            <a:endParaRPr lang="en-US" sz="1300" dirty="0"/>
          </a:p>
        </p:txBody>
      </p:sp>
      <p:sp>
        <p:nvSpPr>
          <p:cNvPr id="8" name="Text 6"/>
          <p:cNvSpPr/>
          <p:nvPr/>
        </p:nvSpPr>
        <p:spPr>
          <a:xfrm>
            <a:off x="457200" y="3200400"/>
            <a:ext cx="2468880" cy="1536192"/>
          </a:xfrm>
          <a:prstGeom prst="rect">
            <a:avLst/>
          </a:prstGeom>
          <a:noFill/>
          <a:ln/>
        </p:spPr>
        <p:txBody>
          <a:bodyPr wrap="square" rtlCol="0" anchor="ctr"/>
          <a:lstStyle/>
          <a:p>
            <a:pPr indent="0" marL="0">
              <a:lnSpc>
                <a:spcPct val="135000"/>
              </a:lnSpc>
              <a:buNone/>
            </a:pPr>
            <a:r>
              <a:rPr lang="en-US" sz="1100" dirty="0">
                <a:solidFill>
                  <a:srgbClr val="AABBDD"/>
                </a:solidFill>
                <a:latin typeface="Calibri" pitchFamily="34" charset="0"/>
                <a:ea typeface="Calibri" pitchFamily="34" charset="-122"/>
                <a:cs typeface="Calibri" pitchFamily="34" charset="-120"/>
              </a:rPr>
              <a:t>ChatGPT gives confident answers that violate FAA regulations. A pilot gets wrong approach minima. A nurse gets a dosing error. No one is liable. Everyone is exposed.</a:t>
            </a:r>
            <a:endParaRPr lang="en-US" sz="1100" dirty="0"/>
          </a:p>
        </p:txBody>
      </p:sp>
      <p:sp>
        <p:nvSpPr>
          <p:cNvPr id="9" name="Shape 7"/>
          <p:cNvSpPr/>
          <p:nvPr/>
        </p:nvSpPr>
        <p:spPr>
          <a:xfrm>
            <a:off x="3264408" y="1993392"/>
            <a:ext cx="2743200" cy="2852928"/>
          </a:xfrm>
          <a:prstGeom prst="rect">
            <a:avLst/>
          </a:prstGeom>
          <a:solidFill>
            <a:srgbClr val="1E3A6E">
              <a:alpha val="70000"/>
            </a:srgbClr>
          </a:solidFill>
          <a:ln w="12700">
            <a:solidFill>
              <a:srgbClr val="2D6BE4">
                <a:alpha val="30000"/>
              </a:srgbClr>
            </a:solidFill>
            <a:prstDash val="solid"/>
          </a:ln>
        </p:spPr>
      </p:sp>
      <p:sp>
        <p:nvSpPr>
          <p:cNvPr id="10" name="Text 8"/>
          <p:cNvSpPr/>
          <p:nvPr/>
        </p:nvSpPr>
        <p:spPr>
          <a:xfrm>
            <a:off x="3447288" y="2103120"/>
            <a:ext cx="457200" cy="411480"/>
          </a:xfrm>
          <a:prstGeom prst="rect">
            <a:avLst/>
          </a:prstGeom>
          <a:noFill/>
          <a:ln/>
        </p:spPr>
        <p:txBody>
          <a:bodyPr wrap="square" rtlCol="0" anchor="ctr"/>
          <a:lstStyle/>
          <a:p>
            <a:pPr indent="0" marL="0">
              <a:buNone/>
            </a:pPr>
            <a:r>
              <a:rPr lang="en-US" sz="2200" b="1" dirty="0">
                <a:solidFill>
                  <a:srgbClr val="10B981"/>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3401568" y="2578608"/>
            <a:ext cx="2468880" cy="566928"/>
          </a:xfrm>
          <a:prstGeom prst="rect">
            <a:avLst/>
          </a:prstGeom>
          <a:noFill/>
          <a:ln/>
        </p:spPr>
        <p:txBody>
          <a:bodyPr wrap="square"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Professionals can't build</a:t>
            </a:r>
            <a:endParaRPr lang="en-US" sz="1300" dirty="0"/>
          </a:p>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their own tools</a:t>
            </a:r>
            <a:endParaRPr lang="en-US" sz="1300" dirty="0"/>
          </a:p>
        </p:txBody>
      </p:sp>
      <p:sp>
        <p:nvSpPr>
          <p:cNvPr id="12" name="Text 10"/>
          <p:cNvSpPr/>
          <p:nvPr/>
        </p:nvSpPr>
        <p:spPr>
          <a:xfrm>
            <a:off x="3401568" y="3200400"/>
            <a:ext cx="2468880" cy="1536192"/>
          </a:xfrm>
          <a:prstGeom prst="rect">
            <a:avLst/>
          </a:prstGeom>
          <a:noFill/>
          <a:ln/>
        </p:spPr>
        <p:txBody>
          <a:bodyPr wrap="square" rtlCol="0" anchor="ctr"/>
          <a:lstStyle/>
          <a:p>
            <a:pPr indent="0" marL="0">
              <a:lnSpc>
                <a:spcPct val="135000"/>
              </a:lnSpc>
              <a:buNone/>
            </a:pPr>
            <a:r>
              <a:rPr lang="en-US" sz="1100" dirty="0">
                <a:solidFill>
                  <a:srgbClr val="AABBDD"/>
                </a:solidFill>
                <a:latin typeface="Calibri" pitchFamily="34" charset="0"/>
                <a:ea typeface="Calibri" pitchFamily="34" charset="-122"/>
                <a:cs typeface="Calibri" pitchFamily="34" charset="-120"/>
              </a:rPr>
              <a:t>A flight nurse with 20 years of expertise has no way to encode her knowledge into something her community can use. That expertise disappears when she retires.</a:t>
            </a:r>
            <a:endParaRPr lang="en-US" sz="1100" dirty="0"/>
          </a:p>
        </p:txBody>
      </p:sp>
      <p:sp>
        <p:nvSpPr>
          <p:cNvPr id="13" name="Shape 11"/>
          <p:cNvSpPr/>
          <p:nvPr/>
        </p:nvSpPr>
        <p:spPr>
          <a:xfrm>
            <a:off x="6208776" y="1993392"/>
            <a:ext cx="2743200" cy="2852928"/>
          </a:xfrm>
          <a:prstGeom prst="rect">
            <a:avLst/>
          </a:prstGeom>
          <a:solidFill>
            <a:srgbClr val="1E3A6E">
              <a:alpha val="70000"/>
            </a:srgbClr>
          </a:solidFill>
          <a:ln w="12700">
            <a:solidFill>
              <a:srgbClr val="2D6BE4">
                <a:alpha val="30000"/>
              </a:srgbClr>
            </a:solidFill>
            <a:prstDash val="solid"/>
          </a:ln>
        </p:spPr>
      </p:sp>
      <p:sp>
        <p:nvSpPr>
          <p:cNvPr id="14" name="Text 12"/>
          <p:cNvSpPr/>
          <p:nvPr/>
        </p:nvSpPr>
        <p:spPr>
          <a:xfrm>
            <a:off x="6391656" y="2103120"/>
            <a:ext cx="457200" cy="411480"/>
          </a:xfrm>
          <a:prstGeom prst="rect">
            <a:avLst/>
          </a:prstGeom>
          <a:noFill/>
          <a:ln/>
        </p:spPr>
        <p:txBody>
          <a:bodyPr wrap="square" rtlCol="0" anchor="ctr"/>
          <a:lstStyle/>
          <a:p>
            <a:pPr indent="0" marL="0">
              <a:buNone/>
            </a:pPr>
            <a:r>
              <a:rPr lang="en-US" sz="2200" b="1" dirty="0">
                <a:solidFill>
                  <a:srgbClr val="10B981"/>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6345936" y="2578608"/>
            <a:ext cx="2468880" cy="566928"/>
          </a:xfrm>
          <a:prstGeom prst="rect">
            <a:avLst/>
          </a:prstGeom>
          <a:noFill/>
          <a:ln/>
        </p:spPr>
        <p:txBody>
          <a:bodyPr wrap="square"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Compliance is disconnected</a:t>
            </a:r>
            <a:endParaRPr lang="en-US" sz="1300" dirty="0"/>
          </a:p>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from AI</a:t>
            </a:r>
            <a:endParaRPr lang="en-US" sz="1300" dirty="0"/>
          </a:p>
        </p:txBody>
      </p:sp>
      <p:sp>
        <p:nvSpPr>
          <p:cNvPr id="16" name="Text 14"/>
          <p:cNvSpPr/>
          <p:nvPr/>
        </p:nvSpPr>
        <p:spPr>
          <a:xfrm>
            <a:off x="6345936" y="3200400"/>
            <a:ext cx="2468880" cy="1536192"/>
          </a:xfrm>
          <a:prstGeom prst="rect">
            <a:avLst/>
          </a:prstGeom>
          <a:noFill/>
          <a:ln/>
        </p:spPr>
        <p:txBody>
          <a:bodyPr wrap="square" rtlCol="0" anchor="ctr"/>
          <a:lstStyle/>
          <a:p>
            <a:pPr indent="0" marL="0">
              <a:lnSpc>
                <a:spcPct val="135000"/>
              </a:lnSpc>
              <a:buNone/>
            </a:pPr>
            <a:r>
              <a:rPr lang="en-US" sz="1100" dirty="0">
                <a:solidFill>
                  <a:srgbClr val="AABBDD"/>
                </a:solidFill>
                <a:latin typeface="Calibri" pitchFamily="34" charset="0"/>
                <a:ea typeface="Calibri" pitchFamily="34" charset="-122"/>
                <a:cs typeface="Calibri" pitchFamily="34" charset="-120"/>
              </a:rPr>
              <a:t>FAA Part 135/91, state nursing boards, county-recording statutes, the EU Battery Regulation — real rules, not AI hype. No platform structurally enforces them. We enforce rules.</a:t>
            </a:r>
            <a:endParaRPr lang="en-US" sz="110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sociii.ai  ·  CONFIDENTIAL  ·  SOCIII Inc. (Delaware C-Corp)  ·  Sep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sp>
      <p:sp>
        <p:nvSpPr>
          <p:cNvPr id="3" name="Text 1"/>
          <p:cNvSpPr/>
          <p:nvPr/>
        </p:nvSpPr>
        <p:spPr>
          <a:xfrm>
            <a:off x="320040" y="292608"/>
            <a:ext cx="3657600" cy="256032"/>
          </a:xfrm>
          <a:prstGeom prst="rect">
            <a:avLst/>
          </a:prstGeom>
          <a:noFill/>
          <a:ln/>
        </p:spPr>
        <p:txBody>
          <a:bodyPr wrap="square" rtlCol="0" anchor="ctr"/>
          <a:lstStyle/>
          <a:p>
            <a:pPr indent="0" marL="0">
              <a:buNone/>
            </a:pPr>
            <a:r>
              <a:rPr lang="en-US" sz="1100" b="1" spc="300" kern="0" dirty="0">
                <a:solidFill>
                  <a:srgbClr val="4A1D8C"/>
                </a:solidFill>
                <a:latin typeface="Calibri" pitchFamily="34" charset="0"/>
                <a:ea typeface="Calibri" pitchFamily="34" charset="-122"/>
                <a:cs typeface="Calibri" pitchFamily="34" charset="-120"/>
              </a:rPr>
              <a:t>WHAT SOCIII IS</a:t>
            </a:r>
            <a:endParaRPr lang="en-US" sz="1100" dirty="0"/>
          </a:p>
        </p:txBody>
      </p:sp>
      <p:sp>
        <p:nvSpPr>
          <p:cNvPr id="4" name="Text 2"/>
          <p:cNvSpPr/>
          <p:nvPr/>
        </p:nvSpPr>
        <p:spPr>
          <a:xfrm>
            <a:off x="320040" y="530352"/>
            <a:ext cx="8229600" cy="685800"/>
          </a:xfrm>
          <a:prstGeom prst="rect">
            <a:avLst/>
          </a:prstGeom>
          <a:noFill/>
          <a:ln/>
        </p:spPr>
        <p:txBody>
          <a:bodyPr wrap="square" rtlCol="0" anchor="ctr"/>
          <a:lstStyle/>
          <a:p>
            <a:pPr indent="0" marL="0">
              <a:buNone/>
            </a:pPr>
            <a:r>
              <a:rPr lang="en-US" sz="3400" b="1" dirty="0">
                <a:solidFill>
                  <a:srgbClr val="1A0A2E"/>
                </a:solidFill>
                <a:latin typeface="Calibri" pitchFamily="34" charset="0"/>
                <a:ea typeface="Calibri" pitchFamily="34" charset="-122"/>
                <a:cs typeface="Calibri" pitchFamily="34" charset="-120"/>
              </a:rPr>
              <a:t>Digital Workers, Three Ways In.</a:t>
            </a:r>
            <a:endParaRPr lang="en-US" sz="3400" dirty="0"/>
          </a:p>
        </p:txBody>
      </p:sp>
      <p:sp>
        <p:nvSpPr>
          <p:cNvPr id="5" name="Text 3"/>
          <p:cNvSpPr/>
          <p:nvPr/>
        </p:nvSpPr>
        <p:spPr>
          <a:xfrm>
            <a:off x="320040" y="1207008"/>
            <a:ext cx="8412480" cy="347472"/>
          </a:xfrm>
          <a:prstGeom prst="rect">
            <a:avLst/>
          </a:prstGeom>
          <a:noFill/>
          <a:ln/>
        </p:spPr>
        <p:txBody>
          <a:bodyPr wrap="square" rtlCol="0" anchor="ctr"/>
          <a:lstStyle/>
          <a:p>
            <a:pPr indent="0" marL="0">
              <a:buNone/>
            </a:pPr>
            <a:r>
              <a:rPr lang="en-US" sz="1300" i="1" dirty="0">
                <a:solidFill>
                  <a:srgbClr val="2A2D3E"/>
                </a:solidFill>
                <a:latin typeface="Calibri" pitchFamily="34" charset="0"/>
                <a:ea typeface="Calibri" pitchFamily="34" charset="-122"/>
                <a:cs typeface="Calibri" pitchFamily="34" charset="-120"/>
              </a:rPr>
              <a:t>Built because a real regulation or license requires it — priced three ways to fit how you use it.</a:t>
            </a:r>
            <a:endParaRPr lang="en-US" sz="1300" dirty="0"/>
          </a:p>
        </p:txBody>
      </p:sp>
      <p:sp>
        <p:nvSpPr>
          <p:cNvPr id="6" name="Shape 4"/>
          <p:cNvSpPr/>
          <p:nvPr/>
        </p:nvSpPr>
        <p:spPr>
          <a:xfrm>
            <a:off x="320040" y="1719072"/>
            <a:ext cx="2743200" cy="3182112"/>
          </a:xfrm>
          <a:prstGeom prst="rect">
            <a:avLst/>
          </a:prstGeom>
          <a:solidFill>
            <a:srgbClr val="1A0A2E"/>
          </a:solidFill>
          <a:ln/>
          <a:effectLst>
            <a:outerShdw sx="100000" sy="100000" kx="0" ky="0" algn="bl" rotWithShape="0" blurRad="76200" dist="25400" dir="8100000">
              <a:srgbClr val="000000">
                <a:alpha val="15000"/>
              </a:srgbClr>
            </a:outerShdw>
          </a:effectLst>
        </p:spPr>
      </p:sp>
      <p:sp>
        <p:nvSpPr>
          <p:cNvPr id="7" name="Text 5"/>
          <p:cNvSpPr/>
          <p:nvPr/>
        </p:nvSpPr>
        <p:spPr>
          <a:xfrm>
            <a:off x="457200" y="1810512"/>
            <a:ext cx="24688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Back-Office — Free</a:t>
            </a:r>
            <a:endParaRPr lang="en-US" sz="1300" dirty="0"/>
          </a:p>
        </p:txBody>
      </p:sp>
      <p:sp>
        <p:nvSpPr>
          <p:cNvPr id="8" name="Text 6"/>
          <p:cNvSpPr/>
          <p:nvPr/>
        </p:nvSpPr>
        <p:spPr>
          <a:xfrm>
            <a:off x="457200" y="2194560"/>
            <a:ext cx="2468880" cy="274320"/>
          </a:xfrm>
          <a:prstGeom prst="rect">
            <a:avLst/>
          </a:prstGeom>
          <a:noFill/>
          <a:ln/>
        </p:spPr>
        <p:txBody>
          <a:bodyPr wrap="square" rtlCol="0" anchor="ctr"/>
          <a:lstStyle/>
          <a:p>
            <a:pPr indent="0" marL="0">
              <a:buNone/>
            </a:pPr>
            <a:r>
              <a:rPr lang="en-US" sz="1000" i="1" dirty="0">
                <a:solidFill>
                  <a:srgbClr val="7B3FE4"/>
                </a:solidFill>
                <a:latin typeface="Calibri" pitchFamily="34" charset="0"/>
                <a:ea typeface="Calibri" pitchFamily="34" charset="-122"/>
                <a:cs typeface="Calibri" pitchFamily="34" charset="-120"/>
              </a:rPr>
              <a:t>Standalone, or bundled free with any paid worker.</a:t>
            </a:r>
            <a:endParaRPr lang="en-US" sz="1000" dirty="0"/>
          </a:p>
        </p:txBody>
      </p:sp>
      <p:sp>
        <p:nvSpPr>
          <p:cNvPr id="9" name="Shape 7"/>
          <p:cNvSpPr/>
          <p:nvPr/>
        </p:nvSpPr>
        <p:spPr>
          <a:xfrm>
            <a:off x="457200" y="2487168"/>
            <a:ext cx="2468880" cy="18288"/>
          </a:xfrm>
          <a:prstGeom prst="rect">
            <a:avLst/>
          </a:prstGeom>
          <a:solidFill>
            <a:srgbClr val="FFFFFF">
              <a:alpha val="25000"/>
            </a:srgbClr>
          </a:solidFill>
          <a:ln/>
        </p:spPr>
      </p:sp>
      <p:sp>
        <p:nvSpPr>
          <p:cNvPr id="10" name="Text 8"/>
          <p:cNvSpPr/>
          <p:nvPr/>
        </p:nvSpPr>
        <p:spPr>
          <a:xfrm>
            <a:off x="457200" y="256032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Alex Chief of Staff (daily brief, pipeline, investor tracking)</a:t>
            </a:r>
            <a:endParaRPr lang="en-US" sz="1000" dirty="0"/>
          </a:p>
        </p:txBody>
      </p:sp>
      <p:sp>
        <p:nvSpPr>
          <p:cNvPr id="11" name="Text 9"/>
          <p:cNvSpPr/>
          <p:nvPr/>
        </p:nvSpPr>
        <p:spPr>
          <a:xfrm>
            <a:off x="457200" y="290779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Control Center (revenue, burn, cash position)</a:t>
            </a:r>
            <a:endParaRPr lang="en-US" sz="1000" dirty="0"/>
          </a:p>
        </p:txBody>
      </p:sp>
      <p:sp>
        <p:nvSpPr>
          <p:cNvPr id="12" name="Text 10"/>
          <p:cNvSpPr/>
          <p:nvPr/>
        </p:nvSpPr>
        <p:spPr>
          <a:xfrm>
            <a:off x="457200" y="3255264"/>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Accounting (statement ingestion, P&amp;L, invoicing)</a:t>
            </a:r>
            <a:endParaRPr lang="en-US" sz="1000" dirty="0"/>
          </a:p>
        </p:txBody>
      </p:sp>
      <p:sp>
        <p:nvSpPr>
          <p:cNvPr id="13" name="Text 11"/>
          <p:cNvSpPr/>
          <p:nvPr/>
        </p:nvSpPr>
        <p:spPr>
          <a:xfrm>
            <a:off x="457200" y="3602736"/>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HR &amp; People (offers, onboarding, compliance)</a:t>
            </a:r>
            <a:endParaRPr lang="en-US" sz="1000" dirty="0"/>
          </a:p>
        </p:txBody>
      </p:sp>
      <p:sp>
        <p:nvSpPr>
          <p:cNvPr id="14" name="Text 12"/>
          <p:cNvSpPr/>
          <p:nvPr/>
        </p:nvSpPr>
        <p:spPr>
          <a:xfrm>
            <a:off x="457200" y="3950208"/>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Marketing &amp; Content (brand voice, social, campaigns)</a:t>
            </a:r>
            <a:endParaRPr lang="en-US" sz="1000" dirty="0"/>
          </a:p>
        </p:txBody>
      </p:sp>
      <p:sp>
        <p:nvSpPr>
          <p:cNvPr id="15" name="Text 13"/>
          <p:cNvSpPr/>
          <p:nvPr/>
        </p:nvSpPr>
        <p:spPr>
          <a:xfrm>
            <a:off x="457200" y="429768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Studio Locker + Document Control</a:t>
            </a:r>
            <a:endParaRPr lang="en-US" sz="1000" dirty="0"/>
          </a:p>
        </p:txBody>
      </p:sp>
      <p:sp>
        <p:nvSpPr>
          <p:cNvPr id="16" name="Text 14"/>
          <p:cNvSpPr/>
          <p:nvPr/>
        </p:nvSpPr>
        <p:spPr>
          <a:xfrm>
            <a:off x="457200" y="464515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xml:space="preserve"> </a:t>
            </a:r>
            <a:endParaRPr lang="en-US" sz="1000" dirty="0"/>
          </a:p>
        </p:txBody>
      </p:sp>
      <p:sp>
        <p:nvSpPr>
          <p:cNvPr id="17" name="Shape 15"/>
          <p:cNvSpPr/>
          <p:nvPr/>
        </p:nvSpPr>
        <p:spPr>
          <a:xfrm>
            <a:off x="3291840" y="1719072"/>
            <a:ext cx="2743200" cy="3182112"/>
          </a:xfrm>
          <a:prstGeom prst="rect">
            <a:avLst/>
          </a:prstGeom>
          <a:solidFill>
            <a:srgbClr val="4A1D8C"/>
          </a:solidFill>
          <a:ln/>
          <a:effectLst>
            <a:outerShdw sx="100000" sy="100000" kx="0" ky="0" algn="bl" rotWithShape="0" blurRad="76200" dist="25400" dir="8100000">
              <a:srgbClr val="000000">
                <a:alpha val="15000"/>
              </a:srgbClr>
            </a:outerShdw>
          </a:effectLst>
        </p:spPr>
      </p:sp>
      <p:sp>
        <p:nvSpPr>
          <p:cNvPr id="18" name="Text 16"/>
          <p:cNvSpPr/>
          <p:nvPr/>
        </p:nvSpPr>
        <p:spPr>
          <a:xfrm>
            <a:off x="3429000" y="1810512"/>
            <a:ext cx="24688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Single Worker — $29/mo</a:t>
            </a:r>
            <a:endParaRPr lang="en-US" sz="1300" dirty="0"/>
          </a:p>
        </p:txBody>
      </p:sp>
      <p:sp>
        <p:nvSpPr>
          <p:cNvPr id="19" name="Text 17"/>
          <p:cNvSpPr/>
          <p:nvPr/>
        </p:nvSpPr>
        <p:spPr>
          <a:xfrm>
            <a:off x="3429000" y="2194560"/>
            <a:ext cx="2468880" cy="274320"/>
          </a:xfrm>
          <a:prstGeom prst="rect">
            <a:avLst/>
          </a:prstGeom>
          <a:noFill/>
          <a:ln/>
        </p:spPr>
        <p:txBody>
          <a:bodyPr wrap="square" rtlCol="0" anchor="ctr"/>
          <a:lstStyle/>
          <a:p>
            <a:pPr indent="0" marL="0">
              <a:buNone/>
            </a:pPr>
            <a:r>
              <a:rPr lang="en-US" sz="1000" i="1" dirty="0">
                <a:solidFill>
                  <a:srgbClr val="7B3FE4"/>
                </a:solidFill>
                <a:latin typeface="Calibri" pitchFamily="34" charset="0"/>
                <a:ea typeface="Calibri" pitchFamily="34" charset="-122"/>
                <a:cs typeface="Calibri" pitchFamily="34" charset="-120"/>
              </a:rPr>
              <a:t>One specialized worker — back-office included free.</a:t>
            </a:r>
            <a:endParaRPr lang="en-US" sz="1000" dirty="0"/>
          </a:p>
        </p:txBody>
      </p:sp>
      <p:sp>
        <p:nvSpPr>
          <p:cNvPr id="20" name="Shape 18"/>
          <p:cNvSpPr/>
          <p:nvPr/>
        </p:nvSpPr>
        <p:spPr>
          <a:xfrm>
            <a:off x="3429000" y="2487168"/>
            <a:ext cx="2468880" cy="18288"/>
          </a:xfrm>
          <a:prstGeom prst="rect">
            <a:avLst/>
          </a:prstGeom>
          <a:solidFill>
            <a:srgbClr val="FFFFFF">
              <a:alpha val="25000"/>
            </a:srgbClr>
          </a:solidFill>
          <a:ln/>
        </p:spPr>
      </p:sp>
      <p:sp>
        <p:nvSpPr>
          <p:cNvPr id="21" name="Text 19"/>
          <p:cNvSpPr/>
          <p:nvPr/>
        </p:nvSpPr>
        <p:spPr>
          <a:xfrm>
            <a:off x="3429000" y="256032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Aviation: PC12 CoPilot, Flight Planning, Logbook, FRAT</a:t>
            </a:r>
            <a:endParaRPr lang="en-US" sz="1000" dirty="0"/>
          </a:p>
        </p:txBody>
      </p:sp>
      <p:sp>
        <p:nvSpPr>
          <p:cNvPr id="22" name="Text 20"/>
          <p:cNvSpPr/>
          <p:nvPr/>
        </p:nvSpPr>
        <p:spPr>
          <a:xfrm>
            <a:off x="3429000" y="290779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Healthcare: Nursing Assessment, Protocol Advisor</a:t>
            </a:r>
            <a:endParaRPr lang="en-US" sz="1000" dirty="0"/>
          </a:p>
        </p:txBody>
      </p:sp>
      <p:sp>
        <p:nvSpPr>
          <p:cNvPr id="23" name="Text 21"/>
          <p:cNvSpPr/>
          <p:nvPr/>
        </p:nvSpPr>
        <p:spPr>
          <a:xfrm>
            <a:off x="3429000" y="3255264"/>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Auto Dealer: F&amp;I Closer, VIN Decode, Deal Desk</a:t>
            </a:r>
            <a:endParaRPr lang="en-US" sz="1000" dirty="0"/>
          </a:p>
        </p:txBody>
      </p:sp>
      <p:sp>
        <p:nvSpPr>
          <p:cNvPr id="24" name="Text 22"/>
          <p:cNvSpPr/>
          <p:nvPr/>
        </p:nvSpPr>
        <p:spPr>
          <a:xfrm>
            <a:off x="3429000" y="3602736"/>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Real Estate: CRE Analyst, Cap Rate, Lease Analyzer</a:t>
            </a:r>
            <a:endParaRPr lang="en-US" sz="1000" dirty="0"/>
          </a:p>
        </p:txBody>
      </p:sp>
      <p:sp>
        <p:nvSpPr>
          <p:cNvPr id="25" name="Text 23"/>
          <p:cNvSpPr/>
          <p:nvPr/>
        </p:nvSpPr>
        <p:spPr>
          <a:xfrm>
            <a:off x="3429000" y="3950208"/>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Banking: Investor Relations, Reg D Compliance</a:t>
            </a:r>
            <a:endParaRPr lang="en-US" sz="1000" dirty="0"/>
          </a:p>
        </p:txBody>
      </p:sp>
      <p:sp>
        <p:nvSpPr>
          <p:cNvPr id="26" name="Text 24"/>
          <p:cNvSpPr/>
          <p:nvPr/>
        </p:nvSpPr>
        <p:spPr>
          <a:xfrm>
            <a:off x="3429000" y="429768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Web3: DAO Governance, Treasury, Token Analytics</a:t>
            </a:r>
            <a:endParaRPr lang="en-US" sz="1000" dirty="0"/>
          </a:p>
        </p:txBody>
      </p:sp>
      <p:sp>
        <p:nvSpPr>
          <p:cNvPr id="27" name="Shape 25"/>
          <p:cNvSpPr/>
          <p:nvPr/>
        </p:nvSpPr>
        <p:spPr>
          <a:xfrm>
            <a:off x="6263640" y="1719072"/>
            <a:ext cx="2743200" cy="3182112"/>
          </a:xfrm>
          <a:prstGeom prst="rect">
            <a:avLst/>
          </a:prstGeom>
          <a:solidFill>
            <a:srgbClr val="0D7A5F"/>
          </a:solidFill>
          <a:ln/>
          <a:effectLst>
            <a:outerShdw sx="100000" sy="100000" kx="0" ky="0" algn="bl" rotWithShape="0" blurRad="76200" dist="25400" dir="8100000">
              <a:srgbClr val="000000">
                <a:alpha val="15000"/>
              </a:srgbClr>
            </a:outerShdw>
          </a:effectLst>
        </p:spPr>
      </p:sp>
      <p:sp>
        <p:nvSpPr>
          <p:cNvPr id="28" name="Text 26"/>
          <p:cNvSpPr/>
          <p:nvPr/>
        </p:nvSpPr>
        <p:spPr>
          <a:xfrm>
            <a:off x="6400800" y="1810512"/>
            <a:ext cx="24688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Business in a Box</a:t>
            </a:r>
            <a:endParaRPr lang="en-US" sz="1300" dirty="0"/>
          </a:p>
        </p:txBody>
      </p:sp>
      <p:sp>
        <p:nvSpPr>
          <p:cNvPr id="29" name="Text 27"/>
          <p:cNvSpPr/>
          <p:nvPr/>
        </p:nvSpPr>
        <p:spPr>
          <a:xfrm>
            <a:off x="6400800" y="2194560"/>
            <a:ext cx="2468880" cy="274320"/>
          </a:xfrm>
          <a:prstGeom prst="rect">
            <a:avLst/>
          </a:prstGeom>
          <a:noFill/>
          <a:ln/>
        </p:spPr>
        <p:txBody>
          <a:bodyPr wrap="square" rtlCol="0" anchor="ctr"/>
          <a:lstStyle/>
          <a:p>
            <a:pPr indent="0" marL="0">
              <a:buNone/>
            </a:pPr>
            <a:r>
              <a:rPr lang="en-US" sz="1000" i="1" dirty="0">
                <a:solidFill>
                  <a:srgbClr val="10B981"/>
                </a:solidFill>
                <a:latin typeface="Calibri" pitchFamily="34" charset="0"/>
                <a:ea typeface="Calibri" pitchFamily="34" charset="-122"/>
                <a:cs typeface="Calibri" pitchFamily="34" charset="-120"/>
              </a:rPr>
              <a:t>$99/mo + $5/seat — the full program for your team.</a:t>
            </a:r>
            <a:endParaRPr lang="en-US" sz="1000" dirty="0"/>
          </a:p>
        </p:txBody>
      </p:sp>
      <p:sp>
        <p:nvSpPr>
          <p:cNvPr id="30" name="Shape 28"/>
          <p:cNvSpPr/>
          <p:nvPr/>
        </p:nvSpPr>
        <p:spPr>
          <a:xfrm>
            <a:off x="6400800" y="2487168"/>
            <a:ext cx="2468880" cy="18288"/>
          </a:xfrm>
          <a:prstGeom prst="rect">
            <a:avLst/>
          </a:prstGeom>
          <a:solidFill>
            <a:srgbClr val="FFFFFF">
              <a:alpha val="25000"/>
            </a:srgbClr>
          </a:solidFill>
          <a:ln/>
        </p:spPr>
      </p:sp>
      <p:sp>
        <p:nvSpPr>
          <p:cNvPr id="31" name="Text 29"/>
          <p:cNvSpPr/>
          <p:nvPr/>
        </p:nvSpPr>
        <p:spPr>
          <a:xfrm>
            <a:off x="6400800" y="256032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Multiple specialized workers across your team</a:t>
            </a:r>
            <a:endParaRPr lang="en-US" sz="1000" dirty="0"/>
          </a:p>
        </p:txBody>
      </p:sp>
      <p:sp>
        <p:nvSpPr>
          <p:cNvPr id="32" name="Text 30"/>
          <p:cNvSpPr/>
          <p:nvPr/>
        </p:nvSpPr>
        <p:spPr>
          <a:xfrm>
            <a:off x="6400800" y="290779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Per-seat pricing scales with headcount</a:t>
            </a:r>
            <a:endParaRPr lang="en-US" sz="1000" dirty="0"/>
          </a:p>
        </p:txBody>
      </p:sp>
      <p:sp>
        <p:nvSpPr>
          <p:cNvPr id="33" name="Text 31"/>
          <p:cNvSpPr/>
          <p:nvPr/>
        </p:nvSpPr>
        <p:spPr>
          <a:xfrm>
            <a:off x="6400800" y="3255264"/>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Back-office suite included free</a:t>
            </a:r>
            <a:endParaRPr lang="en-US" sz="1000" dirty="0"/>
          </a:p>
        </p:txBody>
      </p:sp>
      <p:sp>
        <p:nvSpPr>
          <p:cNvPr id="34" name="Text 32"/>
          <p:cNvSpPr/>
          <p:nvPr/>
        </p:nvSpPr>
        <p:spPr>
          <a:xfrm>
            <a:off x="6400800" y="3602736"/>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Same governed RAAS rules engine</a:t>
            </a:r>
            <a:endParaRPr lang="en-US" sz="1000" dirty="0"/>
          </a:p>
        </p:txBody>
      </p:sp>
      <p:sp>
        <p:nvSpPr>
          <p:cNvPr id="35" name="Text 33"/>
          <p:cNvSpPr/>
          <p:nvPr/>
        </p:nvSpPr>
        <p:spPr>
          <a:xfrm>
            <a:off x="6400800" y="3950208"/>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xml:space="preserve"> </a:t>
            </a:r>
            <a:endParaRPr lang="en-US" sz="1000" dirty="0"/>
          </a:p>
        </p:txBody>
      </p:sp>
      <p:sp>
        <p:nvSpPr>
          <p:cNvPr id="36" name="Text 34"/>
          <p:cNvSpPr/>
          <p:nvPr/>
        </p:nvSpPr>
        <p:spPr>
          <a:xfrm>
            <a:off x="6400800" y="429768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xml:space="preserve"> </a:t>
            </a:r>
            <a:endParaRPr lang="en-US" sz="1000" dirty="0"/>
          </a:p>
        </p:txBody>
      </p:sp>
      <p:sp>
        <p:nvSpPr>
          <p:cNvPr id="37" name="Text 35"/>
          <p:cNvSpPr/>
          <p:nvPr/>
        </p:nvSpPr>
        <p:spPr>
          <a:xfrm>
            <a:off x="320040" y="4930000"/>
            <a:ext cx="8412480" cy="219456"/>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All tiers run on the same governed RAAS rules engine. See Business Model for the creator-marketplace revenue split.</a:t>
            </a:r>
            <a:endParaRPr lang="en-US" sz="100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sociii.ai  ·  CONFIDENTIAL  ·  SOCIII Inc. (Delaware C-Corp)  ·  Sep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2D6BE4"/>
          </a:solidFill>
          <a:ln/>
        </p:spPr>
      </p:sp>
      <p:sp>
        <p:nvSpPr>
          <p:cNvPr id="3" name="Text 1"/>
          <p:cNvSpPr/>
          <p:nvPr/>
        </p:nvSpPr>
        <p:spPr>
          <a:xfrm>
            <a:off x="320040" y="201168"/>
            <a:ext cx="4572000" cy="256032"/>
          </a:xfrm>
          <a:prstGeom prst="rect">
            <a:avLst/>
          </a:prstGeom>
          <a:noFill/>
          <a:ln/>
        </p:spPr>
        <p:txBody>
          <a:bodyPr wrap="square" rtlCol="0" anchor="ctr"/>
          <a:lstStyle/>
          <a:p>
            <a:pPr indent="0" marL="0">
              <a:buNone/>
            </a:pPr>
            <a:r>
              <a:rPr lang="en-US" sz="1100" b="1" spc="300" kern="0" dirty="0">
                <a:solidFill>
                  <a:srgbClr val="2D6BE4"/>
                </a:solidFill>
                <a:latin typeface="Calibri" pitchFamily="34" charset="0"/>
                <a:ea typeface="Calibri" pitchFamily="34" charset="-122"/>
                <a:cs typeface="Calibri" pitchFamily="34" charset="-120"/>
              </a:rPr>
              <a:t>PRODUCT ROADMAP</a:t>
            </a:r>
            <a:endParaRPr lang="en-US" sz="1100" dirty="0"/>
          </a:p>
        </p:txBody>
      </p:sp>
      <p:sp>
        <p:nvSpPr>
          <p:cNvPr id="4" name="Text 2"/>
          <p:cNvSpPr/>
          <p:nvPr/>
        </p:nvSpPr>
        <p:spPr>
          <a:xfrm>
            <a:off x="320040" y="438912"/>
            <a:ext cx="5029200" cy="1005840"/>
          </a:xfrm>
          <a:prstGeom prst="rect">
            <a:avLst/>
          </a:prstGeom>
          <a:noFill/>
          <a:ln/>
        </p:spPr>
        <p:txBody>
          <a:bodyPr wrap="square" rtlCol="0" anchor="ctr"/>
          <a:lstStyle/>
          <a:p>
            <a:pPr indent="0" marL="0">
              <a:lnSpc>
                <a:spcPct val="110000"/>
              </a:lnSpc>
              <a:buNone/>
            </a:pPr>
            <a:r>
              <a:rPr lang="en-US" sz="2800" b="1" dirty="0">
                <a:solidFill>
                  <a:srgbClr val="FFFFFF"/>
                </a:solidFill>
                <a:latin typeface="Calibri" pitchFamily="34" charset="0"/>
                <a:ea typeface="Calibri" pitchFamily="34" charset="-122"/>
                <a:cs typeface="Calibri" pitchFamily="34" charset="-120"/>
              </a:rPr>
              <a:t>Built to work</a:t>
            </a:r>
            <a:endParaRPr lang="en-US" sz="2800" dirty="0"/>
          </a:p>
          <a:p>
            <a:pPr indent="0" marL="0">
              <a:lnSpc>
                <a:spcPct val="110000"/>
              </a:lnSpc>
              <a:buNone/>
            </a:pPr>
            <a:r>
              <a:rPr lang="en-US" sz="2800" b="1" dirty="0">
                <a:solidFill>
                  <a:srgbClr val="FFFFFF"/>
                </a:solidFill>
                <a:latin typeface="Calibri" pitchFamily="34" charset="0"/>
                <a:ea typeface="Calibri" pitchFamily="34" charset="-122"/>
                <a:cs typeface="Calibri" pitchFamily="34" charset="-120"/>
              </a:rPr>
              <a:t>with the human.</a:t>
            </a:r>
            <a:endParaRPr lang="en-US" sz="2800" dirty="0"/>
          </a:p>
        </p:txBody>
      </p:sp>
      <p:sp>
        <p:nvSpPr>
          <p:cNvPr id="5" name="Text 3"/>
          <p:cNvSpPr/>
          <p:nvPr/>
        </p:nvSpPr>
        <p:spPr>
          <a:xfrm>
            <a:off x="320040" y="1444752"/>
            <a:ext cx="8458200" cy="320040"/>
          </a:xfrm>
          <a:prstGeom prst="rect">
            <a:avLst/>
          </a:prstGeom>
          <a:noFill/>
          <a:ln/>
        </p:spPr>
        <p:txBody>
          <a:bodyPr wrap="square" rtlCol="0" anchor="ctr"/>
          <a:lstStyle/>
          <a:p>
            <a:pPr indent="0" marL="0">
              <a:buNone/>
            </a:pPr>
            <a:r>
              <a:rPr lang="en-US" sz="1200" i="1" dirty="0">
                <a:solidFill>
                  <a:srgbClr val="10B981"/>
                </a:solidFill>
                <a:latin typeface="Calibri" pitchFamily="34" charset="0"/>
                <a:ea typeface="Calibri" pitchFamily="34" charset="-122"/>
                <a:cs typeface="Calibri" pitchFamily="34" charset="-120"/>
              </a:rPr>
              <a:t>No onboarding, no consultants, no dashboards — just talk to it.</a:t>
            </a:r>
            <a:endParaRPr lang="en-US" sz="1200" dirty="0"/>
          </a:p>
        </p:txBody>
      </p:sp>
      <p:sp>
        <p:nvSpPr>
          <p:cNvPr id="150" name="TalkLabel"/>
          <p:cNvSpPr/>
          <p:nvPr/>
        </p:nvSpPr>
        <p:spPr>
          <a:xfrm>
            <a:off x="320040" y="1780000"/>
            <a:ext cx="8000000" cy="280000"/>
          </a:xfrm>
          <a:prstGeom prst="rect">
            <a:avLst/>
          </a:prstGeom>
          <a:noFill/>
          <a:ln/>
        </p:spPr>
        <p:txBody>
          <a:bodyPr wrap="square" rtlCol="0" anchor="ctr"/>
          <a:lstStyle/>
          <a:p>
            <a:pPr indent="0" marL="0">
              <a:buNone/>
            </a:pPr>
            <a:r>
              <a:rPr lang="en-US" sz="1200" b="1" spc="150" kern="0" dirty="0">
                <a:solidFill>
                  <a:srgbClr val="10B981"/>
                </a:solidFill>
                <a:latin typeface="Calibri" pitchFamily="34" charset="0"/>
              </a:rPr>
              <a:t>TODAY: JUST TALK TO IT</a:t>
            </a:r>
          </a:p>
        </p:txBody>
      </p:sp>
      <p:sp>
        <p:nvSpPr>
          <p:cNvPr id="151" name="TalkBody"/>
          <p:cNvSpPr/>
          <p:nvPr/>
        </p:nvSpPr>
        <p:spPr>
          <a:xfrm>
            <a:off x="320040" y="2100000"/>
            <a:ext cx="8458200" cy="720000"/>
          </a:xfrm>
          <a:prstGeom prst="rect">
            <a:avLst/>
          </a:prstGeom>
          <a:noFill/>
          <a:ln/>
        </p:spPr>
        <p:txBody>
          <a:bodyPr wrap="square" rtlCol="0" anchor="t"/>
          <a:lstStyle/>
          <a:p>
            <a:pPr indent="0" marL="0">
              <a:lnSpc>
                <a:spcPct val="130000"/>
              </a:lnSpc>
              <a:buNone/>
            </a:pPr>
            <a:r>
              <a:rPr lang="en-US" sz="1300" dirty="0">
                <a:solidFill>
                  <a:srgbClr val="FFFFFF"/>
                </a:solidFill>
                <a:latin typeface="Calibri" pitchFamily="34" charset="0"/>
              </a:rPr>
              <a:t>No integration project. No consultants to hire. No dashboard to learn. A person talks, the worker listens, reasons, and acts — governed by the same RAAS rules engine as every other worker, from day one.</a:t>
            </a:r>
          </a:p>
        </p:txBody>
      </p:sp>
      <p:sp>
        <p:nvSpPr>
          <p:cNvPr id="200" name="RoadmapPanel"/>
          <p:cNvSpPr/>
          <p:nvPr/>
        </p:nvSpPr>
        <p:spPr>
          <a:xfrm>
            <a:off x="320040" y="2950000"/>
            <a:ext cx="8458200" cy="1980000"/>
          </a:xfrm>
          <a:prstGeom prst="rect">
            <a:avLst/>
          </a:prstGeom>
          <a:solidFill>
            <a:srgbClr val="1A1F2E"/>
          </a:solidFill>
          <a:ln>
            <a:solidFill>
              <a:srgbClr val="2D6BE4"/>
            </a:solidFill>
          </a:ln>
        </p:spPr>
        <p:txBody>
          <a:bodyPr/>
          <a:p/>
        </p:txBody>
      </p:sp>
      <p:sp>
        <p:nvSpPr>
          <p:cNvPr id="152" name="FutureLabel"/>
          <p:cNvSpPr/>
          <p:nvPr/>
        </p:nvSpPr>
        <p:spPr>
          <a:xfrm>
            <a:off x="475488" y="3020000"/>
            <a:ext cx="6000000" cy="260000"/>
          </a:xfrm>
          <a:prstGeom prst="rect">
            <a:avLst/>
          </a:prstGeom>
          <a:noFill/>
          <a:ln/>
        </p:spPr>
        <p:txBody>
          <a:bodyPr wrap="square" rtlCol="0" anchor="ctr"/>
          <a:lstStyle/>
          <a:p>
            <a:pPr indent="0" marL="0">
              <a:buNone/>
            </a:pPr>
            <a:r>
              <a:rPr lang="en-US" sz="1100" b="1" spc="150" kern="0" dirty="0">
                <a:solidFill>
                  <a:srgbClr val="2D6BE4"/>
                </a:solidFill>
                <a:latin typeface="Calibri" pitchFamily="34" charset="0"/>
              </a:rPr>
              <a:t>NEXT: WEARABLES + NATIVE APPS</a:t>
            </a:r>
          </a:p>
        </p:txBody>
      </p:sp>
      <p:sp>
        <p:nvSpPr>
          <p:cNvPr id="201" name="RoadmapBadge"/>
          <p:cNvSpPr/>
          <p:nvPr/>
        </p:nvSpPr>
        <p:spPr>
          <a:xfrm>
            <a:off x="475488" y="3320000"/>
            <a:ext cx="3200000" cy="260000"/>
          </a:xfrm>
          <a:prstGeom prst="rect">
            <a:avLst/>
          </a:prstGeom>
          <a:solidFill>
            <a:srgbClr val="7A5A00"/>
          </a:solidFill>
          <a:ln/>
        </p:spPr>
        <p:txBody>
          <a:bodyPr wrap="square" rtlCol="0" anchor="ctr"/>
          <a:lstStyle/>
          <a:p>
            <a:pPr indent="0" marL="0">
              <a:buNone/>
            </a:pPr>
            <a:r>
              <a:rPr lang="en-US" sz="900" b="1" spc="50" kern="0" dirty="0">
                <a:solidFill>
                  <a:srgbClr val="FFD666"/>
                </a:solidFill>
                <a:latin typeface="Calibri" pitchFamily="34" charset="0"/>
              </a:rPr>
              <a:t>IN DEVELOPMENT — NOT AVAILABLE NOW</a:t>
            </a:r>
          </a:p>
        </p:txBody>
      </p:sp>
      <p:sp>
        <p:nvSpPr>
          <p:cNvPr id="202" name="RoadmapHeadline"/>
          <p:cNvSpPr/>
          <p:nvPr/>
        </p:nvSpPr>
        <p:spPr>
          <a:xfrm>
            <a:off x="475488" y="3640000"/>
            <a:ext cx="8000000" cy="380000"/>
          </a:xfrm>
          <a:prstGeom prst="rect">
            <a:avLst/>
          </a:prstGeom>
          <a:noFill/>
          <a:ln/>
        </p:spPr>
        <p:txBody>
          <a:bodyPr wrap="square" rtlCol="0" anchor="ctr"/>
          <a:lstStyle/>
          <a:p>
            <a:pPr indent="0" marL="0">
              <a:buNone/>
            </a:pPr>
            <a:r>
              <a:rPr lang="en-US" sz="1700" b="1" dirty="0">
                <a:solidFill>
                  <a:srgbClr val="FFFFFF"/>
                </a:solidFill>
                <a:latin typeface="Calibri" pitchFamily="34" charset="0"/>
              </a:rPr>
              <a:t>RealWear Navigator 500</a:t>
            </a:r>
            <a:r>
              <a:rPr lang="en-US" sz="1200" dirty="0">
                <a:solidFill>
                  <a:srgbClr val="10B981"/>
                </a:solidFill>
                <a:latin typeface="Calibri" pitchFamily="34" charset="0"/>
              </a:rPr>
              <a:t xml:space="preserve">   hands-free hardware</a:t>
            </a:r>
          </a:p>
        </p:txBody>
      </p:sp>
      <p:sp>
        <p:nvSpPr>
          <p:cNvPr id="203" name="RoadmapBody"/>
          <p:cNvSpPr/>
          <p:nvPr/>
        </p:nvSpPr>
        <p:spPr>
          <a:xfrm>
            <a:off x="475488" y="4010000"/>
            <a:ext cx="8000000" cy="850000"/>
          </a:xfrm>
          <a:prstGeom prst="rect">
            <a:avLst/>
          </a:prstGeom>
          <a:noFill/>
          <a:ln/>
        </p:spPr>
        <p:txBody>
          <a:bodyPr wrap="square" rtlCol="0" anchor="t"/>
          <a:lstStyle/>
          <a:p>
            <a:pPr indent="0" marL="0">
              <a:lnSpc>
                <a:spcPct val="128000"/>
              </a:lnSpc>
              <a:buNone/>
            </a:pPr>
            <a:r>
              <a:rPr lang="en-US" sz="1100" dirty="0">
                <a:solidFill>
                  <a:srgbClr val="DDDDFF"/>
                </a:solidFill>
                <a:latin typeface="Calibri" pitchFamily="34" charset="0"/>
              </a:rPr>
              <a:t>The same conversation, hands-free: a mechanic under an aircraft, a nurse mid-exam — they talk, the worker listens and logs, governed by the same RAAS rules engine. Target workflows: Aviation MX and Nursing charting. Ordering the hardware now, priced at retail for the client — not shipped, not promised for a date. iOS/Android native apps are also in development, not yet published.</a:t>
            </a:r>
          </a:p>
        </p:txBody>
      </p:sp>
      <p:pic>
        <p:nvPicPr>
          <p:cNvPr id="950" name="CornerLogo"/>
          <p:cNvPicPr>
            <a:picLocks noChangeAspect="1"/>
          </p:cNvPicPr>
          <p:nvPr/>
        </p:nvPicPr>
        <p:blipFill>
          <a:blip r:embed="rId6"/>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sociii.ai  ·  CONFIDENTIAL  ·  SOCIII Inc. (Delaware C-Corp)  ·  Sep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sp>
      <p:sp>
        <p:nvSpPr>
          <p:cNvPr id="3" name="Text 1"/>
          <p:cNvSpPr/>
          <p:nvPr/>
        </p:nvSpPr>
        <p:spPr>
          <a:xfrm>
            <a:off x="320040" y="201168"/>
            <a:ext cx="3657600" cy="256032"/>
          </a:xfrm>
          <a:prstGeom prst="rect">
            <a:avLst/>
          </a:prstGeom>
          <a:noFill/>
          <a:ln/>
        </p:spPr>
        <p:txBody>
          <a:bodyPr wrap="square" rtlCol="0" anchor="ctr"/>
          <a:lstStyle/>
          <a:p>
            <a:pPr indent="0" marL="0">
              <a:buNone/>
            </a:pPr>
            <a:r>
              <a:rPr lang="en-US" sz="1100" b="1" spc="300" kern="0" dirty="0">
                <a:solidFill>
                  <a:srgbClr val="4A1D8C"/>
                </a:solidFill>
                <a:latin typeface="Calibri" pitchFamily="34" charset="0"/>
                <a:ea typeface="Calibri" pitchFamily="34" charset="-122"/>
                <a:cs typeface="Calibri" pitchFamily="34" charset="-120"/>
              </a:rPr>
              <a:t>THE CREATOR ECONOMY</a:t>
            </a:r>
            <a:endParaRPr lang="en-US" sz="1100" dirty="0"/>
          </a:p>
        </p:txBody>
      </p:sp>
      <p:sp>
        <p:nvSpPr>
          <p:cNvPr id="4" name="Text 2"/>
          <p:cNvSpPr/>
          <p:nvPr/>
        </p:nvSpPr>
        <p:spPr>
          <a:xfrm>
            <a:off x="320040" y="411480"/>
            <a:ext cx="5669280" cy="1444752"/>
          </a:xfrm>
          <a:prstGeom prst="rect">
            <a:avLst/>
          </a:prstGeom>
          <a:noFill/>
          <a:ln/>
        </p:spPr>
        <p:txBody>
          <a:bodyPr wrap="square" rtlCol="0" anchor="ctr"/>
          <a:lstStyle/>
          <a:p>
            <a:pPr indent="0" marL="0">
              <a:lnSpc>
                <a:spcPct val="112000"/>
              </a:lnSpc>
              <a:buNone/>
            </a:pPr>
            <a:r>
              <a:rPr lang="en-US" sz="2600" b="1" dirty="0">
                <a:solidFill>
                  <a:srgbClr val="1A0A2E"/>
                </a:solidFill>
                <a:latin typeface="Calibri" pitchFamily="34" charset="0"/>
                <a:ea typeface="Calibri" pitchFamily="34" charset="-122"/>
                <a:cs typeface="Calibri" pitchFamily="34" charset="-120"/>
              </a:rPr>
              <a:t>The Flywheel</a:t>
            </a:r>
            <a:endParaRPr lang="en-US" sz="2600" dirty="0"/>
          </a:p>
          <a:p>
            <a:pPr indent="0" marL="0">
              <a:lnSpc>
                <a:spcPct val="112000"/>
              </a:lnSpc>
              <a:buNone/>
            </a:pPr>
            <a:r>
              <a:rPr lang="en-US" sz="2600" b="1" dirty="0">
                <a:solidFill>
                  <a:srgbClr val="1A0A2E"/>
                </a:solidFill>
                <a:latin typeface="Calibri" pitchFamily="34" charset="0"/>
                <a:ea typeface="Calibri" pitchFamily="34" charset="-122"/>
                <a:cs typeface="Calibri" pitchFamily="34" charset="-120"/>
              </a:rPr>
              <a:t>Compounds:</a:t>
            </a:r>
            <a:endParaRPr lang="en-US" sz="2600" dirty="0"/>
          </a:p>
          <a:p>
            <a:pPr indent="0" marL="0">
              <a:lnSpc>
                <a:spcPct val="112000"/>
              </a:lnSpc>
              <a:buNone/>
            </a:pPr>
            <a:r>
              <a:rPr lang="en-US" sz="2600" b="1" dirty="0">
                <a:solidFill>
                  <a:srgbClr val="1A0A2E"/>
                </a:solidFill>
                <a:latin typeface="Calibri" pitchFamily="34" charset="0"/>
                <a:ea typeface="Calibri" pitchFamily="34" charset="-122"/>
                <a:cs typeface="Calibri" pitchFamily="34" charset="-120"/>
              </a:rPr>
              <a:t>More Experts, More Workers.</a:t>
            </a:r>
            <a:endParaRPr lang="en-US" sz="2600" dirty="0"/>
          </a:p>
        </p:txBody>
      </p:sp>
      <p:sp>
        <p:nvSpPr>
          <p:cNvPr id="5" name="Text 3"/>
          <p:cNvSpPr/>
          <p:nvPr/>
        </p:nvSpPr>
        <p:spPr>
          <a:xfrm>
            <a:off x="320040" y="1883664"/>
            <a:ext cx="8412480" cy="320040"/>
          </a:xfrm>
          <a:prstGeom prst="rect">
            <a:avLst/>
          </a:prstGeom>
          <a:noFill/>
          <a:ln/>
        </p:spPr>
        <p:txBody>
          <a:bodyPr wrap="square" rtlCol="0" anchor="ctr"/>
          <a:lstStyle/>
          <a:p>
            <a:pPr indent="0" marL="0">
              <a:buNone/>
            </a:pPr>
            <a:r>
              <a:rPr lang="en-US" sz="1300" i="1" dirty="0">
                <a:solidFill>
                  <a:srgbClr val="2A2D3E"/>
                </a:solidFill>
                <a:latin typeface="Calibri" pitchFamily="34" charset="0"/>
                <a:ea typeface="Calibri" pitchFamily="34" charset="-122"/>
                <a:cs typeface="Calibri" pitchFamily="34" charset="-120"/>
              </a:rPr>
              <a:t>The person who knows the job builds the tool — not a software engineer guessing at a domain they've never worked in.</a:t>
            </a:r>
            <a:endParaRPr lang="en-US" sz="1300" dirty="0"/>
          </a:p>
        </p:txBody>
      </p:sp>
      <p:sp>
        <p:nvSpPr>
          <p:cNvPr id="6" name="Shape 4"/>
          <p:cNvSpPr/>
          <p:nvPr/>
        </p:nvSpPr>
        <p:spPr>
          <a:xfrm>
            <a:off x="320040" y="2304288"/>
            <a:ext cx="3657600" cy="2542032"/>
          </a:xfrm>
          <a:prstGeom prst="rect">
            <a:avLst/>
          </a:prstGeom>
          <a:solidFill>
            <a:srgbClr val="0D7A5F"/>
          </a:solidFill>
          <a:ln/>
          <a:effectLst>
            <a:outerShdw sx="100000" sy="100000" kx="0" ky="0" algn="bl" rotWithShape="0" blurRad="152400" dist="50800" dir="8100000">
              <a:srgbClr val="000000">
                <a:alpha val="28000"/>
              </a:srgbClr>
            </a:outerShdw>
          </a:effectLst>
        </p:spPr>
      </p:sp>
      <p:sp>
        <p:nvSpPr>
          <p:cNvPr id="7" name="Text 5"/>
          <p:cNvSpPr/>
          <p:nvPr/>
        </p:nvSpPr>
        <p:spPr>
          <a:xfrm>
            <a:off x="475488" y="2395728"/>
            <a:ext cx="3337560" cy="347472"/>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How It Compounds</a:t>
            </a:r>
            <a:endParaRPr lang="en-US" sz="1500" dirty="0"/>
          </a:p>
        </p:txBody>
      </p:sp>
      <p:sp>
        <p:nvSpPr>
          <p:cNvPr id="8" name="Text 6"/>
          <p:cNvSpPr/>
          <p:nvPr/>
        </p:nvSpPr>
        <p:spPr>
          <a:xfrm>
            <a:off x="475488" y="278892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 domain expert builds and publishes a</a:t>
            </a:r>
            <a:endParaRPr lang="en-US" sz="1150" dirty="0"/>
          </a:p>
        </p:txBody>
      </p:sp>
      <p:sp>
        <p:nvSpPr>
          <p:cNvPr id="9" name="Text 7"/>
          <p:cNvSpPr/>
          <p:nvPr/>
        </p:nvSpPr>
        <p:spPr>
          <a:xfrm>
            <a:off x="475488" y="306324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Digital Worker, then earns real income every</a:t>
            </a:r>
            <a:endParaRPr lang="en-US" sz="1150" dirty="0"/>
          </a:p>
        </p:txBody>
      </p:sp>
      <p:sp>
        <p:nvSpPr>
          <p:cNvPr id="10" name="Text 8"/>
          <p:cNvSpPr/>
          <p:nvPr/>
        </p:nvSpPr>
        <p:spPr>
          <a:xfrm>
            <a:off x="475488" y="333756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time someone subscribes to or uses it.</a:t>
            </a:r>
            <a:endParaRPr lang="en-US" sz="1150" dirty="0"/>
          </a:p>
        </p:txBody>
      </p:sp>
      <p:sp>
        <p:nvSpPr>
          <p:cNvPr id="11" name="Text 9"/>
          <p:cNvSpPr/>
          <p:nvPr/>
        </p:nvSpPr>
        <p:spPr>
          <a:xfrm>
            <a:off x="475488" y="361188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xml:space="preserve"> </a:t>
            </a:r>
            <a:endParaRPr lang="en-US" sz="1150" dirty="0"/>
          </a:p>
        </p:txBody>
      </p:sp>
      <p:sp>
        <p:nvSpPr>
          <p:cNvPr id="12" name="Text 10"/>
          <p:cNvSpPr/>
          <p:nvPr/>
        </p:nvSpPr>
        <p:spPr>
          <a:xfrm>
            <a:off x="475488" y="388620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xml:space="preserve"> </a:t>
            </a:r>
            <a:endParaRPr lang="en-US" sz="1150" dirty="0"/>
          </a:p>
        </p:txBody>
      </p:sp>
      <p:sp>
        <p:nvSpPr>
          <p:cNvPr id="13" name="Text 11"/>
          <p:cNvSpPr/>
          <p:nvPr/>
        </p:nvSpPr>
        <p:spPr>
          <a:xfrm>
            <a:off x="475488" y="416052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xml:space="preserve"> </a:t>
            </a:r>
            <a:endParaRPr lang="en-US" sz="1150" dirty="0"/>
          </a:p>
        </p:txBody>
      </p:sp>
      <p:sp>
        <p:nvSpPr>
          <p:cNvPr id="14" name="Text 12"/>
          <p:cNvSpPr/>
          <p:nvPr/>
        </p:nvSpPr>
        <p:spPr>
          <a:xfrm>
            <a:off x="475488" y="4434840"/>
            <a:ext cx="3337560" cy="256032"/>
          </a:xfrm>
          <a:prstGeom prst="rect">
            <a:avLst/>
          </a:prstGeom>
          <a:noFill/>
          <a:ln/>
        </p:spPr>
        <p:txBody>
          <a:bodyPr wrap="square" rtlCol="0" anchor="ctr"/>
          <a:lstStyle/>
          <a:p>
            <a:pPr indent="0" marL="0">
              <a:buNone/>
            </a:pPr>
            <a:endParaRPr lang="en-US" sz="1150" dirty="0"/>
          </a:p>
        </p:txBody>
      </p:sp>
      <p:sp>
        <p:nvSpPr>
          <p:cNvPr id="15" name="Text 13"/>
          <p:cNvSpPr/>
          <p:nvPr/>
        </p:nvSpPr>
        <p:spPr>
          <a:xfrm>
            <a:off x="475488" y="4520000"/>
            <a:ext cx="3337560" cy="256032"/>
          </a:xfrm>
          <a:prstGeom prst="rect">
            <a:avLst/>
          </a:prstGeom>
          <a:noFill/>
          <a:ln/>
        </p:spPr>
        <p:txBody>
          <a:bodyPr wrap="square"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More workers published means more reason for the next expert to join — the flywheel compounds.</a:t>
            </a:r>
            <a:endParaRPr lang="en-US" sz="1150" dirty="0"/>
          </a:p>
        </p:txBody>
      </p:sp>
      <p:sp>
        <p:nvSpPr>
          <p:cNvPr id="16" name="Shape 14"/>
          <p:cNvSpPr/>
          <p:nvPr/>
        </p:nvSpPr>
        <p:spPr>
          <a:xfrm>
            <a:off x="4160520" y="2304288"/>
            <a:ext cx="1143000" cy="2542032"/>
          </a:xfrm>
          <a:prstGeom prst="rect">
            <a:avLst/>
          </a:prstGeom>
          <a:solidFill>
            <a:srgbClr val="4A1D8C"/>
          </a:solidFill>
          <a:ln/>
          <a:effectLst>
            <a:outerShdw sx="100000" sy="100000" kx="0" ky="0" algn="bl" rotWithShape="0" blurRad="63500" dist="25400" dir="8100000">
              <a:srgbClr val="000000">
                <a:alpha val="18000"/>
              </a:srgbClr>
            </a:outerShdw>
          </a:effectLst>
        </p:spPr>
      </p:sp>
      <p:sp>
        <p:nvSpPr>
          <p:cNvPr id="17" name="Text 15"/>
          <p:cNvSpPr/>
          <p:nvPr/>
        </p:nvSpPr>
        <p:spPr>
          <a:xfrm>
            <a:off x="4160520" y="2395728"/>
            <a:ext cx="1143000" cy="4114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8" name="Text 16"/>
          <p:cNvSpPr/>
          <p:nvPr/>
        </p:nvSpPr>
        <p:spPr>
          <a:xfrm>
            <a:off x="4233672" y="2834640"/>
            <a:ext cx="100584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Creator</a:t>
            </a:r>
            <a:endParaRPr lang="en-US" sz="1200" dirty="0"/>
          </a:p>
        </p:txBody>
      </p:sp>
      <p:sp>
        <p:nvSpPr>
          <p:cNvPr id="19" name="Text 17"/>
          <p:cNvSpPr/>
          <p:nvPr/>
        </p:nvSpPr>
        <p:spPr>
          <a:xfrm>
            <a:off x="4233672" y="3182112"/>
            <a:ext cx="1005840" cy="1536192"/>
          </a:xfrm>
          <a:prstGeom prst="rect">
            <a:avLst/>
          </a:prstGeom>
          <a:noFill/>
          <a:ln/>
        </p:spPr>
        <p:txBody>
          <a:bodyPr wrap="square" rtlCol="0" anchor="ctr"/>
          <a:lstStyle/>
          <a:p>
            <a:pPr indent="0" marL="0">
              <a:lnSpc>
                <a:spcPct val="130000"/>
              </a:lnSpc>
              <a:buNone/>
            </a:pPr>
            <a:r>
              <a:rPr lang="en-US" sz="950" dirty="0">
                <a:solidFill>
                  <a:srgbClr val="DDDDFF"/>
                </a:solidFill>
                <a:latin typeface="Calibri" pitchFamily="34" charset="0"/>
                <a:ea typeface="Calibri" pitchFamily="34" charset="-122"/>
                <a:cs typeface="Calibri" pitchFamily="34" charset="-120"/>
              </a:rPr>
              <a:t>A domain expert builds and publishes a Digital Worker to the marketplace.</a:t>
            </a:r>
            <a:endParaRPr lang="en-US" sz="950" dirty="0"/>
          </a:p>
        </p:txBody>
      </p:sp>
      <p:sp>
        <p:nvSpPr>
          <p:cNvPr id="20" name="Shape 18"/>
          <p:cNvSpPr/>
          <p:nvPr/>
        </p:nvSpPr>
        <p:spPr>
          <a:xfrm>
            <a:off x="5404104" y="2304288"/>
            <a:ext cx="1143000" cy="2542032"/>
          </a:xfrm>
          <a:prstGeom prst="rect">
            <a:avLst/>
          </a:prstGeom>
          <a:solidFill>
            <a:srgbClr val="1E3A6E"/>
          </a:solidFill>
          <a:ln/>
          <a:effectLst>
            <a:outerShdw sx="100000" sy="100000" kx="0" ky="0" algn="bl" rotWithShape="0" blurRad="63500" dist="25400" dir="8100000">
              <a:srgbClr val="000000">
                <a:alpha val="18000"/>
              </a:srgbClr>
            </a:outerShdw>
          </a:effectLst>
        </p:spPr>
      </p:sp>
      <p:sp>
        <p:nvSpPr>
          <p:cNvPr id="21" name="Text 19"/>
          <p:cNvSpPr/>
          <p:nvPr/>
        </p:nvSpPr>
        <p:spPr>
          <a:xfrm>
            <a:off x="5404104" y="2395728"/>
            <a:ext cx="1143000" cy="4114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22" name="Text 20"/>
          <p:cNvSpPr/>
          <p:nvPr/>
        </p:nvSpPr>
        <p:spPr>
          <a:xfrm>
            <a:off x="5477256" y="2834640"/>
            <a:ext cx="100584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Income</a:t>
            </a:r>
            <a:endParaRPr lang="en-US" sz="1200" dirty="0"/>
          </a:p>
        </p:txBody>
      </p:sp>
      <p:sp>
        <p:nvSpPr>
          <p:cNvPr id="23" name="Text 21"/>
          <p:cNvSpPr/>
          <p:nvPr/>
        </p:nvSpPr>
        <p:spPr>
          <a:xfrm>
            <a:off x="5477256" y="3182112"/>
            <a:ext cx="1005840" cy="1536192"/>
          </a:xfrm>
          <a:prstGeom prst="rect">
            <a:avLst/>
          </a:prstGeom>
          <a:noFill/>
          <a:ln/>
        </p:spPr>
        <p:txBody>
          <a:bodyPr wrap="square" rtlCol="0" anchor="ctr"/>
          <a:lstStyle/>
          <a:p>
            <a:pPr indent="0" marL="0">
              <a:lnSpc>
                <a:spcPct val="130000"/>
              </a:lnSpc>
              <a:buNone/>
            </a:pPr>
            <a:r>
              <a:rPr lang="en-US" sz="950" dirty="0">
                <a:solidFill>
                  <a:srgbClr val="DDDDFF"/>
                </a:solidFill>
                <a:latin typeface="Calibri" pitchFamily="34" charset="0"/>
                <a:ea typeface="Calibri" pitchFamily="34" charset="-122"/>
                <a:cs typeface="Calibri" pitchFamily="34" charset="-120"/>
              </a:rPr>
              <a:t>They earn real income every time someone subscribes to or uses that worker.</a:t>
            </a:r>
            <a:endParaRPr lang="en-US" sz="950" dirty="0"/>
          </a:p>
        </p:txBody>
      </p:sp>
      <p:sp>
        <p:nvSpPr>
          <p:cNvPr id="24" name="Shape 22"/>
          <p:cNvSpPr/>
          <p:nvPr/>
        </p:nvSpPr>
        <p:spPr>
          <a:xfrm>
            <a:off x="6647688" y="2304288"/>
            <a:ext cx="1143000" cy="2542032"/>
          </a:xfrm>
          <a:prstGeom prst="rect">
            <a:avLst/>
          </a:prstGeom>
          <a:solidFill>
            <a:srgbClr val="0D7A5F"/>
          </a:solidFill>
          <a:ln/>
          <a:effectLst>
            <a:outerShdw sx="100000" sy="100000" kx="0" ky="0" algn="bl" rotWithShape="0" blurRad="63500" dist="25400" dir="8100000">
              <a:srgbClr val="000000">
                <a:alpha val="18000"/>
              </a:srgbClr>
            </a:outerShdw>
          </a:effectLst>
        </p:spPr>
      </p:sp>
      <p:sp>
        <p:nvSpPr>
          <p:cNvPr id="25" name="Text 23"/>
          <p:cNvSpPr/>
          <p:nvPr/>
        </p:nvSpPr>
        <p:spPr>
          <a:xfrm>
            <a:off x="6647688" y="2395728"/>
            <a:ext cx="1143000" cy="4114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6" name="Text 24"/>
          <p:cNvSpPr/>
          <p:nvPr/>
        </p:nvSpPr>
        <p:spPr>
          <a:xfrm>
            <a:off x="6720840" y="2834640"/>
            <a:ext cx="100584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Network</a:t>
            </a:r>
            <a:endParaRPr lang="en-US" sz="1200" dirty="0"/>
          </a:p>
        </p:txBody>
      </p:sp>
      <p:sp>
        <p:nvSpPr>
          <p:cNvPr id="27" name="Text 25"/>
          <p:cNvSpPr/>
          <p:nvPr/>
        </p:nvSpPr>
        <p:spPr>
          <a:xfrm>
            <a:off x="6720840" y="3182112"/>
            <a:ext cx="1005840" cy="1536192"/>
          </a:xfrm>
          <a:prstGeom prst="rect">
            <a:avLst/>
          </a:prstGeom>
          <a:noFill/>
          <a:ln/>
        </p:spPr>
        <p:txBody>
          <a:bodyPr wrap="square" rtlCol="0" anchor="ctr"/>
          <a:lstStyle/>
          <a:p>
            <a:pPr indent="0" marL="0">
              <a:lnSpc>
                <a:spcPct val="130000"/>
              </a:lnSpc>
              <a:buNone/>
            </a:pPr>
            <a:r>
              <a:rPr lang="en-US" sz="950" dirty="0">
                <a:solidFill>
                  <a:srgbClr val="DDDDFF"/>
                </a:solidFill>
                <a:latin typeface="Calibri" pitchFamily="34" charset="0"/>
                <a:ea typeface="Calibri" pitchFamily="34" charset="-122"/>
                <a:cs typeface="Calibri" pitchFamily="34" charset="-120"/>
              </a:rPr>
              <a:t>More published workers means more reason for the next expert to become a creator.</a:t>
            </a:r>
            <a:endParaRPr lang="en-US" sz="950" dirty="0"/>
          </a:p>
        </p:txBody>
      </p:sp>
      <p:sp>
        <p:nvSpPr>
          <p:cNvPr id="28" name="Shape 26"/>
          <p:cNvSpPr/>
          <p:nvPr/>
        </p:nvSpPr>
        <p:spPr>
          <a:xfrm>
            <a:off x="7891272" y="2304288"/>
            <a:ext cx="1143000" cy="2542032"/>
          </a:xfrm>
          <a:prstGeom prst="rect">
            <a:avLst/>
          </a:prstGeom>
          <a:solidFill>
            <a:srgbClr val="7B3FE4"/>
          </a:solidFill>
          <a:ln/>
          <a:effectLst>
            <a:outerShdw sx="100000" sy="100000" kx="0" ky="0" algn="bl" rotWithShape="0" blurRad="63500" dist="25400" dir="8100000">
              <a:srgbClr val="000000">
                <a:alpha val="18000"/>
              </a:srgbClr>
            </a:outerShdw>
          </a:effectLst>
        </p:spPr>
      </p:sp>
      <p:sp>
        <p:nvSpPr>
          <p:cNvPr id="29" name="Text 27"/>
          <p:cNvSpPr/>
          <p:nvPr/>
        </p:nvSpPr>
        <p:spPr>
          <a:xfrm>
            <a:off x="7891272" y="2395728"/>
            <a:ext cx="1143000" cy="4114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30" name="Text 28"/>
          <p:cNvSpPr/>
          <p:nvPr/>
        </p:nvSpPr>
        <p:spPr>
          <a:xfrm>
            <a:off x="7964424" y="2834640"/>
            <a:ext cx="100584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Flywheel</a:t>
            </a:r>
            <a:endParaRPr lang="en-US" sz="1200" dirty="0"/>
          </a:p>
        </p:txBody>
      </p:sp>
      <p:sp>
        <p:nvSpPr>
          <p:cNvPr id="31" name="Text 29"/>
          <p:cNvSpPr/>
          <p:nvPr/>
        </p:nvSpPr>
        <p:spPr>
          <a:xfrm>
            <a:off x="7964424" y="3182112"/>
            <a:ext cx="1005840" cy="1536192"/>
          </a:xfrm>
          <a:prstGeom prst="rect">
            <a:avLst/>
          </a:prstGeom>
          <a:noFill/>
          <a:ln/>
        </p:spPr>
        <p:txBody>
          <a:bodyPr wrap="square" rtlCol="0" anchor="ctr"/>
          <a:lstStyle/>
          <a:p>
            <a:pPr indent="0" marL="0">
              <a:lnSpc>
                <a:spcPct val="130000"/>
              </a:lnSpc>
              <a:buNone/>
            </a:pPr>
            <a:r>
              <a:rPr lang="en-US" sz="950" dirty="0">
                <a:solidFill>
                  <a:srgbClr val="DDDDFF"/>
                </a:solidFill>
                <a:latin typeface="Calibri" pitchFamily="34" charset="0"/>
                <a:ea typeface="Calibri" pitchFamily="34" charset="-122"/>
                <a:cs typeface="Calibri" pitchFamily="34" charset="-120"/>
              </a:rPr>
              <a:t>More creators, a deeper catalog, more revenue flowing back to creators.</a:t>
            </a:r>
            <a:endParaRPr lang="en-US" sz="950" dirty="0"/>
          </a:p>
        </p:txBody>
      </p:sp>
      <p:sp>
        <p:nvSpPr>
          <p:cNvPr id="32" name="Text 30"/>
          <p:cNvSpPr/>
          <p:nvPr/>
        </p:nvSpPr>
        <p:spPr>
          <a:xfrm>
            <a:off x="320040" y="4870000"/>
            <a:ext cx="8412480" cy="219456"/>
          </a:xfrm>
          <a:prstGeom prst="rect">
            <a:avLst/>
          </a:prstGeom>
          <a:noFill/>
          <a:ln/>
        </p:spPr>
        <p:txBody>
          <a:bodyPr wrap="square" rtlCol="0" anchor="ctr"/>
          <a:lstStyle/>
          <a:p>
            <a:pPr indent="0" marL="0">
              <a:buNone/>
            </a:pPr>
            <a:r>
              <a:rPr lang="en-US" sz="1000" i="1" dirty="0">
                <a:solidFill>
                  <a:srgbClr val="8892A4"/>
                </a:solidFill>
                <a:latin typeface="Calibri" pitchFamily="34" charset="0"/>
                <a:ea typeface="Calibri" pitchFamily="34" charset="-122"/>
                <a:cs typeface="Calibri" pitchFamily="34" charset="-120"/>
              </a:rPr>
              <a:t>The thesis, not yet proven at scale — today's catalog is built mainly by our own team and advisors.</a:t>
            </a:r>
            <a:endParaRPr lang="en-US" sz="100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sociii.ai  ·  CONFIDENTIAL  ·  SOCIII Inc. (Delaware C-Corp)  ·  Sep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7B3FE4"/>
          </a:solidFill>
          <a:ln/>
        </p:spPr>
      </p:sp>
      <p:sp>
        <p:nvSpPr>
          <p:cNvPr id="3" name="Text 1"/>
          <p:cNvSpPr/>
          <p:nvPr/>
        </p:nvSpPr>
        <p:spPr>
          <a:xfrm>
            <a:off x="320040" y="201168"/>
            <a:ext cx="3657600" cy="256032"/>
          </a:xfrm>
          <a:prstGeom prst="rect">
            <a:avLst/>
          </a:prstGeom>
          <a:noFill/>
          <a:ln/>
        </p:spPr>
        <p:txBody>
          <a:bodyPr wrap="square" rtlCol="0" anchor="ctr"/>
          <a:lstStyle/>
          <a:p>
            <a:pPr indent="0" marL="0">
              <a:buNone/>
            </a:pPr>
            <a:r>
              <a:rPr lang="en-US" sz="1100" b="1" spc="300" kern="0" dirty="0">
                <a:solidFill>
                  <a:srgbClr val="7B3FE4"/>
                </a:solidFill>
                <a:latin typeface="Calibri" pitchFamily="34" charset="0"/>
                <a:ea typeface="Calibri" pitchFamily="34" charset="-122"/>
                <a:cs typeface="Calibri" pitchFamily="34" charset="-120"/>
              </a:rPr>
              <a:t>THE MOAT</a:t>
            </a:r>
            <a:endParaRPr lang="en-US" sz="1100" dirty="0"/>
          </a:p>
        </p:txBody>
      </p:sp>
      <p:sp>
        <p:nvSpPr>
          <p:cNvPr id="4" name="Text 2"/>
          <p:cNvSpPr/>
          <p:nvPr/>
        </p:nvSpPr>
        <p:spPr>
          <a:xfrm>
            <a:off x="320040" y="411480"/>
            <a:ext cx="8412480" cy="530352"/>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Two Core Moats. Two Compounders.</a:t>
            </a:r>
            <a:endParaRPr lang="en-US" sz="3600" dirty="0"/>
          </a:p>
        </p:txBody>
      </p:sp>
      <p:sp>
        <p:nvSpPr>
          <p:cNvPr id="5" name="Text 3"/>
          <p:cNvSpPr/>
          <p:nvPr/>
        </p:nvSpPr>
        <p:spPr>
          <a:xfrm>
            <a:off x="320040" y="950976"/>
            <a:ext cx="8412480" cy="475488"/>
          </a:xfrm>
          <a:prstGeom prst="rect">
            <a:avLst/>
          </a:prstGeom>
          <a:noFill/>
          <a:ln/>
        </p:spPr>
        <p:txBody>
          <a:bodyPr wrap="square" rtlCol="0" anchor="ctr"/>
          <a:lstStyle/>
          <a:p>
            <a:pPr indent="0" marL="0">
              <a:lnSpc>
                <a:spcPct val="130000"/>
              </a:lnSpc>
              <a:buNone/>
            </a:pPr>
            <a:r>
              <a:rPr lang="en-US" sz="1150" i="1" dirty="0">
                <a:solidFill>
                  <a:srgbClr val="8892A4"/>
                </a:solidFill>
                <a:latin typeface="Calibri" pitchFamily="34" charset="0"/>
                <a:ea typeface="Calibri" pitchFamily="34" charset="-122"/>
                <a:cs typeface="Calibri" pitchFamily="34" charset="-120"/>
              </a:rPr>
              <a:t>The two core moats: governed compliance (RAAS) and an immutable audit trail (The Ledger). Document lock-in and the creator economy compound around them.</a:t>
            </a:r>
            <a:endParaRPr lang="en-US" sz="1150" dirty="0"/>
          </a:p>
        </p:txBody>
      </p:sp>
      <p:sp>
        <p:nvSpPr>
          <p:cNvPr id="6" name="Shape 4"/>
          <p:cNvSpPr/>
          <p:nvPr/>
        </p:nvSpPr>
        <p:spPr>
          <a:xfrm>
            <a:off x="320040" y="1572768"/>
            <a:ext cx="2084832" cy="3364992"/>
          </a:xfrm>
          <a:prstGeom prst="rect">
            <a:avLst/>
          </a:prstGeom>
          <a:solidFill>
            <a:srgbClr val="4A1D8C"/>
          </a:solidFill>
          <a:ln w="12700">
            <a:solidFill>
              <a:srgbClr val="FFFFFF"/>
            </a:solidFill>
            <a:prstDash val="solid"/>
          </a:ln>
          <a:effectLst>
            <a:outerShdw sx="100000" sy="100000" kx="0" ky="0" algn="bl" rotWithShape="0" blurRad="63500" dist="25400" dir="8100000">
              <a:srgbClr val="000000">
                <a:alpha val="18000"/>
              </a:srgbClr>
            </a:outerShdw>
          </a:effectLst>
        </p:spPr>
      </p:sp>
      <p:sp>
        <p:nvSpPr>
          <p:cNvPr id="7" name="Shape 5"/>
          <p:cNvSpPr/>
          <p:nvPr/>
        </p:nvSpPr>
        <p:spPr>
          <a:xfrm>
            <a:off x="429768" y="1682496"/>
            <a:ext cx="475488" cy="329184"/>
          </a:xfrm>
          <a:prstGeom prst="rect">
            <a:avLst/>
          </a:prstGeom>
          <a:solidFill>
            <a:srgbClr val="FFFFFF"/>
          </a:solidFill>
          <a:ln/>
        </p:spPr>
      </p:sp>
      <p:sp>
        <p:nvSpPr>
          <p:cNvPr id="8" name="Text 6"/>
          <p:cNvSpPr/>
          <p:nvPr/>
        </p:nvSpPr>
        <p:spPr>
          <a:xfrm>
            <a:off x="429768" y="1682496"/>
            <a:ext cx="475488" cy="329184"/>
          </a:xfrm>
          <a:prstGeom prst="rect">
            <a:avLst/>
          </a:prstGeom>
          <a:noFill/>
          <a:ln/>
        </p:spPr>
        <p:txBody>
          <a:bodyPr wrap="square" rtlCol="0" anchor="ctr"/>
          <a:lstStyle/>
          <a:p>
            <a:pPr algn="ctr" indent="0" marL="0">
              <a:buNone/>
            </a:pPr>
            <a:r>
              <a:rPr lang="en-US" sz="1300" b="1" dirty="0">
                <a:solidFill>
                  <a:srgbClr val="4A1D8C"/>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429768" y="2066544"/>
            <a:ext cx="18745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RAAS</a:t>
            </a:r>
            <a:endParaRPr lang="en-US" sz="1500" dirty="0"/>
          </a:p>
        </p:txBody>
      </p:sp>
      <p:sp>
        <p:nvSpPr>
          <p:cNvPr id="10" name="Text 8"/>
          <p:cNvSpPr/>
          <p:nvPr/>
        </p:nvSpPr>
        <p:spPr>
          <a:xfrm>
            <a:off x="429768" y="2414016"/>
            <a:ext cx="1874520" cy="274320"/>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Structural Compliance Architecture</a:t>
            </a:r>
            <a:endParaRPr lang="en-US" sz="950" dirty="0"/>
          </a:p>
        </p:txBody>
      </p:sp>
      <p:sp>
        <p:nvSpPr>
          <p:cNvPr id="11" name="Shape 9"/>
          <p:cNvSpPr/>
          <p:nvPr/>
        </p:nvSpPr>
        <p:spPr>
          <a:xfrm>
            <a:off x="429768" y="2706624"/>
            <a:ext cx="1874520" cy="18288"/>
          </a:xfrm>
          <a:prstGeom prst="rect">
            <a:avLst/>
          </a:prstGeom>
          <a:solidFill>
            <a:srgbClr val="FFFFFF">
              <a:alpha val="20000"/>
            </a:srgbClr>
          </a:solidFill>
          <a:ln/>
        </p:spPr>
      </p:sp>
      <p:sp>
        <p:nvSpPr>
          <p:cNvPr id="12" name="Text 10"/>
          <p:cNvSpPr/>
          <p:nvPr/>
        </p:nvSpPr>
        <p:spPr>
          <a:xfrm>
            <a:off x="429768" y="2779776"/>
            <a:ext cx="1874520" cy="2029968"/>
          </a:xfrm>
          <a:prstGeom prst="rect">
            <a:avLst/>
          </a:prstGeom>
          <a:noFill/>
          <a:ln/>
        </p:spPr>
        <p:txBody>
          <a:bodyPr wrap="square" rtlCol="0" anchor="ctr"/>
          <a:lstStyle/>
          <a:p>
            <a:pPr indent="0" marL="0">
              <a:lnSpc>
                <a:spcPct val="142000"/>
              </a:lnSpc>
              <a:buNone/>
            </a:pPr>
            <a:r>
              <a:rPr lang="en-US" sz="1100" dirty="0">
                <a:solidFill>
                  <a:srgbClr val="DDDDEE"/>
                </a:solidFill>
                <a:latin typeface="Calibri" pitchFamily="34" charset="0"/>
                <a:ea typeface="Calibri" pitchFamily="34" charset="-122"/>
                <a:cs typeface="Calibri" pitchFamily="34" charset="-120"/>
              </a:rPr>
              <a:t>Four-tier compliance hierarchy built into every output. Competitors can build AI products. They cannot easily replicate a governed compliance layer without rebuilding everything from scratch.</a:t>
            </a:r>
            <a:endParaRPr lang="en-US" sz="1100" dirty="0"/>
          </a:p>
        </p:txBody>
      </p:sp>
      <p:sp>
        <p:nvSpPr>
          <p:cNvPr id="13" name="Shape 11"/>
          <p:cNvSpPr/>
          <p:nvPr/>
        </p:nvSpPr>
        <p:spPr>
          <a:xfrm>
            <a:off x="2532888" y="1572768"/>
            <a:ext cx="2084832" cy="3364992"/>
          </a:xfrm>
          <a:prstGeom prst="rect">
            <a:avLst/>
          </a:prstGeom>
          <a:solidFill>
            <a:srgbClr val="1A1A2E"/>
          </a:solidFill>
          <a:ln w="12700">
            <a:solidFill>
              <a:srgbClr val="7B3FE4">
                <a:alpha val="60000"/>
              </a:srgbClr>
            </a:solidFill>
            <a:prstDash val="solid"/>
          </a:ln>
          <a:effectLst>
            <a:outerShdw sx="100000" sy="100000" kx="0" ky="0" algn="bl" rotWithShape="0" blurRad="63500" dist="25400" dir="8100000">
              <a:srgbClr val="000000">
                <a:alpha val="18000"/>
              </a:srgbClr>
            </a:outerShdw>
          </a:effectLst>
        </p:spPr>
      </p:sp>
      <p:sp>
        <p:nvSpPr>
          <p:cNvPr id="14" name="Shape 12"/>
          <p:cNvSpPr/>
          <p:nvPr/>
        </p:nvSpPr>
        <p:spPr>
          <a:xfrm>
            <a:off x="2642616" y="1682496"/>
            <a:ext cx="475488" cy="329184"/>
          </a:xfrm>
          <a:prstGeom prst="rect">
            <a:avLst/>
          </a:prstGeom>
          <a:solidFill>
            <a:srgbClr val="7B3FE4">
              <a:alpha val="25000"/>
            </a:srgbClr>
          </a:solidFill>
          <a:ln/>
        </p:spPr>
      </p:sp>
      <p:sp>
        <p:nvSpPr>
          <p:cNvPr id="15" name="Text 13"/>
          <p:cNvSpPr/>
          <p:nvPr/>
        </p:nvSpPr>
        <p:spPr>
          <a:xfrm>
            <a:off x="2642616" y="1682496"/>
            <a:ext cx="475488" cy="329184"/>
          </a:xfrm>
          <a:prstGeom prst="rect">
            <a:avLst/>
          </a:prstGeom>
          <a:noFill/>
          <a:ln/>
        </p:spPr>
        <p:txBody>
          <a:bodyPr wrap="square" rtlCol="0" anchor="ctr"/>
          <a:lstStyle/>
          <a:p>
            <a:pPr algn="ctr" indent="0" marL="0">
              <a:buNone/>
            </a:pPr>
            <a:r>
              <a:rPr lang="en-US" sz="1300" b="1" dirty="0">
                <a:solidFill>
                  <a:srgbClr val="7B3FE4"/>
                </a:solidFill>
                <a:latin typeface="Calibri" pitchFamily="34" charset="0"/>
                <a:ea typeface="Calibri" pitchFamily="34" charset="-122"/>
                <a:cs typeface="Calibri" pitchFamily="34" charset="-120"/>
              </a:rPr>
              <a:t>02</a:t>
            </a:r>
            <a:endParaRPr lang="en-US" sz="1300" dirty="0"/>
          </a:p>
        </p:txBody>
      </p:sp>
      <p:sp>
        <p:nvSpPr>
          <p:cNvPr id="16" name="Text 14"/>
          <p:cNvSpPr/>
          <p:nvPr/>
        </p:nvSpPr>
        <p:spPr>
          <a:xfrm>
            <a:off x="2642616" y="2066544"/>
            <a:ext cx="18745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Studio Locker</a:t>
            </a:r>
            <a:endParaRPr lang="en-US" sz="1500" dirty="0"/>
          </a:p>
        </p:txBody>
      </p:sp>
      <p:sp>
        <p:nvSpPr>
          <p:cNvPr id="17" name="Text 15"/>
          <p:cNvSpPr/>
          <p:nvPr/>
        </p:nvSpPr>
        <p:spPr>
          <a:xfrm>
            <a:off x="2642616" y="2414016"/>
            <a:ext cx="1874520" cy="274320"/>
          </a:xfrm>
          <a:prstGeom prst="rect">
            <a:avLst/>
          </a:prstGeom>
          <a:noFill/>
          <a:ln/>
        </p:spPr>
        <p:txBody>
          <a:bodyPr wrap="square" rtlCol="0" anchor="ctr"/>
          <a:lstStyle/>
          <a:p>
            <a:pPr indent="0" marL="0">
              <a:buNone/>
            </a:pPr>
            <a:r>
              <a:rPr lang="en-US" sz="950" i="1" dirty="0">
                <a:solidFill>
                  <a:srgbClr val="7B3FE4"/>
                </a:solidFill>
                <a:latin typeface="Calibri" pitchFamily="34" charset="0"/>
                <a:ea typeface="Calibri" pitchFamily="34" charset="-122"/>
                <a:cs typeface="Calibri" pitchFamily="34" charset="-120"/>
              </a:rPr>
              <a:t>Document-Driven Outputs</a:t>
            </a:r>
            <a:endParaRPr lang="en-US" sz="950" dirty="0"/>
          </a:p>
        </p:txBody>
      </p:sp>
      <p:sp>
        <p:nvSpPr>
          <p:cNvPr id="18" name="Shape 16"/>
          <p:cNvSpPr/>
          <p:nvPr/>
        </p:nvSpPr>
        <p:spPr>
          <a:xfrm>
            <a:off x="2642616" y="2706624"/>
            <a:ext cx="1874520" cy="18288"/>
          </a:xfrm>
          <a:prstGeom prst="rect">
            <a:avLst/>
          </a:prstGeom>
          <a:solidFill>
            <a:srgbClr val="FFFFFF">
              <a:alpha val="20000"/>
            </a:srgbClr>
          </a:solidFill>
          <a:ln/>
        </p:spPr>
      </p:sp>
      <p:sp>
        <p:nvSpPr>
          <p:cNvPr id="19" name="Text 17"/>
          <p:cNvSpPr/>
          <p:nvPr/>
        </p:nvSpPr>
        <p:spPr>
          <a:xfrm>
            <a:off x="2642616" y="2779776"/>
            <a:ext cx="1874520" cy="2029968"/>
          </a:xfrm>
          <a:prstGeom prst="rect">
            <a:avLst/>
          </a:prstGeom>
          <a:noFill/>
          <a:ln/>
        </p:spPr>
        <p:txBody>
          <a:bodyPr wrap="square" rtlCol="0" anchor="ctr"/>
          <a:lstStyle/>
          <a:p>
            <a:pPr indent="0" marL="0">
              <a:lnSpc>
                <a:spcPct val="142000"/>
              </a:lnSpc>
              <a:buNone/>
            </a:pPr>
            <a:r>
              <a:rPr lang="en-US" sz="1100" dirty="0">
                <a:solidFill>
                  <a:srgbClr val="DDDDEE"/>
                </a:solidFill>
                <a:latin typeface="Calibri" pitchFamily="34" charset="0"/>
                <a:ea typeface="Calibri" pitchFamily="34" charset="-122"/>
                <a:cs typeface="Calibri" pitchFamily="34" charset="-120"/>
              </a:rPr>
              <a:t>A worker trained on this operator's specific POH, protocols, and policies produces outputs no generic AI can match. Documents compound the moat. Switching cost grows with every file uploaded.</a:t>
            </a:r>
            <a:endParaRPr lang="en-US" sz="1100" dirty="0"/>
          </a:p>
        </p:txBody>
      </p:sp>
      <p:sp>
        <p:nvSpPr>
          <p:cNvPr id="20" name="Shape 18"/>
          <p:cNvSpPr/>
          <p:nvPr/>
        </p:nvSpPr>
        <p:spPr>
          <a:xfrm>
            <a:off x="4745736" y="1572768"/>
            <a:ext cx="2084832" cy="3364992"/>
          </a:xfrm>
          <a:prstGeom prst="rect">
            <a:avLst/>
          </a:prstGeom>
          <a:solidFill>
            <a:srgbClr val="0A1A0A"/>
          </a:solidFill>
          <a:ln w="12700">
            <a:solidFill>
              <a:srgbClr val="10B981">
                <a:alpha val="60000"/>
              </a:srgbClr>
            </a:solidFill>
            <a:prstDash val="solid"/>
          </a:ln>
          <a:effectLst>
            <a:outerShdw sx="100000" sy="100000" kx="0" ky="0" algn="bl" rotWithShape="0" blurRad="63500" dist="25400" dir="8100000">
              <a:srgbClr val="000000">
                <a:alpha val="18000"/>
              </a:srgbClr>
            </a:outerShdw>
          </a:effectLst>
        </p:spPr>
      </p:sp>
      <p:sp>
        <p:nvSpPr>
          <p:cNvPr id="21" name="Shape 19"/>
          <p:cNvSpPr/>
          <p:nvPr/>
        </p:nvSpPr>
        <p:spPr>
          <a:xfrm>
            <a:off x="4855464" y="1682496"/>
            <a:ext cx="475488" cy="329184"/>
          </a:xfrm>
          <a:prstGeom prst="rect">
            <a:avLst/>
          </a:prstGeom>
          <a:solidFill>
            <a:srgbClr val="10B981">
              <a:alpha val="25000"/>
            </a:srgbClr>
          </a:solidFill>
          <a:ln/>
        </p:spPr>
      </p:sp>
      <p:sp>
        <p:nvSpPr>
          <p:cNvPr id="22" name="Text 20"/>
          <p:cNvSpPr/>
          <p:nvPr/>
        </p:nvSpPr>
        <p:spPr>
          <a:xfrm>
            <a:off x="4855464" y="1682496"/>
            <a:ext cx="475488" cy="329184"/>
          </a:xfrm>
          <a:prstGeom prst="rect">
            <a:avLst/>
          </a:prstGeom>
          <a:noFill/>
          <a:ln/>
        </p:spPr>
        <p:txBody>
          <a:bodyPr wrap="square" rtlCol="0" anchor="ctr"/>
          <a:lstStyle/>
          <a:p>
            <a:pPr algn="ctr" indent="0" marL="0">
              <a:buNone/>
            </a:pPr>
            <a:r>
              <a:rPr lang="en-US" sz="1300" b="1" dirty="0">
                <a:solidFill>
                  <a:srgbClr val="10B981"/>
                </a:solidFill>
                <a:latin typeface="Calibri" pitchFamily="34" charset="0"/>
                <a:ea typeface="Calibri" pitchFamily="34" charset="-122"/>
                <a:cs typeface="Calibri" pitchFamily="34" charset="-120"/>
              </a:rPr>
              <a:t>03</a:t>
            </a:r>
            <a:endParaRPr lang="en-US" sz="1300" dirty="0"/>
          </a:p>
        </p:txBody>
      </p:sp>
      <p:sp>
        <p:nvSpPr>
          <p:cNvPr id="23" name="Text 21"/>
          <p:cNvSpPr/>
          <p:nvPr/>
        </p:nvSpPr>
        <p:spPr>
          <a:xfrm>
            <a:off x="4855464" y="2066544"/>
            <a:ext cx="18745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Codex</a:t>
            </a:r>
            <a:endParaRPr lang="en-US" sz="1500" dirty="0"/>
          </a:p>
        </p:txBody>
      </p:sp>
      <p:sp>
        <p:nvSpPr>
          <p:cNvPr id="24" name="Text 22"/>
          <p:cNvSpPr/>
          <p:nvPr/>
        </p:nvSpPr>
        <p:spPr>
          <a:xfrm>
            <a:off x="4855464" y="2414016"/>
            <a:ext cx="1874520" cy="274320"/>
          </a:xfrm>
          <a:prstGeom prst="rect">
            <a:avLst/>
          </a:prstGeom>
          <a:noFill/>
          <a:ln/>
        </p:spPr>
        <p:txBody>
          <a:bodyPr wrap="square" rtlCol="0" anchor="ctr"/>
          <a:lstStyle/>
          <a:p>
            <a:pPr indent="0" marL="0">
              <a:buNone/>
            </a:pPr>
            <a:r>
              <a:rPr lang="en-US" sz="950" i="1" dirty="0">
                <a:solidFill>
                  <a:srgbClr val="10B981"/>
                </a:solidFill>
                <a:latin typeface="Calibri" pitchFamily="34" charset="0"/>
                <a:ea typeface="Calibri" pitchFamily="34" charset="-122"/>
                <a:cs typeface="Calibri" pitchFamily="34" charset="-120"/>
              </a:rPr>
              <a:t>Governed Creator Economy</a:t>
            </a:r>
            <a:endParaRPr lang="en-US" sz="950" dirty="0"/>
          </a:p>
        </p:txBody>
      </p:sp>
      <p:sp>
        <p:nvSpPr>
          <p:cNvPr id="25" name="Shape 23"/>
          <p:cNvSpPr/>
          <p:nvPr/>
        </p:nvSpPr>
        <p:spPr>
          <a:xfrm>
            <a:off x="4855464" y="2706624"/>
            <a:ext cx="1874520" cy="18288"/>
          </a:xfrm>
          <a:prstGeom prst="rect">
            <a:avLst/>
          </a:prstGeom>
          <a:solidFill>
            <a:srgbClr val="FFFFFF">
              <a:alpha val="20000"/>
            </a:srgbClr>
          </a:solidFill>
          <a:ln/>
        </p:spPr>
      </p:sp>
      <p:sp>
        <p:nvSpPr>
          <p:cNvPr id="26" name="Text 24"/>
          <p:cNvSpPr/>
          <p:nvPr/>
        </p:nvSpPr>
        <p:spPr>
          <a:xfrm>
            <a:off x="4855464" y="2779776"/>
            <a:ext cx="1874520" cy="2029968"/>
          </a:xfrm>
          <a:prstGeom prst="rect">
            <a:avLst/>
          </a:prstGeom>
          <a:noFill/>
          <a:ln/>
        </p:spPr>
        <p:txBody>
          <a:bodyPr wrap="square" rtlCol="0" anchor="ctr"/>
          <a:lstStyle/>
          <a:p>
            <a:pPr indent="0" marL="0">
              <a:lnSpc>
                <a:spcPct val="142000"/>
              </a:lnSpc>
              <a:buNone/>
            </a:pPr>
            <a:r>
              <a:rPr lang="en-US" sz="1100" dirty="0">
                <a:solidFill>
                  <a:srgbClr val="DDDDEE"/>
                </a:solidFill>
                <a:latin typeface="Calibri" pitchFamily="34" charset="0"/>
                <a:ea typeface="Calibri" pitchFamily="34" charset="-122"/>
                <a:cs typeface="Calibri" pitchFamily="34" charset="-120"/>
              </a:rPr>
              <a:t>Every worker auto-generates a living record of its rules, connectors, and compliance posture. Transparent. Auditable. Version-controlled. The regulatory paper trail regulators will eventually require.</a:t>
            </a:r>
            <a:endParaRPr lang="en-US" sz="1100" dirty="0"/>
          </a:p>
        </p:txBody>
      </p:sp>
      <p:sp>
        <p:nvSpPr>
          <p:cNvPr id="27" name="Shape 25"/>
          <p:cNvSpPr/>
          <p:nvPr/>
        </p:nvSpPr>
        <p:spPr>
          <a:xfrm>
            <a:off x="6958584" y="1572768"/>
            <a:ext cx="2084832" cy="3364992"/>
          </a:xfrm>
          <a:prstGeom prst="rect">
            <a:avLst/>
          </a:prstGeom>
          <a:solidFill>
            <a:srgbClr val="1A0A2E"/>
          </a:solidFill>
          <a:ln w="12700">
            <a:solidFill>
              <a:srgbClr val="2D6BE4">
                <a:alpha val="60000"/>
              </a:srgbClr>
            </a:solidFill>
            <a:prstDash val="solid"/>
          </a:ln>
          <a:effectLst>
            <a:outerShdw sx="100000" sy="100000" kx="0" ky="0" algn="bl" rotWithShape="0" blurRad="63500" dist="25400" dir="8100000">
              <a:srgbClr val="000000">
                <a:alpha val="18000"/>
              </a:srgbClr>
            </a:outerShdw>
          </a:effectLst>
        </p:spPr>
      </p:sp>
      <p:sp>
        <p:nvSpPr>
          <p:cNvPr id="28" name="Shape 26"/>
          <p:cNvSpPr/>
          <p:nvPr/>
        </p:nvSpPr>
        <p:spPr>
          <a:xfrm>
            <a:off x="7068312" y="1682496"/>
            <a:ext cx="475488" cy="329184"/>
          </a:xfrm>
          <a:prstGeom prst="rect">
            <a:avLst/>
          </a:prstGeom>
          <a:solidFill>
            <a:srgbClr val="2D6BE4">
              <a:alpha val="25000"/>
            </a:srgbClr>
          </a:solidFill>
          <a:ln/>
        </p:spPr>
      </p:sp>
      <p:sp>
        <p:nvSpPr>
          <p:cNvPr id="29" name="Text 27"/>
          <p:cNvSpPr/>
          <p:nvPr/>
        </p:nvSpPr>
        <p:spPr>
          <a:xfrm>
            <a:off x="7068312" y="1682496"/>
            <a:ext cx="475488" cy="329184"/>
          </a:xfrm>
          <a:prstGeom prst="rect">
            <a:avLst/>
          </a:prstGeom>
          <a:noFill/>
          <a:ln/>
        </p:spPr>
        <p:txBody>
          <a:bodyPr wrap="square" rtlCol="0" anchor="ctr"/>
          <a:lstStyle/>
          <a:p>
            <a:pPr algn="ctr" indent="0" marL="0">
              <a:buNone/>
            </a:pPr>
            <a:r>
              <a:rPr lang="en-US" sz="1300" b="1" dirty="0">
                <a:solidFill>
                  <a:srgbClr val="2D6BE4"/>
                </a:solidFill>
                <a:latin typeface="Calibri" pitchFamily="34" charset="0"/>
                <a:ea typeface="Calibri" pitchFamily="34" charset="-122"/>
                <a:cs typeface="Calibri" pitchFamily="34" charset="-120"/>
              </a:rPr>
              <a:t>04</a:t>
            </a:r>
            <a:endParaRPr lang="en-US" sz="1300" dirty="0"/>
          </a:p>
        </p:txBody>
      </p:sp>
      <p:sp>
        <p:nvSpPr>
          <p:cNvPr id="30" name="Shape 28"/>
          <p:cNvSpPr/>
          <p:nvPr/>
        </p:nvSpPr>
        <p:spPr>
          <a:xfrm>
            <a:off x="7598664" y="1700784"/>
            <a:ext cx="1325880" cy="274320"/>
          </a:xfrm>
          <a:prstGeom prst="rect">
            <a:avLst/>
          </a:prstGeom>
          <a:solidFill>
            <a:srgbClr val="2D6BE4"/>
          </a:solidFill>
          <a:ln/>
        </p:spPr>
      </p:sp>
      <p:sp>
        <p:nvSpPr>
          <p:cNvPr id="31" name="Text 29"/>
          <p:cNvSpPr/>
          <p:nvPr/>
        </p:nvSpPr>
        <p:spPr>
          <a:xfrm>
            <a:off x="7598664" y="1719072"/>
            <a:ext cx="1325880" cy="237744"/>
          </a:xfrm>
          <a:prstGeom prst="rect">
            <a:avLst/>
          </a:prstGeom>
          <a:noFill/>
          <a:ln/>
        </p:spPr>
        <p:txBody>
          <a:bodyPr wrap="square"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PATENT PENDING</a:t>
            </a:r>
            <a:endParaRPr lang="en-US" sz="850" dirty="0"/>
          </a:p>
        </p:txBody>
      </p:sp>
      <p:sp>
        <p:nvSpPr>
          <p:cNvPr id="32" name="Text 30"/>
          <p:cNvSpPr/>
          <p:nvPr/>
        </p:nvSpPr>
        <p:spPr>
          <a:xfrm>
            <a:off x="7068312" y="2066544"/>
            <a:ext cx="18745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Ledger</a:t>
            </a:r>
            <a:endParaRPr lang="en-US" sz="1500" dirty="0"/>
          </a:p>
        </p:txBody>
      </p:sp>
      <p:sp>
        <p:nvSpPr>
          <p:cNvPr id="33" name="Text 31"/>
          <p:cNvSpPr/>
          <p:nvPr/>
        </p:nvSpPr>
        <p:spPr>
          <a:xfrm>
            <a:off x="7068312" y="2414016"/>
            <a:ext cx="1874520" cy="274320"/>
          </a:xfrm>
          <a:prstGeom prst="rect">
            <a:avLst/>
          </a:prstGeom>
          <a:noFill/>
          <a:ln/>
        </p:spPr>
        <p:txBody>
          <a:bodyPr wrap="square" rtlCol="0" anchor="ctr"/>
          <a:lstStyle/>
          <a:p>
            <a:pPr indent="0" marL="0">
              <a:buNone/>
            </a:pPr>
            <a:r>
              <a:rPr lang="en-US" sz="950" i="1" dirty="0">
                <a:solidFill>
                  <a:srgbClr val="2D6BE4"/>
                </a:solidFill>
                <a:latin typeface="Calibri" pitchFamily="34" charset="0"/>
                <a:ea typeface="Calibri" pitchFamily="34" charset="-122"/>
                <a:cs typeface="Calibri" pitchFamily="34" charset="-120"/>
              </a:rPr>
              <a:t>Immutable Blockchain Audit Trail</a:t>
            </a:r>
            <a:endParaRPr lang="en-US" sz="950" dirty="0"/>
          </a:p>
        </p:txBody>
      </p:sp>
      <p:sp>
        <p:nvSpPr>
          <p:cNvPr id="34" name="Shape 32"/>
          <p:cNvSpPr/>
          <p:nvPr/>
        </p:nvSpPr>
        <p:spPr>
          <a:xfrm>
            <a:off x="7068312" y="2706624"/>
            <a:ext cx="1874520" cy="18288"/>
          </a:xfrm>
          <a:prstGeom prst="rect">
            <a:avLst/>
          </a:prstGeom>
          <a:solidFill>
            <a:srgbClr val="FFFFFF">
              <a:alpha val="20000"/>
            </a:srgbClr>
          </a:solidFill>
          <a:ln/>
        </p:spPr>
      </p:sp>
      <p:sp>
        <p:nvSpPr>
          <p:cNvPr id="35" name="Text 33"/>
          <p:cNvSpPr/>
          <p:nvPr/>
        </p:nvSpPr>
        <p:spPr>
          <a:xfrm>
            <a:off x="7068312" y="2779776"/>
            <a:ext cx="1874520" cy="2029968"/>
          </a:xfrm>
          <a:prstGeom prst="rect">
            <a:avLst/>
          </a:prstGeom>
          <a:noFill/>
          <a:ln/>
        </p:spPr>
        <p:txBody>
          <a:bodyPr wrap="square" rtlCol="0" anchor="ctr"/>
          <a:lstStyle/>
          <a:p>
            <a:pPr indent="0" marL="0">
              <a:lnSpc>
                <a:spcPct val="142000"/>
              </a:lnSpc>
              <a:buNone/>
            </a:pPr>
            <a:r>
              <a:rPr lang="en-US" sz="1100" dirty="0">
                <a:solidFill>
                  <a:srgbClr val="DDDDEE"/>
                </a:solidFill>
                <a:latin typeface="Calibri" pitchFamily="34" charset="0"/>
                <a:ea typeface="Calibri" pitchFamily="34" charset="-122"/>
                <a:cs typeface="Calibri" pitchFamily="34" charset="-120"/>
              </a:rPr>
              <a:t>Patent pending. Every significant output minted on-chain automatically. The only cryptographic proof of what an AI said in a regulated context. Patent pending. First and only filing of its kind.</a:t>
            </a:r>
            <a:endParaRPr lang="en-US" sz="1100" dirty="0"/>
          </a:p>
        </p:txBody>
      </p:sp>
      <p:sp>
        <p:nvSpPr>
          <p:cNvPr id="200" name="Badge1Rect"/>
          <p:cNvSpPr/>
          <p:nvPr/>
        </p:nvSpPr>
        <p:spPr>
          <a:xfrm>
            <a:off x="960120" y="1700784"/>
            <a:ext cx="1325880" cy="274320"/>
          </a:xfrm>
          <a:prstGeom prst="rect">
            <a:avLst/>
          </a:prstGeom>
          <a:solidFill>
            <a:srgbClr val="4A1D8C"/>
          </a:solidFill>
          <a:ln/>
        </p:spPr>
      </p:sp>
      <p:sp>
        <p:nvSpPr>
          <p:cNvPr id="201" name="Badge1Text"/>
          <p:cNvSpPr/>
          <p:nvPr/>
        </p:nvSpPr>
        <p:spPr>
          <a:xfrm>
            <a:off x="960120" y="1719072"/>
            <a:ext cx="1325880" cy="237744"/>
          </a:xfrm>
          <a:prstGeom prst="rect">
            <a:avLst/>
          </a:prstGeom>
          <a:noFill/>
          <a:ln/>
        </p:spPr>
        <p:txBody>
          <a:bodyPr wrap="square" rtlCol="0" anchor="ctr"/>
          <a:lstStyle/>
          <a:p>
            <a:pPr algn="ctr" indent="0" marL="0">
              <a:buNone/>
            </a:pPr>
            <a:r>
              <a:rPr lang="en-US" sz="850" b="1" spc="100" kern="0" dirty="0">
                <a:solidFill>
                  <a:srgbClr val="FFFFFF"/>
                </a:solidFill>
                <a:latin typeface="Calibri" pitchFamily="34" charset="0"/>
              </a:rPr>
              <a:t>PATENT PENDING</a:t>
            </a:r>
          </a:p>
        </p:txBody>
      </p:sp>
      <p:sp>
        <p:nvSpPr>
          <p:cNvPr id="202" name="Badge2Rect"/>
          <p:cNvSpPr/>
          <p:nvPr/>
        </p:nvSpPr>
        <p:spPr>
          <a:xfrm>
            <a:off x="3172968" y="1700784"/>
            <a:ext cx="1325880" cy="274320"/>
          </a:xfrm>
          <a:prstGeom prst="rect">
            <a:avLst/>
          </a:prstGeom>
          <a:solidFill>
            <a:srgbClr val="7B3FE4"/>
          </a:solidFill>
          <a:ln/>
        </p:spPr>
      </p:sp>
      <p:sp>
        <p:nvSpPr>
          <p:cNvPr id="203" name="Badge2Text"/>
          <p:cNvSpPr/>
          <p:nvPr/>
        </p:nvSpPr>
        <p:spPr>
          <a:xfrm>
            <a:off x="3172968" y="1719072"/>
            <a:ext cx="1325880" cy="237744"/>
          </a:xfrm>
          <a:prstGeom prst="rect">
            <a:avLst/>
          </a:prstGeom>
          <a:noFill/>
          <a:ln/>
        </p:spPr>
        <p:txBody>
          <a:bodyPr wrap="square" rtlCol="0" anchor="ctr"/>
          <a:lstStyle/>
          <a:p>
            <a:pPr algn="ctr" indent="0" marL="0">
              <a:buNone/>
            </a:pPr>
            <a:r>
              <a:rPr lang="en-US" sz="850" b="1" spc="100" kern="0" dirty="0">
                <a:solidFill>
                  <a:srgbClr val="FFFFFF"/>
                </a:solidFill>
                <a:latin typeface="Calibri" pitchFamily="34" charset="0"/>
              </a:rPr>
              <a:t>PATENT PENDING</a:t>
            </a:r>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sociii.ai  ·  CONFIDENTIAL  ·  SOCIII Inc. (Delaware C-Corp)  ·  Sep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D7A5F"/>
          </a:solidFill>
          <a:ln/>
        </p:spPr>
      </p:sp>
      <p:sp>
        <p:nvSpPr>
          <p:cNvPr id="3" name="Text 1"/>
          <p:cNvSpPr/>
          <p:nvPr/>
        </p:nvSpPr>
        <p:spPr>
          <a:xfrm>
            <a:off x="320040" y="292608"/>
            <a:ext cx="3657600" cy="256032"/>
          </a:xfrm>
          <a:prstGeom prst="rect">
            <a:avLst/>
          </a:prstGeom>
          <a:noFill/>
          <a:ln/>
        </p:spPr>
        <p:txBody>
          <a:bodyPr wrap="square" rtlCol="0" anchor="ctr"/>
          <a:lstStyle/>
          <a:p>
            <a:pPr indent="0" marL="0">
              <a:buNone/>
            </a:pPr>
            <a:r>
              <a:rPr lang="en-US" sz="1100" b="1" spc="300" kern="0" dirty="0">
                <a:solidFill>
                  <a:srgbClr val="0D7A5F"/>
                </a:solidFill>
                <a:latin typeface="Calibri" pitchFamily="34" charset="0"/>
                <a:ea typeface="Calibri" pitchFamily="34" charset="-122"/>
                <a:cs typeface="Calibri" pitchFamily="34" charset="-120"/>
              </a:rPr>
              <a:t>BUSINESS MODEL</a:t>
            </a:r>
            <a:endParaRPr lang="en-US" sz="1100" dirty="0"/>
          </a:p>
        </p:txBody>
      </p:sp>
      <p:sp>
        <p:nvSpPr>
          <p:cNvPr id="4" name="Text 2"/>
          <p:cNvSpPr/>
          <p:nvPr/>
        </p:nvSpPr>
        <p:spPr>
          <a:xfrm>
            <a:off x="320040" y="530352"/>
            <a:ext cx="8412480" cy="1051560"/>
          </a:xfrm>
          <a:prstGeom prst="rect">
            <a:avLst/>
          </a:prstGeom>
          <a:noFill/>
          <a:ln/>
        </p:spPr>
        <p:txBody>
          <a:bodyPr wrap="square" rtlCol="0" anchor="ctr"/>
          <a:lstStyle/>
          <a:p>
            <a:pPr indent="0" marL="0">
              <a:lnSpc>
                <a:spcPct val="110000"/>
              </a:lnSpc>
              <a:buNone/>
            </a:pPr>
            <a:r>
              <a:rPr lang="en-US" sz="3200" b="1" dirty="0">
                <a:solidFill>
                  <a:srgbClr val="1A0A2E"/>
                </a:solidFill>
                <a:latin typeface="Calibri" pitchFamily="34" charset="0"/>
                <a:ea typeface="Calibri" pitchFamily="34" charset="-122"/>
                <a:cs typeface="Calibri" pitchFamily="34" charset="-120"/>
              </a:rPr>
              <a:t>Five Revenue Streams.</a:t>
            </a:r>
            <a:endParaRPr lang="en-US" sz="3200" dirty="0"/>
          </a:p>
          <a:p>
            <a:pPr indent="0" marL="0">
              <a:lnSpc>
                <a:spcPct val="110000"/>
              </a:lnSpc>
              <a:buNone/>
            </a:pPr>
            <a:r>
              <a:rPr lang="en-US" sz="3200" b="1" dirty="0">
                <a:solidFill>
                  <a:srgbClr val="1A0A2E"/>
                </a:solidFill>
                <a:latin typeface="Calibri" pitchFamily="34" charset="0"/>
                <a:ea typeface="Calibri" pitchFamily="34" charset="-122"/>
                <a:cs typeface="Calibri" pitchFamily="34" charset="-120"/>
              </a:rPr>
              <a:t>Three Are Near-100% Margin.</a:t>
            </a:r>
            <a:endParaRPr lang="en-US" sz="3200" dirty="0"/>
          </a:p>
        </p:txBody>
      </p:sp>
      <p:sp>
        <p:nvSpPr>
          <p:cNvPr id="5" name="Shape 3"/>
          <p:cNvSpPr/>
          <p:nvPr/>
        </p:nvSpPr>
        <p:spPr>
          <a:xfrm>
            <a:off x="320040" y="1783080"/>
            <a:ext cx="2194560" cy="347472"/>
          </a:xfrm>
          <a:prstGeom prst="rect">
            <a:avLst/>
          </a:prstGeom>
          <a:solidFill>
            <a:srgbClr val="4A1D8C"/>
          </a:solidFill>
          <a:ln/>
        </p:spPr>
      </p:sp>
      <p:sp>
        <p:nvSpPr>
          <p:cNvPr id="6" name="Text 4"/>
          <p:cNvSpPr/>
          <p:nvPr/>
        </p:nvSpPr>
        <p:spPr>
          <a:xfrm>
            <a:off x="393192" y="1810512"/>
            <a:ext cx="2048256"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Revenue Stream</a:t>
            </a:r>
            <a:endParaRPr lang="en-US" sz="1100" dirty="0"/>
          </a:p>
        </p:txBody>
      </p:sp>
      <p:sp>
        <p:nvSpPr>
          <p:cNvPr id="7" name="Shape 5"/>
          <p:cNvSpPr/>
          <p:nvPr/>
        </p:nvSpPr>
        <p:spPr>
          <a:xfrm>
            <a:off x="2514600" y="1783080"/>
            <a:ext cx="1371600" cy="347472"/>
          </a:xfrm>
          <a:prstGeom prst="rect">
            <a:avLst/>
          </a:prstGeom>
          <a:solidFill>
            <a:srgbClr val="4A1D8C"/>
          </a:solidFill>
          <a:ln/>
        </p:spPr>
      </p:sp>
      <p:sp>
        <p:nvSpPr>
          <p:cNvPr id="8" name="Text 6"/>
          <p:cNvSpPr/>
          <p:nvPr/>
        </p:nvSpPr>
        <p:spPr>
          <a:xfrm>
            <a:off x="2587752" y="1810512"/>
            <a:ext cx="1225296"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Pricing</a:t>
            </a:r>
            <a:endParaRPr lang="en-US" sz="1100" dirty="0"/>
          </a:p>
        </p:txBody>
      </p:sp>
      <p:sp>
        <p:nvSpPr>
          <p:cNvPr id="9" name="Shape 7"/>
          <p:cNvSpPr/>
          <p:nvPr/>
        </p:nvSpPr>
        <p:spPr>
          <a:xfrm>
            <a:off x="3886200" y="1783080"/>
            <a:ext cx="822960" cy="347472"/>
          </a:xfrm>
          <a:prstGeom prst="rect">
            <a:avLst/>
          </a:prstGeom>
          <a:solidFill>
            <a:srgbClr val="4A1D8C"/>
          </a:solidFill>
          <a:ln/>
        </p:spPr>
      </p:sp>
      <p:sp>
        <p:nvSpPr>
          <p:cNvPr id="10" name="Text 8"/>
          <p:cNvSpPr/>
          <p:nvPr/>
        </p:nvSpPr>
        <p:spPr>
          <a:xfrm>
            <a:off x="3959352" y="1810512"/>
            <a:ext cx="676656"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Margin</a:t>
            </a:r>
            <a:endParaRPr lang="en-US" sz="1100" dirty="0"/>
          </a:p>
        </p:txBody>
      </p:sp>
      <p:sp>
        <p:nvSpPr>
          <p:cNvPr id="11" name="Shape 9"/>
          <p:cNvSpPr/>
          <p:nvPr/>
        </p:nvSpPr>
        <p:spPr>
          <a:xfrm>
            <a:off x="4709160" y="1783080"/>
            <a:ext cx="1005840" cy="347472"/>
          </a:xfrm>
          <a:prstGeom prst="rect">
            <a:avLst/>
          </a:prstGeom>
          <a:solidFill>
            <a:srgbClr val="4A1D8C"/>
          </a:solidFill>
          <a:ln/>
        </p:spPr>
      </p:sp>
      <p:sp>
        <p:nvSpPr>
          <p:cNvPr id="12" name="Text 10"/>
          <p:cNvSpPr/>
          <p:nvPr/>
        </p:nvSpPr>
        <p:spPr>
          <a:xfrm>
            <a:off x="4782312" y="1810512"/>
            <a:ext cx="859536"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Creator Gets</a:t>
            </a:r>
            <a:endParaRPr lang="en-US" sz="1100" dirty="0"/>
          </a:p>
        </p:txBody>
      </p:sp>
      <p:sp>
        <p:nvSpPr>
          <p:cNvPr id="13" name="Shape 11"/>
          <p:cNvSpPr/>
          <p:nvPr/>
        </p:nvSpPr>
        <p:spPr>
          <a:xfrm>
            <a:off x="5715000" y="1783080"/>
            <a:ext cx="2880360" cy="347472"/>
          </a:xfrm>
          <a:prstGeom prst="rect">
            <a:avLst/>
          </a:prstGeom>
          <a:solidFill>
            <a:srgbClr val="4A1D8C"/>
          </a:solidFill>
          <a:ln/>
        </p:spPr>
      </p:sp>
      <p:sp>
        <p:nvSpPr>
          <p:cNvPr id="14" name="Text 12"/>
          <p:cNvSpPr/>
          <p:nvPr/>
        </p:nvSpPr>
        <p:spPr>
          <a:xfrm>
            <a:off x="5788152" y="1810512"/>
            <a:ext cx="2734056"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Scales With</a:t>
            </a:r>
            <a:endParaRPr lang="en-US" sz="1100" dirty="0"/>
          </a:p>
        </p:txBody>
      </p:sp>
      <p:sp>
        <p:nvSpPr>
          <p:cNvPr id="15" name="Shape 13"/>
          <p:cNvSpPr/>
          <p:nvPr/>
        </p:nvSpPr>
        <p:spPr>
          <a:xfrm>
            <a:off x="320040" y="2130552"/>
            <a:ext cx="2194560" cy="438912"/>
          </a:xfrm>
          <a:prstGeom prst="rect">
            <a:avLst/>
          </a:prstGeom>
          <a:solidFill>
            <a:srgbClr val="EDE0FF"/>
          </a:solidFill>
          <a:ln/>
        </p:spPr>
      </p:sp>
      <p:sp>
        <p:nvSpPr>
          <p:cNvPr id="16" name="Text 14"/>
          <p:cNvSpPr/>
          <p:nvPr/>
        </p:nvSpPr>
        <p:spPr>
          <a:xfrm>
            <a:off x="393192" y="2185416"/>
            <a:ext cx="2048256" cy="347472"/>
          </a:xfrm>
          <a:prstGeom prst="rect">
            <a:avLst/>
          </a:prstGeom>
          <a:noFill/>
          <a:ln/>
        </p:spPr>
        <p:txBody>
          <a:bodyPr wrap="square" rtlCol="0" anchor="ctr"/>
          <a:lstStyle/>
          <a:p>
            <a:pPr indent="0" marL="0">
              <a:buNone/>
            </a:pPr>
            <a:r>
              <a:rPr lang="en-US" sz="1100" b="1" dirty="0">
                <a:solidFill>
                  <a:srgbClr val="4A1D8C"/>
                </a:solidFill>
                <a:latin typeface="Calibri" pitchFamily="34" charset="0"/>
                <a:ea typeface="Calibri" pitchFamily="34" charset="-122"/>
                <a:cs typeface="Calibri" pitchFamily="34" charset="-120"/>
              </a:rPr>
              <a:t>Subscription</a:t>
            </a:r>
            <a:endParaRPr lang="en-US" sz="1100" dirty="0"/>
          </a:p>
        </p:txBody>
      </p:sp>
      <p:sp>
        <p:nvSpPr>
          <p:cNvPr id="17" name="Shape 15"/>
          <p:cNvSpPr/>
          <p:nvPr/>
        </p:nvSpPr>
        <p:spPr>
          <a:xfrm>
            <a:off x="2514600" y="2130552"/>
            <a:ext cx="1371600" cy="438912"/>
          </a:xfrm>
          <a:prstGeom prst="rect">
            <a:avLst/>
          </a:prstGeom>
          <a:solidFill>
            <a:srgbClr val="EDE0FF"/>
          </a:solidFill>
          <a:ln/>
        </p:spPr>
      </p:sp>
      <p:sp>
        <p:nvSpPr>
          <p:cNvPr id="18" name="Text 16"/>
          <p:cNvSpPr/>
          <p:nvPr/>
        </p:nvSpPr>
        <p:spPr>
          <a:xfrm>
            <a:off x="2587752" y="2185416"/>
            <a:ext cx="1225296" cy="347472"/>
          </a:xfrm>
          <a:prstGeom prst="rect">
            <a:avLst/>
          </a:prstGeom>
          <a:noFill/>
          <a:ln/>
        </p:spPr>
        <p:txBody>
          <a:bodyPr wrap="square" rtlCol="0" anchor="ctr"/>
          <a:lstStyle/>
          <a:p>
            <a:pPr indent="0" marL="0">
              <a:buNone/>
            </a:pPr>
            <a:r>
              <a:rPr lang="en-US" sz="1100" dirty="0">
                <a:solidFill>
                  <a:srgbClr val="4A1D8C"/>
                </a:solidFill>
                <a:latin typeface="Calibri" pitchFamily="34" charset="0"/>
                <a:ea typeface="Calibri" pitchFamily="34" charset="-122"/>
                <a:cs typeface="Calibri" pitchFamily="34" charset="-120"/>
              </a:rPr>
              <a:t>$29-$99/mo</a:t>
            </a:r>
            <a:endParaRPr lang="en-US" sz="1100" dirty="0"/>
          </a:p>
        </p:txBody>
      </p:sp>
      <p:sp>
        <p:nvSpPr>
          <p:cNvPr id="19" name="Shape 17"/>
          <p:cNvSpPr/>
          <p:nvPr/>
        </p:nvSpPr>
        <p:spPr>
          <a:xfrm>
            <a:off x="3886200" y="2130552"/>
            <a:ext cx="822960" cy="438912"/>
          </a:xfrm>
          <a:prstGeom prst="rect">
            <a:avLst/>
          </a:prstGeom>
          <a:solidFill>
            <a:srgbClr val="EDE0FF"/>
          </a:solidFill>
          <a:ln/>
        </p:spPr>
      </p:sp>
      <p:sp>
        <p:nvSpPr>
          <p:cNvPr id="20" name="Text 18"/>
          <p:cNvSpPr/>
          <p:nvPr/>
        </p:nvSpPr>
        <p:spPr>
          <a:xfrm>
            <a:off x="3959352" y="2185416"/>
            <a:ext cx="676656" cy="347472"/>
          </a:xfrm>
          <a:prstGeom prst="rect">
            <a:avLst/>
          </a:prstGeom>
          <a:noFill/>
          <a:ln/>
        </p:spPr>
        <p:txBody>
          <a:bodyPr wrap="square" rtlCol="0" anchor="ctr"/>
          <a:lstStyle/>
          <a:p>
            <a:pPr indent="0" marL="0">
              <a:buNone/>
            </a:pPr>
            <a:r>
              <a:rPr lang="en-US" sz="1100" dirty="0">
                <a:solidFill>
                  <a:srgbClr val="4A1D8C"/>
                </a:solidFill>
                <a:latin typeface="Calibri" pitchFamily="34" charset="0"/>
                <a:ea typeface="Calibri" pitchFamily="34" charset="-122"/>
                <a:cs typeface="Calibri" pitchFamily="34" charset="-120"/>
              </a:rPr>
              <a:t>~75%</a:t>
            </a:r>
            <a:endParaRPr lang="en-US" sz="1100" dirty="0"/>
          </a:p>
        </p:txBody>
      </p:sp>
      <p:sp>
        <p:nvSpPr>
          <p:cNvPr id="21" name="Shape 19"/>
          <p:cNvSpPr/>
          <p:nvPr/>
        </p:nvSpPr>
        <p:spPr>
          <a:xfrm>
            <a:off x="4709160" y="2130552"/>
            <a:ext cx="1005840" cy="438912"/>
          </a:xfrm>
          <a:prstGeom prst="rect">
            <a:avLst/>
          </a:prstGeom>
          <a:solidFill>
            <a:srgbClr val="EDE0FF"/>
          </a:solidFill>
          <a:ln/>
        </p:spPr>
      </p:sp>
      <p:sp>
        <p:nvSpPr>
          <p:cNvPr id="22" name="Text 20"/>
          <p:cNvSpPr/>
          <p:nvPr/>
        </p:nvSpPr>
        <p:spPr>
          <a:xfrm>
            <a:off x="4782312" y="2185416"/>
            <a:ext cx="859536" cy="347472"/>
          </a:xfrm>
          <a:prstGeom prst="rect">
            <a:avLst/>
          </a:prstGeom>
          <a:noFill/>
          <a:ln/>
        </p:spPr>
        <p:txBody>
          <a:bodyPr wrap="square" rtlCol="0" anchor="ctr"/>
          <a:lstStyle/>
          <a:p>
            <a:pPr indent="0" marL="0">
              <a:buNone/>
            </a:pPr>
            <a:r>
              <a:rPr lang="en-US" sz="1100" dirty="0">
                <a:solidFill>
                  <a:srgbClr val="4A1D8C"/>
                </a:solidFill>
                <a:latin typeface="Calibri" pitchFamily="34" charset="0"/>
                <a:ea typeface="Calibri" pitchFamily="34" charset="-122"/>
                <a:cs typeface="Calibri" pitchFamily="34" charset="-120"/>
              </a:rPr>
              <a:t>75%</a:t>
            </a:r>
            <a:endParaRPr lang="en-US" sz="1100" dirty="0"/>
          </a:p>
        </p:txBody>
      </p:sp>
      <p:sp>
        <p:nvSpPr>
          <p:cNvPr id="23" name="Shape 21"/>
          <p:cNvSpPr/>
          <p:nvPr/>
        </p:nvSpPr>
        <p:spPr>
          <a:xfrm>
            <a:off x="5715000" y="2130552"/>
            <a:ext cx="2880360" cy="438912"/>
          </a:xfrm>
          <a:prstGeom prst="rect">
            <a:avLst/>
          </a:prstGeom>
          <a:solidFill>
            <a:srgbClr val="EDE0FF"/>
          </a:solidFill>
          <a:ln/>
        </p:spPr>
      </p:sp>
      <p:sp>
        <p:nvSpPr>
          <p:cNvPr id="24" name="Text 22"/>
          <p:cNvSpPr/>
          <p:nvPr/>
        </p:nvSpPr>
        <p:spPr>
          <a:xfrm>
            <a:off x="5788152" y="2185416"/>
            <a:ext cx="2734056" cy="347472"/>
          </a:xfrm>
          <a:prstGeom prst="rect">
            <a:avLst/>
          </a:prstGeom>
          <a:noFill/>
          <a:ln/>
        </p:spPr>
        <p:txBody>
          <a:bodyPr wrap="square" rtlCol="0" anchor="ctr"/>
          <a:lstStyle/>
          <a:p>
            <a:pPr indent="0" marL="0">
              <a:buNone/>
            </a:pPr>
            <a:r>
              <a:rPr lang="en-US" sz="1100" dirty="0">
                <a:solidFill>
                  <a:srgbClr val="4A1D8C"/>
                </a:solidFill>
                <a:latin typeface="Calibri" pitchFamily="34" charset="0"/>
                <a:ea typeface="Calibri" pitchFamily="34" charset="-122"/>
                <a:cs typeface="Calibri" pitchFamily="34" charset="-120"/>
              </a:rPr>
              <a:t>Creator + subscriber growth</a:t>
            </a:r>
            <a:endParaRPr lang="en-US" sz="1100" dirty="0"/>
          </a:p>
        </p:txBody>
      </p:sp>
      <p:sp>
        <p:nvSpPr>
          <p:cNvPr id="25" name="Shape 23"/>
          <p:cNvSpPr/>
          <p:nvPr/>
        </p:nvSpPr>
        <p:spPr>
          <a:xfrm>
            <a:off x="320040" y="2606040"/>
            <a:ext cx="2194560" cy="438912"/>
          </a:xfrm>
          <a:prstGeom prst="rect">
            <a:avLst/>
          </a:prstGeom>
          <a:solidFill>
            <a:srgbClr val="F0EEFF"/>
          </a:solidFill>
          <a:ln/>
        </p:spPr>
      </p:sp>
      <p:sp>
        <p:nvSpPr>
          <p:cNvPr id="26" name="Text 24"/>
          <p:cNvSpPr/>
          <p:nvPr/>
        </p:nvSpPr>
        <p:spPr>
          <a:xfrm>
            <a:off x="393192" y="2660904"/>
            <a:ext cx="20482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Data Credits</a:t>
            </a:r>
            <a:endParaRPr lang="en-US" sz="1100" dirty="0"/>
          </a:p>
        </p:txBody>
      </p:sp>
      <p:sp>
        <p:nvSpPr>
          <p:cNvPr id="27" name="Shape 25"/>
          <p:cNvSpPr/>
          <p:nvPr/>
        </p:nvSpPr>
        <p:spPr>
          <a:xfrm>
            <a:off x="2514600" y="2606040"/>
            <a:ext cx="1371600" cy="438912"/>
          </a:xfrm>
          <a:prstGeom prst="rect">
            <a:avLst/>
          </a:prstGeom>
          <a:solidFill>
            <a:srgbClr val="F0EEFF"/>
          </a:solidFill>
          <a:ln/>
        </p:spPr>
      </p:sp>
      <p:sp>
        <p:nvSpPr>
          <p:cNvPr id="28" name="Text 26"/>
          <p:cNvSpPr/>
          <p:nvPr/>
        </p:nvSpPr>
        <p:spPr>
          <a:xfrm>
            <a:off x="2587752" y="2660904"/>
            <a:ext cx="122529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$0.02/credit</a:t>
            </a:r>
            <a:endParaRPr lang="en-US" sz="1100" dirty="0"/>
          </a:p>
        </p:txBody>
      </p:sp>
      <p:sp>
        <p:nvSpPr>
          <p:cNvPr id="29" name="Shape 27"/>
          <p:cNvSpPr/>
          <p:nvPr/>
        </p:nvSpPr>
        <p:spPr>
          <a:xfrm>
            <a:off x="3886200" y="2606040"/>
            <a:ext cx="822960" cy="438912"/>
          </a:xfrm>
          <a:prstGeom prst="rect">
            <a:avLst/>
          </a:prstGeom>
          <a:solidFill>
            <a:srgbClr val="F0EEFF"/>
          </a:solidFill>
          <a:ln/>
        </p:spPr>
      </p:sp>
      <p:sp>
        <p:nvSpPr>
          <p:cNvPr id="30" name="Text 28"/>
          <p:cNvSpPr/>
          <p:nvPr/>
        </p:nvSpPr>
        <p:spPr>
          <a:xfrm>
            <a:off x="3959352" y="2660904"/>
            <a:ext cx="6766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~90%</a:t>
            </a:r>
            <a:endParaRPr lang="en-US" sz="1100" dirty="0"/>
          </a:p>
        </p:txBody>
      </p:sp>
      <p:sp>
        <p:nvSpPr>
          <p:cNvPr id="31" name="Shape 29"/>
          <p:cNvSpPr/>
          <p:nvPr/>
        </p:nvSpPr>
        <p:spPr>
          <a:xfrm>
            <a:off x="4709160" y="2606040"/>
            <a:ext cx="1005840" cy="438912"/>
          </a:xfrm>
          <a:prstGeom prst="rect">
            <a:avLst/>
          </a:prstGeom>
          <a:solidFill>
            <a:srgbClr val="F0EEFF"/>
          </a:solidFill>
          <a:ln/>
        </p:spPr>
      </p:sp>
      <p:sp>
        <p:nvSpPr>
          <p:cNvPr id="32" name="Text 30"/>
          <p:cNvSpPr/>
          <p:nvPr/>
        </p:nvSpPr>
        <p:spPr>
          <a:xfrm>
            <a:off x="4782312" y="2660904"/>
            <a:ext cx="85953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0%</a:t>
            </a:r>
            <a:endParaRPr lang="en-US" sz="1100" dirty="0"/>
          </a:p>
        </p:txBody>
      </p:sp>
      <p:sp>
        <p:nvSpPr>
          <p:cNvPr id="33" name="Shape 31"/>
          <p:cNvSpPr/>
          <p:nvPr/>
        </p:nvSpPr>
        <p:spPr>
          <a:xfrm>
            <a:off x="5715000" y="2606040"/>
            <a:ext cx="2880360" cy="438912"/>
          </a:xfrm>
          <a:prstGeom prst="rect">
            <a:avLst/>
          </a:prstGeom>
          <a:solidFill>
            <a:srgbClr val="F0EEFF"/>
          </a:solidFill>
          <a:ln/>
        </p:spPr>
      </p:sp>
      <p:sp>
        <p:nvSpPr>
          <p:cNvPr id="34" name="Text 32"/>
          <p:cNvSpPr/>
          <p:nvPr/>
        </p:nvSpPr>
        <p:spPr>
          <a:xfrm>
            <a:off x="5788152" y="2660904"/>
            <a:ext cx="27340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Usage — Alex upsells bulk purchase</a:t>
            </a:r>
            <a:endParaRPr lang="en-US" sz="1100" dirty="0"/>
          </a:p>
        </p:txBody>
      </p:sp>
      <p:sp>
        <p:nvSpPr>
          <p:cNvPr id="35" name="Shape 33"/>
          <p:cNvSpPr/>
          <p:nvPr/>
        </p:nvSpPr>
        <p:spPr>
          <a:xfrm>
            <a:off x="320040" y="3081528"/>
            <a:ext cx="2194560" cy="438912"/>
          </a:xfrm>
          <a:prstGeom prst="rect">
            <a:avLst/>
          </a:prstGeom>
          <a:solidFill>
            <a:srgbClr val="FFFFFF"/>
          </a:solidFill>
          <a:ln/>
        </p:spPr>
      </p:sp>
      <p:sp>
        <p:nvSpPr>
          <p:cNvPr id="36" name="Text 34"/>
          <p:cNvSpPr/>
          <p:nvPr/>
        </p:nvSpPr>
        <p:spPr>
          <a:xfrm>
            <a:off x="393192" y="3136392"/>
            <a:ext cx="20482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API Pass-Through</a:t>
            </a:r>
            <a:endParaRPr lang="en-US" sz="1100" dirty="0"/>
          </a:p>
        </p:txBody>
      </p:sp>
      <p:sp>
        <p:nvSpPr>
          <p:cNvPr id="37" name="Shape 35"/>
          <p:cNvSpPr/>
          <p:nvPr/>
        </p:nvSpPr>
        <p:spPr>
          <a:xfrm>
            <a:off x="2514600" y="3081528"/>
            <a:ext cx="1371600" cy="438912"/>
          </a:xfrm>
          <a:prstGeom prst="rect">
            <a:avLst/>
          </a:prstGeom>
          <a:solidFill>
            <a:srgbClr val="FFFFFF"/>
          </a:solidFill>
          <a:ln/>
        </p:spPr>
      </p:sp>
      <p:sp>
        <p:nvSpPr>
          <p:cNvPr id="38" name="Text 36"/>
          <p:cNvSpPr/>
          <p:nvPr/>
        </p:nvSpPr>
        <p:spPr>
          <a:xfrm>
            <a:off x="2587752" y="3136392"/>
            <a:ext cx="122529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2× cost floor</a:t>
            </a:r>
            <a:endParaRPr lang="en-US" sz="1100" dirty="0"/>
          </a:p>
        </p:txBody>
      </p:sp>
      <p:sp>
        <p:nvSpPr>
          <p:cNvPr id="39" name="Shape 37"/>
          <p:cNvSpPr/>
          <p:nvPr/>
        </p:nvSpPr>
        <p:spPr>
          <a:xfrm>
            <a:off x="3886200" y="3081528"/>
            <a:ext cx="822960" cy="438912"/>
          </a:xfrm>
          <a:prstGeom prst="rect">
            <a:avLst/>
          </a:prstGeom>
          <a:solidFill>
            <a:srgbClr val="FFFFFF"/>
          </a:solidFill>
          <a:ln/>
        </p:spPr>
      </p:sp>
      <p:sp>
        <p:nvSpPr>
          <p:cNvPr id="40" name="Text 38"/>
          <p:cNvSpPr/>
          <p:nvPr/>
        </p:nvSpPr>
        <p:spPr>
          <a:xfrm>
            <a:off x="3959352" y="3136392"/>
            <a:ext cx="6766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50-85%</a:t>
            </a:r>
            <a:endParaRPr lang="en-US" sz="1100" dirty="0"/>
          </a:p>
        </p:txBody>
      </p:sp>
      <p:sp>
        <p:nvSpPr>
          <p:cNvPr id="41" name="Shape 39"/>
          <p:cNvSpPr/>
          <p:nvPr/>
        </p:nvSpPr>
        <p:spPr>
          <a:xfrm>
            <a:off x="4709160" y="3081528"/>
            <a:ext cx="1005840" cy="438912"/>
          </a:xfrm>
          <a:prstGeom prst="rect">
            <a:avLst/>
          </a:prstGeom>
          <a:solidFill>
            <a:srgbClr val="FFFFFF"/>
          </a:solidFill>
          <a:ln/>
        </p:spPr>
      </p:sp>
      <p:sp>
        <p:nvSpPr>
          <p:cNvPr id="42" name="Text 40"/>
          <p:cNvSpPr/>
          <p:nvPr/>
        </p:nvSpPr>
        <p:spPr>
          <a:xfrm>
            <a:off x="4782312" y="3136392"/>
            <a:ext cx="85953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75%</a:t>
            </a:r>
            <a:endParaRPr lang="en-US" sz="1100" dirty="0"/>
          </a:p>
        </p:txBody>
      </p:sp>
      <p:sp>
        <p:nvSpPr>
          <p:cNvPr id="43" name="Shape 41"/>
          <p:cNvSpPr/>
          <p:nvPr/>
        </p:nvSpPr>
        <p:spPr>
          <a:xfrm>
            <a:off x="5715000" y="3081528"/>
            <a:ext cx="2880360" cy="438912"/>
          </a:xfrm>
          <a:prstGeom prst="rect">
            <a:avLst/>
          </a:prstGeom>
          <a:solidFill>
            <a:srgbClr val="FFFFFF"/>
          </a:solidFill>
          <a:ln/>
        </p:spPr>
      </p:sp>
      <p:sp>
        <p:nvSpPr>
          <p:cNvPr id="44" name="Text 42"/>
          <p:cNvSpPr/>
          <p:nvPr/>
        </p:nvSpPr>
        <p:spPr>
          <a:xfrm>
            <a:off x="5788152" y="3136392"/>
            <a:ext cx="27340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Data richness per session</a:t>
            </a:r>
            <a:endParaRPr lang="en-US" sz="1100" dirty="0"/>
          </a:p>
        </p:txBody>
      </p:sp>
      <p:sp>
        <p:nvSpPr>
          <p:cNvPr id="45" name="Shape 43"/>
          <p:cNvSpPr/>
          <p:nvPr/>
        </p:nvSpPr>
        <p:spPr>
          <a:xfrm>
            <a:off x="320040" y="3557016"/>
            <a:ext cx="2194560" cy="438912"/>
          </a:xfrm>
          <a:prstGeom prst="rect">
            <a:avLst/>
          </a:prstGeom>
          <a:solidFill>
            <a:srgbClr val="F0EEFF"/>
          </a:solidFill>
          <a:ln/>
        </p:spPr>
      </p:sp>
      <p:sp>
        <p:nvSpPr>
          <p:cNvPr id="46" name="Text 44"/>
          <p:cNvSpPr/>
          <p:nvPr/>
        </p:nvSpPr>
        <p:spPr>
          <a:xfrm>
            <a:off x="393192" y="3611880"/>
            <a:ext cx="20482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Audit Trail</a:t>
            </a:r>
            <a:endParaRPr lang="en-US" sz="1100" dirty="0"/>
          </a:p>
        </p:txBody>
      </p:sp>
      <p:sp>
        <p:nvSpPr>
          <p:cNvPr id="47" name="Shape 45"/>
          <p:cNvSpPr/>
          <p:nvPr/>
        </p:nvSpPr>
        <p:spPr>
          <a:xfrm>
            <a:off x="2514600" y="3557016"/>
            <a:ext cx="1371600" cy="438912"/>
          </a:xfrm>
          <a:prstGeom prst="rect">
            <a:avLst/>
          </a:prstGeom>
          <a:solidFill>
            <a:srgbClr val="F0EEFF"/>
          </a:solidFill>
          <a:ln/>
        </p:spPr>
      </p:sp>
      <p:sp>
        <p:nvSpPr>
          <p:cNvPr id="48" name="Text 46"/>
          <p:cNvSpPr/>
          <p:nvPr/>
        </p:nvSpPr>
        <p:spPr>
          <a:xfrm>
            <a:off x="2587752" y="3611880"/>
            <a:ext cx="122529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$0.005/record</a:t>
            </a:r>
            <a:endParaRPr lang="en-US" sz="1100" dirty="0"/>
          </a:p>
        </p:txBody>
      </p:sp>
      <p:sp>
        <p:nvSpPr>
          <p:cNvPr id="49" name="Shape 47"/>
          <p:cNvSpPr/>
          <p:nvPr/>
        </p:nvSpPr>
        <p:spPr>
          <a:xfrm>
            <a:off x="3886200" y="3557016"/>
            <a:ext cx="822960" cy="438912"/>
          </a:xfrm>
          <a:prstGeom prst="rect">
            <a:avLst/>
          </a:prstGeom>
          <a:solidFill>
            <a:srgbClr val="F0EEFF"/>
          </a:solidFill>
          <a:ln/>
        </p:spPr>
      </p:sp>
      <p:sp>
        <p:nvSpPr>
          <p:cNvPr id="50" name="Text 48"/>
          <p:cNvSpPr/>
          <p:nvPr/>
        </p:nvSpPr>
        <p:spPr>
          <a:xfrm>
            <a:off x="3959352" y="3611880"/>
            <a:ext cx="6766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~95%</a:t>
            </a:r>
            <a:endParaRPr lang="en-US" sz="1100" dirty="0"/>
          </a:p>
        </p:txBody>
      </p:sp>
      <p:sp>
        <p:nvSpPr>
          <p:cNvPr id="51" name="Shape 49"/>
          <p:cNvSpPr/>
          <p:nvPr/>
        </p:nvSpPr>
        <p:spPr>
          <a:xfrm>
            <a:off x="4709160" y="3557016"/>
            <a:ext cx="1005840" cy="438912"/>
          </a:xfrm>
          <a:prstGeom prst="rect">
            <a:avLst/>
          </a:prstGeom>
          <a:solidFill>
            <a:srgbClr val="F0EEFF"/>
          </a:solidFill>
          <a:ln/>
        </p:spPr>
      </p:sp>
      <p:sp>
        <p:nvSpPr>
          <p:cNvPr id="52" name="Text 50"/>
          <p:cNvSpPr/>
          <p:nvPr/>
        </p:nvSpPr>
        <p:spPr>
          <a:xfrm>
            <a:off x="4782312" y="3611880"/>
            <a:ext cx="85953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0%</a:t>
            </a:r>
            <a:endParaRPr lang="en-US" sz="1100" dirty="0"/>
          </a:p>
        </p:txBody>
      </p:sp>
      <p:sp>
        <p:nvSpPr>
          <p:cNvPr id="53" name="Shape 51"/>
          <p:cNvSpPr/>
          <p:nvPr/>
        </p:nvSpPr>
        <p:spPr>
          <a:xfrm>
            <a:off x="5715000" y="3557016"/>
            <a:ext cx="2880360" cy="438912"/>
          </a:xfrm>
          <a:prstGeom prst="rect">
            <a:avLst/>
          </a:prstGeom>
          <a:solidFill>
            <a:srgbClr val="F0EEFF"/>
          </a:solidFill>
          <a:ln/>
        </p:spPr>
      </p:sp>
      <p:sp>
        <p:nvSpPr>
          <p:cNvPr id="54" name="Text 52"/>
          <p:cNvSpPr/>
          <p:nvPr/>
        </p:nvSpPr>
        <p:spPr>
          <a:xfrm>
            <a:off x="5788152" y="3611880"/>
            <a:ext cx="27340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Regulated industry sessions</a:t>
            </a:r>
            <a:endParaRPr lang="en-US" sz="1100" dirty="0"/>
          </a:p>
        </p:txBody>
      </p:sp>
      <p:sp>
        <p:nvSpPr>
          <p:cNvPr id="55" name="Shape 53"/>
          <p:cNvSpPr/>
          <p:nvPr/>
        </p:nvSpPr>
        <p:spPr>
          <a:xfrm>
            <a:off x="320040" y="4032504"/>
            <a:ext cx="2194560" cy="438912"/>
          </a:xfrm>
          <a:prstGeom prst="rect">
            <a:avLst/>
          </a:prstGeom>
          <a:solidFill>
            <a:srgbClr val="FFFFFF"/>
          </a:solidFill>
          <a:ln/>
        </p:spPr>
      </p:sp>
      <p:sp>
        <p:nvSpPr>
          <p:cNvPr id="56" name="Text 54"/>
          <p:cNvSpPr/>
          <p:nvPr/>
        </p:nvSpPr>
        <p:spPr>
          <a:xfrm>
            <a:off x="393192" y="4087368"/>
            <a:ext cx="20482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Creator License</a:t>
            </a:r>
            <a:endParaRPr lang="en-US" sz="1100" dirty="0"/>
          </a:p>
        </p:txBody>
      </p:sp>
      <p:sp>
        <p:nvSpPr>
          <p:cNvPr id="57" name="Shape 55"/>
          <p:cNvSpPr/>
          <p:nvPr/>
        </p:nvSpPr>
        <p:spPr>
          <a:xfrm>
            <a:off x="2514600" y="4032504"/>
            <a:ext cx="1371600" cy="438912"/>
          </a:xfrm>
          <a:prstGeom prst="rect">
            <a:avLst/>
          </a:prstGeom>
          <a:solidFill>
            <a:srgbClr val="FFFFFF"/>
          </a:solidFill>
          <a:ln/>
        </p:spPr>
      </p:sp>
      <p:sp>
        <p:nvSpPr>
          <p:cNvPr id="58" name="Text 56"/>
          <p:cNvSpPr/>
          <p:nvPr/>
        </p:nvSpPr>
        <p:spPr>
          <a:xfrm>
            <a:off x="2587752" y="4087368"/>
            <a:ext cx="122529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$49/yr</a:t>
            </a:r>
            <a:endParaRPr lang="en-US" sz="1100" dirty="0"/>
          </a:p>
        </p:txBody>
      </p:sp>
      <p:sp>
        <p:nvSpPr>
          <p:cNvPr id="59" name="Shape 57"/>
          <p:cNvSpPr/>
          <p:nvPr/>
        </p:nvSpPr>
        <p:spPr>
          <a:xfrm>
            <a:off x="3886200" y="4032504"/>
            <a:ext cx="822960" cy="438912"/>
          </a:xfrm>
          <a:prstGeom prst="rect">
            <a:avLst/>
          </a:prstGeom>
          <a:solidFill>
            <a:srgbClr val="FFFFFF"/>
          </a:solidFill>
          <a:ln/>
        </p:spPr>
      </p:sp>
      <p:sp>
        <p:nvSpPr>
          <p:cNvPr id="60" name="Text 58"/>
          <p:cNvSpPr/>
          <p:nvPr/>
        </p:nvSpPr>
        <p:spPr>
          <a:xfrm>
            <a:off x="3959352" y="4087368"/>
            <a:ext cx="6766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~100%</a:t>
            </a:r>
            <a:endParaRPr lang="en-US" sz="1100" dirty="0"/>
          </a:p>
        </p:txBody>
      </p:sp>
      <p:sp>
        <p:nvSpPr>
          <p:cNvPr id="61" name="Shape 59"/>
          <p:cNvSpPr/>
          <p:nvPr/>
        </p:nvSpPr>
        <p:spPr>
          <a:xfrm>
            <a:off x="4709160" y="4032504"/>
            <a:ext cx="1005840" cy="438912"/>
          </a:xfrm>
          <a:prstGeom prst="rect">
            <a:avLst/>
          </a:prstGeom>
          <a:solidFill>
            <a:srgbClr val="FFFFFF"/>
          </a:solidFill>
          <a:ln/>
        </p:spPr>
      </p:sp>
      <p:sp>
        <p:nvSpPr>
          <p:cNvPr id="62" name="Text 60"/>
          <p:cNvSpPr/>
          <p:nvPr/>
        </p:nvSpPr>
        <p:spPr>
          <a:xfrm>
            <a:off x="4782312" y="4087368"/>
            <a:ext cx="85953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0%</a:t>
            </a:r>
            <a:endParaRPr lang="en-US" sz="1100" dirty="0"/>
          </a:p>
        </p:txBody>
      </p:sp>
      <p:sp>
        <p:nvSpPr>
          <p:cNvPr id="63" name="Shape 61"/>
          <p:cNvSpPr/>
          <p:nvPr/>
        </p:nvSpPr>
        <p:spPr>
          <a:xfrm>
            <a:off x="5715000" y="4032504"/>
            <a:ext cx="2880360" cy="438912"/>
          </a:xfrm>
          <a:prstGeom prst="rect">
            <a:avLst/>
          </a:prstGeom>
          <a:solidFill>
            <a:srgbClr val="FFFFFF"/>
          </a:solidFill>
          <a:ln/>
        </p:spPr>
      </p:sp>
      <p:sp>
        <p:nvSpPr>
          <p:cNvPr id="64" name="Text 62"/>
          <p:cNvSpPr/>
          <p:nvPr/>
        </p:nvSpPr>
        <p:spPr>
          <a:xfrm>
            <a:off x="5788152" y="4087368"/>
            <a:ext cx="27340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Total creator population</a:t>
            </a:r>
            <a:endParaRPr lang="en-US" sz="1100" dirty="0"/>
          </a:p>
        </p:txBody>
      </p:sp>
      <p:sp>
        <p:nvSpPr>
          <p:cNvPr id="65" name="Text 63"/>
          <p:cNvSpPr/>
          <p:nvPr/>
        </p:nvSpPr>
        <p:spPr>
          <a:xfrm>
            <a:off x="320040" y="4864608"/>
            <a:ext cx="8412480" cy="219456"/>
          </a:xfrm>
          <a:prstGeom prst="rect">
            <a:avLst/>
          </a:prstGeom>
          <a:noFill/>
          <a:ln/>
        </p:spPr>
        <p:txBody>
          <a:bodyPr wrap="square" rtlCol="0" anchor="ctr"/>
          <a:lstStyle/>
          <a:p>
            <a:pPr indent="0" marL="0">
              <a:buNone/>
            </a:pPr>
            <a:r>
              <a:rPr lang="en-US" sz="1000" i="1" dirty="0">
                <a:solidFill>
                  <a:srgbClr val="8892A4"/>
                </a:solidFill>
                <a:latin typeface="Calibri" pitchFamily="34" charset="0"/>
                <a:ea typeface="Calibri" pitchFamily="34" charset="-122"/>
                <a:cs typeface="Calibri" pitchFamily="34" charset="-120"/>
              </a:rPr>
              <a:t>Free tier gets you in. Data Credits grow with usage. Alex recommends top-ups. Active subscribers average $99+/mo with compute.</a:t>
            </a:r>
            <a:endParaRPr lang="en-US" sz="100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sociii.ai  ·  CONFIDENTIAL  ·  SOCIII Inc. (Delaware C-Corp)  ·  May 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0B981"/>
          </a:solidFill>
          <a:ln/>
        </p:spPr>
      </p:sp>
      <p:sp>
        <p:nvSpPr>
          <p:cNvPr id="3" name="Text 1"/>
          <p:cNvSpPr/>
          <p:nvPr/>
        </p:nvSpPr>
        <p:spPr>
          <a:xfrm>
            <a:off x="320040" y="228600"/>
            <a:ext cx="4572000" cy="256032"/>
          </a:xfrm>
          <a:prstGeom prst="rect">
            <a:avLst/>
          </a:prstGeom>
          <a:noFill/>
          <a:ln/>
        </p:spPr>
        <p:txBody>
          <a:bodyPr wrap="square" rtlCol="0" anchor="ctr"/>
          <a:lstStyle/>
          <a:p>
            <a:pPr indent="0" marL="0">
              <a:buNone/>
            </a:pPr>
            <a:r>
              <a:rPr lang="en-US" sz="1100" b="1" spc="300" kern="0" dirty="0">
                <a:solidFill>
                  <a:srgbClr val="0D7A5F"/>
                </a:solidFill>
                <a:latin typeface="Calibri" pitchFamily="34" charset="0"/>
                <a:ea typeface="Calibri" pitchFamily="34" charset="-122"/>
                <a:cs typeface="Calibri" pitchFamily="34" charset="-120"/>
              </a:rPr>
              <a:t>MARKET CONTEXT</a:t>
            </a:r>
            <a:endParaRPr lang="en-US" sz="1100" dirty="0"/>
          </a:p>
        </p:txBody>
      </p:sp>
      <p:sp>
        <p:nvSpPr>
          <p:cNvPr id="4" name="Text 2"/>
          <p:cNvSpPr/>
          <p:nvPr/>
        </p:nvSpPr>
        <p:spPr>
          <a:xfrm>
            <a:off x="320040" y="457200"/>
            <a:ext cx="8412480" cy="566928"/>
          </a:xfrm>
          <a:prstGeom prst="rect">
            <a:avLst/>
          </a:prstGeom>
          <a:noFill/>
          <a:ln/>
        </p:spPr>
        <p:txBody>
          <a:bodyPr wrap="square" rtlCol="0" anchor="ctr"/>
          <a:lstStyle/>
          <a:p>
            <a:pPr indent="0" marL="0">
              <a:buNone/>
            </a:pPr>
            <a:r>
              <a:rPr lang="en-US" sz="3400" b="1" dirty="0">
                <a:solidFill>
                  <a:srgbClr val="1A0A2E"/>
                </a:solidFill>
                <a:latin typeface="Calibri" pitchFamily="34" charset="0"/>
                <a:ea typeface="Calibri" pitchFamily="34" charset="-122"/>
                <a:cs typeface="Calibri" pitchFamily="34" charset="-120"/>
              </a:rPr>
              <a:t>Where Seed-Stage AI Is Actually Pricing.</a:t>
            </a:r>
            <a:endParaRPr lang="en-US" sz="3400" dirty="0"/>
          </a:p>
        </p:txBody>
      </p:sp>
      <p:sp>
        <p:nvSpPr>
          <p:cNvPr id="5" name="Text 3"/>
          <p:cNvSpPr/>
          <p:nvPr/>
        </p:nvSpPr>
        <p:spPr>
          <a:xfrm>
            <a:off x="320040" y="1005840"/>
            <a:ext cx="8412480" cy="292608"/>
          </a:xfrm>
          <a:prstGeom prst="rect">
            <a:avLst/>
          </a:prstGeom>
          <a:noFill/>
          <a:ln/>
        </p:spPr>
        <p:txBody>
          <a:bodyPr wrap="square" rtlCol="0" anchor="ctr"/>
          <a:lstStyle/>
          <a:p>
            <a:pPr indent="0" marL="0">
              <a:buNone/>
            </a:pPr>
            <a:r>
              <a:rPr lang="en-US" sz="1200" i="1" dirty="0">
                <a:solidFill>
                  <a:srgbClr val="8892A4"/>
                </a:solidFill>
                <a:latin typeface="Calibri" pitchFamily="34" charset="0"/>
                <a:ea typeface="Calibri" pitchFamily="34" charset="-122"/>
                <a:cs typeface="Calibri" pitchFamily="34" charset="-120"/>
              </a:rPr>
              <a:t>External, third-party data — not our own model. Shown here to ground round-sizing, not to project our own outcome.</a:t>
            </a:r>
            <a:endParaRPr lang="en-US" sz="1200" dirty="0"/>
          </a:p>
        </p:txBody>
      </p:sp>
      <p:sp>
        <p:nvSpPr>
          <p:cNvPr id="60" name="StatA"/>
          <p:cNvSpPr/>
          <p:nvPr/>
        </p:nvSpPr>
        <p:spPr>
          <a:xfrm>
            <a:off x="320040" y="1600000"/>
            <a:ext cx="2687320" cy="1938528"/>
          </a:xfrm>
          <a:prstGeom prst="rect">
            <a:avLst/>
          </a:prstGeom>
          <a:solidFill>
            <a:srgbClr val="0D7A5F"/>
          </a:solidFill>
          <a:ln/>
          <a:effectLst>
            <a:outerShdw sx="100000" sy="100000" kx="0" ky="0" algn="bl" rotWithShape="0" blurRad="76200" dist="25400" dir="8100000">
              <a:srgbClr val="000000">
                <a:alpha val="15000"/>
              </a:srgbClr>
            </a:outerShdw>
          </a:effectLst>
        </p:spPr>
        <p:txBody>
          <a:bodyPr/>
          <a:p/>
        </p:txBody>
      </p:sp>
      <p:sp>
        <p:nvSpPr>
          <p:cNvPr id="61" name="StatANum"/>
          <p:cNvSpPr/>
          <p:nvPr/>
        </p:nvSpPr>
        <p:spPr>
          <a:xfrm>
            <a:off x="320040" y="1750000"/>
            <a:ext cx="2687320" cy="6200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rPr>
              <a:t>$7.6–7.7M</a:t>
            </a:r>
          </a:p>
        </p:txBody>
      </p:sp>
      <p:sp>
        <p:nvSpPr>
          <p:cNvPr id="62" name="StatALabel"/>
          <p:cNvSpPr/>
          <p:nvPr/>
        </p:nvSpPr>
        <p:spPr>
          <a:xfrm>
            <a:off x="411480" y="2450000"/>
            <a:ext cx="2504440" cy="900000"/>
          </a:xfrm>
          <a:prstGeom prst="rect">
            <a:avLst/>
          </a:prstGeom>
          <a:noFill/>
          <a:ln/>
        </p:spPr>
        <p:txBody>
          <a:bodyPr wrap="square" rtlCol="0" anchor="t"/>
          <a:lstStyle/>
          <a:p>
            <a:pPr algn="ctr" indent="0" marL="0">
              <a:lnSpc>
                <a:spcPct val="120000"/>
              </a:lnSpc>
              <a:buNone/>
            </a:pPr>
            <a:r>
              <a:rPr lang="en-US" sz="1050" dirty="0">
                <a:solidFill>
                  <a:srgbClr val="DDFFF0"/>
                </a:solidFill>
                <a:latin typeface="Calibri" pitchFamily="34" charset="0"/>
              </a:rPr>
              <a:t>US pre-seed median pre-money, Q1 2026</a:t>
            </a:r>
          </a:p>
        </p:txBody>
      </p:sp>
      <p:sp>
        <p:nvSpPr>
          <p:cNvPr id="63" name="StatB"/>
          <p:cNvSpPr/>
          <p:nvPr/>
        </p:nvSpPr>
        <p:spPr>
          <a:xfrm>
            <a:off x="3228240" y="1600000"/>
            <a:ext cx="2687320" cy="1938528"/>
          </a:xfrm>
          <a:prstGeom prst="rect">
            <a:avLst/>
          </a:prstGeom>
          <a:solidFill>
            <a:srgbClr val="4A1D8C"/>
          </a:solidFill>
          <a:ln/>
          <a:effectLst>
            <a:outerShdw sx="100000" sy="100000" kx="0" ky="0" algn="bl" rotWithShape="0" blurRad="76200" dist="25400" dir="8100000">
              <a:srgbClr val="000000">
                <a:alpha val="15000"/>
              </a:srgbClr>
            </a:outerShdw>
          </a:effectLst>
        </p:spPr>
        <p:txBody>
          <a:bodyPr/>
          <a:p/>
        </p:txBody>
      </p:sp>
      <p:sp>
        <p:nvSpPr>
          <p:cNvPr id="64" name="StatBNum"/>
          <p:cNvSpPr/>
          <p:nvPr/>
        </p:nvSpPr>
        <p:spPr>
          <a:xfrm>
            <a:off x="3228240" y="1750000"/>
            <a:ext cx="2687320" cy="6200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rPr>
              <a:t>$17.9M</a:t>
            </a:r>
          </a:p>
        </p:txBody>
      </p:sp>
      <p:sp>
        <p:nvSpPr>
          <p:cNvPr id="65" name="StatBLabel"/>
          <p:cNvSpPr/>
          <p:nvPr/>
        </p:nvSpPr>
        <p:spPr>
          <a:xfrm>
            <a:off x="3319680" y="2450000"/>
            <a:ext cx="2504440" cy="900000"/>
          </a:xfrm>
          <a:prstGeom prst="rect">
            <a:avLst/>
          </a:prstGeom>
          <a:noFill/>
          <a:ln/>
        </p:spPr>
        <p:txBody>
          <a:bodyPr wrap="square" rtlCol="0" anchor="t"/>
          <a:lstStyle/>
          <a:p>
            <a:pPr algn="ctr" indent="0" marL="0">
              <a:lnSpc>
                <a:spcPct val="120000"/>
              </a:lnSpc>
              <a:buNone/>
            </a:pPr>
            <a:r>
              <a:rPr lang="en-US" sz="1050" dirty="0">
                <a:solidFill>
                  <a:srgbClr val="EEDDFF"/>
                </a:solidFill>
                <a:latin typeface="Calibri" pitchFamily="34" charset="0"/>
              </a:rPr>
              <a:t>AI-specific seed median pre-money (vs. ~$14–16M general B2B SaaS)</a:t>
            </a:r>
          </a:p>
        </p:txBody>
      </p:sp>
      <p:sp>
        <p:nvSpPr>
          <p:cNvPr id="66" name="StatC"/>
          <p:cNvSpPr/>
          <p:nvPr/>
        </p:nvSpPr>
        <p:spPr>
          <a:xfrm>
            <a:off x="6136440" y="1600000"/>
            <a:ext cx="2687320" cy="1938528"/>
          </a:xfrm>
          <a:prstGeom prst="rect">
            <a:avLst/>
          </a:prstGeom>
          <a:solidFill>
            <a:srgbClr val="7B3FE4"/>
          </a:solidFill>
          <a:ln/>
          <a:effectLst>
            <a:outerShdw sx="100000" sy="100000" kx="0" ky="0" algn="bl" rotWithShape="0" blurRad="76200" dist="25400" dir="8100000">
              <a:srgbClr val="000000">
                <a:alpha val="15000"/>
              </a:srgbClr>
            </a:outerShdw>
          </a:effectLst>
        </p:spPr>
        <p:txBody>
          <a:bodyPr/>
          <a:p/>
        </p:txBody>
      </p:sp>
      <p:sp>
        <p:nvSpPr>
          <p:cNvPr id="67" name="StatCNum"/>
          <p:cNvSpPr/>
          <p:nvPr/>
        </p:nvSpPr>
        <p:spPr>
          <a:xfrm>
            <a:off x="6136440" y="1750000"/>
            <a:ext cx="2687320" cy="6200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rPr>
              <a:t>+42%</a:t>
            </a:r>
          </a:p>
        </p:txBody>
      </p:sp>
      <p:sp>
        <p:nvSpPr>
          <p:cNvPr id="68" name="StatCLabel"/>
          <p:cNvSpPr/>
          <p:nvPr/>
        </p:nvSpPr>
        <p:spPr>
          <a:xfrm>
            <a:off x="6227880" y="2450000"/>
            <a:ext cx="2504440" cy="900000"/>
          </a:xfrm>
          <a:prstGeom prst="rect">
            <a:avLst/>
          </a:prstGeom>
          <a:noFill/>
          <a:ln/>
        </p:spPr>
        <p:txBody>
          <a:bodyPr wrap="square" rtlCol="0" anchor="t"/>
          <a:lstStyle/>
          <a:p>
            <a:pPr algn="ctr" indent="0" marL="0">
              <a:lnSpc>
                <a:spcPct val="120000"/>
              </a:lnSpc>
              <a:buNone/>
            </a:pPr>
            <a:r>
              <a:rPr lang="en-US" sz="1050" dirty="0">
                <a:solidFill>
                  <a:srgbClr val="F0E5FF"/>
                </a:solidFill>
                <a:latin typeface="Calibri" pitchFamily="34" charset="0"/>
              </a:rPr>
              <a:t>AI seed rounds price above non-AI SaaS, on average</a:t>
            </a:r>
          </a:p>
        </p:txBody>
      </p:sp>
      <p:sp>
        <p:nvSpPr>
          <p:cNvPr id="69" name="SourceBox"/>
          <p:cNvSpPr/>
          <p:nvPr/>
        </p:nvSpPr>
        <p:spPr>
          <a:xfrm>
            <a:off x="320040" y="3750000"/>
            <a:ext cx="8503920" cy="900000"/>
          </a:xfrm>
          <a:prstGeom prst="rect">
            <a:avLst/>
          </a:prstGeom>
          <a:solidFill>
            <a:srgbClr val="F5F5FA"/>
          </a:solidFill>
          <a:ln>
            <a:solidFill>
              <a:srgbClr val="D0D0E0"/>
            </a:solidFill>
          </a:ln>
        </p:spPr>
        <p:txBody>
          <a:bodyPr wrap="square" rtlCol="0" lIns="150000" rIns="150000" anchor="ctr"/>
          <a:lstStyle/>
          <a:p>
            <a:pPr indent="0" marL="0">
              <a:lnSpc>
                <a:spcPct val="130000"/>
              </a:lnSpc>
              <a:buNone/>
            </a:pPr>
            <a:r>
              <a:rPr lang="en-US" sz="1050" dirty="0">
                <a:solidFill>
                  <a:srgbClr val="2A2D3E"/>
                </a:solidFill>
                <a:latin typeface="Calibri" pitchFamily="34" charset="0"/>
              </a:rPr>
              <a:t>Source: Carta 2026 seed-stage data, via Pitchwise/Value Add VC reporting. An internal management-estimate valuation memo ($3–8M pre-money, cost- and comparable-based) exists as supplementary internal analysis and is available on request — the sourced external figures above lead this deck.</a:t>
            </a:r>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sociii.ai  ·  CONFIDENTIAL  ·  SOCIII Inc. (Delaware C-Corp)  ·  Sep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txBody>
          <a:bodyPr/>
          <a:p/>
        </p:txBody>
      </p:sp>
      <p:sp>
        <p:nvSpPr>
          <p:cNvPr id="3" name="Text 1"/>
          <p:cNvSpPr/>
          <p:nvPr/>
        </p:nvSpPr>
        <p:spPr>
          <a:xfrm>
            <a:off x="320040" y="228600"/>
            <a:ext cx="4572000" cy="256032"/>
          </a:xfrm>
          <a:prstGeom prst="rect">
            <a:avLst/>
          </a:prstGeom>
          <a:noFill/>
          <a:ln/>
        </p:spPr>
        <p:txBody>
          <a:bodyPr wrap="square" rtlCol="0" anchor="ctr"/>
          <a:lstStyle/>
          <a:p>
            <a:pPr indent="0" marL="0">
              <a:buNone/>
            </a:pPr>
            <a:r>
              <a:rPr lang="en-US" sz="1100" b="1" spc="300" kern="0" dirty="0">
                <a:solidFill>
                  <a:srgbClr val="4A1D8C"/>
                </a:solidFill>
                <a:latin typeface="Calibri" pitchFamily="34" charset="0"/>
                <a:ea typeface="Calibri" pitchFamily="34" charset="-122"/>
                <a:cs typeface="Calibri" pitchFamily="34" charset="-120"/>
              </a:rPr>
              <a:t>WHERE WE ARE</a:t>
            </a:r>
            <a:endParaRPr lang="en-US" sz="1100" dirty="0"/>
          </a:p>
        </p:txBody>
      </p:sp>
      <p:sp>
        <p:nvSpPr>
          <p:cNvPr id="4" name="Text 2"/>
          <p:cNvSpPr/>
          <p:nvPr/>
        </p:nvSpPr>
        <p:spPr>
          <a:xfrm>
            <a:off x="320040" y="438912"/>
            <a:ext cx="6400800" cy="1097280"/>
          </a:xfrm>
          <a:prstGeom prst="rect">
            <a:avLst/>
          </a:prstGeom>
          <a:noFill/>
          <a:ln/>
        </p:spPr>
        <p:txBody>
          <a:bodyPr wrap="square" rtlCol="0" anchor="ctr"/>
          <a:lstStyle/>
          <a:p>
            <a:pPr indent="0" marL="0">
              <a:lnSpc>
                <a:spcPct val="110000"/>
              </a:lnSpc>
              <a:buNone/>
            </a:pPr>
            <a:r>
              <a:rPr lang="en-US" sz="3200" b="1" dirty="0">
                <a:solidFill>
                  <a:srgbClr val="1A0A2E"/>
                </a:solidFill>
                <a:latin typeface="Calibri" pitchFamily="34" charset="0"/>
                <a:ea typeface="Calibri" pitchFamily="34" charset="-122"/>
                <a:cs typeface="Calibri" pitchFamily="34" charset="-120"/>
              </a:rPr>
              <a:t>Pre-revenue, real product,</a:t>
            </a:r>
            <a:endParaRPr lang="en-US" sz="3200" dirty="0"/>
          </a:p>
          <a:p>
            <a:pPr indent="0" marL="0">
              <a:lnSpc>
                <a:spcPct val="110000"/>
              </a:lnSpc>
              <a:buNone/>
            </a:pPr>
            <a:r>
              <a:rPr lang="en-US" sz="3200" b="1" dirty="0">
                <a:solidFill>
                  <a:srgbClr val="1A0A2E"/>
                </a:solidFill>
                <a:latin typeface="Calibri" pitchFamily="34" charset="0"/>
                <a:ea typeface="Calibri" pitchFamily="34" charset="-122"/>
                <a:cs typeface="Calibri" pitchFamily="34" charset="-120"/>
              </a:rPr>
              <a:t>real governance.</a:t>
            </a:r>
            <a:endParaRPr lang="en-US" sz="3200" dirty="0"/>
          </a:p>
        </p:txBody>
      </p:sp>
      <p:sp>
        <p:nvSpPr>
          <p:cNvPr id="5" name="Shape 3"/>
          <p:cNvSpPr/>
          <p:nvPr/>
        </p:nvSpPr>
        <p:spPr>
          <a:xfrm>
            <a:off x="320040" y="1691640"/>
            <a:ext cx="2004822" cy="1938528"/>
          </a:xfrm>
          <a:prstGeom prst="rect">
            <a:avLst/>
          </a:prstGeom>
          <a:solidFill>
            <a:srgbClr val="4A1D8C"/>
          </a:solidFill>
          <a:ln/>
          <a:effectLst>
            <a:outerShdw sx="100000" sy="100000" kx="0" ky="0" algn="bl" rotWithShape="0" blurRad="76200" dist="25400" dir="8100000">
              <a:srgbClr val="000000">
                <a:alpha val="15000"/>
              </a:srgbClr>
            </a:outerShdw>
          </a:effectLst>
        </p:spPr>
        <p:txBody>
          <a:bodyPr/>
          <a:p/>
        </p:txBody>
      </p:sp>
      <p:sp>
        <p:nvSpPr>
          <p:cNvPr id="6" name="Text 4"/>
          <p:cNvSpPr/>
          <p:nvPr/>
        </p:nvSpPr>
        <p:spPr>
          <a:xfrm>
            <a:off x="320040" y="1783080"/>
            <a:ext cx="2004822" cy="56692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345</a:t>
            </a:r>
            <a:endParaRPr lang="en-US" sz="2200" dirty="0"/>
          </a:p>
        </p:txBody>
      </p:sp>
      <p:sp>
        <p:nvSpPr>
          <p:cNvPr id="7" name="Text 5"/>
          <p:cNvSpPr/>
          <p:nvPr/>
        </p:nvSpPr>
        <p:spPr>
          <a:xfrm>
            <a:off x="411480" y="2377440"/>
            <a:ext cx="1849374" cy="914400"/>
          </a:xfrm>
          <a:prstGeom prst="rect">
            <a:avLst/>
          </a:prstGeom>
          <a:noFill/>
          <a:ln/>
        </p:spPr>
        <p:txBody>
          <a:bodyPr wrap="square" rtlCol="0" anchor="ctr"/>
          <a:lstStyle/>
          <a:p>
            <a:pPr algn="ctr" indent="0" marL="0">
              <a:lnSpc>
                <a:spcPct val="130000"/>
              </a:lnSpc>
              <a:buNone/>
            </a:pPr>
            <a:r>
              <a:rPr lang="en-US" sz="1000" dirty="0">
                <a:solidFill>
                  <a:srgbClr val="DDDDFF"/>
                </a:solidFill>
                <a:latin typeface="Calibri" pitchFamily="34" charset="0"/>
                <a:ea typeface="Calibri" pitchFamily="34" charset="-122"/>
                <a:cs typeface="Calibri" pitchFamily="34" charset="-120"/>
              </a:rPr>
              <a:t>workers in the catalog</a:t>
            </a:r>
            <a:endParaRPr lang="en-US" sz="1000" dirty="0"/>
          </a:p>
          <a:p>
            <a:pPr algn="ctr" indent="0" marL="0">
              <a:lnSpc>
                <a:spcPct val="130000"/>
              </a:lnSpc>
              <a:buNone/>
            </a:pPr>
            <a:r>
              <a:rPr lang="en-US" sz="1000" dirty="0">
                <a:solidFill>
                  <a:srgbClr val="DDDDFF"/>
                </a:solidFill>
                <a:latin typeface="Calibri" pitchFamily="34" charset="0"/>
                <a:ea typeface="Calibri" pitchFamily="34" charset="-122"/>
                <a:cs typeface="Calibri" pitchFamily="34" charset="-120"/>
              </a:rPr>
              <a:t>across 24 industries</a:t>
            </a:r>
            <a:endParaRPr lang="en-US" sz="1000" dirty="0"/>
          </a:p>
        </p:txBody>
      </p:sp>
      <p:sp>
        <p:nvSpPr>
          <p:cNvPr id="8" name="Shape 6"/>
          <p:cNvSpPr/>
          <p:nvPr/>
        </p:nvSpPr>
        <p:spPr>
          <a:xfrm>
            <a:off x="2471166" y="1691640"/>
            <a:ext cx="2004822" cy="1938528"/>
          </a:xfrm>
          <a:prstGeom prst="rect">
            <a:avLst/>
          </a:prstGeom>
          <a:solidFill>
            <a:srgbClr val="1E3A6E"/>
          </a:solidFill>
          <a:ln/>
          <a:effectLst>
            <a:outerShdw sx="100000" sy="100000" kx="0" ky="0" algn="bl" rotWithShape="0" blurRad="76200" dist="25400" dir="8100000">
              <a:srgbClr val="000000">
                <a:alpha val="15000"/>
              </a:srgbClr>
            </a:outerShdw>
          </a:effectLst>
        </p:spPr>
        <p:txBody>
          <a:bodyPr/>
          <a:p/>
        </p:txBody>
      </p:sp>
      <p:sp>
        <p:nvSpPr>
          <p:cNvPr id="9" name="Text 7"/>
          <p:cNvSpPr/>
          <p:nvPr/>
        </p:nvSpPr>
        <p:spPr>
          <a:xfrm>
            <a:off x="2471166" y="1783080"/>
            <a:ext cx="2004822" cy="56692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0" name="Text 8"/>
          <p:cNvSpPr/>
          <p:nvPr/>
        </p:nvSpPr>
        <p:spPr>
          <a:xfrm>
            <a:off x="2562606" y="2377440"/>
            <a:ext cx="1849374" cy="914400"/>
          </a:xfrm>
          <a:prstGeom prst="rect">
            <a:avLst/>
          </a:prstGeom>
          <a:noFill/>
          <a:ln/>
        </p:spPr>
        <p:txBody>
          <a:bodyPr wrap="square" rtlCol="0" anchor="ctr"/>
          <a:lstStyle/>
          <a:p>
            <a:pPr algn="ctr" indent="0" marL="0">
              <a:lnSpc>
                <a:spcPct val="130000"/>
              </a:lnSpc>
              <a:buNone/>
            </a:pPr>
            <a:r>
              <a:rPr lang="en-US" sz="1000" dirty="0">
                <a:solidFill>
                  <a:srgbClr val="DDDDFF"/>
                </a:solidFill>
                <a:latin typeface="Calibri" pitchFamily="34" charset="0"/>
                <a:ea typeface="Calibri" pitchFamily="34" charset="-122"/>
                <a:cs typeface="Calibri" pitchFamily="34" charset="-120"/>
              </a:rPr>
              <a:t>live verticals</a:t>
            </a:r>
            <a:endParaRPr lang="en-US" sz="1000" dirty="0"/>
          </a:p>
          <a:p>
            <a:pPr algn="ctr" indent="0" marL="0">
              <a:lnSpc>
                <a:spcPct val="130000"/>
              </a:lnSpc>
              <a:buNone/>
            </a:pPr>
            <a:r>
              <a:rPr lang="en-US" sz="1000" dirty="0">
                <a:solidFill>
                  <a:srgbClr val="DDDDFF"/>
                </a:solidFill>
                <a:latin typeface="Calibri" pitchFamily="34" charset="0"/>
                <a:ea typeface="Calibri" pitchFamily="34" charset="-122"/>
                <a:cs typeface="Calibri" pitchFamily="34" charset="-120"/>
              </a:rPr>
              <a:t>demo-verified today</a:t>
            </a:r>
            <a:endParaRPr lang="en-US" sz="1000" dirty="0"/>
          </a:p>
        </p:txBody>
      </p:sp>
      <p:sp>
        <p:nvSpPr>
          <p:cNvPr id="11" name="Shape 9"/>
          <p:cNvSpPr/>
          <p:nvPr/>
        </p:nvSpPr>
        <p:spPr>
          <a:xfrm>
            <a:off x="4622292" y="1691640"/>
            <a:ext cx="2004822" cy="1938528"/>
          </a:xfrm>
          <a:prstGeom prst="rect">
            <a:avLst/>
          </a:prstGeom>
          <a:solidFill>
            <a:srgbClr val="0D7A5F"/>
          </a:solidFill>
          <a:ln/>
          <a:effectLst>
            <a:outerShdw sx="100000" sy="100000" kx="0" ky="0" algn="bl" rotWithShape="0" blurRad="76200" dist="25400" dir="8100000">
              <a:srgbClr val="000000">
                <a:alpha val="15000"/>
              </a:srgbClr>
            </a:outerShdw>
          </a:effectLst>
        </p:spPr>
        <p:txBody>
          <a:bodyPr/>
          <a:p/>
        </p:txBody>
      </p:sp>
      <p:sp>
        <p:nvSpPr>
          <p:cNvPr id="12" name="Text 10"/>
          <p:cNvSpPr/>
          <p:nvPr/>
        </p:nvSpPr>
        <p:spPr>
          <a:xfrm>
            <a:off x="4622292" y="1783080"/>
            <a:ext cx="2004822" cy="56692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Univ. of Hawaii</a:t>
            </a:r>
            <a:endParaRPr lang="en-US" sz="2200" dirty="0"/>
          </a:p>
        </p:txBody>
      </p:sp>
      <p:sp>
        <p:nvSpPr>
          <p:cNvPr id="13" name="Text 11"/>
          <p:cNvSpPr/>
          <p:nvPr/>
        </p:nvSpPr>
        <p:spPr>
          <a:xfrm>
            <a:off x="4713732" y="2377440"/>
            <a:ext cx="1849374" cy="914400"/>
          </a:xfrm>
          <a:prstGeom prst="rect">
            <a:avLst/>
          </a:prstGeom>
          <a:noFill/>
          <a:ln/>
        </p:spPr>
        <p:txBody>
          <a:bodyPr wrap="square" rtlCol="0" anchor="ctr"/>
          <a:lstStyle/>
          <a:p>
            <a:pPr algn="ctr" indent="0" marL="0">
              <a:lnSpc>
                <a:spcPct val="130000"/>
              </a:lnSpc>
              <a:buNone/>
            </a:pPr>
            <a:r>
              <a:rPr lang="en-US" sz="1000" dirty="0">
                <a:solidFill>
                  <a:srgbClr val="DDDDFF"/>
                </a:solidFill>
                <a:latin typeface="Calibri" pitchFamily="34" charset="0"/>
                <a:ea typeface="Calibri" pitchFamily="34" charset="-122"/>
                <a:cs typeface="Calibri" pitchFamily="34" charset="-120"/>
              </a:rPr>
              <a:t>Nursing education</a:t>
            </a:r>
            <a:endParaRPr lang="en-US" sz="1000" dirty="0"/>
          </a:p>
          <a:p>
            <a:pPr algn="ctr" indent="0" marL="0">
              <a:lnSpc>
                <a:spcPct val="130000"/>
              </a:lnSpc>
              <a:buNone/>
            </a:pPr>
            <a:r>
              <a:rPr lang="en-US" sz="1000" dirty="0">
                <a:solidFill>
                  <a:srgbClr val="DDDDFF"/>
                </a:solidFill>
                <a:latin typeface="Calibri" pitchFamily="34" charset="0"/>
                <a:ea typeface="Calibri" pitchFamily="34" charset="-122"/>
                <a:cs typeface="Calibri" pitchFamily="34" charset="-120"/>
              </a:rPr>
              <a:t>live partnership</a:t>
            </a:r>
            <a:endParaRPr lang="en-US" sz="1000" dirty="0"/>
          </a:p>
        </p:txBody>
      </p:sp>
      <p:sp>
        <p:nvSpPr>
          <p:cNvPr id="14" name="Shape 12"/>
          <p:cNvSpPr/>
          <p:nvPr/>
        </p:nvSpPr>
        <p:spPr>
          <a:xfrm>
            <a:off x="6773418" y="1691640"/>
            <a:ext cx="2004822" cy="1938528"/>
          </a:xfrm>
          <a:prstGeom prst="rect">
            <a:avLst/>
          </a:prstGeom>
          <a:solidFill>
            <a:srgbClr val="7B3FE4"/>
          </a:solidFill>
          <a:ln/>
          <a:effectLst>
            <a:outerShdw sx="100000" sy="100000" kx="0" ky="0" algn="bl" rotWithShape="0" blurRad="76200" dist="25400" dir="8100000">
              <a:srgbClr val="000000">
                <a:alpha val="15000"/>
              </a:srgbClr>
            </a:outerShdw>
          </a:effectLst>
        </p:spPr>
        <p:txBody>
          <a:bodyPr/>
          <a:p/>
        </p:txBody>
      </p:sp>
      <p:sp>
        <p:nvSpPr>
          <p:cNvPr id="15" name="Text 13"/>
          <p:cNvSpPr/>
          <p:nvPr/>
        </p:nvSpPr>
        <p:spPr>
          <a:xfrm>
            <a:off x="6773418" y="1783080"/>
            <a:ext cx="2004822" cy="56692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Traitly</a:t>
            </a:r>
            <a:endParaRPr lang="en-US" sz="2200" dirty="0"/>
          </a:p>
        </p:txBody>
      </p:sp>
      <p:sp>
        <p:nvSpPr>
          <p:cNvPr id="16" name="Text 14"/>
          <p:cNvSpPr/>
          <p:nvPr/>
        </p:nvSpPr>
        <p:spPr>
          <a:xfrm>
            <a:off x="6864858" y="2377440"/>
            <a:ext cx="1849374" cy="914400"/>
          </a:xfrm>
          <a:prstGeom prst="rect">
            <a:avLst/>
          </a:prstGeom>
          <a:noFill/>
          <a:ln/>
        </p:spPr>
        <p:txBody>
          <a:bodyPr wrap="square" rtlCol="0" anchor="ctr"/>
          <a:lstStyle/>
          <a:p>
            <a:pPr algn="ctr" indent="0" marL="0">
              <a:lnSpc>
                <a:spcPct val="130000"/>
              </a:lnSpc>
              <a:buNone/>
            </a:pPr>
            <a:r>
              <a:rPr lang="en-US" sz="1000" dirty="0">
                <a:solidFill>
                  <a:srgbClr val="DDDDFF"/>
                </a:solidFill>
                <a:latin typeface="Calibri" pitchFamily="34" charset="0"/>
                <a:ea typeface="Calibri" pitchFamily="34" charset="-122"/>
                <a:cs typeface="Calibri" pitchFamily="34" charset="-120"/>
              </a:rPr>
              <a:t>EU DPP compliance</a:t>
            </a:r>
            <a:endParaRPr lang="en-US" sz="1000" dirty="0"/>
          </a:p>
          <a:p>
            <a:pPr algn="ctr" indent="0" marL="0">
              <a:lnSpc>
                <a:spcPct val="130000"/>
              </a:lnSpc>
              <a:buNone/>
            </a:pPr>
            <a:r>
              <a:rPr lang="en-US" sz="1000" dirty="0">
                <a:solidFill>
                  <a:srgbClr val="DDDDFF"/>
                </a:solidFill>
                <a:latin typeface="Calibri" pitchFamily="34" charset="0"/>
                <a:ea typeface="Calibri" pitchFamily="34" charset="-122"/>
                <a:cs typeface="Calibri" pitchFamily="34" charset="-120"/>
              </a:rPr>
              <a:t>status TBD</a:t>
            </a:r>
            <a:endParaRPr lang="en-US" sz="1000" dirty="0"/>
          </a:p>
        </p:txBody>
      </p:sp>
      <p:sp>
        <p:nvSpPr>
          <p:cNvPr id="20" name="Shape 18"/>
          <p:cNvSpPr/>
          <p:nvPr/>
        </p:nvSpPr>
        <p:spPr>
          <a:xfrm>
            <a:off x="320040" y="3700000"/>
            <a:ext cx="8458200" cy="1300000"/>
          </a:xfrm>
          <a:prstGeom prst="rect">
            <a:avLst/>
          </a:prstGeom>
          <a:solidFill>
            <a:srgbClr val="1A0A2E"/>
          </a:solidFill>
          <a:ln/>
        </p:spPr>
        <p:txBody>
          <a:bodyPr/>
          <a:p/>
        </p:txBody>
      </p:sp>
      <p:sp>
        <p:nvSpPr>
          <p:cNvPr id="21" name="Text 19"/>
          <p:cNvSpPr/>
          <p:nvPr/>
        </p:nvSpPr>
        <p:spPr>
          <a:xfrm>
            <a:off x="475488" y="3745000"/>
            <a:ext cx="8138160" cy="230000"/>
          </a:xfrm>
          <a:prstGeom prst="rect">
            <a:avLst/>
          </a:prstGeom>
          <a:noFill/>
          <a:ln/>
        </p:spPr>
        <p:txBody>
          <a:bodyPr wrap="square" rtlCol="0" anchor="ctr"/>
          <a:lstStyle/>
          <a:p>
            <a:pPr indent="0" marL="0">
              <a:buNone/>
            </a:pPr>
            <a:r>
              <a:rPr lang="en-US" sz="850" i="1" dirty="0">
                <a:solidFill>
                  <a:srgbClr val="B8A8DC"/>
                </a:solidFill>
                <a:latin typeface="Calibri" pitchFamily="34" charset="0"/>
                <a:ea typeface="Calibri" pitchFamily="34" charset="-122"/>
                <a:cs typeface="Calibri" pitchFamily="34" charset="-120"/>
              </a:rPr>
              <a:t>Everything here is stated the way we'd want a CPA to say it — sourced, dated, and corrected where the old numbers didn't hold up.</a:t>
            </a:r>
            <a:endParaRPr lang="en-US" sz="850" dirty="0"/>
          </a:p>
        </p:txBody>
      </p:sp>
      <p:sp>
        <p:nvSpPr>
          <p:cNvPr id="22" name="Text 20"/>
          <p:cNvSpPr/>
          <p:nvPr/>
        </p:nvSpPr>
        <p:spPr>
          <a:xfrm>
            <a:off x="475488" y="3985000"/>
            <a:ext cx="8138160" cy="320000"/>
          </a:xfrm>
          <a:prstGeom prst="rect">
            <a:avLst/>
          </a:prstGeom>
          <a:noFill/>
          <a:ln/>
        </p:spPr>
        <p:txBody>
          <a:bodyPr wrap="square" rtlCol="0" anchor="ctr"/>
          <a:lstStyle/>
          <a:p>
            <a:pPr indent="0" marL="0">
              <a:buNone/>
            </a:pPr>
            <a:r>
              <a:rPr lang="en-US" sz="850" dirty="0">
                <a:solidFill>
                  <a:srgbClr val="DDDDFF"/>
                </a:solidFill>
                <a:latin typeface="Calibri" pitchFamily="34" charset="0"/>
                <a:ea typeface="Calibri" pitchFamily="34" charset="-122"/>
                <a:cs typeface="Calibri" pitchFamily="34" charset="-120"/>
              </a:rPr>
              <a:t>345 is the real, code-verified catalog count. Four verticals carry a live product today — each adopted because a real regulation forced it: Aviation (FAA Part 135/91), Nursing Ed (state licensure, with Ruthie Clearwater/UH), Real Estate (county-recording statutes), DPP (EU Battery Regulation). Plus the back-office suite every workspace runs on.</a:t>
            </a:r>
            <a:endParaRPr lang="en-US" sz="850" dirty="0"/>
          </a:p>
        </p:txBody>
      </p:sp>
      <p:sp>
        <p:nvSpPr>
          <p:cNvPr id="24" name="Text 22"/>
          <p:cNvSpPr/>
          <p:nvPr/>
        </p:nvSpPr>
        <p:spPr>
          <a:xfrm>
            <a:off x="475488" y="4325000"/>
            <a:ext cx="8138160" cy="320000"/>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See the four live verticals yourself: sociii.ai/demo/skye · /demo/nursing · /demo/title · /demo/dpp</a:t>
            </a:r>
            <a:endParaRPr lang="en-US" sz="850" dirty="0"/>
          </a:p>
        </p:txBody>
      </p:sp>
      <p:sp>
        <p:nvSpPr>
          <p:cNvPr id="23" name="Text 21"/>
          <p:cNvSpPr/>
          <p:nvPr/>
        </p:nvSpPr>
        <p:spPr>
          <a:xfrm>
            <a:off x="475488" y="4665000"/>
            <a:ext cx="8138160" cy="300000"/>
          </a:xfrm>
          <a:prstGeom prst="rect">
            <a:avLst/>
          </a:prstGeom>
          <a:noFill/>
          <a:ln/>
        </p:spPr>
        <p:txBody>
          <a:bodyPr wrap="square" rtlCol="0" anchor="ctr"/>
          <a:lstStyle/>
          <a:p>
            <a:pPr indent="0" marL="0">
              <a:buNone/>
            </a:pPr>
            <a:r>
              <a:rPr lang="en-US" sz="800" i="1" dirty="0">
                <a:solidFill>
                  <a:srgbClr val="10B981"/>
                </a:solidFill>
                <a:latin typeface="Calibri" pitchFamily="34" charset="0"/>
                <a:ea typeface="Calibri" pitchFamily="34" charset="-122"/>
                <a:cs typeface="Calibri" pitchFamily="34" charset="-120"/>
              </a:rPr>
              <a:t>The open-SDK architecture means the catalog keeps growing as outside creators publish workers too — it isn't only SOCIII's own team building it.</a:t>
            </a:r>
            <a:endParaRPr lang="en-US" sz="80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sociii.ai  ·  CONFIDENTIAL  ·  SOCIII Inc. (Delaware C-Corp)  ·  Sep 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0A2E"/>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txBody>
          <a:bodyPr/>
          <a:p/>
        </p:txBody>
      </p:sp>
      <p:sp>
        <p:nvSpPr>
          <p:cNvPr id="3" name="Text 1"/>
          <p:cNvSpPr/>
          <p:nvPr/>
        </p:nvSpPr>
        <p:spPr>
          <a:xfrm>
            <a:off x="320040" y="292608"/>
            <a:ext cx="3657600" cy="256032"/>
          </a:xfrm>
          <a:prstGeom prst="rect">
            <a:avLst/>
          </a:prstGeom>
          <a:noFill/>
          <a:ln/>
        </p:spPr>
        <p:txBody>
          <a:bodyPr wrap="square" rtlCol="0" anchor="ctr"/>
          <a:lstStyle/>
          <a:p>
            <a:pPr indent="0" marL="0">
              <a:buNone/>
            </a:pPr>
            <a:r>
              <a:rPr lang="en-US" sz="1100" b="1" spc="300" kern="0" dirty="0">
                <a:solidFill>
                  <a:srgbClr val="7B3FE4"/>
                </a:solidFill>
                <a:latin typeface="Calibri" pitchFamily="34" charset="0"/>
                <a:ea typeface="Calibri" pitchFamily="34" charset="-122"/>
                <a:cs typeface="Calibri" pitchFamily="34" charset="-120"/>
              </a:rPr>
              <a:t>SOURCES &amp; USES</a:t>
            </a:r>
            <a:endParaRPr lang="en-US" sz="1100" dirty="0"/>
          </a:p>
        </p:txBody>
      </p:sp>
      <p:sp>
        <p:nvSpPr>
          <p:cNvPr id="4" name="Text 2"/>
          <p:cNvSpPr/>
          <p:nvPr/>
        </p:nvSpPr>
        <p:spPr>
          <a:xfrm>
            <a:off x="320040" y="530352"/>
            <a:ext cx="5943600" cy="1170432"/>
          </a:xfrm>
          <a:prstGeom prst="rect">
            <a:avLst/>
          </a:prstGeom>
          <a:noFill/>
          <a:ln/>
        </p:spPr>
        <p:txBody>
          <a:bodyPr wrap="square" rtlCol="0" anchor="ctr"/>
          <a:lstStyle/>
          <a:p>
            <a:pPr indent="0" marL="0">
              <a:lnSpc>
                <a:spcPct val="110000"/>
              </a:lnSpc>
              <a:buNone/>
            </a:pPr>
            <a:r>
              <a:rPr lang="en-US" sz="3400" b="1" dirty="0">
                <a:solidFill>
                  <a:srgbClr val="FFFFFF"/>
                </a:solidFill>
                <a:latin typeface="Calibri" pitchFamily="34" charset="0"/>
                <a:ea typeface="Calibri" pitchFamily="34" charset="-122"/>
                <a:cs typeface="Calibri" pitchFamily="34" charset="-120"/>
              </a:rPr>
              <a:t>What The Capital Does.</a:t>
            </a:r>
            <a:endParaRPr lang="en-US" sz="3400" dirty="0"/>
          </a:p>
        </p:txBody>
      </p:sp>
      <p:sp>
        <p:nvSpPr>
          <p:cNvPr id="5" name="Text 3"/>
          <p:cNvSpPr/>
          <p:nvPr/>
        </p:nvSpPr>
        <p:spPr>
          <a:xfrm>
            <a:off x="320040" y="1737360"/>
            <a:ext cx="8412480" cy="411480"/>
          </a:xfrm>
          <a:prstGeom prst="rect">
            <a:avLst/>
          </a:prstGeom>
          <a:noFill/>
          <a:ln/>
        </p:spPr>
        <p:txBody>
          <a:bodyPr wrap="square" rtlCol="0" anchor="ctr"/>
          <a:lstStyle/>
          <a:p>
            <a:pPr indent="0" marL="0">
              <a:buNone/>
            </a:pPr>
            <a:r>
              <a:rPr lang="en-US" sz="1300" i="1" dirty="0">
                <a:solidFill>
                  <a:srgbClr val="10B981"/>
                </a:solidFill>
                <a:latin typeface="Calibri" pitchFamily="34" charset="0"/>
                <a:ea typeface="Calibri" pitchFamily="34" charset="-122"/>
                <a:cs typeface="Calibri" pitchFamily="34" charset="-120"/>
              </a:rPr>
              <a:t>$500K minimum viable close (1.2yr runway) — $2M base target (2.9yr runway) + $200 existing cash. Open to $5M+ strategic capital.</a:t>
            </a:r>
            <a:endParaRPr lang="en-US" sz="1300" dirty="0"/>
          </a:p>
        </p:txBody>
      </p:sp>
      <p:sp>
        <p:nvSpPr>
          <p:cNvPr id="6" name="Shape 4"/>
          <p:cNvSpPr/>
          <p:nvPr/>
        </p:nvSpPr>
        <p:spPr>
          <a:xfrm>
            <a:off x="320040" y="2331720"/>
            <a:ext cx="4041648" cy="1261872"/>
          </a:xfrm>
          <a:prstGeom prst="rect">
            <a:avLst/>
          </a:prstGeom>
          <a:solidFill>
            <a:srgbClr val="4A1D8C"/>
          </a:solidFill>
          <a:ln/>
          <a:effectLst>
            <a:outerShdw sx="100000" sy="100000" kx="0" ky="0" algn="bl" rotWithShape="0" blurRad="76200" dist="25400" dir="8100000">
              <a:srgbClr val="000000">
                <a:alpha val="15000"/>
              </a:srgbClr>
            </a:outerShdw>
          </a:effectLst>
        </p:spPr>
        <p:txBody>
          <a:bodyPr/>
          <a:p/>
        </p:txBody>
      </p:sp>
      <p:sp>
        <p:nvSpPr>
          <p:cNvPr id="7" name="Text 5"/>
          <p:cNvSpPr/>
          <p:nvPr/>
        </p:nvSpPr>
        <p:spPr>
          <a:xfrm>
            <a:off x="484632" y="2441448"/>
            <a:ext cx="1450000" cy="384048"/>
          </a:xfrm>
          <a:prstGeom prst="rect">
            <a:avLst/>
          </a:prstGeom>
          <a:noFill/>
          <a:ln/>
        </p:spPr>
        <p:txBody>
          <a:bodyPr wrap="square" rtlCol="0" anchor="ctr"/>
          <a:lstStyle/>
          <a:p>
            <a:pPr indent="0" marL="0">
              <a:buNone/>
            </a:pPr>
            <a:r>
              <a:rPr lang="en-US" sz="1250" b="1" dirty="0">
                <a:solidFill>
                  <a:srgbClr val="10B981"/>
                </a:solidFill>
                <a:latin typeface="Calibri" pitchFamily="34" charset="0"/>
                <a:ea typeface="Calibri" pitchFamily="34" charset="-122"/>
                <a:cs typeface="Calibri" pitchFamily="34" charset="-120"/>
              </a:rPr>
              <a:t>$140,017.88</a:t>
            </a:r>
            <a:endParaRPr lang="en-US" sz="1600" dirty="0"/>
          </a:p>
        </p:txBody>
      </p:sp>
      <p:sp>
        <p:nvSpPr>
          <p:cNvPr id="8" name="Text 6"/>
          <p:cNvSpPr/>
          <p:nvPr/>
        </p:nvSpPr>
        <p:spPr>
          <a:xfrm>
            <a:off x="2000000" y="2441448"/>
            <a:ext cx="2224528"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Debt Service</a:t>
            </a:r>
            <a:endParaRPr lang="en-US" sz="1200" dirty="0"/>
          </a:p>
        </p:txBody>
      </p:sp>
      <p:sp>
        <p:nvSpPr>
          <p:cNvPr id="9" name="Text 7"/>
          <p:cNvSpPr/>
          <p:nvPr/>
        </p:nvSpPr>
        <p:spPr>
          <a:xfrm>
            <a:off x="484632" y="2843784"/>
            <a:ext cx="3703320" cy="658368"/>
          </a:xfrm>
          <a:prstGeom prst="rect">
            <a:avLst/>
          </a:prstGeom>
          <a:noFill/>
          <a:ln/>
        </p:spPr>
        <p:txBody>
          <a:bodyPr wrap="square" rtlCol="0" anchor="ctr"/>
          <a:lstStyle/>
          <a:p>
            <a:pPr indent="0" marL="0">
              <a:lnSpc>
                <a:spcPct val="128000"/>
              </a:lnSpc>
              <a:buNone/>
            </a:pPr>
            <a:r>
              <a:rPr lang="en-US" sz="1050" dirty="0">
                <a:solidFill>
                  <a:srgbClr val="CCDDFF"/>
                </a:solidFill>
                <a:latin typeface="Calibri" pitchFamily="34" charset="0"/>
                <a:ea typeface="Calibri" pitchFamily="34" charset="-122"/>
                <a:cs typeface="Calibri" pitchFamily="34" charset="-120"/>
              </a:rPr>
              <a:t>All four outstanding notes, bank-verified. Clears the balance sheet before scaling into regulated compliance work.</a:t>
            </a:r>
            <a:endParaRPr lang="en-US" sz="1050" dirty="0"/>
          </a:p>
        </p:txBody>
      </p:sp>
      <p:sp>
        <p:nvSpPr>
          <p:cNvPr id="10" name="Shape 8"/>
          <p:cNvSpPr/>
          <p:nvPr/>
        </p:nvSpPr>
        <p:spPr>
          <a:xfrm>
            <a:off x="4636008" y="2331720"/>
            <a:ext cx="4041648" cy="1261872"/>
          </a:xfrm>
          <a:prstGeom prst="rect">
            <a:avLst/>
          </a:prstGeom>
          <a:solidFill>
            <a:srgbClr val="1E3A6E"/>
          </a:solidFill>
          <a:ln/>
          <a:effectLst>
            <a:outerShdw sx="100000" sy="100000" kx="0" ky="0" algn="bl" rotWithShape="0" blurRad="76200" dist="25400" dir="8100000">
              <a:srgbClr val="000000">
                <a:alpha val="15000"/>
              </a:srgbClr>
            </a:outerShdw>
          </a:effectLst>
        </p:spPr>
        <p:txBody>
          <a:bodyPr/>
          <a:p/>
        </p:txBody>
      </p:sp>
      <p:sp>
        <p:nvSpPr>
          <p:cNvPr id="11" name="Text 9"/>
          <p:cNvSpPr/>
          <p:nvPr/>
        </p:nvSpPr>
        <p:spPr>
          <a:xfrm>
            <a:off x="4800600" y="2441448"/>
            <a:ext cx="822960" cy="384048"/>
          </a:xfrm>
          <a:prstGeom prst="rect">
            <a:avLst/>
          </a:prstGeom>
          <a:noFill/>
          <a:ln/>
        </p:spPr>
        <p:txBody>
          <a:bodyPr wrap="square"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$500K</a:t>
            </a:r>
            <a:endParaRPr lang="en-US" sz="1600" dirty="0"/>
          </a:p>
        </p:txBody>
      </p:sp>
      <p:sp>
        <p:nvSpPr>
          <p:cNvPr id="12" name="Text 10"/>
          <p:cNvSpPr/>
          <p:nvPr/>
        </p:nvSpPr>
        <p:spPr>
          <a:xfrm>
            <a:off x="5660136" y="2441448"/>
            <a:ext cx="288036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Trade Conferences &amp; Industry Presence</a:t>
            </a:r>
            <a:endParaRPr lang="en-US" sz="1200" dirty="0"/>
          </a:p>
        </p:txBody>
      </p:sp>
      <p:sp>
        <p:nvSpPr>
          <p:cNvPr id="13" name="Text 11"/>
          <p:cNvSpPr/>
          <p:nvPr/>
        </p:nvSpPr>
        <p:spPr>
          <a:xfrm>
            <a:off x="4800600" y="2843784"/>
            <a:ext cx="3703320" cy="658368"/>
          </a:xfrm>
          <a:prstGeom prst="rect">
            <a:avLst/>
          </a:prstGeom>
          <a:noFill/>
          <a:ln/>
        </p:spPr>
        <p:txBody>
          <a:bodyPr wrap="square" rtlCol="0" anchor="ctr"/>
          <a:lstStyle/>
          <a:p>
            <a:pPr indent="0" marL="0">
              <a:lnSpc>
                <a:spcPct val="128000"/>
              </a:lnSpc>
              <a:buNone/>
            </a:pPr>
            <a:r>
              <a:rPr lang="en-US" sz="1050" dirty="0">
                <a:solidFill>
                  <a:srgbClr val="CCDDFF"/>
                </a:solidFill>
                <a:latin typeface="Calibri" pitchFamily="34" charset="0"/>
                <a:ea typeface="Calibri" pitchFamily="34" charset="-122"/>
                <a:cs typeface="Calibri" pitchFamily="34" charset="-120"/>
              </a:rPr>
              <a:t>Funds the Q4 2026 Aviation and Title/RE B2B pilot push — planned experimentation, no existing sales signal yet in either vertical (see What’s Next).</a:t>
            </a:r>
            <a:endParaRPr lang="en-US" sz="1050" dirty="0"/>
          </a:p>
        </p:txBody>
      </p:sp>
      <p:sp>
        <p:nvSpPr>
          <p:cNvPr id="14" name="Shape 12"/>
          <p:cNvSpPr/>
          <p:nvPr/>
        </p:nvSpPr>
        <p:spPr>
          <a:xfrm>
            <a:off x="320040" y="3721608"/>
            <a:ext cx="4041648" cy="1261872"/>
          </a:xfrm>
          <a:prstGeom prst="rect">
            <a:avLst/>
          </a:prstGeom>
          <a:solidFill>
            <a:srgbClr val="0D7A5F"/>
          </a:solidFill>
          <a:ln/>
          <a:effectLst>
            <a:outerShdw sx="100000" sy="100000" kx="0" ky="0" algn="bl" rotWithShape="0" blurRad="76200" dist="25400" dir="8100000">
              <a:srgbClr val="000000">
                <a:alpha val="15000"/>
              </a:srgbClr>
            </a:outerShdw>
          </a:effectLst>
        </p:spPr>
        <p:txBody>
          <a:bodyPr/>
          <a:p/>
        </p:txBody>
      </p:sp>
      <p:sp>
        <p:nvSpPr>
          <p:cNvPr id="15" name="Text 13"/>
          <p:cNvSpPr/>
          <p:nvPr/>
        </p:nvSpPr>
        <p:spPr>
          <a:xfrm>
            <a:off x="484632" y="3831336"/>
            <a:ext cx="822960" cy="384048"/>
          </a:xfrm>
          <a:prstGeom prst="rect">
            <a:avLst/>
          </a:prstGeom>
          <a:noFill/>
          <a:ln/>
        </p:spPr>
        <p:txBody>
          <a:bodyPr wrap="square"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$500K</a:t>
            </a:r>
            <a:endParaRPr lang="en-US" sz="1600" dirty="0"/>
          </a:p>
        </p:txBody>
      </p:sp>
      <p:sp>
        <p:nvSpPr>
          <p:cNvPr id="16" name="Text 14"/>
          <p:cNvSpPr/>
          <p:nvPr/>
        </p:nvSpPr>
        <p:spPr>
          <a:xfrm>
            <a:off x="1344168" y="3831336"/>
            <a:ext cx="288036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Professional Network Activation</a:t>
            </a:r>
            <a:endParaRPr lang="en-US" sz="1200" dirty="0"/>
          </a:p>
        </p:txBody>
      </p:sp>
      <p:sp>
        <p:nvSpPr>
          <p:cNvPr id="17" name="Text 15"/>
          <p:cNvSpPr/>
          <p:nvPr/>
        </p:nvSpPr>
        <p:spPr>
          <a:xfrm>
            <a:off x="484632" y="4233672"/>
            <a:ext cx="3703320" cy="658368"/>
          </a:xfrm>
          <a:prstGeom prst="rect">
            <a:avLst/>
          </a:prstGeom>
          <a:noFill/>
          <a:ln/>
        </p:spPr>
        <p:txBody>
          <a:bodyPr wrap="square" rtlCol="0" anchor="ctr"/>
          <a:lstStyle/>
          <a:p>
            <a:pPr indent="0" marL="0">
              <a:lnSpc>
                <a:spcPct val="128000"/>
              </a:lnSpc>
              <a:buNone/>
            </a:pPr>
            <a:r>
              <a:rPr lang="en-US" sz="1050" dirty="0">
                <a:solidFill>
                  <a:srgbClr val="CCDDFF"/>
                </a:solidFill>
                <a:latin typeface="Calibri" pitchFamily="34" charset="0"/>
                <a:ea typeface="Calibri" pitchFamily="34" charset="-122"/>
                <a:cs typeface="Calibri" pitchFamily="34" charset="-120"/>
              </a:rPr>
              <a:t>Same Q4 push as conference spend — direct outreach into Aviation and Title/RE. Not blended with the UH partnership or Traitly engagement.</a:t>
            </a:r>
            <a:endParaRPr lang="en-US" sz="1050" dirty="0"/>
          </a:p>
        </p:txBody>
      </p:sp>
      <p:sp>
        <p:nvSpPr>
          <p:cNvPr id="18" name="Shape 16"/>
          <p:cNvSpPr/>
          <p:nvPr/>
        </p:nvSpPr>
        <p:spPr>
          <a:xfrm>
            <a:off x="4636008" y="3721608"/>
            <a:ext cx="4041648" cy="1261872"/>
          </a:xfrm>
          <a:prstGeom prst="rect">
            <a:avLst/>
          </a:prstGeom>
          <a:solidFill>
            <a:srgbClr val="7B3FE4"/>
          </a:solidFill>
          <a:ln/>
          <a:effectLst>
            <a:outerShdw sx="100000" sy="100000" kx="0" ky="0" algn="bl" rotWithShape="0" blurRad="76200" dist="25400" dir="8100000">
              <a:srgbClr val="000000">
                <a:alpha val="15000"/>
              </a:srgbClr>
            </a:outerShdw>
          </a:effectLst>
        </p:spPr>
        <p:txBody>
          <a:bodyPr/>
          <a:p/>
        </p:txBody>
      </p:sp>
      <p:sp>
        <p:nvSpPr>
          <p:cNvPr id="19" name="Text 17"/>
          <p:cNvSpPr/>
          <p:nvPr/>
        </p:nvSpPr>
        <p:spPr>
          <a:xfrm>
            <a:off x="4800600" y="3831336"/>
            <a:ext cx="1450000" cy="384048"/>
          </a:xfrm>
          <a:prstGeom prst="rect">
            <a:avLst/>
          </a:prstGeom>
          <a:noFill/>
          <a:ln/>
        </p:spPr>
        <p:txBody>
          <a:bodyPr wrap="square" rtlCol="0" anchor="ctr"/>
          <a:lstStyle/>
          <a:p>
            <a:pPr indent="0" marL="0">
              <a:buNone/>
            </a:pPr>
            <a:r>
              <a:rPr lang="en-US" sz="1250" b="1" dirty="0">
                <a:solidFill>
                  <a:srgbClr val="10B981"/>
                </a:solidFill>
                <a:latin typeface="Calibri" pitchFamily="34" charset="0"/>
                <a:ea typeface="Calibri" pitchFamily="34" charset="-122"/>
                <a:cs typeface="Calibri" pitchFamily="34" charset="-120"/>
              </a:rPr>
              <a:t>$859,982</a:t>
            </a:r>
            <a:endParaRPr lang="en-US" sz="1600" dirty="0"/>
          </a:p>
        </p:txBody>
      </p:sp>
      <p:sp>
        <p:nvSpPr>
          <p:cNvPr id="20" name="Text 18"/>
          <p:cNvSpPr/>
          <p:nvPr/>
        </p:nvSpPr>
        <p:spPr>
          <a:xfrm>
            <a:off x="6300000" y="3831336"/>
            <a:ext cx="2224528"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Runway + Operations (~34 mo)</a:t>
            </a:r>
            <a:endParaRPr lang="en-US" sz="1200" dirty="0"/>
          </a:p>
        </p:txBody>
      </p:sp>
      <p:sp>
        <p:nvSpPr>
          <p:cNvPr id="21" name="Text 19"/>
          <p:cNvSpPr/>
          <p:nvPr/>
        </p:nvSpPr>
        <p:spPr>
          <a:xfrm>
            <a:off x="4800600" y="4233672"/>
            <a:ext cx="3703320" cy="658368"/>
          </a:xfrm>
          <a:prstGeom prst="rect">
            <a:avLst/>
          </a:prstGeom>
          <a:noFill/>
          <a:ln/>
        </p:spPr>
        <p:txBody>
          <a:bodyPr wrap="square" rtlCol="0" anchor="ctr"/>
          <a:lstStyle/>
          <a:p>
            <a:pPr indent="0" marL="0">
              <a:lnSpc>
                <a:spcPct val="128000"/>
              </a:lnSpc>
              <a:buNone/>
            </a:pPr>
            <a:r>
              <a:rPr lang="en-US" sz="1050" dirty="0">
                <a:solidFill>
                  <a:srgbClr val="CCDDFF"/>
                </a:solidFill>
                <a:latin typeface="Calibri" pitchFamily="34" charset="0"/>
                <a:ea typeface="Calibri" pitchFamily="34" charset="-122"/>
                <a:cs typeface="Calibri" pitchFamily="34" charset="-120"/>
              </a:rPr>
              <a:t>At $25K/mo fixed overhead, ~34 months of runway at the $2M base raise. Also binds cyber/tech E&amp;O insurance (TBD), deferred until funded.</a:t>
            </a:r>
            <a:endParaRPr lang="en-US" sz="105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sociii.ai  ·  CONFIDENTIAL  ·  SOCIII Inc. (Delaware C-Corp)  ·  Sep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Team">
    <p:bg>
      <p:bgPr>
        <a:solidFill>
          <a:srgbClr val="0A0A0F"/>
        </a:solidFill>
      </p:bgPr>
    </p:bg>
    <p:spTree>
      <p:nvGrpSpPr>
        <p:cNvPr id="1" name=""/>
        <p:cNvGrpSpPr/>
        <p:nvPr/>
      </p:nvGrpSpPr>
      <p:grpSpPr>
        <a:xfrm>
          <a:off x="0" y="0"/>
          <a:ext cx="0" cy="0"/>
          <a:chOff x="0" y="0"/>
          <a:chExt cx="0" cy="0"/>
        </a:xfrm>
      </p:grpSpPr>
      <p:sp>
        <p:nvSpPr>
          <p:cNvPr id="101" name="SectionTag"/>
          <p:cNvSpPr/>
          <p:nvPr/>
        </p:nvSpPr>
        <p:spPr>
          <a:xfrm>
            <a:off x="320040" y="220000"/>
            <a:ext cx="8503920" cy="240000"/>
          </a:xfrm>
          <a:prstGeom prst="rect">
            <a:avLst/>
          </a:prstGeom>
          <a:noFill/>
        </p:spPr>
        <p:txBody>
          <a:bodyPr wrap="square" rtlCol="0" anchor="t"/>
          <a:lstStyle/>
          <a:p>
            <a:pPr indent="0" marL="0">
              <a:buNone/>
            </a:pPr>
            <a:r>
              <a:rPr lang="en-US" sz="1100" b="1" spc="200" kern="0">
                <a:solidFill>
                  <a:srgbClr val="7C3AED"/>
                </a:solidFill>
                <a:latin typeface="Calibri" pitchFamily="34" charset="0"/>
              </a:rPr>
              <a:t>THE TEAM</a:t>
            </a:r>
          </a:p>
        </p:txBody>
      </p:sp>
      <p:sp>
        <p:nvSpPr>
          <p:cNvPr id="102" name="Title"/>
          <p:cNvSpPr/>
          <p:nvPr/>
        </p:nvSpPr>
        <p:spPr>
          <a:xfrm>
            <a:off x="320040" y="450000"/>
            <a:ext cx="8503920" cy="500000"/>
          </a:xfrm>
          <a:prstGeom prst="rect">
            <a:avLst/>
          </a:prstGeom>
          <a:noFill/>
        </p:spPr>
        <p:txBody>
          <a:bodyPr wrap="square" rtlCol="0" anchor="t"/>
          <a:lstStyle/>
          <a:p>
            <a:pPr indent="0" marL="0">
              <a:buNone/>
            </a:pPr>
            <a:r>
              <a:rPr lang="en-US" sz="3400" b="1" kern="0">
                <a:solidFill>
                  <a:srgbClr val="FFFFFF"/>
                </a:solidFill>
                <a:latin typeface="Calibri" pitchFamily="34" charset="0"/>
              </a:rPr>
              <a:t>The Team &amp; Advisors, Named.</a:t>
            </a:r>
          </a:p>
        </p:txBody>
      </p:sp>
      <p:sp>
        <p:nvSpPr>
          <p:cNvPr id="103" name="Subhead"/>
          <p:cNvSpPr/>
          <p:nvPr/>
        </p:nvSpPr>
        <p:spPr>
          <a:xfrm>
            <a:off x="320040" y="950000"/>
            <a:ext cx="8503920" cy="320000"/>
          </a:xfrm>
          <a:prstGeom prst="rect">
            <a:avLst/>
          </a:prstGeom>
          <a:noFill/>
        </p:spPr>
        <p:txBody>
          <a:bodyPr wrap="square" rtlCol="0" anchor="t"/>
          <a:lstStyle/>
          <a:p>
            <a:pPr indent="0" marL="0">
              <a:buNone/>
            </a:pPr>
            <a:r>
              <a:rPr lang="en-US" sz="1400" i="1" kern="0">
                <a:solidFill>
                  <a:srgbClr val="16A34A"/>
                </a:solidFill>
                <a:latin typeface="Calibri" pitchFamily="34" charset="0"/>
              </a:rPr>
              <a:t>Real people, real status — where each relationship actually stands today.</a:t>
            </a:r>
          </a:p>
        </p:txBody>
      </p:sp>
      <p:sp>
        <p:nvSpPr>
          <p:cNvPr id="104" name="ColHeaderL"/>
          <p:cNvSpPr/>
          <p:nvPr/>
        </p:nvSpPr>
        <p:spPr>
          <a:xfrm>
            <a:off x="320040" y="1370000"/>
            <a:ext cx="4151960" cy="380000"/>
          </a:xfrm>
          <a:prstGeom prst="roundRect">
            <a:avLst>
              <a:gd name="adj" fmla="val 25000"/>
            </a:avLst>
          </a:prstGeom>
          <a:solidFill>
            <a:srgbClr val="7C3AED"/>
          </a:solidFill>
          <a:ln/>
        </p:spPr>
        <p:txBody>
          <a:bodyPr wrap="square" rtlCol="0" anchor="ctr"/>
          <a:lstStyle/>
          <a:p>
            <a:pPr algn="ctr" indent="0" marL="0">
              <a:buNone/>
            </a:pPr>
            <a:r>
              <a:rPr lang="en-US" sz="1400" b="1" spc="150" kern="0">
                <a:solidFill>
                  <a:srgbClr val="FFFFFF"/>
                </a:solidFill>
                <a:latin typeface="Calibri" pitchFamily="34" charset="0"/>
              </a:rPr>
              <a:t>PEOPLE &amp; VERTICALS</a:t>
            </a:r>
          </a:p>
        </p:txBody>
      </p:sp>
      <p:sp>
        <p:nvSpPr>
          <p:cNvPr id="105" name="ColHeaderR"/>
          <p:cNvSpPr/>
          <p:nvPr/>
        </p:nvSpPr>
        <p:spPr>
          <a:xfrm>
            <a:off x="4672000" y="1370000"/>
            <a:ext cx="4151960" cy="380000"/>
          </a:xfrm>
          <a:prstGeom prst="roundRect">
            <a:avLst>
              <a:gd name="adj" fmla="val 25000"/>
            </a:avLst>
          </a:prstGeom>
          <a:solidFill>
            <a:srgbClr val="16A34A"/>
          </a:solidFill>
          <a:ln/>
        </p:spPr>
        <p:txBody>
          <a:bodyPr wrap="square" rtlCol="0" anchor="ctr"/>
          <a:lstStyle/>
          <a:p>
            <a:pPr algn="ctr" indent="0" marL="0">
              <a:buNone/>
            </a:pPr>
            <a:r>
              <a:rPr lang="en-US" sz="1400" b="1" spc="150" kern="0">
                <a:solidFill>
                  <a:srgbClr val="FFFFFF"/>
                </a:solidFill>
                <a:latin typeface="Calibri" pitchFamily="34" charset="0"/>
              </a:rPr>
              <a:t>STATUS &amp; REAL OUTCOME</a:t>
            </a:r>
          </a:p>
        </p:txBody>
      </p:sp>
      <p:sp>
        <p:nvSpPr>
          <p:cNvPr id="106" name="HumanRow0"/>
          <p:cNvSpPr/>
          <p:nvPr/>
        </p:nvSpPr>
        <p:spPr>
          <a:xfrm>
            <a:off x="320040" y="1810000"/>
            <a:ext cx="4151960" cy="320000"/>
          </a:xfrm>
          <a:prstGeom prst="rect">
            <a:avLst/>
          </a:prstGeom>
          <a:solidFill>
            <a:srgbClr val="1A1F2E"/>
          </a:solidFill>
          <a:ln/>
        </p:spPr>
        <p:txBody>
          <a:bodyPr wrap="square" rtlCol="0" lIns="120000" rIns="120000" anchor="ctr"/>
          <a:lstStyle/>
          <a:p>
            <a:pPr indent="0" marL="0">
              <a:buNone/>
            </a:pPr>
            <a:r>
              <a:rPr lang="en-US" sz="1050" b="1" kern="0">
                <a:solidFill>
                  <a:srgbClr val="FFFFFF"/>
                </a:solidFill>
                <a:latin typeface="Calibri" pitchFamily="34" charset="0"/>
              </a:rPr>
              <a:t>Sean Lee Combs</a:t>
            </a:r>
            <a:r>
              <a:rPr lang="en-US" sz="1050" kern="0">
                <a:solidFill>
                  <a:srgbClr val="AABBDD"/>
                </a:solidFill>
                <a:latin typeface="Calibri" pitchFamily="34" charset="0"/>
              </a:rPr>
              <a:t xml:space="preserve"> — Founder &amp; CEO</a:t>
            </a:r>
          </a:p>
        </p:txBody>
      </p:sp>
      <p:sp>
        <p:nvSpPr>
          <p:cNvPr id="107" name="WorkerRow0"/>
          <p:cNvSpPr/>
          <p:nvPr/>
        </p:nvSpPr>
        <p:spPr>
          <a:xfrm>
            <a:off x="4672000" y="1810000"/>
            <a:ext cx="4151960" cy="320000"/>
          </a:xfrm>
          <a:prstGeom prst="rect">
            <a:avLst/>
          </a:prstGeom>
          <a:solidFill>
            <a:srgbClr val="1A1F2E"/>
          </a:solidFill>
          <a:ln/>
        </p:spPr>
        <p:txBody>
          <a:bodyPr wrap="square" rtlCol="0" lIns="120000" rIns="120000" anchor="ctr"/>
          <a:lstStyle/>
          <a:p>
            <a:pPr indent="0" marL="0">
              <a:buNone/>
            </a:pPr>
            <a:r>
              <a:rPr lang="en-US" sz="1050" b="1" kern="0">
                <a:solidFill>
                  <a:srgbClr val="FFFFFF"/>
                </a:solidFill>
                <a:latin typeface="Calibri" pitchFamily="34" charset="0"/>
              </a:rPr>
              <a:t>Sole full-time operator</a:t>
            </a:r>
          </a:p>
          <a:p>
            <a:pPr indent="0" marL="0">
              <a:buNone/>
            </a:pPr>
            <a:r>
              <a:rPr lang="en-US" sz="900" kern="0">
                <a:solidFill>
                  <a:srgbClr val="AABBDD"/>
                </a:solidFill>
                <a:latin typeface="Calibri" pitchFamily="34" charset="0"/>
              </a:rPr>
              <a:t>Product + platform architecture</a:t>
            </a:r>
          </a:p>
        </p:txBody>
      </p:sp>
      <p:sp>
        <p:nvSpPr>
          <p:cNvPr id="108" name="HumanRow1"/>
          <p:cNvSpPr/>
          <p:nvPr/>
        </p:nvSpPr>
        <p:spPr>
          <a:xfrm>
            <a:off x="320040" y="2140000"/>
            <a:ext cx="4151960" cy="320000"/>
          </a:xfrm>
          <a:prstGeom prst="rect">
            <a:avLst/>
          </a:prstGeom>
          <a:solidFill>
            <a:srgbClr val="232838"/>
          </a:solidFill>
          <a:ln/>
        </p:spPr>
        <p:txBody>
          <a:bodyPr wrap="square" rtlCol="0" lIns="120000" rIns="120000" anchor="ctr"/>
          <a:lstStyle/>
          <a:p>
            <a:pPr indent="0" marL="0">
              <a:buNone/>
            </a:pPr>
            <a:r>
              <a:rPr lang="en-US" sz="1050" b="1" kern="0">
                <a:solidFill>
                  <a:srgbClr val="FFFFFF"/>
                </a:solidFill>
                <a:latin typeface="Calibri" pitchFamily="34" charset="0"/>
              </a:rPr>
              <a:t>Ruthie Clearwater</a:t>
            </a:r>
            <a:r>
              <a:rPr lang="en-US" sz="1050" kern="0">
                <a:solidFill>
                  <a:srgbClr val="AABBDD"/>
                </a:solidFill>
                <a:latin typeface="Calibri" pitchFamily="34" charset="0"/>
              </a:rPr>
              <a:t xml:space="preserve"> — Advisor · Nursing Education</a:t>
            </a:r>
          </a:p>
        </p:txBody>
      </p:sp>
      <p:sp>
        <p:nvSpPr>
          <p:cNvPr id="109" name="WorkerRow1"/>
          <p:cNvSpPr/>
          <p:nvPr/>
        </p:nvSpPr>
        <p:spPr>
          <a:xfrm>
            <a:off x="4672000" y="2140000"/>
            <a:ext cx="4151960" cy="320000"/>
          </a:xfrm>
          <a:prstGeom prst="rect">
            <a:avLst/>
          </a:prstGeom>
          <a:solidFill>
            <a:srgbClr val="232838"/>
          </a:solidFill>
          <a:ln/>
        </p:spPr>
        <p:txBody>
          <a:bodyPr wrap="square" rtlCol="0" lIns="120000" rIns="120000" anchor="ctr"/>
          <a:lstStyle/>
          <a:p>
            <a:pPr indent="0" marL="0">
              <a:buNone/>
            </a:pPr>
            <a:r>
              <a:rPr lang="en-US" sz="1050" b="1" kern="0">
                <a:solidFill>
                  <a:srgbClr val="FFFFFF"/>
                </a:solidFill>
                <a:latin typeface="Calibri" pitchFamily="34" charset="0"/>
              </a:rPr>
              <a:t>Live — Real partnership</a:t>
            </a:r>
          </a:p>
          <a:p>
            <a:pPr indent="0" marL="0">
              <a:buNone/>
            </a:pPr>
            <a:r>
              <a:rPr lang="en-US" sz="900" kern="0">
                <a:solidFill>
                  <a:srgbClr val="AABBDD"/>
                </a:solidFill>
                <a:latin typeface="Calibri" pitchFamily="34" charset="0"/>
              </a:rPr>
              <a:t>University of Hawaii Nursing School</a:t>
            </a:r>
          </a:p>
        </p:txBody>
      </p:sp>
      <p:sp>
        <p:nvSpPr>
          <p:cNvPr id="110" name="HumanRow2"/>
          <p:cNvSpPr/>
          <p:nvPr/>
        </p:nvSpPr>
        <p:spPr>
          <a:xfrm>
            <a:off x="320040" y="2470000"/>
            <a:ext cx="4151960" cy="320000"/>
          </a:xfrm>
          <a:prstGeom prst="rect">
            <a:avLst/>
          </a:prstGeom>
          <a:solidFill>
            <a:srgbClr val="1A1F2E"/>
          </a:solidFill>
          <a:ln/>
        </p:spPr>
        <p:txBody>
          <a:bodyPr wrap="square" rtlCol="0" lIns="120000" rIns="120000" anchor="ctr"/>
          <a:lstStyle/>
          <a:p>
            <a:pPr indent="0" marL="0">
              <a:buNone/>
            </a:pPr>
            <a:r>
              <a:rPr lang="en-US" sz="1050" b="1" kern="0">
                <a:solidFill>
                  <a:srgbClr val="FFFFFF"/>
                </a:solidFill>
                <a:latin typeface="Calibri" pitchFamily="34" charset="0"/>
              </a:rPr>
              <a:t>Elise van der Bel</a:t>
            </a:r>
            <a:r>
              <a:rPr lang="en-US" sz="1050" kern="0">
                <a:solidFill>
                  <a:srgbClr val="AABBDD"/>
                </a:solidFill>
                <a:latin typeface="Calibri" pitchFamily="34" charset="0"/>
              </a:rPr>
              <a:t xml:space="preserve"> — Advisor · EU Compliance</a:t>
            </a:r>
          </a:p>
        </p:txBody>
      </p:sp>
      <p:sp>
        <p:nvSpPr>
          <p:cNvPr id="111" name="WorkerRow2"/>
          <p:cNvSpPr/>
          <p:nvPr/>
        </p:nvSpPr>
        <p:spPr>
          <a:xfrm>
            <a:off x="4672000" y="2470000"/>
            <a:ext cx="4151960" cy="320000"/>
          </a:xfrm>
          <a:prstGeom prst="rect">
            <a:avLst/>
          </a:prstGeom>
          <a:solidFill>
            <a:srgbClr val="1A1F2E"/>
          </a:solidFill>
          <a:ln/>
        </p:spPr>
        <p:txBody>
          <a:bodyPr wrap="square" rtlCol="0" lIns="120000" rIns="120000" anchor="ctr"/>
          <a:lstStyle/>
          <a:p>
            <a:pPr indent="0" marL="0">
              <a:buNone/>
            </a:pPr>
            <a:r>
              <a:rPr lang="en-US" sz="1050" b="1" kern="0">
                <a:solidFill>
                  <a:srgbClr val="FFFFFF"/>
                </a:solidFill>
                <a:latin typeface="Calibri" pitchFamily="34" charset="0"/>
              </a:rPr>
              <a:t>Live — engagement structure TBD</a:t>
            </a:r>
          </a:p>
          <a:p>
            <a:pPr indent="0" marL="0">
              <a:buNone/>
            </a:pPr>
            <a:r>
              <a:rPr lang="en-US" sz="900" kern="0">
                <a:solidFill>
                  <a:srgbClr val="AABBDD"/>
                </a:solidFill>
                <a:latin typeface="Calibri" pitchFamily="34" charset="0"/>
              </a:rPr>
              <a:t>Traitly, DPP EU — revenue vs. validation status unconfirmed</a:t>
            </a:r>
          </a:p>
        </p:txBody>
      </p:sp>
      <p:sp>
        <p:nvSpPr>
          <p:cNvPr id="112" name="HumanRow3"/>
          <p:cNvSpPr/>
          <p:nvPr/>
        </p:nvSpPr>
        <p:spPr>
          <a:xfrm>
            <a:off x="320040" y="2800000"/>
            <a:ext cx="4151960" cy="320000"/>
          </a:xfrm>
          <a:prstGeom prst="rect">
            <a:avLst/>
          </a:prstGeom>
          <a:solidFill>
            <a:srgbClr val="232838"/>
          </a:solidFill>
          <a:ln/>
        </p:spPr>
        <p:txBody>
          <a:bodyPr wrap="square" rtlCol="0" lIns="120000" rIns="120000" anchor="ctr"/>
          <a:lstStyle/>
          <a:p>
            <a:pPr indent="0" marL="0">
              <a:buNone/>
            </a:pPr>
            <a:r>
              <a:rPr lang="en-US" sz="1050" b="1" kern="0">
                <a:solidFill>
                  <a:srgbClr val="FFFFFF"/>
                </a:solidFill>
                <a:latin typeface="Calibri" pitchFamily="34" charset="0"/>
              </a:rPr>
              <a:t>Mike Lee</a:t>
            </a:r>
            <a:r>
              <a:rPr lang="en-US" sz="1050" kern="0">
                <a:solidFill>
                  <a:srgbClr val="AABBDD"/>
                </a:solidFill>
                <a:latin typeface="Calibri" pitchFamily="34" charset="0"/>
              </a:rPr>
              <a:t xml:space="preserve"> — Title and Mortgage Lending</a:t>
            </a:r>
          </a:p>
        </p:txBody>
      </p:sp>
      <p:sp>
        <p:nvSpPr>
          <p:cNvPr id="113" name="WorkerRow3"/>
          <p:cNvSpPr/>
          <p:nvPr/>
        </p:nvSpPr>
        <p:spPr>
          <a:xfrm>
            <a:off x="4672000" y="2800000"/>
            <a:ext cx="4151960" cy="320000"/>
          </a:xfrm>
          <a:prstGeom prst="rect">
            <a:avLst/>
          </a:prstGeom>
          <a:solidFill>
            <a:srgbClr val="232838"/>
          </a:solidFill>
          <a:ln/>
        </p:spPr>
        <p:txBody>
          <a:bodyPr wrap="square" rtlCol="0" lIns="120000" rIns="120000" anchor="ctr"/>
          <a:lstStyle/>
          <a:p>
            <a:pPr indent="0" marL="0">
              <a:buNone/>
            </a:pPr>
            <a:r>
              <a:rPr lang="en-US" sz="1050" b="1" kern="0">
                <a:solidFill>
                  <a:srgbClr val="FFFFFF"/>
                </a:solidFill>
                <a:latin typeface="Calibri" pitchFamily="34" charset="0"/>
              </a:rPr>
              <a:t>Early stage</a:t>
            </a:r>
          </a:p>
          <a:p>
            <a:pPr indent="0" marL="0">
              <a:buNone/>
            </a:pPr>
            <a:r>
              <a:rPr lang="en-US" sz="900" kern="0">
                <a:solidFill>
                  <a:srgbClr val="AABBDD"/>
                </a:solidFill>
                <a:latin typeface="Calibri" pitchFamily="34" charset="0"/>
              </a:rPr>
              <a:t>Compliance vertical concept — scoping, build not yet started</a:t>
            </a:r>
          </a:p>
        </p:txBody>
      </p:sp>
      <p:sp>
        <p:nvSpPr>
          <p:cNvPr id="114" name="HumanRow4"/>
          <p:cNvSpPr/>
          <p:nvPr/>
        </p:nvSpPr>
        <p:spPr>
          <a:xfrm>
            <a:off x="320040" y="3130000"/>
            <a:ext cx="4151960" cy="320000"/>
          </a:xfrm>
          <a:prstGeom prst="rect">
            <a:avLst/>
          </a:prstGeom>
          <a:solidFill>
            <a:srgbClr val="1A1F2E"/>
          </a:solidFill>
          <a:ln/>
        </p:spPr>
        <p:txBody>
          <a:bodyPr wrap="square" rtlCol="0" lIns="120000" rIns="120000" anchor="ctr"/>
          <a:lstStyle/>
          <a:p>
            <a:pPr indent="0" marL="0">
              <a:buNone/>
            </a:pPr>
            <a:r>
              <a:rPr lang="en-US" sz="1050" b="1" kern="0">
                <a:solidFill>
                  <a:srgbClr val="FFFFFF"/>
                </a:solidFill>
                <a:latin typeface="Calibri" pitchFamily="34" charset="0"/>
              </a:rPr>
              <a:t>Scott Eschelman</a:t>
            </a:r>
            <a:r>
              <a:rPr lang="en-US" sz="1050" kern="0">
                <a:solidFill>
                  <a:srgbClr val="AABBDD"/>
                </a:solidFill>
                <a:latin typeface="Calibri" pitchFamily="34" charset="0"/>
              </a:rPr>
              <a:t xml:space="preserve"> — BuildSF, Pilot Program</a:t>
            </a:r>
          </a:p>
        </p:txBody>
      </p:sp>
      <p:sp>
        <p:nvSpPr>
          <p:cNvPr id="115" name="WorkerRow4"/>
          <p:cNvSpPr/>
          <p:nvPr/>
        </p:nvSpPr>
        <p:spPr>
          <a:xfrm>
            <a:off x="4672000" y="3130000"/>
            <a:ext cx="4151960" cy="320000"/>
          </a:xfrm>
          <a:prstGeom prst="rect">
            <a:avLst/>
          </a:prstGeom>
          <a:solidFill>
            <a:srgbClr val="1A1F2E"/>
          </a:solidFill>
          <a:ln/>
        </p:spPr>
        <p:txBody>
          <a:bodyPr wrap="square" rtlCol="0" lIns="120000" rIns="120000" anchor="ctr"/>
          <a:lstStyle/>
          <a:p>
            <a:pPr indent="0" marL="0">
              <a:buNone/>
            </a:pPr>
            <a:r>
              <a:rPr lang="en-US" sz="1050" b="1" kern="0">
                <a:solidFill>
                  <a:srgbClr val="FFFFFF"/>
                </a:solidFill>
                <a:latin typeface="Calibri" pitchFamily="34" charset="0"/>
              </a:rPr>
              <a:t>In progress</a:t>
            </a:r>
          </a:p>
          <a:p>
            <a:pPr indent="0" marL="0">
              <a:buNone/>
            </a:pPr>
            <a:r>
              <a:rPr lang="en-US" sz="900" kern="0">
                <a:solidFill>
                  <a:srgbClr val="AABBDD"/>
                </a:solidFill>
                <a:latin typeface="Calibri" pitchFamily="34" charset="0"/>
              </a:rPr>
              <a:t>Mixed-use development pilot in progress — details to follow.</a:t>
            </a:r>
          </a:p>
        </p:txBody>
      </p:sp>
      <p:sp>
        <p:nvSpPr>
          <p:cNvPr id="123" name="HumanRow5"/>
          <p:cNvSpPr/>
          <p:nvPr/>
        </p:nvSpPr>
        <p:spPr>
          <a:xfrm>
            <a:off x="320040" y="3460000"/>
            <a:ext cx="4151960" cy="320000"/>
          </a:xfrm>
          <a:prstGeom prst="rect">
            <a:avLst/>
          </a:prstGeom>
          <a:solidFill>
            <a:srgbClr val="232838"/>
          </a:solidFill>
          <a:ln/>
        </p:spPr>
        <p:txBody>
          <a:bodyPr wrap="square" rtlCol="0" lIns="120000" rIns="120000" anchor="ctr"/>
          <a:lstStyle/>
          <a:p>
            <a:pPr indent="0" marL="0">
              <a:buNone/>
            </a:pPr>
            <a:r>
              <a:rPr lang="en-US" sz="1050" b="1" kern="0">
                <a:solidFill>
                  <a:srgbClr val="FFFFFF"/>
                </a:solidFill>
                <a:latin typeface="Calibri" pitchFamily="34" charset="0"/>
              </a:rPr>
              <a:t>Kent Redwine</a:t>
            </a:r>
            <a:r>
              <a:rPr lang="en-US" sz="1050" kern="0">
                <a:solidFill>
                  <a:srgbClr val="AABBDD"/>
                </a:solidFill>
                <a:latin typeface="Calibri" pitchFamily="34" charset="0"/>
              </a:rPr>
              <a:t xml:space="preserve"> — Fundraising</a:t>
            </a:r>
          </a:p>
        </p:txBody>
      </p:sp>
      <p:sp>
        <p:nvSpPr>
          <p:cNvPr id="124" name="WorkerRow5"/>
          <p:cNvSpPr/>
          <p:nvPr/>
        </p:nvSpPr>
        <p:spPr>
          <a:xfrm>
            <a:off x="4672000" y="3460000"/>
            <a:ext cx="4151960" cy="320000"/>
          </a:xfrm>
          <a:prstGeom prst="rect">
            <a:avLst/>
          </a:prstGeom>
          <a:solidFill>
            <a:srgbClr val="232838"/>
          </a:solidFill>
          <a:ln/>
        </p:spPr>
        <p:txBody>
          <a:bodyPr wrap="square" rtlCol="0" lIns="120000" rIns="120000" anchor="ctr"/>
          <a:lstStyle/>
          <a:p>
            <a:pPr indent="0" marL="0">
              <a:buNone/>
            </a:pPr>
            <a:r>
              <a:rPr lang="en-US" sz="1050" b="1" kern="0">
                <a:solidFill>
                  <a:srgbClr val="FFFFFF"/>
                </a:solidFill>
                <a:latin typeface="Calibri" pitchFamily="34" charset="0"/>
              </a:rPr>
              <a:t>Cofounder</a:t>
            </a:r>
          </a:p>
          <a:p>
            <a:pPr indent="0" marL="0">
              <a:buNone/>
            </a:pPr>
            <a:r>
              <a:rPr lang="en-US" sz="900" kern="0">
                <a:solidFill>
                  <a:srgbClr val="AABBDD"/>
                </a:solidFill>
                <a:latin typeface="Calibri" pitchFamily="34" charset="0"/>
              </a:rPr>
              <a:t>Manages investor relations and fundraising strategy</a:t>
            </a:r>
          </a:p>
        </p:txBody>
      </p:sp>
      <p:sp>
        <p:nvSpPr>
          <p:cNvPr id="122" name="DogfoodFooter"/>
          <p:cNvSpPr/>
          <p:nvPr/>
        </p:nvSpPr>
        <p:spPr>
          <a:xfrm>
            <a:off x="320040" y="3980000"/>
            <a:ext cx="8503920" cy="500000"/>
          </a:xfrm>
          <a:prstGeom prst="rect">
            <a:avLst/>
          </a:prstGeom>
          <a:solidFill>
            <a:srgbClr val="0F172A"/>
          </a:solidFill>
          <a:ln>
            <a:solidFill>
              <a:srgbClr val="7C3AED"/>
            </a:solidFill>
          </a:ln>
        </p:spPr>
        <p:txBody>
          <a:bodyPr wrap="square" rtlCol="0" anchor="ctr"/>
          <a:lstStyle/>
          <a:p>
            <a:pPr algn="ctr" indent="0" marL="0">
              <a:buNone/>
            </a:pPr>
            <a:r>
              <a:rPr lang="en-US" sz="1200" b="1" kern="0">
                <a:solidFill>
                  <a:srgbClr val="FFFFFF"/>
                </a:solidFill>
                <a:latin typeface="Calibri" pitchFamily="34" charset="0"/>
              </a:rPr>
              <a:t>Every relationship above is named and current as of this report — no aggregate headcount claims, no undisclosed status.</a:t>
            </a:r>
          </a:p>
        </p:txBody>
      </p:sp>
      <p:pic>
        <p:nvPicPr>
          <p:cNvPr id="950" name="CornerLogo"/>
          <p:cNvPicPr>
            <a:picLocks noChangeAspect="1"/>
          </p:cNvPicPr>
          <p:nvPr/>
        </p:nvPicPr>
        <p:blipFill>
          <a:blip r:embed="rId2"/>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sociii.ai  ·  CONFIDENTIAL  ·  SOCIII Inc. (Delaware C-Corp)  ·  Sep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D7A5F"/>
          </a:solidFill>
          <a:ln/>
        </p:spPr>
      </p:sp>
      <p:sp>
        <p:nvSpPr>
          <p:cNvPr id="3" name="Text 1"/>
          <p:cNvSpPr/>
          <p:nvPr/>
        </p:nvSpPr>
        <p:spPr>
          <a:xfrm>
            <a:off x="320040" y="292608"/>
            <a:ext cx="3657600" cy="256032"/>
          </a:xfrm>
          <a:prstGeom prst="rect">
            <a:avLst/>
          </a:prstGeom>
          <a:noFill/>
          <a:ln/>
        </p:spPr>
        <p:txBody>
          <a:bodyPr wrap="square" rtlCol="0" anchor="ctr"/>
          <a:lstStyle/>
          <a:p>
            <a:pPr indent="0" marL="0">
              <a:buNone/>
            </a:pPr>
            <a:r>
              <a:rPr lang="en-US" sz="1100" b="1" spc="300" kern="0" dirty="0">
                <a:solidFill>
                  <a:srgbClr val="10B981"/>
                </a:solidFill>
                <a:latin typeface="Calibri" pitchFamily="34" charset="0"/>
                <a:ea typeface="Calibri" pitchFamily="34" charset="-122"/>
                <a:cs typeface="Calibri" pitchFamily="34" charset="-120"/>
              </a:rPr>
              <a:t>APPENDIX  ·  TECH STACK</a:t>
            </a:r>
            <a:endParaRPr lang="en-US" sz="1100" dirty="0"/>
          </a:p>
        </p:txBody>
      </p:sp>
      <p:sp>
        <p:nvSpPr>
          <p:cNvPr id="4" name="Text 2"/>
          <p:cNvSpPr/>
          <p:nvPr/>
        </p:nvSpPr>
        <p:spPr>
          <a:xfrm>
            <a:off x="320040" y="530352"/>
            <a:ext cx="6858000" cy="621792"/>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Tech Stack.</a:t>
            </a:r>
            <a:endParaRPr lang="en-US" sz="3200" dirty="0"/>
          </a:p>
        </p:txBody>
      </p:sp>
      <p:sp>
        <p:nvSpPr>
          <p:cNvPr id="5" name="Text 3"/>
          <p:cNvSpPr/>
          <p:nvPr/>
        </p:nvSpPr>
        <p:spPr>
          <a:xfrm>
            <a:off x="320040" y="1133856"/>
            <a:ext cx="8412480" cy="411480"/>
          </a:xfrm>
          <a:prstGeom prst="rect">
            <a:avLst/>
          </a:prstGeom>
          <a:noFill/>
          <a:ln/>
        </p:spPr>
        <p:txBody>
          <a:bodyPr wrap="square" rtlCol="0" anchor="ctr"/>
          <a:lstStyle/>
          <a:p>
            <a:pPr indent="0" marL="0">
              <a:buNone/>
            </a:pPr>
            <a:r>
              <a:rPr lang="en-US" sz="1300" i="1" dirty="0">
                <a:solidFill>
                  <a:srgbClr val="10B981"/>
                </a:solidFill>
                <a:latin typeface="Calibri" pitchFamily="34" charset="0"/>
                <a:ea typeface="Calibri" pitchFamily="34" charset="-122"/>
                <a:cs typeface="Calibri" pitchFamily="34" charset="-120"/>
              </a:rPr>
              <a:t>What the platform actually runs on — four layers, no vendor lock-in on the reasoning layer. Lead developer: Anthropic Claude.</a:t>
            </a:r>
            <a:endParaRPr lang="en-US" sz="1300" dirty="0"/>
          </a:p>
        </p:txBody>
      </p:sp>
      <p:sp>
        <p:nvSpPr>
          <p:cNvPr id="6" name="Shape 4"/>
          <p:cNvSpPr/>
          <p:nvPr/>
        </p:nvSpPr>
        <p:spPr>
          <a:xfrm>
            <a:off x="320040" y="1755648"/>
            <a:ext cx="2029968" cy="3090672"/>
          </a:xfrm>
          <a:prstGeom prst="rect">
            <a:avLst/>
          </a:prstGeom>
          <a:solidFill>
            <a:srgbClr val="3D0000"/>
          </a:solidFill>
          <a:ln w="12700">
            <a:solidFill>
              <a:srgbClr val="FF6B6B">
                <a:alpha val="40000"/>
              </a:srgbClr>
            </a:solidFill>
            <a:prstDash val="solid"/>
          </a:ln>
        </p:spPr>
      </p:sp>
      <p:sp>
        <p:nvSpPr>
          <p:cNvPr id="7" name="Text 5"/>
          <p:cNvSpPr/>
          <p:nvPr/>
        </p:nvSpPr>
        <p:spPr>
          <a:xfrm>
            <a:off x="320040" y="1847088"/>
            <a:ext cx="2029968" cy="320040"/>
          </a:xfrm>
          <a:prstGeom prst="rect">
            <a:avLst/>
          </a:prstGeom>
          <a:noFill/>
          <a:ln/>
        </p:spPr>
        <p:txBody>
          <a:bodyPr wrap="square" rtlCol="0" anchor="ctr"/>
          <a:lstStyle/>
          <a:p>
            <a:pPr algn="ctr" indent="0" marL="0">
              <a:buNone/>
            </a:pPr>
            <a:r>
              <a:rPr lang="en-US" sz="1100" b="1" spc="200" kern="0" dirty="0">
                <a:solidFill>
                  <a:srgbClr val="FF6B6B"/>
                </a:solidFill>
                <a:latin typeface="Calibri" pitchFamily="34" charset="0"/>
                <a:ea typeface="Calibri" pitchFamily="34" charset="-122"/>
                <a:cs typeface="Calibri" pitchFamily="34" charset="-120"/>
              </a:rPr>
              <a:t>LAYER 1</a:t>
            </a:r>
            <a:endParaRPr lang="en-US" sz="1100" dirty="0"/>
          </a:p>
        </p:txBody>
      </p:sp>
      <p:sp>
        <p:nvSpPr>
          <p:cNvPr id="8" name="Text 6"/>
          <p:cNvSpPr/>
          <p:nvPr/>
        </p:nvSpPr>
        <p:spPr>
          <a:xfrm>
            <a:off x="429768" y="2212848"/>
            <a:ext cx="1828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AI Executors</a:t>
            </a:r>
            <a:endParaRPr lang="en-US" sz="1400" dirty="0"/>
          </a:p>
        </p:txBody>
      </p:sp>
      <p:sp>
        <p:nvSpPr>
          <p:cNvPr id="9" name="Text 7"/>
          <p:cNvSpPr/>
          <p:nvPr/>
        </p:nvSpPr>
        <p:spPr>
          <a:xfrm>
            <a:off x="429768" y="2697480"/>
            <a:ext cx="1828800" cy="1965960"/>
          </a:xfrm>
          <a:prstGeom prst="rect">
            <a:avLst/>
          </a:prstGeom>
          <a:noFill/>
          <a:ln/>
        </p:spPr>
        <p:txBody>
          <a:bodyPr wrap="square" rtlCol="0" anchor="ctr"/>
          <a:lstStyle/>
          <a:p>
            <a:pPr indent="0" marL="0">
              <a:lnSpc>
                <a:spcPct val="135000"/>
              </a:lnSpc>
              <a:buNone/>
            </a:pPr>
            <a:r>
              <a:rPr lang="en-US" sz="1100" dirty="0">
                <a:solidFill>
                  <a:srgbClr val="CCCCCC"/>
                </a:solidFill>
                <a:latin typeface="Calibri" pitchFamily="34" charset="0"/>
                <a:ea typeface="Calibri" pitchFamily="34" charset="-122"/>
                <a:cs typeface="Calibri" pitchFamily="34" charset="-120"/>
              </a:rPr>
              <a:t>Anthropic Claude (lead developer + chat executor). OpenAI GPT (alternate + embeddings). Rules engine validates output. No vendor lock-in.</a:t>
            </a:r>
            <a:endParaRPr lang="en-US" sz="1100" dirty="0"/>
          </a:p>
        </p:txBody>
      </p:sp>
      <p:sp>
        <p:nvSpPr>
          <p:cNvPr id="10" name="Shape 8"/>
          <p:cNvSpPr/>
          <p:nvPr/>
        </p:nvSpPr>
        <p:spPr>
          <a:xfrm>
            <a:off x="2532888" y="1755648"/>
            <a:ext cx="2029968" cy="3090672"/>
          </a:xfrm>
          <a:prstGeom prst="rect">
            <a:avLst/>
          </a:prstGeom>
          <a:solidFill>
            <a:srgbClr val="1A0A2E"/>
          </a:solidFill>
          <a:ln w="12700">
            <a:solidFill>
              <a:srgbClr val="7B3FE4">
                <a:alpha val="40000"/>
              </a:srgbClr>
            </a:solidFill>
            <a:prstDash val="solid"/>
          </a:ln>
        </p:spPr>
      </p:sp>
      <p:sp>
        <p:nvSpPr>
          <p:cNvPr id="11" name="Text 9"/>
          <p:cNvSpPr/>
          <p:nvPr/>
        </p:nvSpPr>
        <p:spPr>
          <a:xfrm>
            <a:off x="2532888" y="1847088"/>
            <a:ext cx="2029968" cy="320040"/>
          </a:xfrm>
          <a:prstGeom prst="rect">
            <a:avLst/>
          </a:prstGeom>
          <a:noFill/>
          <a:ln/>
        </p:spPr>
        <p:txBody>
          <a:bodyPr wrap="square" rtlCol="0" anchor="ctr"/>
          <a:lstStyle/>
          <a:p>
            <a:pPr algn="ctr" indent="0" marL="0">
              <a:buNone/>
            </a:pPr>
            <a:r>
              <a:rPr lang="en-US" sz="1100" b="1" spc="200" kern="0" dirty="0">
                <a:solidFill>
                  <a:srgbClr val="7B3FE4"/>
                </a:solidFill>
                <a:latin typeface="Calibri" pitchFamily="34" charset="0"/>
                <a:ea typeface="Calibri" pitchFamily="34" charset="-122"/>
                <a:cs typeface="Calibri" pitchFamily="34" charset="-120"/>
              </a:rPr>
              <a:t>LAYER 2</a:t>
            </a:r>
            <a:endParaRPr lang="en-US" sz="1100" dirty="0"/>
          </a:p>
        </p:txBody>
      </p:sp>
      <p:sp>
        <p:nvSpPr>
          <p:cNvPr id="12" name="Text 10"/>
          <p:cNvSpPr/>
          <p:nvPr/>
        </p:nvSpPr>
        <p:spPr>
          <a:xfrm>
            <a:off x="2642616" y="2212848"/>
            <a:ext cx="1828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Productivity &amp; Identity</a:t>
            </a:r>
            <a:endParaRPr lang="en-US" sz="1400" dirty="0"/>
          </a:p>
        </p:txBody>
      </p:sp>
      <p:sp>
        <p:nvSpPr>
          <p:cNvPr id="13" name="Text 11"/>
          <p:cNvSpPr/>
          <p:nvPr/>
        </p:nvSpPr>
        <p:spPr>
          <a:xfrm>
            <a:off x="2642616" y="2697480"/>
            <a:ext cx="1828800" cy="1965960"/>
          </a:xfrm>
          <a:prstGeom prst="rect">
            <a:avLst/>
          </a:prstGeom>
          <a:noFill/>
          <a:ln/>
        </p:spPr>
        <p:txBody>
          <a:bodyPr wrap="square" rtlCol="0" anchor="ctr"/>
          <a:lstStyle/>
          <a:p>
            <a:pPr indent="0" marL="0">
              <a:lnSpc>
                <a:spcPct val="135000"/>
              </a:lnSpc>
              <a:buNone/>
            </a:pPr>
            <a:r>
              <a:rPr lang="en-US" sz="1100" dirty="0">
                <a:solidFill>
                  <a:srgbClr val="CCCCCC"/>
                </a:solidFill>
                <a:latin typeface="Calibri" pitchFamily="34" charset="0"/>
                <a:ea typeface="Calibri" pitchFamily="34" charset="-122"/>
                <a:cs typeface="Calibri" pitchFamily="34" charset="-120"/>
              </a:rPr>
              <a:t>Google Workspace (Drive, Calendar, Gmail, OAuth). Stripe Identity for KYC. Dropbox Sign for e-signature.</a:t>
            </a:r>
            <a:endParaRPr lang="en-US" sz="1100" dirty="0"/>
          </a:p>
        </p:txBody>
      </p:sp>
      <p:sp>
        <p:nvSpPr>
          <p:cNvPr id="14" name="Shape 12"/>
          <p:cNvSpPr/>
          <p:nvPr/>
        </p:nvSpPr>
        <p:spPr>
          <a:xfrm>
            <a:off x="4745736" y="1755648"/>
            <a:ext cx="2029968" cy="3090672"/>
          </a:xfrm>
          <a:prstGeom prst="rect">
            <a:avLst/>
          </a:prstGeom>
          <a:solidFill>
            <a:srgbClr val="1E3A6E"/>
          </a:solidFill>
          <a:ln w="12700">
            <a:solidFill>
              <a:srgbClr val="2D6BE4">
                <a:alpha val="40000"/>
              </a:srgbClr>
            </a:solidFill>
            <a:prstDash val="solid"/>
          </a:ln>
        </p:spPr>
      </p:sp>
      <p:sp>
        <p:nvSpPr>
          <p:cNvPr id="15" name="Text 13"/>
          <p:cNvSpPr/>
          <p:nvPr/>
        </p:nvSpPr>
        <p:spPr>
          <a:xfrm>
            <a:off x="4745736" y="1847088"/>
            <a:ext cx="2029968" cy="320040"/>
          </a:xfrm>
          <a:prstGeom prst="rect">
            <a:avLst/>
          </a:prstGeom>
          <a:noFill/>
          <a:ln/>
        </p:spPr>
        <p:txBody>
          <a:bodyPr wrap="square" rtlCol="0" anchor="ctr"/>
          <a:lstStyle/>
          <a:p>
            <a:pPr algn="ctr" indent="0" marL="0">
              <a:buNone/>
            </a:pPr>
            <a:r>
              <a:rPr lang="en-US" sz="1100" b="1" spc="200" kern="0" dirty="0">
                <a:solidFill>
                  <a:srgbClr val="2D6BE4"/>
                </a:solidFill>
                <a:latin typeface="Calibri" pitchFamily="34" charset="0"/>
                <a:ea typeface="Calibri" pitchFamily="34" charset="-122"/>
                <a:cs typeface="Calibri" pitchFamily="34" charset="-120"/>
              </a:rPr>
              <a:t>LAYER 3</a:t>
            </a:r>
            <a:endParaRPr lang="en-US" sz="1100" dirty="0"/>
          </a:p>
        </p:txBody>
      </p:sp>
      <p:sp>
        <p:nvSpPr>
          <p:cNvPr id="16" name="Text 14"/>
          <p:cNvSpPr/>
          <p:nvPr/>
        </p:nvSpPr>
        <p:spPr>
          <a:xfrm>
            <a:off x="4855464" y="2212848"/>
            <a:ext cx="1828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Platform Backbone</a:t>
            </a:r>
            <a:endParaRPr lang="en-US" sz="1400" dirty="0"/>
          </a:p>
        </p:txBody>
      </p:sp>
      <p:sp>
        <p:nvSpPr>
          <p:cNvPr id="17" name="Text 15"/>
          <p:cNvSpPr/>
          <p:nvPr/>
        </p:nvSpPr>
        <p:spPr>
          <a:xfrm>
            <a:off x="4855464" y="2697480"/>
            <a:ext cx="1828800" cy="1965960"/>
          </a:xfrm>
          <a:prstGeom prst="rect">
            <a:avLst/>
          </a:prstGeom>
          <a:noFill/>
          <a:ln/>
        </p:spPr>
        <p:txBody>
          <a:bodyPr wrap="square" rtlCol="0" anchor="ctr"/>
          <a:lstStyle/>
          <a:p>
            <a:pPr indent="0" marL="0">
              <a:lnSpc>
                <a:spcPct val="135000"/>
              </a:lnSpc>
              <a:buNone/>
            </a:pPr>
            <a:r>
              <a:rPr lang="en-US" sz="1100" dirty="0">
                <a:solidFill>
                  <a:srgbClr val="CCCCCC"/>
                </a:solidFill>
                <a:latin typeface="Calibri" pitchFamily="34" charset="0"/>
                <a:ea typeface="Calibri" pitchFamily="34" charset="-122"/>
                <a:cs typeface="Calibri" pitchFamily="34" charset="-120"/>
              </a:rPr>
              <a:t>Firebase (Auth, Firestore, Functions, Storage). Cloudflare Workers for edge. Sentry for observability.</a:t>
            </a:r>
            <a:endParaRPr lang="en-US" sz="1100" dirty="0"/>
          </a:p>
        </p:txBody>
      </p:sp>
      <p:sp>
        <p:nvSpPr>
          <p:cNvPr id="18" name="Shape 16"/>
          <p:cNvSpPr/>
          <p:nvPr/>
        </p:nvSpPr>
        <p:spPr>
          <a:xfrm>
            <a:off x="6958584" y="1755648"/>
            <a:ext cx="2029968" cy="3090672"/>
          </a:xfrm>
          <a:prstGeom prst="rect">
            <a:avLst/>
          </a:prstGeom>
          <a:solidFill>
            <a:srgbClr val="0A2E1A"/>
          </a:solidFill>
          <a:ln w="12700">
            <a:solidFill>
              <a:srgbClr val="10B981">
                <a:alpha val="40000"/>
              </a:srgbClr>
            </a:solidFill>
            <a:prstDash val="solid"/>
          </a:ln>
        </p:spPr>
      </p:sp>
      <p:sp>
        <p:nvSpPr>
          <p:cNvPr id="19" name="Text 17"/>
          <p:cNvSpPr/>
          <p:nvPr/>
        </p:nvSpPr>
        <p:spPr>
          <a:xfrm>
            <a:off x="6958584" y="1847088"/>
            <a:ext cx="2029968" cy="320040"/>
          </a:xfrm>
          <a:prstGeom prst="rect">
            <a:avLst/>
          </a:prstGeom>
          <a:noFill/>
          <a:ln/>
        </p:spPr>
        <p:txBody>
          <a:bodyPr wrap="square" rtlCol="0" anchor="ctr"/>
          <a:lstStyle/>
          <a:p>
            <a:pPr algn="ctr" indent="0" marL="0">
              <a:buNone/>
            </a:pPr>
            <a:r>
              <a:rPr lang="en-US" sz="1100" b="1" spc="200" kern="0" dirty="0">
                <a:solidFill>
                  <a:srgbClr val="10B981"/>
                </a:solidFill>
                <a:latin typeface="Calibri" pitchFamily="34" charset="0"/>
                <a:ea typeface="Calibri" pitchFamily="34" charset="-122"/>
                <a:cs typeface="Calibri" pitchFamily="34" charset="-120"/>
              </a:rPr>
              <a:t>LAYER 4</a:t>
            </a:r>
            <a:endParaRPr lang="en-US" sz="1100" dirty="0"/>
          </a:p>
        </p:txBody>
      </p:sp>
      <p:sp>
        <p:nvSpPr>
          <p:cNvPr id="20" name="Text 18"/>
          <p:cNvSpPr/>
          <p:nvPr/>
        </p:nvSpPr>
        <p:spPr>
          <a:xfrm>
            <a:off x="7068312" y="2212848"/>
            <a:ext cx="1828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Commerce, Data &amp; Distribution</a:t>
            </a:r>
            <a:endParaRPr lang="en-US" sz="1400" dirty="0"/>
          </a:p>
        </p:txBody>
      </p:sp>
      <p:sp>
        <p:nvSpPr>
          <p:cNvPr id="21" name="Text 19"/>
          <p:cNvSpPr/>
          <p:nvPr/>
        </p:nvSpPr>
        <p:spPr>
          <a:xfrm>
            <a:off x="7068312" y="2697480"/>
            <a:ext cx="1828800" cy="1965960"/>
          </a:xfrm>
          <a:prstGeom prst="rect">
            <a:avLst/>
          </a:prstGeom>
          <a:noFill/>
          <a:ln/>
        </p:spPr>
        <p:txBody>
          <a:bodyPr wrap="square" rtlCol="0" anchor="ctr"/>
          <a:lstStyle/>
          <a:p>
            <a:pPr indent="0" marL="0">
              <a:lnSpc>
                <a:spcPct val="135000"/>
              </a:lnSpc>
              <a:buNone/>
            </a:pPr>
            <a:r>
              <a:rPr lang="en-US" sz="1100" dirty="0">
                <a:solidFill>
                  <a:srgbClr val="CCCCCC"/>
                </a:solidFill>
                <a:latin typeface="Calibri" pitchFamily="34" charset="0"/>
                <a:ea typeface="Calibri" pitchFamily="34" charset="-122"/>
                <a:cs typeface="Calibri" pitchFamily="34" charset="-120"/>
              </a:rPr>
              <a:t>Stripe for billing + Connect payouts. Crossmint for blockchain anchor. Apollo, SendGrid, Twilio for distribution. GA4 for analytics.</a:t>
            </a:r>
            <a:endParaRPr lang="en-US" sz="1100" dirty="0"/>
          </a:p>
        </p:txBody>
      </p:sp>
      <p:pic>
        <p:nvPicPr>
          <p:cNvPr id="950" name="CornerLogo"/>
          <p:cNvPicPr>
            <a:picLocks noChangeAspect="1"/>
          </p:cNvPicPr>
          <p:nvPr/>
        </p:nvPicPr>
        <p:blipFill>
          <a:blip r:embed="rId2"/>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sociii.ai  ·  CONFIDENTIAL  ·  SOCIII Inc. (Delaware C-Corp)  ·  Sep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ImportantNotices">
    <p:bg>
      <p:bgPr>
        <a:solidFill>
          <a:srgbClr val="0A0A0F"/>
        </a:solidFill>
      </p:bgPr>
    </p:bg>
    <p:spTree>
      <p:nvGrpSpPr>
        <p:cNvPr id="1" name=""/>
        <p:cNvGrpSpPr/>
        <p:nvPr/>
      </p:nvGrpSpPr>
      <p:grpSpPr>
        <a:xfrm>
          <a:off x="0" y="0"/>
          <a:ext cx="0" cy="0"/>
          <a:chOff x="0" y="0"/>
          <a:chExt cx="0" cy="0"/>
        </a:xfrm>
      </p:grpSpPr>
      <p:sp>
        <p:nvSpPr>
          <p:cNvPr id="100" name="SectionTag"/>
          <p:cNvSpPr/>
          <p:nvPr/>
        </p:nvSpPr>
        <p:spPr>
          <a:xfrm>
            <a:off x="320040" y="220000"/>
            <a:ext cx="8503920" cy="240000"/>
          </a:xfrm>
          <a:prstGeom prst="rect">
            <a:avLst/>
          </a:prstGeom>
          <a:noFill/>
        </p:spPr>
        <p:txBody>
          <a:bodyPr wrap="square" rtlCol="0" anchor="t"/>
          <a:lstStyle/>
          <a:p>
            <a:pPr indent="0" marL="0">
              <a:buNone/>
            </a:pPr>
            <a:r>
              <a:rPr lang="en-US" sz="1100" b="1" spc="200" kern="0">
                <a:solidFill>
                  <a:srgbClr val="DC2626"/>
                </a:solidFill>
                <a:latin typeface="Calibri" pitchFamily="34" charset="0"/>
              </a:rPr>
              <a:t>DISCLAIMER</a:t>
            </a:r>
          </a:p>
        </p:txBody>
      </p:sp>
      <p:sp>
        <p:nvSpPr>
          <p:cNvPr id="101" name="Title"/>
          <p:cNvSpPr/>
          <p:nvPr/>
        </p:nvSpPr>
        <p:spPr>
          <a:xfrm>
            <a:off x="320040" y="450000"/>
            <a:ext cx="8503920" cy="500000"/>
          </a:xfrm>
          <a:prstGeom prst="rect">
            <a:avLst/>
          </a:prstGeom>
          <a:noFill/>
        </p:spPr>
        <p:txBody>
          <a:bodyPr wrap="square" rtlCol="0" anchor="t"/>
          <a:lstStyle/>
          <a:p>
            <a:pPr indent="0" marL="0">
              <a:buNone/>
            </a:pPr>
            <a:r>
              <a:rPr lang="en-US" sz="3400" b="1" kern="0">
                <a:solidFill>
                  <a:srgbClr val="FFFFFF"/>
                </a:solidFill>
                <a:latin typeface="Calibri" pitchFamily="34" charset="0"/>
              </a:rPr>
              <a:t>Disclaimer.</a:t>
            </a:r>
          </a:p>
        </p:txBody>
      </p:sp>
      <p:sp>
        <p:nvSpPr>
          <p:cNvPr id="102" name="Subhead"/>
          <p:cNvSpPr/>
          <p:nvPr/>
        </p:nvSpPr>
        <p:spPr>
          <a:xfrm>
            <a:off x="320040" y="950000"/>
            <a:ext cx="8503920" cy="300000"/>
          </a:xfrm>
          <a:prstGeom prst="rect">
            <a:avLst/>
          </a:prstGeom>
          <a:noFill/>
        </p:spPr>
        <p:txBody>
          <a:bodyPr wrap="square" rtlCol="0" anchor="t"/>
          <a:lstStyle/>
          <a:p>
            <a:pPr indent="0" marL="0">
              <a:buNone/>
            </a:pPr>
            <a:r>
              <a:rPr lang="en-US" sz="1300" i="1" kern="0">
                <a:solidFill>
                  <a:srgbClr val="16A34A"/>
                </a:solidFill>
                <a:latin typeface="Calibri" pitchFamily="34" charset="0"/>
              </a:rPr>
              <a:t>This is an investor memorandum, not a securities offer. Formal subscription agreement and security documentation, with full risk factors, come separately.</a:t>
            </a:r>
          </a:p>
        </p:txBody>
      </p:sp>
      <p:sp>
        <p:nvSpPr>
          <p:cNvPr id="103" name="Body"/>
          <p:cNvSpPr/>
          <p:nvPr/>
        </p:nvSpPr>
        <p:spPr>
          <a:xfrm>
            <a:off x="320040" y="1370000"/>
            <a:ext cx="8503920" cy="3580000"/>
          </a:xfrm>
          <a:prstGeom prst="rect">
            <a:avLst/>
          </a:prstGeom>
          <a:solidFill>
            <a:srgbClr val="0F172A"/>
          </a:solidFill>
          <a:ln>
            <a:solidFill>
              <a:srgbClr val="DC2626"/>
            </a:solidFill>
          </a:ln>
        </p:spPr>
        <p:txBody>
          <a:bodyPr wrap="square" rtlCol="0" lIns="320000" tIns="280000" rIns="320000" bIns="280000" anchor="t"/>
          <a:lstStyle/>
          <a:p>
            <a:pPr indent="0" marL="0" marR="0">
              <a:buNone/>
              <a:spcAft>
                <a:spcPts val="800"/>
              </a:spcAft>
            </a:pPr>
            <a:r>
              <a:rPr lang="en-US" sz="1100" b="1" kern="0">
                <a:solidFill>
                  <a:srgbClr val="FFFFFF"/>
                </a:solidFill>
                <a:latin typeface="Calibri" pitchFamily="34" charset="0"/>
              </a:rPr>
              <a:t xml:space="preserve">Not an offer to sell securities. </a:t>
            </a:r>
            <a:r>
              <a:rPr lang="en-US" sz="1100" kern="0">
                <a:solidFill>
                  <a:srgbClr val="CCD2DE"/>
                </a:solidFill>
                <a:latin typeface="Calibri" pitchFamily="34" charset="0"/>
              </a:rPr>
              <a:t>This presentation describes SOCIII Inc., a Delaware C-corporation, and is provided for discussion with prospective investors. Nothing in this document constitutes an offer or solicitation to buy or sell any securities. Any formal offering of SOCIII securities will be made separately under Reg D 506(b) with full risk factor disclosures and subscription documents to accredited investors only.</a:t>
            </a:r>
          </a:p>
          <a:p>
            <a:pPr indent="0" marL="0" marR="0">
              <a:buNone/>
              <a:spcAft>
                <a:spcPts val="800"/>
              </a:spcAft>
            </a:pPr>
            <a:r>
              <a:rPr lang="en-US" sz="1100" b="1" kern="0">
                <a:solidFill>
                  <a:srgbClr val="FFFFFF"/>
                </a:solidFill>
                <a:latin typeface="Calibri" pitchFamily="34" charset="0"/>
              </a:rPr>
              <a:t xml:space="preserve">No projections. No promises. No forward-looking statements. </a:t>
            </a:r>
            <a:r>
              <a:rPr lang="en-US" sz="1100" kern="0">
                <a:solidFill>
                  <a:srgbClr val="CCD2DE"/>
                </a:solidFill>
                <a:latin typeface="Calibri" pitchFamily="34" charset="0"/>
              </a:rPr>
              <a:t>Any dollar figures, subscriber counts, or market data in this deck are historical, sourced, or illustrative context, not predictions, promises, or forward-looking statements. Actual results will differ. SOCIII Inc. may succeed or fail. Investment in any SOCIII security may end up worthless.</a:t>
            </a:r>
          </a:p>
          <a:p>
            <a:pPr indent="0" marL="0" marR="0">
              <a:buNone/>
              <a:spcAft>
                <a:spcPts val="800"/>
              </a:spcAft>
            </a:pPr>
            <a:r>
              <a:rPr lang="en-US" sz="1100" b="1" kern="0">
                <a:solidFill>
                  <a:srgbClr val="FFFFFF"/>
                </a:solidFill>
                <a:latin typeface="Calibri" pitchFamily="34" charset="0"/>
              </a:rPr>
              <a:t xml:space="preserve">Investment risk and accreditation. </a:t>
            </a:r>
            <a:r>
              <a:rPr lang="en-US" sz="1100" kern="0">
                <a:solidFill>
                  <a:srgbClr val="CCD2DE"/>
                </a:solidFill>
                <a:latin typeface="Calibri" pitchFamily="34" charset="0"/>
              </a:rPr>
              <a:t>Investment in early-stage private companies is high-risk and illiquid. Securities may have no trading market and may be diluted in future rounds. SOCIII Inc. has not generated significant revenue and may never achieve profitability. Investors must be accredited and will be required to make representations to that effect. Before investing, review the full risk factors and disclosures provided with the formal offering documents and consult your own legal and financial advisors.</a:t>
            </a:r>
          </a:p>
          <a:p>
            <a:pPr indent="0" marL="0" marR="0">
              <a:buNone/>
              <a:spcAft>
                <a:spcPts val="800"/>
              </a:spcAft>
            </a:pPr>
            <a:r>
              <a:rPr lang="en-US" sz="1100" b="1" kern="0">
                <a:solidFill>
                  <a:srgbClr val="FFFFFF"/>
                </a:solidFill>
                <a:latin typeface="Calibri" pitchFamily="34" charset="0"/>
              </a:rPr>
              <a:t xml:space="preserve">Confidential. Do not distribute. </a:t>
            </a:r>
            <a:r>
              <a:rPr lang="en-US" sz="1100" kern="0">
                <a:solidFill>
                  <a:srgbClr val="CCD2DE"/>
                </a:solidFill>
                <a:latin typeface="Calibri" pitchFamily="34" charset="0"/>
              </a:rPr>
              <a:t>This deck is sent in confidence to a named prospective investor with whom SOCIII Inc. has a pre-existing relationship. It is not for public distribution, social media, or forwarding outside that conversation.</a:t>
            </a:r>
          </a:p>
        </p:txBody>
      </p:sp>
      <p:pic>
        <p:nvPicPr>
          <p:cNvPr id="950" name="CornerLogo"/>
          <p:cNvPicPr>
            <a:picLocks noChangeAspect="1"/>
          </p:cNvPicPr>
          <p:nvPr/>
        </p:nvPicPr>
        <p:blipFill>
          <a:blip r:embed="rId2"/>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 Inc.  ·  CONFIDENTIAL  ·  INVESTOR MEMO  ·  Contact: sean@sociii.ai  ·  www.sociii.ai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sp>
      <p:sp>
        <p:nvSpPr>
          <p:cNvPr id="3" name="Text 1"/>
          <p:cNvSpPr/>
          <p:nvPr/>
        </p:nvSpPr>
        <p:spPr>
          <a:xfrm>
            <a:off x="320040" y="292608"/>
            <a:ext cx="3657600" cy="256032"/>
          </a:xfrm>
          <a:prstGeom prst="rect">
            <a:avLst/>
          </a:prstGeom>
          <a:noFill/>
          <a:ln/>
        </p:spPr>
        <p:txBody>
          <a:bodyPr wrap="square" rtlCol="0" anchor="ctr"/>
          <a:lstStyle/>
          <a:p>
            <a:pPr indent="0" marL="0">
              <a:buNone/>
            </a:pPr>
            <a:r>
              <a:rPr lang="en-US" sz="1100" b="1" spc="300" kern="0" dirty="0">
                <a:solidFill>
                  <a:srgbClr val="4A1D8C"/>
                </a:solidFill>
                <a:latin typeface="Calibri" pitchFamily="34" charset="0"/>
                <a:ea typeface="Calibri" pitchFamily="34" charset="-122"/>
                <a:cs typeface="Calibri" pitchFamily="34" charset="-120"/>
              </a:rPr>
              <a:t>WHY THIS IS FOR YOU</a:t>
            </a:r>
            <a:endParaRPr lang="en-US" sz="1100" dirty="0"/>
          </a:p>
        </p:txBody>
      </p:sp>
      <p:sp>
        <p:nvSpPr>
          <p:cNvPr id="4" name="Text 2"/>
          <p:cNvSpPr/>
          <p:nvPr/>
        </p:nvSpPr>
        <p:spPr>
          <a:xfrm>
            <a:off x="320040" y="530352"/>
            <a:ext cx="8229600" cy="685800"/>
          </a:xfrm>
          <a:prstGeom prst="rect">
            <a:avLst/>
          </a:prstGeom>
          <a:noFill/>
          <a:ln/>
        </p:spPr>
        <p:txBody>
          <a:bodyPr wrap="square" rtlCol="0" anchor="ctr"/>
          <a:lstStyle/>
          <a:p>
            <a:pPr indent="0" marL="0">
              <a:buNone/>
            </a:pPr>
            <a:r>
              <a:rPr lang="en-US" sz="3400" b="1" dirty="0">
                <a:solidFill>
                  <a:srgbClr val="1A0A2E"/>
                </a:solidFill>
                <a:latin typeface="Calibri" pitchFamily="34" charset="0"/>
                <a:ea typeface="Calibri" pitchFamily="34" charset="-122"/>
                <a:cs typeface="Calibri" pitchFamily="34" charset="-120"/>
              </a:rPr>
              <a:t>Why This Is For You.</a:t>
            </a:r>
            <a:endParaRPr lang="en-US" sz="3400" dirty="0"/>
          </a:p>
        </p:txBody>
      </p:sp>
      <p:sp>
        <p:nvSpPr>
          <p:cNvPr id="5" name="Text 3"/>
          <p:cNvSpPr/>
          <p:nvPr/>
        </p:nvSpPr>
        <p:spPr>
          <a:xfrm>
            <a:off x="320040" y="1207008"/>
            <a:ext cx="8412480" cy="347472"/>
          </a:xfrm>
          <a:prstGeom prst="rect">
            <a:avLst/>
          </a:prstGeom>
          <a:noFill/>
          <a:ln/>
        </p:spPr>
        <p:txBody>
          <a:bodyPr wrap="square" rtlCol="0" anchor="ctr"/>
          <a:lstStyle/>
          <a:p>
            <a:pPr indent="0" marL="0">
              <a:buNone/>
            </a:pPr>
            <a:r>
              <a:rPr lang="en-US" sz="1300" i="1" dirty="0">
                <a:solidFill>
                  <a:srgbClr val="2A2D3E"/>
                </a:solidFill>
                <a:latin typeface="Calibri" pitchFamily="34" charset="0"/>
                <a:ea typeface="Calibri" pitchFamily="34" charset="-122"/>
                <a:cs typeface="Calibri" pitchFamily="34" charset="-120"/>
              </a:rPr>
              <a:t>What we’re looking for, what a lead unlocks, and how we work.</a:t>
            </a:r>
            <a:endParaRPr lang="en-US" sz="1300" dirty="0"/>
          </a:p>
        </p:txBody>
      </p:sp>
      <p:sp>
        <p:nvSpPr>
          <p:cNvPr id="6" name="Shape 4"/>
          <p:cNvSpPr/>
          <p:nvPr/>
        </p:nvSpPr>
        <p:spPr>
          <a:xfrm>
            <a:off x="320040" y="1719072"/>
            <a:ext cx="2743200" cy="3182112"/>
          </a:xfrm>
          <a:prstGeom prst="rect">
            <a:avLst/>
          </a:prstGeom>
          <a:solidFill>
            <a:srgbClr val="1A0A2E"/>
          </a:solidFill>
          <a:ln/>
          <a:effectLst>
            <a:outerShdw sx="100000" sy="100000" kx="0" ky="0" algn="bl" rotWithShape="0" blurRad="76200" dist="25400" dir="8100000">
              <a:srgbClr val="000000">
                <a:alpha val="15000"/>
              </a:srgbClr>
            </a:outerShdw>
          </a:effectLst>
        </p:spPr>
      </p:sp>
      <p:sp>
        <p:nvSpPr>
          <p:cNvPr id="7" name="Text 5"/>
          <p:cNvSpPr/>
          <p:nvPr/>
        </p:nvSpPr>
        <p:spPr>
          <a:xfrm>
            <a:off x="457200" y="1810512"/>
            <a:ext cx="24688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WHO WE’RE LOOKING FOR</a:t>
            </a:r>
            <a:endParaRPr lang="en-US" sz="1300" dirty="0"/>
          </a:p>
        </p:txBody>
      </p:sp>
      <p:sp>
        <p:nvSpPr>
          <p:cNvPr id="8" name="Text 6"/>
          <p:cNvSpPr/>
          <p:nvPr/>
        </p:nvSpPr>
        <p:spPr>
          <a:xfrm>
            <a:off x="457200" y="2194560"/>
            <a:ext cx="2468880" cy="274320"/>
          </a:xfrm>
          <a:prstGeom prst="rect">
            <a:avLst/>
          </a:prstGeom>
          <a:noFill/>
          <a:ln/>
        </p:spPr>
        <p:txBody>
          <a:bodyPr wrap="square" rtlCol="0" anchor="ctr"/>
          <a:lstStyle/>
          <a:p>
            <a:pPr indent="0" marL="0">
              <a:buNone/>
            </a:pPr>
            <a:r>
              <a:rPr lang="en-US" sz="1000" i="1" dirty="0">
                <a:solidFill>
                  <a:srgbClr val="7B3FE4"/>
                </a:solidFill>
                <a:latin typeface="Calibri" pitchFamily="34" charset="0"/>
                <a:ea typeface="Calibri" pitchFamily="34" charset="-122"/>
                <a:cs typeface="Calibri" pitchFamily="34" charset="-120"/>
              </a:rPr>
              <a:t>Not a personalized pitch — general criteria</a:t>
            </a:r>
            <a:endParaRPr lang="en-US" sz="1000" dirty="0"/>
          </a:p>
        </p:txBody>
      </p:sp>
      <p:sp>
        <p:nvSpPr>
          <p:cNvPr id="9" name="Shape 7"/>
          <p:cNvSpPr/>
          <p:nvPr/>
        </p:nvSpPr>
        <p:spPr>
          <a:xfrm>
            <a:off x="457200" y="2487168"/>
            <a:ext cx="2468880" cy="18288"/>
          </a:xfrm>
          <a:prstGeom prst="rect">
            <a:avLst/>
          </a:prstGeom>
          <a:solidFill>
            <a:srgbClr val="FFFFFF">
              <a:alpha val="25000"/>
            </a:srgbClr>
          </a:solidFill>
          <a:ln/>
        </p:spPr>
      </p:sp>
      <p:sp>
        <p:nvSpPr>
          <p:cNvPr id="10" name="Text 8"/>
          <p:cNvSpPr/>
          <p:nvPr/>
        </p:nvSpPr>
        <p:spPr>
          <a:xfrm>
            <a:off x="457200" y="256032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Experience in a regulated industry</a:t>
            </a:r>
            <a:endParaRPr lang="en-US" sz="1000" dirty="0"/>
          </a:p>
        </p:txBody>
      </p:sp>
      <p:sp>
        <p:nvSpPr>
          <p:cNvPr id="11" name="Text 9"/>
          <p:cNvSpPr/>
          <p:nvPr/>
        </p:nvSpPr>
        <p:spPr>
          <a:xfrm>
            <a:off x="457200" y="290779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Comfort with early-stage, single-operator governance</a:t>
            </a:r>
            <a:endParaRPr lang="en-US" sz="1000" dirty="0"/>
          </a:p>
        </p:txBody>
      </p:sp>
      <p:sp>
        <p:nvSpPr>
          <p:cNvPr id="12" name="Text 10"/>
          <p:cNvSpPr/>
          <p:nvPr/>
        </p:nvSpPr>
        <p:spPr>
          <a:xfrm>
            <a:off x="457200" y="3255264"/>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Conviction in vertical AI + governed compliance as a category</a:t>
            </a:r>
            <a:endParaRPr lang="en-US" sz="1000" dirty="0"/>
          </a:p>
        </p:txBody>
      </p:sp>
      <p:sp>
        <p:nvSpPr>
          <p:cNvPr id="13" name="Text 11"/>
          <p:cNvSpPr/>
          <p:nvPr/>
        </p:nvSpPr>
        <p:spPr>
          <a:xfrm>
            <a:off x="457200" y="3602736"/>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A network into our four live verticals</a:t>
            </a:r>
            <a:endParaRPr lang="en-US" sz="1000" dirty="0"/>
          </a:p>
        </p:txBody>
      </p:sp>
      <p:sp>
        <p:nvSpPr>
          <p:cNvPr id="14" name="Text 12"/>
          <p:cNvSpPr/>
          <p:nvPr/>
        </p:nvSpPr>
        <p:spPr>
          <a:xfrm>
            <a:off x="457200" y="3950208"/>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Patience for honest, unglamorous reporting</a:t>
            </a:r>
            <a:endParaRPr lang="en-US" sz="1000" dirty="0"/>
          </a:p>
        </p:txBody>
      </p:sp>
      <p:sp>
        <p:nvSpPr>
          <p:cNvPr id="15" name="Text 13"/>
          <p:cNvSpPr/>
          <p:nvPr/>
        </p:nvSpPr>
        <p:spPr>
          <a:xfrm>
            <a:off x="457200" y="429768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xml:space="preserve"> </a:t>
            </a:r>
            <a:endParaRPr lang="en-US" sz="1000" dirty="0"/>
          </a:p>
        </p:txBody>
      </p:sp>
      <p:sp>
        <p:nvSpPr>
          <p:cNvPr id="16" name="Text 14"/>
          <p:cNvSpPr/>
          <p:nvPr/>
        </p:nvSpPr>
        <p:spPr>
          <a:xfrm>
            <a:off x="457200" y="464515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xml:space="preserve"> </a:t>
            </a:r>
            <a:endParaRPr lang="en-US" sz="1000" dirty="0"/>
          </a:p>
        </p:txBody>
      </p:sp>
      <p:sp>
        <p:nvSpPr>
          <p:cNvPr id="17" name="Shape 15"/>
          <p:cNvSpPr/>
          <p:nvPr/>
        </p:nvSpPr>
        <p:spPr>
          <a:xfrm>
            <a:off x="3291840" y="1719072"/>
            <a:ext cx="2743200" cy="3182112"/>
          </a:xfrm>
          <a:prstGeom prst="rect">
            <a:avLst/>
          </a:prstGeom>
          <a:solidFill>
            <a:srgbClr val="4A1D8C"/>
          </a:solidFill>
          <a:ln/>
          <a:effectLst>
            <a:outerShdw sx="100000" sy="100000" kx="0" ky="0" algn="bl" rotWithShape="0" blurRad="76200" dist="25400" dir="8100000">
              <a:srgbClr val="000000">
                <a:alpha val="15000"/>
              </a:srgbClr>
            </a:outerShdw>
          </a:effectLst>
        </p:spPr>
      </p:sp>
      <p:sp>
        <p:nvSpPr>
          <p:cNvPr id="18" name="Text 16"/>
          <p:cNvSpPr/>
          <p:nvPr/>
        </p:nvSpPr>
        <p:spPr>
          <a:xfrm>
            <a:off x="3429000" y="1810512"/>
            <a:ext cx="24688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YOU UNLOCK</a:t>
            </a:r>
            <a:endParaRPr lang="en-US" sz="1300" dirty="0"/>
          </a:p>
        </p:txBody>
      </p:sp>
      <p:sp>
        <p:nvSpPr>
          <p:cNvPr id="19" name="Text 17"/>
          <p:cNvSpPr/>
          <p:nvPr/>
        </p:nvSpPr>
        <p:spPr>
          <a:xfrm>
            <a:off x="3429000" y="2194560"/>
            <a:ext cx="2468880" cy="274320"/>
          </a:xfrm>
          <a:prstGeom prst="rect">
            <a:avLst/>
          </a:prstGeom>
          <a:noFill/>
          <a:ln/>
        </p:spPr>
        <p:txBody>
          <a:bodyPr wrap="square" rtlCol="0" anchor="ctr"/>
          <a:lstStyle/>
          <a:p>
            <a:pPr indent="0" marL="0">
              <a:buNone/>
            </a:pPr>
            <a:r>
              <a:rPr lang="en-US" sz="1000" i="1" dirty="0">
                <a:solidFill>
                  <a:srgbClr val="7B3FE4"/>
                </a:solidFill>
                <a:latin typeface="Calibri" pitchFamily="34" charset="0"/>
                <a:ea typeface="Calibri" pitchFamily="34" charset="-122"/>
                <a:cs typeface="Calibri" pitchFamily="34" charset="-120"/>
              </a:rPr>
              <a:t>What your check + reputation unlock.</a:t>
            </a:r>
            <a:endParaRPr lang="en-US" sz="1000" dirty="0"/>
          </a:p>
        </p:txBody>
      </p:sp>
      <p:sp>
        <p:nvSpPr>
          <p:cNvPr id="20" name="Shape 18"/>
          <p:cNvSpPr/>
          <p:nvPr/>
        </p:nvSpPr>
        <p:spPr>
          <a:xfrm>
            <a:off x="3429000" y="2487168"/>
            <a:ext cx="2468880" cy="18288"/>
          </a:xfrm>
          <a:prstGeom prst="rect">
            <a:avLst/>
          </a:prstGeom>
          <a:solidFill>
            <a:srgbClr val="FFFFFF">
              <a:alpha val="25000"/>
            </a:srgbClr>
          </a:solidFill>
          <a:ln/>
        </p:spPr>
      </p:sp>
      <p:sp>
        <p:nvSpPr>
          <p:cNvPr id="21" name="Text 19"/>
          <p:cNvSpPr/>
          <p:nvPr/>
        </p:nvSpPr>
        <p:spPr>
          <a:xfrm>
            <a:off x="3429000" y="256032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Anchor the round as lead investor</a:t>
            </a:r>
            <a:endParaRPr lang="en-US" sz="1000" dirty="0"/>
          </a:p>
        </p:txBody>
      </p:sp>
      <p:sp>
        <p:nvSpPr>
          <p:cNvPr id="22" name="Text 20"/>
          <p:cNvSpPr/>
          <p:nvPr/>
        </p:nvSpPr>
        <p:spPr>
          <a:xfrm>
            <a:off x="3429000" y="290779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Open doors to enterprise customers in target industries</a:t>
            </a:r>
            <a:endParaRPr lang="en-US" sz="1000" dirty="0"/>
          </a:p>
        </p:txBody>
      </p:sp>
      <p:sp>
        <p:nvSpPr>
          <p:cNvPr id="23" name="Text 21"/>
          <p:cNvSpPr/>
          <p:nvPr/>
        </p:nvSpPr>
        <p:spPr>
          <a:xfrm>
            <a:off x="3429000" y="3255264"/>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Governance partnership: board observer, quarterly cadence</a:t>
            </a:r>
            <a:endParaRPr lang="en-US" sz="1000" dirty="0"/>
          </a:p>
        </p:txBody>
      </p:sp>
      <p:sp>
        <p:nvSpPr>
          <p:cNvPr id="24" name="Text 22"/>
          <p:cNvSpPr/>
          <p:nvPr/>
        </p:nvSpPr>
        <p:spPr>
          <a:xfrm>
            <a:off x="3429000" y="3602736"/>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Signal effect: your name draws follow-on capital</a:t>
            </a:r>
            <a:endParaRPr lang="en-US" sz="1000" dirty="0"/>
          </a:p>
        </p:txBody>
      </p:sp>
      <p:sp>
        <p:nvSpPr>
          <p:cNvPr id="25" name="Text 23"/>
          <p:cNvSpPr/>
          <p:nvPr/>
        </p:nvSpPr>
        <p:spPr>
          <a:xfrm>
            <a:off x="3429000" y="3950208"/>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Strategic introductions to Series A leads</a:t>
            </a:r>
            <a:endParaRPr lang="en-US" sz="1000" dirty="0"/>
          </a:p>
        </p:txBody>
      </p:sp>
      <p:sp>
        <p:nvSpPr>
          <p:cNvPr id="26" name="Text 24"/>
          <p:cNvSpPr/>
          <p:nvPr/>
        </p:nvSpPr>
        <p:spPr>
          <a:xfrm>
            <a:off x="3429000" y="429768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Honest reporting cadence: monthly + quarterly deep-dives</a:t>
            </a:r>
            <a:endParaRPr lang="en-US" sz="1000" dirty="0"/>
          </a:p>
        </p:txBody>
      </p:sp>
      <p:sp>
        <p:nvSpPr>
          <p:cNvPr id="27" name="Shape 25"/>
          <p:cNvSpPr/>
          <p:nvPr/>
        </p:nvSpPr>
        <p:spPr>
          <a:xfrm>
            <a:off x="6263640" y="1719072"/>
            <a:ext cx="2743200" cy="3182112"/>
          </a:xfrm>
          <a:prstGeom prst="rect">
            <a:avLst/>
          </a:prstGeom>
          <a:solidFill>
            <a:srgbClr val="0D7A5F"/>
          </a:solidFill>
          <a:ln/>
          <a:effectLst>
            <a:outerShdw sx="100000" sy="100000" kx="0" ky="0" algn="bl" rotWithShape="0" blurRad="76200" dist="25400" dir="8100000">
              <a:srgbClr val="000000">
                <a:alpha val="15000"/>
              </a:srgbClr>
            </a:outerShdw>
          </a:effectLst>
        </p:spPr>
      </p:sp>
      <p:sp>
        <p:nvSpPr>
          <p:cNvPr id="28" name="Text 26"/>
          <p:cNvSpPr/>
          <p:nvPr/>
        </p:nvSpPr>
        <p:spPr>
          <a:xfrm>
            <a:off x="6400800" y="1810512"/>
            <a:ext cx="24688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HOW WE WORK TOGETHER</a:t>
            </a:r>
            <a:endParaRPr lang="en-US" sz="1300" dirty="0"/>
          </a:p>
        </p:txBody>
      </p:sp>
      <p:sp>
        <p:nvSpPr>
          <p:cNvPr id="29" name="Text 27"/>
          <p:cNvSpPr/>
          <p:nvPr/>
        </p:nvSpPr>
        <p:spPr>
          <a:xfrm>
            <a:off x="6400800" y="2194560"/>
            <a:ext cx="2468880" cy="274320"/>
          </a:xfrm>
          <a:prstGeom prst="rect">
            <a:avLst/>
          </a:prstGeom>
          <a:noFill/>
          <a:ln/>
        </p:spPr>
        <p:txBody>
          <a:bodyPr wrap="square" rtlCol="0" anchor="ctr"/>
          <a:lstStyle/>
          <a:p>
            <a:pPr indent="0" marL="0">
              <a:buNone/>
            </a:pPr>
            <a:r>
              <a:rPr lang="en-US" sz="1000" i="1" dirty="0">
                <a:solidFill>
                  <a:srgbClr val="10B981"/>
                </a:solidFill>
                <a:latin typeface="Calibri" pitchFamily="34" charset="0"/>
                <a:ea typeface="Calibri" pitchFamily="34" charset="-122"/>
                <a:cs typeface="Calibri" pitchFamily="34" charset="-120"/>
              </a:rPr>
              <a:t>Direct access, honest numbers, your pace.</a:t>
            </a:r>
            <a:endParaRPr lang="en-US" sz="1000" dirty="0"/>
          </a:p>
        </p:txBody>
      </p:sp>
      <p:sp>
        <p:nvSpPr>
          <p:cNvPr id="30" name="Shape 28"/>
          <p:cNvSpPr/>
          <p:nvPr/>
        </p:nvSpPr>
        <p:spPr>
          <a:xfrm>
            <a:off x="6400800" y="2487168"/>
            <a:ext cx="2468880" cy="18288"/>
          </a:xfrm>
          <a:prstGeom prst="rect">
            <a:avLst/>
          </a:prstGeom>
          <a:solidFill>
            <a:srgbClr val="FFFFFF">
              <a:alpha val="25000"/>
            </a:srgbClr>
          </a:solidFill>
          <a:ln/>
        </p:spPr>
      </p:sp>
      <p:sp>
        <p:nvSpPr>
          <p:cNvPr id="31" name="Text 29"/>
          <p:cNvSpPr/>
          <p:nvPr/>
        </p:nvSpPr>
        <p:spPr>
          <a:xfrm>
            <a:off x="6400800" y="256032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Direct access to Sean — no layers</a:t>
            </a:r>
            <a:endParaRPr lang="en-US" sz="1000" dirty="0"/>
          </a:p>
        </p:txBody>
      </p:sp>
      <p:sp>
        <p:nvSpPr>
          <p:cNvPr id="32" name="Text 30"/>
          <p:cNvSpPr/>
          <p:nvPr/>
        </p:nvSpPr>
        <p:spPr>
          <a:xfrm>
            <a:off x="6400800" y="290779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Numbers sourced and dated, corrected when wrong</a:t>
            </a:r>
            <a:endParaRPr lang="en-US" sz="1000" dirty="0"/>
          </a:p>
        </p:txBody>
      </p:sp>
      <p:sp>
        <p:nvSpPr>
          <p:cNvPr id="33" name="Text 31"/>
          <p:cNvSpPr/>
          <p:nvPr/>
        </p:nvSpPr>
        <p:spPr>
          <a:xfrm>
            <a:off x="6400800" y="3255264"/>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No inflated claims — see this whole memo</a:t>
            </a:r>
            <a:endParaRPr lang="en-US" sz="1000" dirty="0"/>
          </a:p>
        </p:txBody>
      </p:sp>
      <p:sp>
        <p:nvSpPr>
          <p:cNvPr id="34" name="Text 32"/>
          <p:cNvSpPr/>
          <p:nvPr/>
        </p:nvSpPr>
        <p:spPr>
          <a:xfrm>
            <a:off x="6400800" y="3602736"/>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You set the pace of diligence</a:t>
            </a:r>
            <a:endParaRPr lang="en-US" sz="1000" dirty="0"/>
          </a:p>
        </p:txBody>
      </p:sp>
      <p:sp>
        <p:nvSpPr>
          <p:cNvPr id="35" name="Text 33"/>
          <p:cNvSpPr/>
          <p:nvPr/>
        </p:nvSpPr>
        <p:spPr>
          <a:xfrm>
            <a:off x="6400800" y="3950208"/>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xml:space="preserve"> </a:t>
            </a:r>
            <a:endParaRPr lang="en-US" sz="1000" dirty="0"/>
          </a:p>
        </p:txBody>
      </p:sp>
      <p:sp>
        <p:nvSpPr>
          <p:cNvPr id="36" name="Text 34"/>
          <p:cNvSpPr/>
          <p:nvPr/>
        </p:nvSpPr>
        <p:spPr>
          <a:xfrm>
            <a:off x="6400800" y="429768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xml:space="preserve"> </a:t>
            </a:r>
            <a:endParaRPr lang="en-US" sz="1000" dirty="0"/>
          </a:p>
        </p:txBody>
      </p:sp>
      <p:sp>
        <p:nvSpPr>
          <p:cNvPr id="37" name="Text 35"/>
          <p:cNvSpPr/>
          <p:nvPr/>
        </p:nvSpPr>
        <p:spPr>
          <a:xfrm>
            <a:off x="320040" y="4900000"/>
            <a:ext cx="8412480" cy="150000"/>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See Sources &amp; Uses for the raise structure and deal terms.</a:t>
            </a:r>
            <a:endParaRPr lang="en-US" sz="1000" dirty="0"/>
          </a:p>
        </p:txBody>
      </p:sp>
      <p:pic>
        <p:nvPicPr>
          <p:cNvPr id="950" name="CornerLogo"/>
          <p:cNvPicPr>
            <a:picLocks noChangeAspect="1"/>
          </p:cNvPicPr>
          <p:nvPr/>
        </p:nvPicPr>
        <p:blipFill>
          <a:blip r:embed="rId2"/>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 Inc.  ·  CONFIDENTIAL  ·  INVESTOR MEMO  ·  Contact: sean@sociii.ai  ·  www.sociii.ai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sp>
      <p:sp>
        <p:nvSpPr>
          <p:cNvPr id="3" name="Text 1"/>
          <p:cNvSpPr/>
          <p:nvPr/>
        </p:nvSpPr>
        <p:spPr>
          <a:xfrm>
            <a:off x="320040" y="380000"/>
            <a:ext cx="5669280" cy="256032"/>
          </a:xfrm>
          <a:prstGeom prst="rect">
            <a:avLst/>
          </a:prstGeom>
          <a:noFill/>
          <a:ln/>
        </p:spPr>
        <p:txBody>
          <a:bodyPr wrap="square" rtlCol="0" anchor="ctr"/>
          <a:lstStyle/>
          <a:p>
            <a:pPr indent="0" marL="0">
              <a:buNone/>
            </a:pPr>
            <a:r>
              <a:rPr lang="en-US" sz="1100" b="1" spc="300" kern="0" dirty="0">
                <a:solidFill>
                  <a:srgbClr val="4A1D8C"/>
                </a:solidFill>
                <a:latin typeface="Calibri" pitchFamily="34" charset="0"/>
              </a:rPr>
              <a:t>NEXT STEPS</a:t>
            </a:r>
          </a:p>
        </p:txBody>
      </p:sp>
      <p:sp>
        <p:nvSpPr>
          <p:cNvPr id="4" name="Text 2"/>
          <p:cNvSpPr/>
          <p:nvPr/>
        </p:nvSpPr>
        <p:spPr>
          <a:xfrm>
            <a:off x="320040" y="720000"/>
            <a:ext cx="8000000" cy="900000"/>
          </a:xfrm>
          <a:prstGeom prst="rect">
            <a:avLst/>
          </a:prstGeom>
          <a:noFill/>
          <a:ln/>
        </p:spPr>
        <p:txBody>
          <a:bodyPr wrap="square" rtlCol="0" anchor="ctr"/>
          <a:lstStyle/>
          <a:p>
            <a:pPr indent="0" marL="0">
              <a:lnSpc>
                <a:spcPct val="110000"/>
              </a:lnSpc>
              <a:buNone/>
            </a:pPr>
            <a:r>
              <a:rPr lang="en-US" sz="4000" b="1" dirty="0">
                <a:solidFill>
                  <a:srgbClr val="1A0A2E"/>
                </a:solidFill>
                <a:latin typeface="Calibri" pitchFamily="34" charset="0"/>
              </a:rPr>
              <a:t>Let’s Talk.</a:t>
            </a:r>
          </a:p>
        </p:txBody>
      </p:sp>
      <p:sp>
        <p:nvSpPr>
          <p:cNvPr id="5" name="Text 3"/>
          <p:cNvSpPr/>
          <p:nvPr/>
        </p:nvSpPr>
        <p:spPr>
          <a:xfrm>
            <a:off x="320040" y="1650000"/>
            <a:ext cx="8412480" cy="500000"/>
          </a:xfrm>
          <a:prstGeom prst="rect">
            <a:avLst/>
          </a:prstGeom>
          <a:noFill/>
          <a:ln/>
        </p:spPr>
        <p:txBody>
          <a:bodyPr wrap="square" rtlCol="0" anchor="ctr"/>
          <a:lstStyle/>
          <a:p>
            <a:pPr indent="0" marL="0">
              <a:lnSpc>
                <a:spcPct val="130000"/>
              </a:lnSpc>
              <a:buNone/>
            </a:pPr>
            <a:r>
              <a:rPr lang="en-US" sz="1500" i="1" dirty="0">
                <a:solidFill>
                  <a:srgbClr val="2A2D3E"/>
                </a:solidFill>
                <a:latin typeface="Calibri" pitchFamily="34" charset="0"/>
              </a:rPr>
              <a:t>Raising $1–2M to convert catalog breadth — 345 workers, 24 industries — into deployed, revenue-generating verticals.</a:t>
            </a:r>
          </a:p>
        </p:txBody>
      </p:sp>
      <p:sp>
        <p:nvSpPr>
          <p:cNvPr id="6" name="ContactCard1"/>
          <p:cNvSpPr/>
          <p:nvPr/>
        </p:nvSpPr>
        <p:spPr>
          <a:xfrm>
            <a:off x="320040" y="2450000"/>
            <a:ext cx="4114800" cy="1550000"/>
          </a:xfrm>
          <a:prstGeom prst="rect">
            <a:avLst/>
          </a:prstGeom>
          <a:solidFill>
            <a:srgbClr val="1A0A2E"/>
          </a:solidFill>
          <a:ln/>
          <a:effectLst>
            <a:outerShdw sx="100000" sy="100000" kx="0" ky="0" algn="bl" rotWithShape="0" blurRad="76200" dist="25400" dir="8100000">
              <a:srgbClr val="000000">
                <a:alpha val="15000"/>
              </a:srgbClr>
            </a:outerShdw>
          </a:effectLst>
        </p:spPr>
        <p:txBody>
          <a:bodyPr/>
          <a:p/>
        </p:txBody>
      </p:sp>
      <p:sp>
        <p:nvSpPr>
          <p:cNvPr id="7" name="Contact1Label"/>
          <p:cNvSpPr/>
          <p:nvPr/>
        </p:nvSpPr>
        <p:spPr>
          <a:xfrm>
            <a:off x="475488" y="2560000"/>
            <a:ext cx="3800000" cy="300000"/>
          </a:xfrm>
          <a:prstGeom prst="rect">
            <a:avLst/>
          </a:prstGeom>
          <a:noFill/>
          <a:ln/>
        </p:spPr>
        <p:txBody>
          <a:bodyPr wrap="square" rtlCol="0" anchor="ctr"/>
          <a:lstStyle/>
          <a:p>
            <a:pPr indent="0" marL="0">
              <a:buNone/>
            </a:pPr>
            <a:r>
              <a:rPr lang="en-US" sz="1200" b="1" spc="100" kern="0" dirty="0">
                <a:solidFill>
                  <a:srgbClr val="10B981"/>
                </a:solidFill>
                <a:latin typeface="Calibri" pitchFamily="34" charset="0"/>
              </a:rPr>
              <a:t>TALK TO SEAN</a:t>
            </a:r>
          </a:p>
        </p:txBody>
      </p:sp>
      <p:sp>
        <p:nvSpPr>
          <p:cNvPr id="8" name="Contact1Value"/>
          <p:cNvSpPr/>
          <p:nvPr/>
        </p:nvSpPr>
        <p:spPr>
          <a:xfrm>
            <a:off x="475488" y="2900000"/>
            <a:ext cx="3800000" cy="450000"/>
          </a:xfrm>
          <a:prstGeom prst="rect">
            <a:avLst/>
          </a:prstGeom>
          <a:noFill/>
          <a:ln/>
        </p:spPr>
        <p:txBody>
          <a:bodyPr wrap="square" rtlCol="0" anchor="ctr"/>
          <a:lstStyle/>
          <a:p>
            <a:pPr indent="0" marL="0">
              <a:buNone/>
            </a:pPr>
            <a:r>
              <a:rPr lang="en-US" sz="2000" b="1" dirty="0">
                <a:solidFill>
                  <a:srgbClr val="FFFFFF"/>
                </a:solidFill>
                <a:latin typeface="Calibri" pitchFamily="34" charset="0"/>
              </a:rPr>
              <a:t>sean@sociii.ai</a:t>
            </a:r>
          </a:p>
        </p:txBody>
      </p:sp>
      <p:sp>
        <p:nvSpPr>
          <p:cNvPr id="9" name="Contact1Desc"/>
          <p:cNvSpPr/>
          <p:nvPr/>
        </p:nvSpPr>
        <p:spPr>
          <a:xfrm>
            <a:off x="475488" y="3400000"/>
            <a:ext cx="3800000" cy="500000"/>
          </a:xfrm>
          <a:prstGeom prst="rect">
            <a:avLst/>
          </a:prstGeom>
          <a:noFill/>
          <a:ln/>
        </p:spPr>
        <p:txBody>
          <a:bodyPr wrap="square" rtlCol="0" anchor="t"/>
          <a:lstStyle/>
          <a:p>
            <a:pPr indent="0" marL="0">
              <a:lnSpc>
                <a:spcPct val="125000"/>
              </a:lnSpc>
              <a:buNone/>
            </a:pPr>
            <a:r>
              <a:rPr lang="en-US" sz="1050" dirty="0">
                <a:solidFill>
                  <a:srgbClr val="DDDDFF"/>
                </a:solidFill>
                <a:latin typeface="Calibri" pitchFamily="34" charset="0"/>
              </a:rPr>
              <a:t>Founder &amp; CEO, sole operator. Every number in this memo is sourced and dated — happy to walk through any of it directly.</a:t>
            </a:r>
          </a:p>
        </p:txBody>
      </p:sp>
      <p:sp>
        <p:nvSpPr>
          <p:cNvPr id="10" name="ContactCard2"/>
          <p:cNvSpPr/>
          <p:nvPr/>
        </p:nvSpPr>
        <p:spPr>
          <a:xfrm>
            <a:off x="4754880" y="2450000"/>
            <a:ext cx="4114800" cy="1550000"/>
          </a:xfrm>
          <a:prstGeom prst="rect">
            <a:avLst/>
          </a:prstGeom>
          <a:solidFill>
            <a:srgbClr val="4A1D8C"/>
          </a:solidFill>
          <a:ln/>
          <a:effectLst>
            <a:outerShdw sx="100000" sy="100000" kx="0" ky="0" algn="bl" rotWithShape="0" blurRad="76200" dist="25400" dir="8100000">
              <a:srgbClr val="000000">
                <a:alpha val="15000"/>
              </a:srgbClr>
            </a:outerShdw>
          </a:effectLst>
        </p:spPr>
        <p:txBody>
          <a:bodyPr/>
          <a:p/>
        </p:txBody>
      </p:sp>
      <p:sp>
        <p:nvSpPr>
          <p:cNvPr id="11" name="Contact2Label"/>
          <p:cNvSpPr/>
          <p:nvPr/>
        </p:nvSpPr>
        <p:spPr>
          <a:xfrm>
            <a:off x="4910328" y="2560000"/>
            <a:ext cx="3800000" cy="300000"/>
          </a:xfrm>
          <a:prstGeom prst="rect">
            <a:avLst/>
          </a:prstGeom>
          <a:noFill/>
          <a:ln/>
        </p:spPr>
        <p:txBody>
          <a:bodyPr wrap="square" rtlCol="0" anchor="ctr"/>
          <a:lstStyle/>
          <a:p>
            <a:pPr indent="0" marL="0">
              <a:buNone/>
            </a:pPr>
            <a:r>
              <a:rPr lang="en-US" sz="1200" b="1" spc="100" kern="0" dirty="0">
                <a:solidFill>
                  <a:srgbClr val="C4A3FF"/>
                </a:solidFill>
                <a:latin typeface="Calibri" pitchFamily="34" charset="0"/>
              </a:rPr>
              <a:t>SEE THE PLATFORM</a:t>
            </a:r>
          </a:p>
        </p:txBody>
      </p:sp>
      <p:sp>
        <p:nvSpPr>
          <p:cNvPr id="12" name="Contact2Value"/>
          <p:cNvSpPr/>
          <p:nvPr/>
        </p:nvSpPr>
        <p:spPr>
          <a:xfrm>
            <a:off x="4910328" y="2900000"/>
            <a:ext cx="3800000" cy="450000"/>
          </a:xfrm>
          <a:prstGeom prst="rect">
            <a:avLst/>
          </a:prstGeom>
          <a:noFill/>
          <a:ln/>
        </p:spPr>
        <p:txBody>
          <a:bodyPr wrap="square" rtlCol="0" anchor="ctr"/>
          <a:lstStyle/>
          <a:p>
            <a:pPr indent="0" marL="0">
              <a:buNone/>
            </a:pPr>
            <a:r>
              <a:rPr lang="en-US" sz="2000" b="1" dirty="0">
                <a:solidFill>
                  <a:srgbClr val="FFFFFF"/>
                </a:solidFill>
                <a:latin typeface="Calibri" pitchFamily="34" charset="0"/>
              </a:rPr>
              <a:t>sociii.ai</a:t>
            </a:r>
          </a:p>
        </p:txBody>
      </p:sp>
      <p:sp>
        <p:nvSpPr>
          <p:cNvPr id="13" name="Contact2Desc"/>
          <p:cNvSpPr/>
          <p:nvPr/>
        </p:nvSpPr>
        <p:spPr>
          <a:xfrm>
            <a:off x="4910328" y="3400000"/>
            <a:ext cx="3800000" cy="500000"/>
          </a:xfrm>
          <a:prstGeom prst="rect">
            <a:avLst/>
          </a:prstGeom>
          <a:noFill/>
          <a:ln/>
        </p:spPr>
        <p:txBody>
          <a:bodyPr wrap="square" rtlCol="0" anchor="t"/>
          <a:lstStyle/>
          <a:p>
            <a:pPr indent="0" marL="0">
              <a:lnSpc>
                <a:spcPct val="125000"/>
              </a:lnSpc>
              <a:buNone/>
            </a:pPr>
            <a:r>
              <a:rPr lang="en-US" sz="1050" dirty="0">
                <a:solidFill>
                  <a:srgbClr val="EEDDFF"/>
                </a:solidFill>
                <a:latin typeface="Calibri" pitchFamily="34" charset="0"/>
              </a:rPr>
              <a:t>The catalog, the live verticals, the work — see what 345 workers across 24 industries actually looks like.</a:t>
            </a:r>
          </a:p>
        </p:txBody>
      </p:sp>
      <p:sp>
        <p:nvSpPr>
          <p:cNvPr id="14" name="ClosingLine"/>
          <p:cNvSpPr/>
          <p:nvPr/>
        </p:nvSpPr>
        <p:spPr>
          <a:xfrm>
            <a:off x="320040" y="4300000"/>
            <a:ext cx="8412480" cy="400000"/>
          </a:xfrm>
          <a:prstGeom prst="rect">
            <a:avLst/>
          </a:prstGeom>
          <a:noFill/>
          <a:ln/>
        </p:spPr>
        <p:txBody>
          <a:bodyPr wrap="square" rtlCol="0" anchor="ctr"/>
          <a:lstStyle/>
          <a:p>
            <a:pPr indent="0" marL="0">
              <a:buNone/>
            </a:pPr>
            <a:r>
              <a:rPr lang="en-US" sz="1200" b="1" i="1" dirty="0">
                <a:solidFill>
                  <a:srgbClr val="0D7A5F"/>
                </a:solidFill>
                <a:latin typeface="Calibri" pitchFamily="34" charset="0"/>
              </a:rPr>
              <a:t>Sean Lee Combs · Founder &amp; CEO · SOCIII, Inc.</a:t>
            </a:r>
          </a:p>
        </p:txBody>
      </p:sp>
      <p:pic>
        <p:nvPicPr>
          <p:cNvPr id="950" name="CornerLogo"/>
          <p:cNvPicPr>
            <a:picLocks noChangeAspect="1"/>
          </p:cNvPicPr>
          <p:nvPr/>
        </p:nvPicPr>
        <p:blipFill>
          <a:blip r:embed="rId2"/>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 Inc.  ·  CONFIDENTIAL  ·  INVESTOR MEMO  ·  Contact: sean@sociii.ai  ·  www.sociii.ai</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sp>
      <p:sp>
        <p:nvSpPr>
          <p:cNvPr id="3" name="Text 1"/>
          <p:cNvSpPr/>
          <p:nvPr/>
        </p:nvSpPr>
        <p:spPr>
          <a:xfrm>
            <a:off x="320040" y="292608"/>
            <a:ext cx="3657600" cy="256032"/>
          </a:xfrm>
          <a:prstGeom prst="rect">
            <a:avLst/>
          </a:prstGeom>
          <a:noFill/>
          <a:ln/>
        </p:spPr>
        <p:txBody>
          <a:bodyPr wrap="square" rtlCol="0" anchor="ctr"/>
          <a:lstStyle/>
          <a:p>
            <a:pPr indent="0" marL="0">
              <a:buNone/>
            </a:pPr>
            <a:r>
              <a:rPr lang="en-US" sz="1100" b="1" spc="300" kern="0" dirty="0">
                <a:solidFill>
                  <a:srgbClr val="4A1D8C"/>
                </a:solidFill>
                <a:latin typeface="Calibri" pitchFamily="34" charset="0"/>
                <a:ea typeface="Calibri" pitchFamily="34" charset="-122"/>
                <a:cs typeface="Calibri" pitchFamily="34" charset="-120"/>
              </a:rPr>
              <a:t>COMPETITIVE LANDSCAPE</a:t>
            </a:r>
            <a:endParaRPr lang="en-US" sz="1100" dirty="0"/>
          </a:p>
        </p:txBody>
      </p:sp>
      <p:sp>
        <p:nvSpPr>
          <p:cNvPr id="4" name="Text 2"/>
          <p:cNvSpPr/>
          <p:nvPr/>
        </p:nvSpPr>
        <p:spPr>
          <a:xfrm>
            <a:off x="320040" y="530352"/>
            <a:ext cx="8229600" cy="685800"/>
          </a:xfrm>
          <a:prstGeom prst="rect">
            <a:avLst/>
          </a:prstGeom>
          <a:noFill/>
          <a:ln/>
        </p:spPr>
        <p:txBody>
          <a:bodyPr wrap="square" rtlCol="0" anchor="ctr"/>
          <a:lstStyle/>
          <a:p>
            <a:pPr indent="0" marL="0">
              <a:buNone/>
            </a:pPr>
            <a:r>
              <a:rPr lang="en-US" sz="3400" b="1" dirty="0">
                <a:solidFill>
                  <a:srgbClr val="1A0A2E"/>
                </a:solidFill>
                <a:latin typeface="Calibri" pitchFamily="34" charset="0"/>
                <a:ea typeface="Calibri" pitchFamily="34" charset="-122"/>
                <a:cs typeface="Calibri" pitchFamily="34" charset="-120"/>
              </a:rPr>
              <a:t>Three Alternatives. None Combine This.</a:t>
            </a:r>
            <a:endParaRPr lang="en-US" sz="3400" dirty="0"/>
          </a:p>
        </p:txBody>
      </p:sp>
      <p:sp>
        <p:nvSpPr>
          <p:cNvPr id="5" name="Text 3"/>
          <p:cNvSpPr/>
          <p:nvPr/>
        </p:nvSpPr>
        <p:spPr>
          <a:xfrm>
            <a:off x="320040" y="1207008"/>
            <a:ext cx="8412480" cy="347472"/>
          </a:xfrm>
          <a:prstGeom prst="rect">
            <a:avLst/>
          </a:prstGeom>
          <a:noFill/>
          <a:ln/>
        </p:spPr>
        <p:txBody>
          <a:bodyPr wrap="square" rtlCol="0" anchor="ctr"/>
          <a:lstStyle/>
          <a:p>
            <a:pPr indent="0" marL="0">
              <a:buNone/>
            </a:pPr>
            <a:r>
              <a:rPr lang="en-US" sz="1300" i="1" dirty="0">
                <a:solidFill>
                  <a:srgbClr val="2A2D3E"/>
                </a:solidFill>
                <a:latin typeface="Calibri" pitchFamily="34" charset="0"/>
                <a:ea typeface="Calibri" pitchFamily="34" charset="-122"/>
                <a:cs typeface="Calibri" pitchFamily="34" charset="-120"/>
              </a:rPr>
              <a:t>None of them pair governed compliance with a provable audit trail, built by the people who do the job.</a:t>
            </a:r>
            <a:endParaRPr lang="en-US" sz="1300" dirty="0"/>
          </a:p>
        </p:txBody>
      </p:sp>
      <p:sp>
        <p:nvSpPr>
          <p:cNvPr id="6" name="Shape 4"/>
          <p:cNvSpPr/>
          <p:nvPr/>
        </p:nvSpPr>
        <p:spPr>
          <a:xfrm>
            <a:off x="320040" y="1719072"/>
            <a:ext cx="2743200" cy="3182112"/>
          </a:xfrm>
          <a:prstGeom prst="rect">
            <a:avLst/>
          </a:prstGeom>
          <a:solidFill>
            <a:srgbClr val="1A0A2E"/>
          </a:solidFill>
          <a:ln/>
          <a:effectLst>
            <a:outerShdw sx="100000" sy="100000" kx="0" ky="0" algn="bl" rotWithShape="0" blurRad="76200" dist="25400" dir="8100000">
              <a:srgbClr val="000000">
                <a:alpha val="15000"/>
              </a:srgbClr>
            </a:outerShdw>
          </a:effectLst>
        </p:spPr>
      </p:sp>
      <p:sp>
        <p:nvSpPr>
          <p:cNvPr id="7" name="Text 5"/>
          <p:cNvSpPr/>
          <p:nvPr/>
        </p:nvSpPr>
        <p:spPr>
          <a:xfrm>
            <a:off x="457200" y="1810512"/>
            <a:ext cx="24688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Horizontal AI</a:t>
            </a:r>
            <a:endParaRPr lang="en-US" sz="1300" dirty="0"/>
          </a:p>
        </p:txBody>
      </p:sp>
      <p:sp>
        <p:nvSpPr>
          <p:cNvPr id="8" name="Text 6"/>
          <p:cNvSpPr/>
          <p:nvPr/>
        </p:nvSpPr>
        <p:spPr>
          <a:xfrm>
            <a:off x="457200" y="2194560"/>
            <a:ext cx="2468880" cy="274320"/>
          </a:xfrm>
          <a:prstGeom prst="rect">
            <a:avLst/>
          </a:prstGeom>
          <a:noFill/>
          <a:ln/>
        </p:spPr>
        <p:txBody>
          <a:bodyPr wrap="square" rtlCol="0" anchor="ctr"/>
          <a:lstStyle/>
          <a:p>
            <a:pPr indent="0" marL="0">
              <a:buNone/>
            </a:pPr>
            <a:r>
              <a:rPr lang="en-US" sz="1000" i="1" dirty="0">
                <a:solidFill>
                  <a:srgbClr val="7B3FE4"/>
                </a:solidFill>
                <a:latin typeface="Calibri" pitchFamily="34" charset="0"/>
                <a:ea typeface="Calibri" pitchFamily="34" charset="-122"/>
                <a:cs typeface="Calibri" pitchFamily="34" charset="-120"/>
              </a:rPr>
              <a:t>ChatGPT, Copilot, NanoClaw, LangChain/AutoGen — general-purpose assistants and agent-building frameworks.</a:t>
            </a:r>
            <a:endParaRPr lang="en-US" sz="1000" dirty="0"/>
          </a:p>
        </p:txBody>
      </p:sp>
      <p:sp>
        <p:nvSpPr>
          <p:cNvPr id="9" name="Shape 7"/>
          <p:cNvSpPr/>
          <p:nvPr/>
        </p:nvSpPr>
        <p:spPr>
          <a:xfrm>
            <a:off x="457200" y="2487168"/>
            <a:ext cx="2468880" cy="18288"/>
          </a:xfrm>
          <a:prstGeom prst="rect">
            <a:avLst/>
          </a:prstGeom>
          <a:solidFill>
            <a:srgbClr val="FFFFFF">
              <a:alpha val="25000"/>
            </a:srgbClr>
          </a:solidFill>
          <a:ln/>
        </p:spPr>
      </p:sp>
      <p:sp>
        <p:nvSpPr>
          <p:cNvPr id="10" name="Text 8"/>
          <p:cNvSpPr/>
          <p:nvPr/>
        </p:nvSpPr>
        <p:spPr>
          <a:xfrm>
            <a:off x="457200" y="256032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Broad, general-purpose reasoning or agent-building frameworks</a:t>
            </a:r>
            <a:endParaRPr lang="en-US" sz="1000" dirty="0"/>
          </a:p>
        </p:txBody>
      </p:sp>
      <p:sp>
        <p:nvSpPr>
          <p:cNvPr id="11" name="Text 9"/>
          <p:cNvSpPr/>
          <p:nvPr/>
        </p:nvSpPr>
        <p:spPr>
          <a:xfrm>
            <a:off x="457200" y="290779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No domain-specific compliance built in</a:t>
            </a:r>
            <a:endParaRPr lang="en-US" sz="1000" dirty="0"/>
          </a:p>
        </p:txBody>
      </p:sp>
      <p:sp>
        <p:nvSpPr>
          <p:cNvPr id="12" name="Text 10"/>
          <p:cNvSpPr/>
          <p:nvPr/>
        </p:nvSpPr>
        <p:spPr>
          <a:xfrm>
            <a:off x="457200" y="3255264"/>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No audit trail of what was said or why</a:t>
            </a:r>
            <a:endParaRPr lang="en-US" sz="1000" dirty="0"/>
          </a:p>
        </p:txBody>
      </p:sp>
      <p:sp>
        <p:nvSpPr>
          <p:cNvPr id="13" name="Text 11"/>
          <p:cNvSpPr/>
          <p:nvPr/>
        </p:nvSpPr>
        <p:spPr>
          <a:xfrm>
            <a:off x="457200" y="3602736"/>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Built by engineers, not domain experts</a:t>
            </a:r>
            <a:endParaRPr lang="en-US" sz="1000" dirty="0"/>
          </a:p>
        </p:txBody>
      </p:sp>
      <p:sp>
        <p:nvSpPr>
          <p:cNvPr id="14" name="Text 12"/>
          <p:cNvSpPr/>
          <p:nvPr/>
        </p:nvSpPr>
        <p:spPr>
          <a:xfrm>
            <a:off x="457200" y="3950208"/>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Fast to adopt, hard to hold accountable</a:t>
            </a:r>
            <a:endParaRPr lang="en-US" sz="1000" dirty="0"/>
          </a:p>
        </p:txBody>
      </p:sp>
      <p:sp>
        <p:nvSpPr>
          <p:cNvPr id="15" name="Text 13"/>
          <p:cNvSpPr/>
          <p:nvPr/>
        </p:nvSpPr>
        <p:spPr>
          <a:xfrm>
            <a:off x="457200" y="429768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xml:space="preserve"> </a:t>
            </a:r>
            <a:endParaRPr lang="en-US" sz="1000" dirty="0"/>
          </a:p>
        </p:txBody>
      </p:sp>
      <p:sp>
        <p:nvSpPr>
          <p:cNvPr id="16" name="Text 14"/>
          <p:cNvSpPr/>
          <p:nvPr/>
        </p:nvSpPr>
        <p:spPr>
          <a:xfrm>
            <a:off x="457200" y="464515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xml:space="preserve"> </a:t>
            </a:r>
            <a:endParaRPr lang="en-US" sz="1000" dirty="0"/>
          </a:p>
        </p:txBody>
      </p:sp>
      <p:sp>
        <p:nvSpPr>
          <p:cNvPr id="17" name="Shape 15"/>
          <p:cNvSpPr/>
          <p:nvPr/>
        </p:nvSpPr>
        <p:spPr>
          <a:xfrm>
            <a:off x="3291840" y="1719072"/>
            <a:ext cx="2743200" cy="3182112"/>
          </a:xfrm>
          <a:prstGeom prst="rect">
            <a:avLst/>
          </a:prstGeom>
          <a:solidFill>
            <a:srgbClr val="4A1D8C"/>
          </a:solidFill>
          <a:ln/>
          <a:effectLst>
            <a:outerShdw sx="100000" sy="100000" kx="0" ky="0" algn="bl" rotWithShape="0" blurRad="76200" dist="25400" dir="8100000">
              <a:srgbClr val="000000">
                <a:alpha val="15000"/>
              </a:srgbClr>
            </a:outerShdw>
          </a:effectLst>
        </p:spPr>
      </p:sp>
      <p:sp>
        <p:nvSpPr>
          <p:cNvPr id="18" name="Text 16"/>
          <p:cNvSpPr/>
          <p:nvPr/>
        </p:nvSpPr>
        <p:spPr>
          <a:xfrm>
            <a:off x="3429000" y="1810512"/>
            <a:ext cx="24688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Vertical AI</a:t>
            </a:r>
            <a:endParaRPr lang="en-US" sz="1300" dirty="0"/>
          </a:p>
        </p:txBody>
      </p:sp>
      <p:sp>
        <p:nvSpPr>
          <p:cNvPr id="19" name="Text 17"/>
          <p:cNvSpPr/>
          <p:nvPr/>
        </p:nvSpPr>
        <p:spPr>
          <a:xfrm>
            <a:off x="3429000" y="2194560"/>
            <a:ext cx="2468880" cy="274320"/>
          </a:xfrm>
          <a:prstGeom prst="rect">
            <a:avLst/>
          </a:prstGeom>
          <a:noFill/>
          <a:ln/>
        </p:spPr>
        <p:txBody>
          <a:bodyPr wrap="square" rtlCol="0" anchor="ctr"/>
          <a:lstStyle/>
          <a:p>
            <a:pPr indent="0" marL="0">
              <a:buNone/>
            </a:pPr>
            <a:r>
              <a:rPr lang="en-US" sz="1000" i="1" dirty="0">
                <a:solidFill>
                  <a:srgbClr val="7B3FE4"/>
                </a:solidFill>
                <a:latin typeface="Calibri" pitchFamily="34" charset="0"/>
                <a:ea typeface="Calibri" pitchFamily="34" charset="-122"/>
                <a:cs typeface="Calibri" pitchFamily="34" charset="-120"/>
              </a:rPr>
              <a:t>Harvey AI and similar AI-native tools built for one regulated profession (e.g. legal).</a:t>
            </a:r>
            <a:endParaRPr lang="en-US" sz="1000" dirty="0"/>
          </a:p>
        </p:txBody>
      </p:sp>
      <p:sp>
        <p:nvSpPr>
          <p:cNvPr id="20" name="Shape 18"/>
          <p:cNvSpPr/>
          <p:nvPr/>
        </p:nvSpPr>
        <p:spPr>
          <a:xfrm>
            <a:off x="3429000" y="2487168"/>
            <a:ext cx="2468880" cy="18288"/>
          </a:xfrm>
          <a:prstGeom prst="rect">
            <a:avLst/>
          </a:prstGeom>
          <a:solidFill>
            <a:srgbClr val="FFFFFF">
              <a:alpha val="25000"/>
            </a:srgbClr>
          </a:solidFill>
          <a:ln/>
        </p:spPr>
      </p:sp>
      <p:sp>
        <p:nvSpPr>
          <p:cNvPr id="21" name="Text 19"/>
          <p:cNvSpPr/>
          <p:nvPr/>
        </p:nvSpPr>
        <p:spPr>
          <a:xfrm>
            <a:off x="3429000" y="256032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Deep AI-native reasoning in one profession</a:t>
            </a:r>
            <a:endParaRPr lang="en-US" sz="1000" dirty="0"/>
          </a:p>
        </p:txBody>
      </p:sp>
      <p:sp>
        <p:nvSpPr>
          <p:cNvPr id="22" name="Text 20"/>
          <p:cNvSpPr/>
          <p:nvPr/>
        </p:nvSpPr>
        <p:spPr>
          <a:xfrm>
            <a:off x="3429000" y="290779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Built by AI-first teams, not domain-expert creators</a:t>
            </a:r>
            <a:endParaRPr lang="en-US" sz="1000" dirty="0"/>
          </a:p>
        </p:txBody>
      </p:sp>
      <p:sp>
        <p:nvSpPr>
          <p:cNvPr id="23" name="Text 21"/>
          <p:cNvSpPr/>
          <p:nvPr/>
        </p:nvSpPr>
        <p:spPr>
          <a:xfrm>
            <a:off x="3429000" y="3255264"/>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No creator economy — the vendor builds every tool</a:t>
            </a:r>
            <a:endParaRPr lang="en-US" sz="1000" dirty="0"/>
          </a:p>
        </p:txBody>
      </p:sp>
      <p:sp>
        <p:nvSpPr>
          <p:cNvPr id="24" name="Text 22"/>
          <p:cNvSpPr/>
          <p:nvPr/>
        </p:nvSpPr>
        <p:spPr>
          <a:xfrm>
            <a:off x="3429000" y="3602736"/>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A real, proven vertical-AI category — Harvey is the closest single comp to SOCIII’s positioning</a:t>
            </a:r>
            <a:endParaRPr lang="en-US" sz="1000" dirty="0"/>
          </a:p>
        </p:txBody>
      </p:sp>
      <p:sp>
        <p:nvSpPr>
          <p:cNvPr id="25" name="Text 23"/>
          <p:cNvSpPr/>
          <p:nvPr/>
        </p:nvSpPr>
        <p:spPr>
          <a:xfrm>
            <a:off x="3429000" y="3950208"/>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xml:space="preserve"> </a:t>
            </a:r>
            <a:endParaRPr lang="en-US" sz="1000" dirty="0"/>
          </a:p>
        </p:txBody>
      </p:sp>
      <p:sp>
        <p:nvSpPr>
          <p:cNvPr id="26" name="Text 24"/>
          <p:cNvSpPr/>
          <p:nvPr/>
        </p:nvSpPr>
        <p:spPr>
          <a:xfrm>
            <a:off x="3429000" y="429768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xml:space="preserve"> </a:t>
            </a:r>
            <a:endParaRPr lang="en-US" sz="1000" dirty="0"/>
          </a:p>
        </p:txBody>
      </p:sp>
      <p:sp>
        <p:nvSpPr>
          <p:cNvPr id="27" name="Shape 25"/>
          <p:cNvSpPr/>
          <p:nvPr/>
        </p:nvSpPr>
        <p:spPr>
          <a:xfrm>
            <a:off x="6263640" y="1719072"/>
            <a:ext cx="2743200" cy="3182112"/>
          </a:xfrm>
          <a:prstGeom prst="rect">
            <a:avLst/>
          </a:prstGeom>
          <a:solidFill>
            <a:srgbClr val="0D7A5F"/>
          </a:solidFill>
          <a:ln/>
          <a:effectLst>
            <a:outerShdw sx="100000" sy="100000" kx="0" ky="0" algn="bl" rotWithShape="0" blurRad="76200" dist="25400" dir="8100000">
              <a:srgbClr val="000000">
                <a:alpha val="15000"/>
              </a:srgbClr>
            </a:outerShdw>
          </a:effectLst>
        </p:spPr>
      </p:sp>
      <p:sp>
        <p:nvSpPr>
          <p:cNvPr id="28" name="Text 26"/>
          <p:cNvSpPr/>
          <p:nvPr/>
        </p:nvSpPr>
        <p:spPr>
          <a:xfrm>
            <a:off x="6400800" y="1810512"/>
            <a:ext cx="24688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Vertical SaaS Incumbents</a:t>
            </a:r>
            <a:endParaRPr lang="en-US" sz="1300" dirty="0"/>
          </a:p>
        </p:txBody>
      </p:sp>
      <p:sp>
        <p:nvSpPr>
          <p:cNvPr id="29" name="Text 27"/>
          <p:cNvSpPr/>
          <p:nvPr/>
        </p:nvSpPr>
        <p:spPr>
          <a:xfrm>
            <a:off x="6400800" y="2194560"/>
            <a:ext cx="2468880" cy="274320"/>
          </a:xfrm>
          <a:prstGeom prst="rect">
            <a:avLst/>
          </a:prstGeom>
          <a:noFill/>
          <a:ln/>
        </p:spPr>
        <p:txBody>
          <a:bodyPr wrap="square" rtlCol="0" anchor="ctr"/>
          <a:lstStyle/>
          <a:p>
            <a:pPr indent="0" marL="0">
              <a:buNone/>
            </a:pPr>
            <a:r>
              <a:rPr lang="en-US" sz="1000" i="1" dirty="0">
                <a:solidFill>
                  <a:srgbClr val="10B981"/>
                </a:solidFill>
                <a:latin typeface="Calibri" pitchFamily="34" charset="0"/>
                <a:ea typeface="Calibri" pitchFamily="34" charset="-122"/>
                <a:cs typeface="Calibri" pitchFamily="34" charset="-120"/>
              </a:rPr>
              <a:t>ForeFlight, Jeppesen, legacy nursing-ed and title platforms.</a:t>
            </a:r>
            <a:endParaRPr lang="en-US" sz="1000" dirty="0"/>
          </a:p>
        </p:txBody>
      </p:sp>
      <p:sp>
        <p:nvSpPr>
          <p:cNvPr id="30" name="Shape 28"/>
          <p:cNvSpPr/>
          <p:nvPr/>
        </p:nvSpPr>
        <p:spPr>
          <a:xfrm>
            <a:off x="6400800" y="2487168"/>
            <a:ext cx="2468880" cy="18288"/>
          </a:xfrm>
          <a:prstGeom prst="rect">
            <a:avLst/>
          </a:prstGeom>
          <a:solidFill>
            <a:srgbClr val="FFFFFF">
              <a:alpha val="25000"/>
            </a:srgbClr>
          </a:solidFill>
          <a:ln/>
        </p:spPr>
      </p:sp>
      <p:sp>
        <p:nvSpPr>
          <p:cNvPr id="31" name="Text 29"/>
          <p:cNvSpPr/>
          <p:nvPr/>
        </p:nvSpPr>
        <p:spPr>
          <a:xfrm>
            <a:off x="6400800" y="256032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Deep in one workflow, one industry</a:t>
            </a:r>
            <a:endParaRPr lang="en-US" sz="1000" dirty="0"/>
          </a:p>
        </p:txBody>
      </p:sp>
      <p:sp>
        <p:nvSpPr>
          <p:cNvPr id="32" name="Text 30"/>
          <p:cNvSpPr/>
          <p:nvPr/>
        </p:nvSpPr>
        <p:spPr>
          <a:xfrm>
            <a:off x="6400800" y="290779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Little to no AI-native reasoning</a:t>
            </a:r>
            <a:endParaRPr lang="en-US" sz="1000" dirty="0"/>
          </a:p>
        </p:txBody>
      </p:sp>
      <p:sp>
        <p:nvSpPr>
          <p:cNvPr id="33" name="Text 31"/>
          <p:cNvSpPr/>
          <p:nvPr/>
        </p:nvSpPr>
        <p:spPr>
          <a:xfrm>
            <a:off x="6400800" y="3255264"/>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Closed, vendor-built — no creator economy</a:t>
            </a:r>
            <a:endParaRPr lang="en-US" sz="1000" dirty="0"/>
          </a:p>
        </p:txBody>
      </p:sp>
      <p:sp>
        <p:nvSpPr>
          <p:cNvPr id="34" name="Text 32"/>
          <p:cNvSpPr/>
          <p:nvPr/>
        </p:nvSpPr>
        <p:spPr>
          <a:xfrm>
            <a:off x="6400800" y="3602736"/>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Real incumbents, real switching cost</a:t>
            </a:r>
            <a:endParaRPr lang="en-US" sz="1000" dirty="0"/>
          </a:p>
        </p:txBody>
      </p:sp>
      <p:sp>
        <p:nvSpPr>
          <p:cNvPr id="35" name="Text 33"/>
          <p:cNvSpPr/>
          <p:nvPr/>
        </p:nvSpPr>
        <p:spPr>
          <a:xfrm>
            <a:off x="6400800" y="3950208"/>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xml:space="preserve"> </a:t>
            </a:r>
            <a:endParaRPr lang="en-US" sz="1000" dirty="0"/>
          </a:p>
        </p:txBody>
      </p:sp>
      <p:sp>
        <p:nvSpPr>
          <p:cNvPr id="36" name="Text 34"/>
          <p:cNvSpPr/>
          <p:nvPr/>
        </p:nvSpPr>
        <p:spPr>
          <a:xfrm>
            <a:off x="6400800" y="429768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xml:space="preserve"> </a:t>
            </a:r>
            <a:endParaRPr lang="en-US" sz="1000" dirty="0"/>
          </a:p>
        </p:txBody>
      </p:sp>
      <p:sp>
        <p:nvSpPr>
          <p:cNvPr id="37" name="Text 35"/>
          <p:cNvSpPr/>
          <p:nvPr/>
        </p:nvSpPr>
        <p:spPr>
          <a:xfrm>
            <a:off x="320040" y="4880000"/>
            <a:ext cx="8412480" cy="219456"/>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Our claim: nobody we’re aware of combines RAAS, The Ledger, and domain-expert-built workers. If that changes, this slide changes.</a:t>
            </a:r>
            <a:endParaRPr lang="en-US" sz="100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sociii.ai  ·  CONFIDENTIAL  ·  SOCIII Inc. (Delaware C-Corp)  ·  Sep 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5">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D7A5F"/>
          </a:solidFill>
          <a:ln/>
        </p:spPr>
      </p:sp>
      <p:sp>
        <p:nvSpPr>
          <p:cNvPr id="3" name="Text 1"/>
          <p:cNvSpPr/>
          <p:nvPr/>
        </p:nvSpPr>
        <p:spPr>
          <a:xfrm>
            <a:off x="320040" y="292608"/>
            <a:ext cx="3657600" cy="256032"/>
          </a:xfrm>
          <a:prstGeom prst="rect">
            <a:avLst/>
          </a:prstGeom>
          <a:noFill/>
          <a:ln/>
        </p:spPr>
        <p:txBody>
          <a:bodyPr wrap="square" rtlCol="0" anchor="ctr"/>
          <a:lstStyle/>
          <a:p>
            <a:pPr indent="0" marL="0">
              <a:buNone/>
            </a:pPr>
            <a:r>
              <a:rPr lang="en-US" sz="1100" b="1" spc="300" kern="0" dirty="0">
                <a:solidFill>
                  <a:srgbClr val="10B981"/>
                </a:solidFill>
                <a:latin typeface="Calibri" pitchFamily="34" charset="0"/>
                <a:ea typeface="Calibri" pitchFamily="34" charset="-122"/>
                <a:cs typeface="Calibri" pitchFamily="34" charset="-120"/>
              </a:rPr>
              <a:t>APPENDIX  ·  FINANCIAL SUMMARY</a:t>
            </a:r>
            <a:endParaRPr lang="en-US" sz="1100" dirty="0"/>
          </a:p>
        </p:txBody>
      </p:sp>
      <p:sp>
        <p:nvSpPr>
          <p:cNvPr id="4" name="Text 2"/>
          <p:cNvSpPr/>
          <p:nvPr/>
        </p:nvSpPr>
        <p:spPr>
          <a:xfrm>
            <a:off x="320040" y="530352"/>
            <a:ext cx="6858000" cy="621792"/>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Numbers, Condensed.</a:t>
            </a:r>
            <a:endParaRPr lang="en-US" sz="3200" dirty="0"/>
          </a:p>
        </p:txBody>
      </p:sp>
      <p:sp>
        <p:nvSpPr>
          <p:cNvPr id="5" name="Text 3"/>
          <p:cNvSpPr/>
          <p:nvPr/>
        </p:nvSpPr>
        <p:spPr>
          <a:xfrm>
            <a:off x="320040" y="1133856"/>
            <a:ext cx="8412480" cy="411480"/>
          </a:xfrm>
          <a:prstGeom prst="rect">
            <a:avLst/>
          </a:prstGeom>
          <a:noFill/>
          <a:ln/>
        </p:spPr>
        <p:txBody>
          <a:bodyPr wrap="square" rtlCol="0" anchor="ctr"/>
          <a:lstStyle/>
          <a:p>
            <a:pPr indent="0" marL="0">
              <a:buNone/>
            </a:pPr>
            <a:r>
              <a:rPr lang="en-US" sz="1300" i="1" dirty="0">
                <a:solidFill>
                  <a:srgbClr val="10B981"/>
                </a:solidFill>
                <a:latin typeface="Calibri" pitchFamily="34" charset="0"/>
                <a:ea typeface="Calibri" pitchFamily="34" charset="-122"/>
                <a:cs typeface="Calibri" pitchFamily="34" charset="-120"/>
              </a:rPr>
              <a:t>Illustrative model only — not a projection, promise, or forward-looking statement. Worst = $500K minimum close; Base = $2M base raise. Full model with Best case in the Data Room.</a:t>
            </a:r>
            <a:endParaRPr lang="en-US" sz="1300" dirty="0"/>
          </a:p>
        </p:txBody>
      </p:sp>
      <p:sp>
        <p:nvSpPr>
          <p:cNvPr id="6" name="Shape 4"/>
          <p:cNvSpPr/>
          <p:nvPr/>
        </p:nvSpPr>
        <p:spPr>
          <a:xfrm>
            <a:off x="320040" y="1755648"/>
            <a:ext cx="2029968" cy="3090672"/>
          </a:xfrm>
          <a:prstGeom prst="rect">
            <a:avLst/>
          </a:prstGeom>
          <a:solidFill>
            <a:srgbClr val="3D0000"/>
          </a:solidFill>
          <a:ln w="12700">
            <a:solidFill>
              <a:srgbClr val="FF6B6B">
                <a:alpha val="40000"/>
              </a:srgbClr>
            </a:solidFill>
            <a:prstDash val="solid"/>
          </a:ln>
        </p:spPr>
      </p:sp>
      <p:sp>
        <p:nvSpPr>
          <p:cNvPr id="7" name="Text 5"/>
          <p:cNvSpPr/>
          <p:nvPr/>
        </p:nvSpPr>
        <p:spPr>
          <a:xfrm>
            <a:off x="320040" y="1847088"/>
            <a:ext cx="2029968" cy="320040"/>
          </a:xfrm>
          <a:prstGeom prst="rect">
            <a:avLst/>
          </a:prstGeom>
          <a:noFill/>
          <a:ln/>
        </p:spPr>
        <p:txBody>
          <a:bodyPr wrap="square" rtlCol="0" anchor="ctr"/>
          <a:lstStyle/>
          <a:p>
            <a:pPr algn="ctr" indent="0" marL="0">
              <a:buNone/>
            </a:pPr>
            <a:r>
              <a:rPr lang="en-US" sz="1100" b="1" spc="200" kern="0" dirty="0">
                <a:solidFill>
                  <a:srgbClr val="FF6B6B"/>
                </a:solidFill>
                <a:latin typeface="Calibri" pitchFamily="34" charset="0"/>
                <a:ea typeface="Calibri" pitchFamily="34" charset="-122"/>
                <a:cs typeface="Calibri" pitchFamily="34" charset="-120"/>
              </a:rPr>
              <a:t>MONTH 12 MRR</a:t>
            </a:r>
            <a:endParaRPr lang="en-US" sz="1100" dirty="0"/>
          </a:p>
        </p:txBody>
      </p:sp>
      <p:sp>
        <p:nvSpPr>
          <p:cNvPr id="8" name="Text 6"/>
          <p:cNvSpPr/>
          <p:nvPr/>
        </p:nvSpPr>
        <p:spPr>
          <a:xfrm>
            <a:off x="429768" y="2212848"/>
            <a:ext cx="1828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xml:space="preserve"> </a:t>
            </a:r>
            <a:endParaRPr lang="en-US" sz="1400" dirty="0"/>
          </a:p>
        </p:txBody>
      </p:sp>
      <p:sp>
        <p:nvSpPr>
          <p:cNvPr id="9" name="Text 7"/>
          <p:cNvSpPr/>
          <p:nvPr/>
        </p:nvSpPr>
        <p:spPr>
          <a:xfrm>
            <a:off x="429768" y="2697480"/>
            <a:ext cx="1828800" cy="1965960"/>
          </a:xfrm>
          <a:prstGeom prst="rect">
            <a:avLst/>
          </a:prstGeom>
          <a:noFill/>
          <a:ln/>
        </p:spPr>
        <p:txBody>
          <a:bodyPr wrap="square" rtlCol="0" anchor="ctr"/>
          <a:lstStyle/>
          <a:p>
            <a:pPr indent="0" marL="0">
              <a:lnSpc>
                <a:spcPct val="135000"/>
              </a:lnSpc>
              <a:buNone/>
            </a:pPr>
            <a:r>
              <a:rPr lang="en-US" sz="1100" dirty="0">
                <a:solidFill>
                  <a:srgbClr val="CCCCCC"/>
                </a:solidFill>
                <a:latin typeface="Calibri" pitchFamily="34" charset="0"/>
                <a:ea typeface="Calibri" pitchFamily="34" charset="-122"/>
                <a:cs typeface="Calibri" pitchFamily="34" charset="-120"/>
              </a:rPr>
              <a:t>Worst: $4.9K</a:t>
            </a:r>
            <a:endParaRPr lang="en-US" sz="1100" dirty="0"/>
          </a:p>
          <a:p>
            <a:pPr indent="0" marL="0">
              <a:lnSpc>
                <a:spcPct val="135000"/>
              </a:lnSpc>
              <a:buNone/>
            </a:pPr>
            <a:r>
              <a:rPr lang="en-US" sz="1100" b="1" dirty="0">
                <a:solidFill>
                  <a:srgbClr val="10B981"/>
                </a:solidFill>
                <a:latin typeface="Calibri" pitchFamily="34" charset="0"/>
                <a:ea typeface="Calibri" pitchFamily="34" charset="-122"/>
                <a:cs typeface="Calibri" pitchFamily="34" charset="-120"/>
              </a:rPr>
              <a:t>Base: $25.1K</a:t>
            </a:r>
            <a:endParaRPr lang="en-US" sz="1100" dirty="0"/>
          </a:p>
        </p:txBody>
      </p:sp>
      <p:sp>
        <p:nvSpPr>
          <p:cNvPr id="10" name="Shape 8"/>
          <p:cNvSpPr/>
          <p:nvPr/>
        </p:nvSpPr>
        <p:spPr>
          <a:xfrm>
            <a:off x="2532888" y="1755648"/>
            <a:ext cx="2029968" cy="3090672"/>
          </a:xfrm>
          <a:prstGeom prst="rect">
            <a:avLst/>
          </a:prstGeom>
          <a:solidFill>
            <a:srgbClr val="1A0A2E"/>
          </a:solidFill>
          <a:ln w="12700">
            <a:solidFill>
              <a:srgbClr val="7B3FE4">
                <a:alpha val="40000"/>
              </a:srgbClr>
            </a:solidFill>
            <a:prstDash val="solid"/>
          </a:ln>
        </p:spPr>
      </p:sp>
      <p:sp>
        <p:nvSpPr>
          <p:cNvPr id="11" name="Text 9"/>
          <p:cNvSpPr/>
          <p:nvPr/>
        </p:nvSpPr>
        <p:spPr>
          <a:xfrm>
            <a:off x="2532888" y="1847088"/>
            <a:ext cx="2029968" cy="320040"/>
          </a:xfrm>
          <a:prstGeom prst="rect">
            <a:avLst/>
          </a:prstGeom>
          <a:noFill/>
          <a:ln/>
        </p:spPr>
        <p:txBody>
          <a:bodyPr wrap="square" rtlCol="0" anchor="ctr"/>
          <a:lstStyle/>
          <a:p>
            <a:pPr algn="ctr" indent="0" marL="0">
              <a:buNone/>
            </a:pPr>
            <a:r>
              <a:rPr lang="en-US" sz="1100" b="1" spc="200" kern="0" dirty="0">
                <a:solidFill>
                  <a:srgbClr val="7B3FE4"/>
                </a:solidFill>
                <a:latin typeface="Calibri" pitchFamily="34" charset="0"/>
                <a:ea typeface="Calibri" pitchFamily="34" charset="-122"/>
                <a:cs typeface="Calibri" pitchFamily="34" charset="-120"/>
              </a:rPr>
              <a:t>MONTH 24 MRR</a:t>
            </a:r>
            <a:endParaRPr lang="en-US" sz="1100" dirty="0"/>
          </a:p>
        </p:txBody>
      </p:sp>
      <p:sp>
        <p:nvSpPr>
          <p:cNvPr id="12" name="Text 10"/>
          <p:cNvSpPr/>
          <p:nvPr/>
        </p:nvSpPr>
        <p:spPr>
          <a:xfrm>
            <a:off x="2642616" y="2212848"/>
            <a:ext cx="1828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xml:space="preserve"> </a:t>
            </a:r>
            <a:endParaRPr lang="en-US" sz="1400" dirty="0"/>
          </a:p>
        </p:txBody>
      </p:sp>
      <p:sp>
        <p:nvSpPr>
          <p:cNvPr id="13" name="Text 11"/>
          <p:cNvSpPr/>
          <p:nvPr/>
        </p:nvSpPr>
        <p:spPr>
          <a:xfrm>
            <a:off x="2642616" y="2697480"/>
            <a:ext cx="1828800" cy="1965960"/>
          </a:xfrm>
          <a:prstGeom prst="rect">
            <a:avLst/>
          </a:prstGeom>
          <a:noFill/>
          <a:ln/>
        </p:spPr>
        <p:txBody>
          <a:bodyPr wrap="square" rtlCol="0" anchor="ctr"/>
          <a:lstStyle/>
          <a:p>
            <a:pPr indent="0" marL="0">
              <a:lnSpc>
                <a:spcPct val="135000"/>
              </a:lnSpc>
              <a:buNone/>
            </a:pPr>
            <a:r>
              <a:rPr lang="en-US" sz="1100" dirty="0">
                <a:solidFill>
                  <a:srgbClr val="CCCCCC"/>
                </a:solidFill>
                <a:latin typeface="Calibri" pitchFamily="34" charset="0"/>
                <a:ea typeface="Calibri" pitchFamily="34" charset="-122"/>
                <a:cs typeface="Calibri" pitchFamily="34" charset="-120"/>
              </a:rPr>
              <a:t>Worst: $13.8K</a:t>
            </a:r>
            <a:endParaRPr lang="en-US" sz="1100" dirty="0"/>
          </a:p>
          <a:p>
            <a:pPr indent="0" marL="0">
              <a:lnSpc>
                <a:spcPct val="135000"/>
              </a:lnSpc>
              <a:buNone/>
            </a:pPr>
            <a:r>
              <a:rPr lang="en-US" sz="1100" b="1" dirty="0">
                <a:solidFill>
                  <a:srgbClr val="10B981"/>
                </a:solidFill>
                <a:latin typeface="Calibri" pitchFamily="34" charset="0"/>
                <a:ea typeface="Calibri" pitchFamily="34" charset="-122"/>
                <a:cs typeface="Calibri" pitchFamily="34" charset="-120"/>
              </a:rPr>
              <a:t>Base: $102.7K</a:t>
            </a:r>
            <a:endParaRPr lang="en-US" sz="1100" dirty="0"/>
          </a:p>
        </p:txBody>
      </p:sp>
      <p:sp>
        <p:nvSpPr>
          <p:cNvPr id="14" name="Shape 12"/>
          <p:cNvSpPr/>
          <p:nvPr/>
        </p:nvSpPr>
        <p:spPr>
          <a:xfrm>
            <a:off x="4745736" y="1755648"/>
            <a:ext cx="2029968" cy="3090672"/>
          </a:xfrm>
          <a:prstGeom prst="rect">
            <a:avLst/>
          </a:prstGeom>
          <a:solidFill>
            <a:srgbClr val="1E3A6E"/>
          </a:solidFill>
          <a:ln w="12700">
            <a:solidFill>
              <a:srgbClr val="2D6BE4">
                <a:alpha val="40000"/>
              </a:srgbClr>
            </a:solidFill>
            <a:prstDash val="solid"/>
          </a:ln>
        </p:spPr>
      </p:sp>
      <p:sp>
        <p:nvSpPr>
          <p:cNvPr id="15" name="Text 13"/>
          <p:cNvSpPr/>
          <p:nvPr/>
        </p:nvSpPr>
        <p:spPr>
          <a:xfrm>
            <a:off x="4745736" y="1847088"/>
            <a:ext cx="2029968" cy="320040"/>
          </a:xfrm>
          <a:prstGeom prst="rect">
            <a:avLst/>
          </a:prstGeom>
          <a:noFill/>
          <a:ln/>
        </p:spPr>
        <p:txBody>
          <a:bodyPr wrap="square" rtlCol="0" anchor="ctr"/>
          <a:lstStyle/>
          <a:p>
            <a:pPr algn="ctr" indent="0" marL="0">
              <a:buNone/>
            </a:pPr>
            <a:r>
              <a:rPr lang="en-US" sz="1100" b="1" spc="200" kern="0" dirty="0">
                <a:solidFill>
                  <a:srgbClr val="2D6BE4"/>
                </a:solidFill>
                <a:latin typeface="Calibri" pitchFamily="34" charset="0"/>
                <a:ea typeface="Calibri" pitchFamily="34" charset="-122"/>
                <a:cs typeface="Calibri" pitchFamily="34" charset="-120"/>
              </a:rPr>
              <a:t>MONTH 36 MRR</a:t>
            </a:r>
            <a:endParaRPr lang="en-US" sz="1100" dirty="0"/>
          </a:p>
        </p:txBody>
      </p:sp>
      <p:sp>
        <p:nvSpPr>
          <p:cNvPr id="16" name="Text 14"/>
          <p:cNvSpPr/>
          <p:nvPr/>
        </p:nvSpPr>
        <p:spPr>
          <a:xfrm>
            <a:off x="4855464" y="2212848"/>
            <a:ext cx="1828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xml:space="preserve"> </a:t>
            </a:r>
            <a:endParaRPr lang="en-US" sz="1400" dirty="0"/>
          </a:p>
        </p:txBody>
      </p:sp>
      <p:sp>
        <p:nvSpPr>
          <p:cNvPr id="17" name="Text 15"/>
          <p:cNvSpPr/>
          <p:nvPr/>
        </p:nvSpPr>
        <p:spPr>
          <a:xfrm>
            <a:off x="4855464" y="2697480"/>
            <a:ext cx="1828800" cy="1965960"/>
          </a:xfrm>
          <a:prstGeom prst="rect">
            <a:avLst/>
          </a:prstGeom>
          <a:noFill/>
          <a:ln/>
        </p:spPr>
        <p:txBody>
          <a:bodyPr wrap="square" rtlCol="0" anchor="ctr"/>
          <a:lstStyle/>
          <a:p>
            <a:pPr indent="0" marL="0">
              <a:lnSpc>
                <a:spcPct val="135000"/>
              </a:lnSpc>
              <a:buNone/>
            </a:pPr>
            <a:r>
              <a:rPr lang="en-US" sz="1100" dirty="0">
                <a:solidFill>
                  <a:srgbClr val="CCCCCC"/>
                </a:solidFill>
                <a:latin typeface="Calibri" pitchFamily="34" charset="0"/>
                <a:ea typeface="Calibri" pitchFamily="34" charset="-122"/>
                <a:cs typeface="Calibri" pitchFamily="34" charset="-120"/>
              </a:rPr>
              <a:t>Worst: $28.8K</a:t>
            </a:r>
            <a:endParaRPr lang="en-US" sz="1100" dirty="0"/>
          </a:p>
          <a:p>
            <a:pPr indent="0" marL="0">
              <a:lnSpc>
                <a:spcPct val="135000"/>
              </a:lnSpc>
              <a:buNone/>
            </a:pPr>
            <a:r>
              <a:rPr lang="en-US" sz="1100" b="1" dirty="0">
                <a:solidFill>
                  <a:srgbClr val="10B981"/>
                </a:solidFill>
                <a:latin typeface="Calibri" pitchFamily="34" charset="0"/>
                <a:ea typeface="Calibri" pitchFamily="34" charset="-122"/>
                <a:cs typeface="Calibri" pitchFamily="34" charset="-120"/>
              </a:rPr>
              <a:t>Base: $346.1K</a:t>
            </a:r>
            <a:endParaRPr lang="en-US" sz="1100" dirty="0"/>
          </a:p>
        </p:txBody>
      </p:sp>
      <p:sp>
        <p:nvSpPr>
          <p:cNvPr id="18" name="Shape 16"/>
          <p:cNvSpPr/>
          <p:nvPr/>
        </p:nvSpPr>
        <p:spPr>
          <a:xfrm>
            <a:off x="6958584" y="1755648"/>
            <a:ext cx="2029968" cy="3090672"/>
          </a:xfrm>
          <a:prstGeom prst="rect">
            <a:avLst/>
          </a:prstGeom>
          <a:solidFill>
            <a:srgbClr val="0A2E1A"/>
          </a:solidFill>
          <a:ln w="12700">
            <a:solidFill>
              <a:srgbClr val="10B981">
                <a:alpha val="40000"/>
              </a:srgbClr>
            </a:solidFill>
            <a:prstDash val="solid"/>
          </a:ln>
        </p:spPr>
      </p:sp>
      <p:sp>
        <p:nvSpPr>
          <p:cNvPr id="19" name="Text 17"/>
          <p:cNvSpPr/>
          <p:nvPr/>
        </p:nvSpPr>
        <p:spPr>
          <a:xfrm>
            <a:off x="6958584" y="1847088"/>
            <a:ext cx="2029968" cy="320040"/>
          </a:xfrm>
          <a:prstGeom prst="rect">
            <a:avLst/>
          </a:prstGeom>
          <a:noFill/>
          <a:ln/>
        </p:spPr>
        <p:txBody>
          <a:bodyPr wrap="square" rtlCol="0" anchor="ctr"/>
          <a:lstStyle/>
          <a:p>
            <a:pPr algn="ctr" indent="0" marL="0">
              <a:buNone/>
            </a:pPr>
            <a:r>
              <a:rPr lang="en-US" sz="1100" b="1" spc="200" kern="0" dirty="0">
                <a:solidFill>
                  <a:srgbClr val="10B981"/>
                </a:solidFill>
                <a:latin typeface="Calibri" pitchFamily="34" charset="0"/>
                <a:ea typeface="Calibri" pitchFamily="34" charset="-122"/>
                <a:cs typeface="Calibri" pitchFamily="34" charset="-120"/>
              </a:rPr>
              <a:t>SERIES A TRIGGER</a:t>
            </a:r>
            <a:endParaRPr lang="en-US" sz="1100" dirty="0"/>
          </a:p>
        </p:txBody>
      </p:sp>
      <p:sp>
        <p:nvSpPr>
          <p:cNvPr id="20" name="Text 18"/>
          <p:cNvSpPr/>
          <p:nvPr/>
        </p:nvSpPr>
        <p:spPr>
          <a:xfrm>
            <a:off x="7068312" y="2212848"/>
            <a:ext cx="1828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a:r>
            <a:endParaRPr lang="en-US" sz="1400" dirty="0"/>
          </a:p>
        </p:txBody>
      </p:sp>
      <p:sp>
        <p:nvSpPr>
          <p:cNvPr id="21" name="Text 19"/>
          <p:cNvSpPr/>
          <p:nvPr/>
        </p:nvSpPr>
        <p:spPr>
          <a:xfrm>
            <a:off x="7068312" y="2697480"/>
            <a:ext cx="1828800" cy="1965960"/>
          </a:xfrm>
          <a:prstGeom prst="rect">
            <a:avLst/>
          </a:prstGeom>
          <a:noFill/>
          <a:ln/>
        </p:spPr>
        <p:txBody>
          <a:bodyPr wrap="square" rtlCol="0" anchor="ctr"/>
          <a:lstStyle/>
          <a:p>
            <a:pPr indent="0" marL="0">
              <a:lnSpc>
                <a:spcPct val="135000"/>
              </a:lnSpc>
              <a:buNone/>
            </a:pPr>
            <a:r>
              <a:rPr lang="en-US" sz="1100" dirty="0">
                <a:solidFill>
                  <a:srgbClr val="CCCCCC"/>
                </a:solidFill>
                <a:latin typeface="Calibri" pitchFamily="34" charset="0"/>
                <a:ea typeface="Calibri" pitchFamily="34" charset="-122"/>
                <a:cs typeface="Calibri" pitchFamily="34" charset="-120"/>
              </a:rPr>
              <a:t>Worst: Month 36</a:t>
            </a:r>
            <a:endParaRPr lang="en-US" sz="1100" dirty="0"/>
          </a:p>
          <a:p>
            <a:pPr indent="0" marL="0">
              <a:lnSpc>
                <a:spcPct val="135000"/>
              </a:lnSpc>
              <a:buNone/>
            </a:pPr>
            <a:r>
              <a:rPr lang="en-US" sz="1100" b="1" dirty="0">
                <a:solidFill>
                  <a:srgbClr val="10B981"/>
                </a:solidFill>
                <a:latin typeface="Calibri" pitchFamily="34" charset="0"/>
                <a:ea typeface="Calibri" pitchFamily="34" charset="-122"/>
                <a:cs typeface="Calibri" pitchFamily="34" charset="-120"/>
              </a:rPr>
              <a:t>Base: Month 18</a:t>
            </a:r>
            <a:endParaRPr lang="en-US" sz="1100" dirty="0"/>
          </a:p>
        </p:txBody>
      </p:sp>
      <p:pic>
        <p:nvPicPr>
          <p:cNvPr id="950" name="CornerLogo"/>
          <p:cNvPicPr>
            <a:picLocks noChangeAspect="1"/>
          </p:cNvPicPr>
          <p:nvPr/>
        </p:nvPicPr>
        <p:blipFill>
          <a:blip r:embed="rId2"/>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sociii.ai  ·  CONFIDENTIAL  ·  SOCIII Inc. (Delaware C-Corp)  ·  Sep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TitleApp.ai — Investor Deck</dc:title>
  <dc:subject>PptxGenJS Presentation</dc:subject>
  <dc:creator>PptxGenJS</dc:creator>
  <cp:lastModifiedBy>PptxGenJS</cp:lastModifiedBy>
  <cp:revision>1</cp:revision>
  <dcterms:created xsi:type="dcterms:W3CDTF">2026-04-01T05:35:02Z</dcterms:created>
  <dcterms:modified xsi:type="dcterms:W3CDTF">2026-04-01T05:35:02Z</dcterms:modified>
</cp:coreProperties>
</file>
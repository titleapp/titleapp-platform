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4.xml" ContentType="application/vnd.openxmlformats-officedocument.presentationml.slide+xml"/>
  <Override PartName="/ppt/slides/slide15.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4"/>
    <p:sldId id="258" r:id="rId6"/>
    <p:sldId id="259" r:id="rId7"/>
    <p:sldId id="260" r:id="rId8"/>
    <p:sldId id="261" r:id="rId5"/>
    <p:sldId id="262" r:id="rId10"/>
    <p:sldId id="263" r:id="rId11"/>
    <p:sldId id="264" r:id="rId12"/>
    <p:sldId id="265" r:id="rId13"/>
    <p:sldId id="266" r:id="rId3"/>
    <p:sldId id="267" r:id="rId20"/>
    <p:sldId id="268" r:id="rId23"/>
    <p:sldId id="269" r:id="rId14"/>
    <p:sldId id="270" r:id="rId24"/>
    <p:sldId id="271" r:id="rId22"/>
    <p:sldId id="272" r:id="rId9"/>
    <p:sldId id="273" r:id="rId21"/>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sociii-cover-logo.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sociii-corner.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sociii-corner.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sociii-corner.png"/></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sociii-corner.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sociii-corner.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shot-dashboard.png"/><Relationship Id="rId4" Type="http://schemas.openxmlformats.org/officeDocument/2006/relationships/image" Target="../media/shot-marketplace.png"/><Relationship Id="rId5" Type="http://schemas.openxmlformats.org/officeDocument/2006/relationships/image" Target="../media/shot-pc12.png"/><Relationship Id="rId6" Type="http://schemas.openxmlformats.org/officeDocument/2006/relationships/image" Target="../media/sociii-corner.png"/></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sociii-corner.png"/></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sociii-corner.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sociii-corner.png"/></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sociii-corner.png"/></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sociii-corner.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sociii-corner.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ociii-corner.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ociii-corner.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ociii-corner.png"/></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ociii-corner.png"/></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ociii-corner.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A1D8C"/>
          </a:solidFill>
          <a:ln/>
        </p:spPr>
        <p:txBody>
          <a:bodyPr/>
          <a:p/>
        </p:txBody>
      </p:sp>
      <p:sp>
        <p:nvSpPr>
          <p:cNvPr id="3" name="Shape 1"/>
          <p:cNvSpPr/>
          <p:nvPr/>
        </p:nvSpPr>
        <p:spPr>
          <a:xfrm>
            <a:off x="164592" y="0"/>
            <a:ext cx="8979408" cy="18288"/>
          </a:xfrm>
          <a:prstGeom prst="rect">
            <a:avLst/>
          </a:prstGeom>
          <a:solidFill>
            <a:srgbClr val="7B3FE4">
              <a:alpha val="12000"/>
            </a:srgbClr>
          </a:solidFill>
          <a:ln/>
        </p:spPr>
        <p:txBody>
          <a:bodyPr/>
          <a:p/>
        </p:txBody>
      </p:sp>
      <p:sp>
        <p:nvSpPr>
          <p:cNvPr id="4" name="Shape 2"/>
          <p:cNvSpPr/>
          <p:nvPr/>
        </p:nvSpPr>
        <p:spPr>
          <a:xfrm>
            <a:off x="164592" y="658368"/>
            <a:ext cx="8979408" cy="18288"/>
          </a:xfrm>
          <a:prstGeom prst="rect">
            <a:avLst/>
          </a:prstGeom>
          <a:solidFill>
            <a:srgbClr val="7B3FE4">
              <a:alpha val="12000"/>
            </a:srgbClr>
          </a:solidFill>
          <a:ln/>
        </p:spPr>
        <p:txBody>
          <a:bodyPr/>
          <a:p/>
        </p:txBody>
      </p:sp>
      <p:sp>
        <p:nvSpPr>
          <p:cNvPr id="5" name="Shape 3"/>
          <p:cNvSpPr/>
          <p:nvPr/>
        </p:nvSpPr>
        <p:spPr>
          <a:xfrm>
            <a:off x="164592" y="1316736"/>
            <a:ext cx="8979408" cy="18288"/>
          </a:xfrm>
          <a:prstGeom prst="rect">
            <a:avLst/>
          </a:prstGeom>
          <a:solidFill>
            <a:srgbClr val="7B3FE4">
              <a:alpha val="12000"/>
            </a:srgbClr>
          </a:solidFill>
          <a:ln/>
        </p:spPr>
        <p:txBody>
          <a:bodyPr/>
          <a:p/>
        </p:txBody>
      </p:sp>
      <p:sp>
        <p:nvSpPr>
          <p:cNvPr id="6" name="Shape 4"/>
          <p:cNvSpPr/>
          <p:nvPr/>
        </p:nvSpPr>
        <p:spPr>
          <a:xfrm>
            <a:off x="164592" y="1975104"/>
            <a:ext cx="8979408" cy="18288"/>
          </a:xfrm>
          <a:prstGeom prst="rect">
            <a:avLst/>
          </a:prstGeom>
          <a:solidFill>
            <a:srgbClr val="7B3FE4">
              <a:alpha val="12000"/>
            </a:srgbClr>
          </a:solidFill>
          <a:ln/>
        </p:spPr>
        <p:txBody>
          <a:bodyPr/>
          <a:p/>
        </p:txBody>
      </p:sp>
      <p:sp>
        <p:nvSpPr>
          <p:cNvPr id="7" name="Shape 5"/>
          <p:cNvSpPr/>
          <p:nvPr/>
        </p:nvSpPr>
        <p:spPr>
          <a:xfrm>
            <a:off x="164592" y="2633472"/>
            <a:ext cx="8979408" cy="18288"/>
          </a:xfrm>
          <a:prstGeom prst="rect">
            <a:avLst/>
          </a:prstGeom>
          <a:solidFill>
            <a:srgbClr val="7B3FE4">
              <a:alpha val="12000"/>
            </a:srgbClr>
          </a:solidFill>
          <a:ln/>
        </p:spPr>
        <p:txBody>
          <a:bodyPr/>
          <a:p/>
        </p:txBody>
      </p:sp>
      <p:sp>
        <p:nvSpPr>
          <p:cNvPr id="8" name="Shape 6"/>
          <p:cNvSpPr/>
          <p:nvPr/>
        </p:nvSpPr>
        <p:spPr>
          <a:xfrm>
            <a:off x="164592" y="3291840"/>
            <a:ext cx="8979408" cy="18288"/>
          </a:xfrm>
          <a:prstGeom prst="rect">
            <a:avLst/>
          </a:prstGeom>
          <a:solidFill>
            <a:srgbClr val="7B3FE4">
              <a:alpha val="12000"/>
            </a:srgbClr>
          </a:solidFill>
          <a:ln/>
        </p:spPr>
        <p:txBody>
          <a:bodyPr/>
          <a:p/>
        </p:txBody>
      </p:sp>
      <p:sp>
        <p:nvSpPr>
          <p:cNvPr id="9" name="Shape 7"/>
          <p:cNvSpPr/>
          <p:nvPr/>
        </p:nvSpPr>
        <p:spPr>
          <a:xfrm>
            <a:off x="164592" y="3950208"/>
            <a:ext cx="8979408" cy="18288"/>
          </a:xfrm>
          <a:prstGeom prst="rect">
            <a:avLst/>
          </a:prstGeom>
          <a:solidFill>
            <a:srgbClr val="7B3FE4">
              <a:alpha val="12000"/>
            </a:srgbClr>
          </a:solidFill>
          <a:ln/>
        </p:spPr>
        <p:txBody>
          <a:bodyPr/>
          <a:p/>
        </p:txBody>
      </p:sp>
      <p:sp>
        <p:nvSpPr>
          <p:cNvPr id="10" name="Shape 8"/>
          <p:cNvSpPr/>
          <p:nvPr/>
        </p:nvSpPr>
        <p:spPr>
          <a:xfrm>
            <a:off x="164592" y="4608576"/>
            <a:ext cx="8979408" cy="18288"/>
          </a:xfrm>
          <a:prstGeom prst="rect">
            <a:avLst/>
          </a:prstGeom>
          <a:solidFill>
            <a:srgbClr val="7B3FE4">
              <a:alpha val="12000"/>
            </a:srgbClr>
          </a:solidFill>
          <a:ln/>
        </p:spPr>
        <p:txBody>
          <a:bodyPr/>
          <a:p/>
        </p:txBody>
      </p:sp>
      <p:sp>
        <p:nvSpPr>
          <p:cNvPr id="12" name="Text 10"/>
          <p:cNvSpPr/>
          <p:nvPr/>
        </p:nvSpPr>
        <p:spPr>
          <a:xfrm>
            <a:off x="411480" y="822960"/>
            <a:ext cx="6858000" cy="1920240"/>
          </a:xfrm>
          <a:prstGeom prst="rect">
            <a:avLst/>
          </a:prstGeom>
          <a:noFill/>
          <a:ln/>
        </p:spPr>
        <p:txBody>
          <a:bodyPr wrap="square" rtlCol="0" anchor="ctr"/>
          <a:lstStyle/>
          <a:p>
            <a:pPr indent="0" marL="0">
              <a:lnSpc>
                <a:spcPct val="108000"/>
              </a:lnSpc>
              <a:buNone/>
            </a:pPr>
            <a:r>
              <a:rPr lang="en-US" sz="5400" b="1" dirty="0">
                <a:solidFill>
                  <a:srgbClr val="FFFFFF"/>
                </a:solidFill>
                <a:latin typeface="Calibri" pitchFamily="34" charset="0"/>
                <a:ea typeface="Calibri" pitchFamily="34" charset="-122"/>
                <a:cs typeface="Calibri" pitchFamily="34" charset="-120"/>
              </a:rPr>
              <a:t>An Invitation</a:t>
            </a:r>
            <a:endParaRPr lang="en-US" sz="5400" dirty="0"/>
          </a:p>
          <a:p>
            <a:pPr indent="0" marL="0">
              <a:lnSpc>
                <a:spcPct val="108000"/>
              </a:lnSpc>
              <a:buNone/>
            </a:pPr>
            <a:r>
              <a:rPr lang="en-US" sz="5400" b="1" dirty="0">
                <a:solidFill>
                  <a:srgbClr val="FFFFFF"/>
                </a:solidFill>
                <a:latin typeface="Calibri" pitchFamily="34" charset="0"/>
                <a:ea typeface="Calibri" pitchFamily="34" charset="-122"/>
                <a:cs typeface="Calibri" pitchFamily="34" charset="-120"/>
              </a:rPr>
              <a:t>to Invest.</a:t>
            </a:r>
            <a:endParaRPr lang="en-US" sz="5400" dirty="0"/>
          </a:p>
        </p:txBody>
      </p:sp>
      <p:sp>
        <p:nvSpPr>
          <p:cNvPr id="13" name="Text 11"/>
          <p:cNvSpPr/>
          <p:nvPr/>
        </p:nvSpPr>
        <p:spPr>
          <a:xfrm>
            <a:off x="411480" y="2743200"/>
            <a:ext cx="5486400" cy="384048"/>
          </a:xfrm>
          <a:prstGeom prst="rect">
            <a:avLst/>
          </a:prstGeom>
          <a:noFill/>
          <a:ln/>
        </p:spPr>
        <p:txBody>
          <a:bodyPr wrap="square" rtlCol="0" anchor="ctr"/>
          <a:lstStyle/>
          <a:p>
            <a:pPr indent="0" marL="0">
              <a:buNone/>
            </a:pPr>
            <a:r>
              <a:rPr lang="en-US" sz="1600" i="1" dirty="0">
                <a:solidFill>
                  <a:srgbClr val="10B981"/>
                </a:solidFill>
                <a:latin typeface="Calibri" pitchFamily="34" charset="0"/>
                <a:ea typeface="Calibri" pitchFamily="34" charset="-122"/>
                <a:cs typeface="Calibri" pitchFamily="34" charset="-120"/>
              </a:rPr>
              <a:t>SOCIII Inc.  ·  Investor Onboarding Deck  ·  For [Investor Name]</a:t>
            </a:r>
            <a:endParaRPr lang="en-US" sz="1600" dirty="0"/>
          </a:p>
        </p:txBody>
      </p:sp>
      <p:sp>
        <p:nvSpPr>
          <p:cNvPr id="14" name="Text 12"/>
          <p:cNvSpPr/>
          <p:nvPr/>
        </p:nvSpPr>
        <p:spPr>
          <a:xfrm>
            <a:off x="411480" y="3182112"/>
            <a:ext cx="6858000" cy="320040"/>
          </a:xfrm>
          <a:prstGeom prst="rect">
            <a:avLst/>
          </a:prstGeom>
          <a:noFill/>
          <a:ln/>
        </p:spPr>
        <p:txBody>
          <a:bodyPr wrap="square" rtlCol="0" anchor="ctr"/>
          <a:lstStyle/>
          <a:p>
            <a:pPr indent="0" marL="0">
              <a:buNone/>
            </a:pPr>
            <a:r>
              <a:rPr lang="en-US" sz="1200" dirty="0">
                <a:solidFill>
                  <a:srgbClr val="8892A4"/>
                </a:solidFill>
                <a:latin typeface="Calibri" pitchFamily="34" charset="0"/>
                <a:ea typeface="Calibri" pitchFamily="34" charset="-122"/>
                <a:cs typeface="Calibri" pitchFamily="34" charset="-120"/>
              </a:rPr>
              <a:t>What we’ve built. The numbers. Why we’d like you in this round.</a:t>
            </a:r>
            <a:endParaRPr lang="en-US" sz="1200" dirty="0"/>
          </a:p>
        </p:txBody>
      </p:sp>
      <p:sp>
        <p:nvSpPr>
          <p:cNvPr id="15" name="Shape 13"/>
          <p:cNvSpPr/>
          <p:nvPr/>
        </p:nvSpPr>
        <p:spPr>
          <a:xfrm>
            <a:off x="411480" y="3913632"/>
            <a:ext cx="1993392" cy="896112"/>
          </a:xfrm>
          <a:prstGeom prst="rect">
            <a:avLst/>
          </a:prstGeom>
          <a:solidFill>
            <a:srgbClr val="4A1D8C">
              <a:alpha val="25000"/>
            </a:srgbClr>
          </a:solidFill>
          <a:ln w="12700">
            <a:solidFill>
              <a:srgbClr val="7B3FE4">
                <a:alpha val="40000"/>
              </a:srgbClr>
            </a:solidFill>
            <a:prstDash val="solid"/>
          </a:ln>
        </p:spPr>
        <p:txBody>
          <a:bodyPr/>
          <a:p/>
        </p:txBody>
      </p:sp>
      <p:sp>
        <p:nvSpPr>
          <p:cNvPr id="16" name="Text 14"/>
          <p:cNvSpPr/>
          <p:nvPr/>
        </p:nvSpPr>
        <p:spPr>
          <a:xfrm>
            <a:off x="411480" y="3895344"/>
            <a:ext cx="1993392" cy="502920"/>
          </a:xfrm>
          <a:prstGeom prst="rect">
            <a:avLst/>
          </a:prstGeom>
          <a:noFill/>
          <a:ln/>
        </p:spPr>
        <p:txBody>
          <a:bodyPr wrap="square" rtlCol="0" anchor="ctr"/>
          <a:lstStyle/>
          <a:p>
            <a:pPr algn="ctr" indent="0" marL="0">
              <a:buNone/>
            </a:pPr>
            <a:r>
              <a:rPr lang="en-US" sz="2600" b="1" dirty="0">
                <a:solidFill>
                  <a:srgbClr val="10B981"/>
                </a:solidFill>
                <a:latin typeface="Calibri" pitchFamily="34" charset="0"/>
                <a:ea typeface="Calibri" pitchFamily="34" charset="-122"/>
                <a:cs typeface="Calibri" pitchFamily="34" charset="-120"/>
              </a:rPr>
              <a:t>1,000+</a:t>
            </a:r>
            <a:endParaRPr lang="en-US" sz="2600" dirty="0"/>
          </a:p>
        </p:txBody>
      </p:sp>
      <p:sp>
        <p:nvSpPr>
          <p:cNvPr id="17" name="Text 15"/>
          <p:cNvSpPr/>
          <p:nvPr/>
        </p:nvSpPr>
        <p:spPr>
          <a:xfrm>
            <a:off x="411480" y="4370832"/>
            <a:ext cx="1993392" cy="292608"/>
          </a:xfrm>
          <a:prstGeom prst="rect">
            <a:avLst/>
          </a:prstGeom>
          <a:noFill/>
          <a:ln/>
        </p:spPr>
        <p:txBody>
          <a:bodyPr wrap="square" rtlCol="0" anchor="ctr"/>
          <a:lstStyle/>
          <a:p>
            <a:pPr algn="ctr" indent="0" marL="0">
              <a:buNone/>
            </a:pPr>
            <a:r>
              <a:rPr lang="en-US" sz="1000" dirty="0">
                <a:solidFill>
                  <a:srgbClr val="8892A4"/>
                </a:solidFill>
                <a:latin typeface="Calibri" pitchFamily="34" charset="0"/>
                <a:ea typeface="Calibri" pitchFamily="34" charset="-122"/>
                <a:cs typeface="Calibri" pitchFamily="34" charset="-120"/>
              </a:rPr>
              <a:t>Workers (state-augmented)</a:t>
            </a:r>
            <a:endParaRPr lang="en-US" sz="1000" dirty="0"/>
          </a:p>
        </p:txBody>
      </p:sp>
      <p:sp>
        <p:nvSpPr>
          <p:cNvPr id="18" name="Shape 16"/>
          <p:cNvSpPr/>
          <p:nvPr/>
        </p:nvSpPr>
        <p:spPr>
          <a:xfrm>
            <a:off x="2587752" y="3913632"/>
            <a:ext cx="1993392" cy="896112"/>
          </a:xfrm>
          <a:prstGeom prst="rect">
            <a:avLst/>
          </a:prstGeom>
          <a:solidFill>
            <a:srgbClr val="4A1D8C">
              <a:alpha val="25000"/>
            </a:srgbClr>
          </a:solidFill>
          <a:ln w="12700">
            <a:solidFill>
              <a:srgbClr val="7B3FE4">
                <a:alpha val="40000"/>
              </a:srgbClr>
            </a:solidFill>
            <a:prstDash val="solid"/>
          </a:ln>
        </p:spPr>
        <p:txBody>
          <a:bodyPr/>
          <a:p/>
        </p:txBody>
      </p:sp>
      <p:sp>
        <p:nvSpPr>
          <p:cNvPr id="19" name="Text 17"/>
          <p:cNvSpPr/>
          <p:nvPr/>
        </p:nvSpPr>
        <p:spPr>
          <a:xfrm>
            <a:off x="2587752" y="3895344"/>
            <a:ext cx="1993392" cy="502920"/>
          </a:xfrm>
          <a:prstGeom prst="rect">
            <a:avLst/>
          </a:prstGeom>
          <a:noFill/>
          <a:ln/>
        </p:spPr>
        <p:txBody>
          <a:bodyPr wrap="square" rtlCol="0" anchor="ctr"/>
          <a:lstStyle/>
          <a:p>
            <a:pPr algn="ctr" indent="0" marL="0">
              <a:buNone/>
            </a:pPr>
            <a:r>
              <a:rPr lang="en-US" sz="2600" b="1" dirty="0">
                <a:solidFill>
                  <a:srgbClr val="10B981"/>
                </a:solidFill>
                <a:latin typeface="Calibri" pitchFamily="34" charset="0"/>
                <a:ea typeface="Calibri" pitchFamily="34" charset="-122"/>
                <a:cs typeface="Calibri" pitchFamily="34" charset="-120"/>
              </a:rPr>
              <a:t>8</a:t>
            </a:r>
            <a:endParaRPr lang="en-US" sz="2600" dirty="0"/>
          </a:p>
        </p:txBody>
      </p:sp>
      <p:sp>
        <p:nvSpPr>
          <p:cNvPr id="20" name="Text 18"/>
          <p:cNvSpPr/>
          <p:nvPr/>
        </p:nvSpPr>
        <p:spPr>
          <a:xfrm>
            <a:off x="2587752" y="4370832"/>
            <a:ext cx="1993392" cy="292608"/>
          </a:xfrm>
          <a:prstGeom prst="rect">
            <a:avLst/>
          </a:prstGeom>
          <a:noFill/>
          <a:ln/>
        </p:spPr>
        <p:txBody>
          <a:bodyPr wrap="square" rtlCol="0" anchor="ctr"/>
          <a:lstStyle/>
          <a:p>
            <a:pPr algn="ctr" indent="0" marL="0">
              <a:buNone/>
            </a:pPr>
            <a:r>
              <a:rPr lang="en-US" sz="1000" dirty="0">
                <a:solidFill>
                  <a:srgbClr val="8892A4"/>
                </a:solidFill>
                <a:latin typeface="Calibri" pitchFamily="34" charset="0"/>
                <a:ea typeface="Calibri" pitchFamily="34" charset="-122"/>
                <a:cs typeface="Calibri" pitchFamily="34" charset="-120"/>
              </a:rPr>
              <a:t>Live Industries</a:t>
            </a:r>
            <a:endParaRPr lang="en-US" sz="1000" dirty="0"/>
          </a:p>
        </p:txBody>
      </p:sp>
      <p:sp>
        <p:nvSpPr>
          <p:cNvPr id="21" name="Shape 19"/>
          <p:cNvSpPr/>
          <p:nvPr/>
        </p:nvSpPr>
        <p:spPr>
          <a:xfrm>
            <a:off x="4764024" y="3913632"/>
            <a:ext cx="1993392" cy="896112"/>
          </a:xfrm>
          <a:prstGeom prst="rect">
            <a:avLst/>
          </a:prstGeom>
          <a:solidFill>
            <a:srgbClr val="4A1D8C">
              <a:alpha val="25000"/>
            </a:srgbClr>
          </a:solidFill>
          <a:ln w="12700">
            <a:solidFill>
              <a:srgbClr val="7B3FE4">
                <a:alpha val="40000"/>
              </a:srgbClr>
            </a:solidFill>
            <a:prstDash val="solid"/>
          </a:ln>
        </p:spPr>
        <p:txBody>
          <a:bodyPr/>
          <a:p/>
        </p:txBody>
      </p:sp>
      <p:sp>
        <p:nvSpPr>
          <p:cNvPr id="22" name="Text 20"/>
          <p:cNvSpPr/>
          <p:nvPr/>
        </p:nvSpPr>
        <p:spPr>
          <a:xfrm>
            <a:off x="4764024" y="3895344"/>
            <a:ext cx="1993392" cy="502920"/>
          </a:xfrm>
          <a:prstGeom prst="rect">
            <a:avLst/>
          </a:prstGeom>
          <a:noFill/>
          <a:ln/>
        </p:spPr>
        <p:txBody>
          <a:bodyPr wrap="square" rtlCol="0" anchor="ctr"/>
          <a:lstStyle/>
          <a:p>
            <a:pPr algn="ctr" indent="0" marL="0">
              <a:buNone/>
            </a:pPr>
            <a:r>
              <a:rPr lang="en-US" sz="2600" b="1" dirty="0">
                <a:solidFill>
                  <a:srgbClr val="10B981"/>
                </a:solidFill>
                <a:latin typeface="Calibri" pitchFamily="34" charset="0"/>
                <a:ea typeface="Calibri" pitchFamily="34" charset="-122"/>
                <a:cs typeface="Calibri" pitchFamily="34" charset="-120"/>
              </a:rPr>
              <a:t>$99</a:t>
            </a:r>
            <a:endParaRPr lang="en-US" sz="2600" dirty="0"/>
          </a:p>
        </p:txBody>
      </p:sp>
      <p:sp>
        <p:nvSpPr>
          <p:cNvPr id="23" name="Text 21"/>
          <p:cNvSpPr/>
          <p:nvPr/>
        </p:nvSpPr>
        <p:spPr>
          <a:xfrm>
            <a:off x="4764024" y="4370832"/>
            <a:ext cx="1993392" cy="292608"/>
          </a:xfrm>
          <a:prstGeom prst="rect">
            <a:avLst/>
          </a:prstGeom>
          <a:noFill/>
          <a:ln/>
        </p:spPr>
        <p:txBody>
          <a:bodyPr wrap="square" rtlCol="0" anchor="ctr"/>
          <a:lstStyle/>
          <a:p>
            <a:pPr algn="ctr" indent="0" marL="0">
              <a:buNone/>
            </a:pPr>
            <a:r>
              <a:rPr lang="en-US" sz="1000" dirty="0">
                <a:solidFill>
                  <a:srgbClr val="8892A4"/>
                </a:solidFill>
                <a:latin typeface="Calibri" pitchFamily="34" charset="0"/>
                <a:ea typeface="Calibri" pitchFamily="34" charset="-122"/>
                <a:cs typeface="Calibri" pitchFamily="34" charset="-120"/>
              </a:rPr>
              <a:t>Business in a Box</a:t>
            </a:r>
            <a:endParaRPr lang="en-US" sz="1000" dirty="0"/>
          </a:p>
        </p:txBody>
      </p:sp>
      <p:sp>
        <p:nvSpPr>
          <p:cNvPr id="24" name="Shape 22"/>
          <p:cNvSpPr/>
          <p:nvPr/>
        </p:nvSpPr>
        <p:spPr>
          <a:xfrm>
            <a:off x="6940296" y="3913632"/>
            <a:ext cx="1993392" cy="896112"/>
          </a:xfrm>
          <a:prstGeom prst="rect">
            <a:avLst/>
          </a:prstGeom>
          <a:solidFill>
            <a:srgbClr val="4A1D8C">
              <a:alpha val="25000"/>
            </a:srgbClr>
          </a:solidFill>
          <a:ln w="12700">
            <a:solidFill>
              <a:srgbClr val="7B3FE4">
                <a:alpha val="40000"/>
              </a:srgbClr>
            </a:solidFill>
            <a:prstDash val="solid"/>
          </a:ln>
        </p:spPr>
        <p:txBody>
          <a:bodyPr/>
          <a:p/>
        </p:txBody>
      </p:sp>
      <p:sp>
        <p:nvSpPr>
          <p:cNvPr id="25" name="Text 23"/>
          <p:cNvSpPr/>
          <p:nvPr/>
        </p:nvSpPr>
        <p:spPr>
          <a:xfrm>
            <a:off x="6940296" y="3895344"/>
            <a:ext cx="1993392" cy="502920"/>
          </a:xfrm>
          <a:prstGeom prst="rect">
            <a:avLst/>
          </a:prstGeom>
          <a:noFill/>
          <a:ln/>
        </p:spPr>
        <p:txBody>
          <a:bodyPr wrap="square" rtlCol="0" anchor="ctr"/>
          <a:lstStyle/>
          <a:p>
            <a:pPr algn="ctr" indent="0" marL="0">
              <a:buNone/>
            </a:pPr>
            <a:r>
              <a:rPr lang="en-US" sz="2600" b="1" dirty="0">
                <a:solidFill>
                  <a:srgbClr val="10B981"/>
                </a:solidFill>
                <a:latin typeface="Calibri" pitchFamily="34" charset="0"/>
                <a:ea typeface="Calibri" pitchFamily="34" charset="-122"/>
                <a:cs typeface="Calibri" pitchFamily="34" charset="-120"/>
              </a:rPr>
              <a:t>$0</a:t>
            </a:r>
            <a:endParaRPr lang="en-US" sz="2600" dirty="0"/>
          </a:p>
        </p:txBody>
      </p:sp>
      <p:sp>
        <p:nvSpPr>
          <p:cNvPr id="26" name="Text 24"/>
          <p:cNvSpPr/>
          <p:nvPr/>
        </p:nvSpPr>
        <p:spPr>
          <a:xfrm>
            <a:off x="6940296" y="4370832"/>
            <a:ext cx="1993392" cy="292608"/>
          </a:xfrm>
          <a:prstGeom prst="rect">
            <a:avLst/>
          </a:prstGeom>
          <a:noFill/>
          <a:ln/>
        </p:spPr>
        <p:txBody>
          <a:bodyPr wrap="square" rtlCol="0" anchor="ctr"/>
          <a:lstStyle/>
          <a:p>
            <a:pPr algn="ctr" indent="0" marL="0">
              <a:buNone/>
            </a:pPr>
            <a:r>
              <a:rPr lang="en-US" sz="1000" dirty="0">
                <a:solidFill>
                  <a:srgbClr val="8892A4"/>
                </a:solidFill>
                <a:latin typeface="Calibri" pitchFamily="34" charset="0"/>
                <a:ea typeface="Calibri" pitchFamily="34" charset="-122"/>
                <a:cs typeface="Calibri" pitchFamily="34" charset="-120"/>
              </a:rPr>
              <a:t>Outside Capital</a:t>
            </a:r>
            <a:endParaRPr lang="en-US" sz="1000" dirty="0"/>
          </a:p>
        </p:txBody>
      </p:sp>
      <p:sp>
        <p:nvSpPr>
          <p:cNvPr id="900" name="DraftNotice"/>
          <p:cNvSpPr/>
          <p:nvPr/>
        </p:nvSpPr>
        <p:spPr>
          <a:xfrm>
            <a:off x="3314700" y="50000"/>
            <a:ext cx="2514600" cy="304800"/>
          </a:xfrm>
          <a:prstGeom prst="rect">
            <a:avLst/>
          </a:prstGeom>
          <a:solidFill>
            <a:srgbClr val="DC2626"/>
          </a:solidFill>
          <a:ln/>
        </p:spPr>
        <p:txBody>
          <a:bodyPr wrap="square" rtlCol="0" anchor="ctr"/>
          <a:lstStyle/>
          <a:p>
            <a:pPr algn="ctr" indent="0" marL="0">
              <a:buNone/>
            </a:pPr>
            <a:r>
              <a:rPr lang="en-US" sz="1100" b="1" spc="100" kern="0" dirty="0">
                <a:solidFill>
                  <a:srgbClr val="FFFFFF"/>
                </a:solidFill>
                <a:latin typeface="Calibri" pitchFamily="34" charset="0"/>
              </a:rPr>
              <a:t>DRAFT — FOR INTERNAL REVIEW</a:t>
            </a:r>
          </a:p>
        </p:txBody>
      </p:sp>
      <p:pic>
        <p:nvPicPr>
          <p:cNvPr id="901" name="CoverLogo"/>
          <p:cNvPicPr>
            <a:picLocks noChangeAspect="1"/>
          </p:cNvPicPr>
          <p:nvPr/>
        </p:nvPicPr>
        <p:blipFill>
          <a:blip r:embed="rId3"/>
          <a:stretch>
            <a:fillRect/>
          </a:stretch>
        </p:blipFill>
        <p:spPr>
          <a:xfrm>
            <a:off x="7632520" y="380000"/>
            <a:ext cx="1100000" cy="568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sociii.ai  ·  CONFIDENTIAL  ·  SOCIII Inc. (Delaware C-Corp)  ·  May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4A1D8C"/>
          </a:solidFill>
          <a:ln/>
        </p:spPr>
      </p:sp>
      <p:sp>
        <p:nvSpPr>
          <p:cNvPr id="3" name="Text 1"/>
          <p:cNvSpPr/>
          <p:nvPr/>
        </p:nvSpPr>
        <p:spPr>
          <a:xfrm>
            <a:off x="320040" y="292608"/>
            <a:ext cx="2743200" cy="256032"/>
          </a:xfrm>
          <a:prstGeom prst="rect">
            <a:avLst/>
          </a:prstGeom>
          <a:noFill/>
          <a:ln/>
        </p:spPr>
        <p:txBody>
          <a:bodyPr wrap="square" rtlCol="0" anchor="ctr"/>
          <a:lstStyle/>
          <a:p>
            <a:pPr indent="0" marL="0">
              <a:buNone/>
            </a:pPr>
            <a:r>
              <a:rPr lang="en-US" sz="1100" b="1" spc="300" kern="0" dirty="0">
                <a:solidFill>
                  <a:srgbClr val="4A1D8C"/>
                </a:solidFill>
                <a:latin typeface="Calibri" pitchFamily="34" charset="0"/>
                <a:ea typeface="Calibri" pitchFamily="34" charset="-122"/>
                <a:cs typeface="Calibri" pitchFamily="34" charset="-120"/>
              </a:rPr>
              <a:t>THE FOUNDER’S JOURNEY</a:t>
            </a:r>
            <a:endParaRPr lang="en-US" sz="1100" dirty="0"/>
          </a:p>
        </p:txBody>
      </p:sp>
      <p:sp>
        <p:nvSpPr>
          <p:cNvPr id="4" name="Text 2"/>
          <p:cNvSpPr/>
          <p:nvPr/>
        </p:nvSpPr>
        <p:spPr>
          <a:xfrm>
            <a:off x="320040" y="530352"/>
            <a:ext cx="5303520" cy="1188720"/>
          </a:xfrm>
          <a:prstGeom prst="rect">
            <a:avLst/>
          </a:prstGeom>
          <a:noFill/>
          <a:ln/>
        </p:spPr>
        <p:txBody>
          <a:bodyPr wrap="square" rtlCol="0" anchor="ctr"/>
          <a:lstStyle/>
          <a:p>
            <a:pPr indent="0" marL="0">
              <a:lnSpc>
                <a:spcPct val="110000"/>
              </a:lnSpc>
              <a:buNone/>
            </a:pPr>
            <a:r>
              <a:rPr lang="en-US" sz="3600" b="1" dirty="0">
                <a:solidFill>
                  <a:srgbClr val="1A0A2E"/>
                </a:solidFill>
                <a:latin typeface="Calibri" pitchFamily="34" charset="0"/>
                <a:ea typeface="Calibri" pitchFamily="34" charset="-122"/>
                <a:cs typeface="Calibri" pitchFamily="34" charset="-120"/>
              </a:rPr>
              <a:t>Three Chapters.</a:t>
            </a:r>
            <a:endParaRPr lang="en-US" sz="3600" dirty="0"/>
          </a:p>
          <a:p>
            <a:pPr indent="0" marL="0">
              <a:lnSpc>
                <a:spcPct val="110000"/>
              </a:lnSpc>
              <a:buNone/>
            </a:pPr>
            <a:r>
              <a:rPr lang="en-US" sz="3600" b="1" dirty="0">
                <a:solidFill>
                  <a:srgbClr val="1A0A2E"/>
                </a:solidFill>
                <a:latin typeface="Calibri" pitchFamily="34" charset="0"/>
                <a:ea typeface="Calibri" pitchFamily="34" charset="-122"/>
                <a:cs typeface="Calibri" pitchFamily="34" charset="-120"/>
              </a:rPr>
              <a:t>Why This Time Will Work.</a:t>
            </a:r>
            <a:endParaRPr lang="en-US" sz="3600" dirty="0"/>
          </a:p>
        </p:txBody>
      </p:sp>
      <p:sp>
        <p:nvSpPr>
          <p:cNvPr id="5" name="Text 3"/>
          <p:cNvSpPr/>
          <p:nvPr/>
        </p:nvSpPr>
        <p:spPr>
          <a:xfrm>
            <a:off x="320040" y="1828800"/>
            <a:ext cx="5257800" cy="3017520"/>
          </a:xfrm>
          <a:prstGeom prst="rect">
            <a:avLst/>
          </a:prstGeom>
          <a:noFill/>
          <a:ln/>
        </p:spPr>
        <p:txBody>
          <a:bodyPr wrap="square" rtlCol="0" anchor="ctr"/>
          <a:lstStyle/>
          <a:p>
            <a:pPr indent="0" marL="0">
              <a:spcAft>
                <a:spcPts val="400"/>
              </a:spcAft>
              <a:buNone/>
            </a:pPr>
            <a:r>
              <a:rPr lang="en-US" sz="1300" dirty="0">
                <a:solidFill>
                  <a:srgbClr val="2A2D3E"/>
                </a:solidFill>
                <a:latin typeface="Calibri" pitchFamily="34" charset="0"/>
                <a:ea typeface="Calibri" pitchFamily="34" charset="-122"/>
                <a:cs typeface="Calibri" pitchFamily="34" charset="-120"/>
              </a:rPr>
              <a:t>SOCIII is the third chapter. HOM DAO (2022-2024) built real-estate dApps in a token-distributed structure — and burned $35K every week doing it.</a:t>
            </a:r>
            <a:endParaRPr lang="en-US" sz="1300" dirty="0"/>
          </a:p>
          <a:p>
            <a:pPr indent="0" marL="0">
              <a:spcAft>
                <a:spcPts val="400"/>
              </a:spcAft>
              <a:buNone/>
            </a:pPr>
            <a:r>
              <a:rPr lang="en-US" sz="700" dirty="0">
                <a:solidFill>
                  <a:srgbClr val="000000"/>
                </a:solidFill>
                <a:latin typeface="Calibri" pitchFamily="34" charset="0"/>
                <a:ea typeface="Calibri" pitchFamily="34" charset="-122"/>
                <a:cs typeface="Calibri" pitchFamily="34" charset="-120"/>
              </a:rPr>
              <a:t xml:space="preserve"> </a:t>
            </a:r>
            <a:endParaRPr lang="en-US" sz="1300" dirty="0"/>
          </a:p>
          <a:p>
            <a:pPr indent="0" marL="0">
              <a:spcAft>
                <a:spcPts val="400"/>
              </a:spcAft>
              <a:buNone/>
            </a:pPr>
            <a:r>
              <a:rPr lang="en-US" sz="1300" dirty="0">
                <a:solidFill>
                  <a:srgbClr val="2A2D3E"/>
                </a:solidFill>
                <a:latin typeface="Calibri" pitchFamily="34" charset="0"/>
                <a:ea typeface="Calibri" pitchFamily="34" charset="-122"/>
                <a:cs typeface="Calibri" pitchFamily="34" charset="-120"/>
              </a:rPr>
              <a:t>TitleApp LLC (2024-2026) productized the title-search insight, but the LLC structure was wrong for institutional capital. The worker platform that emerged from building it became the real product.</a:t>
            </a:r>
            <a:endParaRPr lang="en-US" sz="1300" dirty="0"/>
          </a:p>
          <a:p>
            <a:pPr indent="0" marL="0">
              <a:spcAft>
                <a:spcPts val="400"/>
              </a:spcAft>
              <a:buNone/>
            </a:pPr>
            <a:r>
              <a:rPr lang="en-US" sz="700" dirty="0">
                <a:solidFill>
                  <a:srgbClr val="000000"/>
                </a:solidFill>
                <a:latin typeface="Calibri" pitchFamily="34" charset="0"/>
                <a:ea typeface="Calibri" pitchFamily="34" charset="-122"/>
                <a:cs typeface="Calibri" pitchFamily="34" charset="-120"/>
              </a:rPr>
              <a:t xml:space="preserve"> </a:t>
            </a:r>
            <a:endParaRPr lang="en-US" sz="1300" dirty="0"/>
          </a:p>
          <a:p>
            <a:pPr indent="0" marL="0">
              <a:spcAft>
                <a:spcPts val="400"/>
              </a:spcAft>
              <a:buNone/>
            </a:pPr>
            <a:r>
              <a:rPr lang="en-US" sz="1300" b="1" dirty="0">
                <a:solidFill>
                  <a:srgbClr val="4A1D8C"/>
                </a:solidFill>
                <a:latin typeface="Calibri" pitchFamily="34" charset="0"/>
                <a:ea typeface="Calibri" pitchFamily="34" charset="-122"/>
                <a:cs typeface="Calibri" pitchFamily="34" charset="-120"/>
              </a:rPr>
              <a:t>SOCIII Inc. (May 2026) shipped 1,000+ workers (state-augmented) across 8 industries on $35K of operational burn in 5 months — the same dollar figure HOM DAO spent every single week, now stretched across the entire build.</a:t>
            </a:r>
            <a:endParaRPr lang="en-US" sz="1300" dirty="0"/>
          </a:p>
          <a:p>
            <a:pPr indent="0" marL="0">
              <a:spcAft>
                <a:spcPts val="400"/>
              </a:spcAft>
              <a:buNone/>
            </a:pPr>
            <a:r>
              <a:rPr lang="en-US" sz="700" dirty="0">
                <a:solidFill>
                  <a:srgbClr val="000000"/>
                </a:solidFill>
                <a:latin typeface="Calibri" pitchFamily="34" charset="0"/>
                <a:ea typeface="Calibri" pitchFamily="34" charset="-122"/>
                <a:cs typeface="Calibri" pitchFamily="34" charset="-120"/>
              </a:rPr>
              <a:t xml:space="preserve"> </a:t>
            </a:r>
            <a:endParaRPr lang="en-US" sz="1300" dirty="0"/>
          </a:p>
          <a:p>
            <a:pPr indent="0" marL="0">
              <a:spcAft>
                <a:spcPts val="400"/>
              </a:spcAft>
              <a:buNone/>
            </a:pPr>
            <a:r>
              <a:rPr lang="en-US" sz="1300" i="1" dirty="0">
                <a:solidFill>
                  <a:srgbClr val="0D7A5F"/>
                </a:solidFill>
                <a:latin typeface="Calibri" pitchFamily="34" charset="0"/>
                <a:ea typeface="Calibri" pitchFamily="34" charset="-122"/>
                <a:cs typeface="Calibri" pitchFamily="34" charset="-120"/>
              </a:rPr>
              <a:t>The structural lessons from both prior chapters are baked into this one. Delaware C-corp. Sole-manager governance. Day 0 IP assignment. Ready for the institutional capital the prior structures couldn’t take.</a:t>
            </a:r>
            <a:endParaRPr lang="en-US" sz="1300" dirty="0"/>
          </a:p>
        </p:txBody>
      </p:sp>
      <p:sp>
        <p:nvSpPr>
          <p:cNvPr id="6" name="Shape 4"/>
          <p:cNvSpPr/>
          <p:nvPr/>
        </p:nvSpPr>
        <p:spPr>
          <a:xfrm>
            <a:off x="5897880" y="384048"/>
            <a:ext cx="2944368" cy="4498848"/>
          </a:xfrm>
          <a:prstGeom prst="rect">
            <a:avLst/>
          </a:prstGeom>
          <a:solidFill>
            <a:srgbClr val="1A0A2E"/>
          </a:solidFill>
          <a:ln/>
          <a:effectLst>
            <a:outerShdw sx="100000" sy="100000" kx="0" ky="0" algn="bl" rotWithShape="0" blurRad="152400" dist="50800" dir="8100000">
              <a:srgbClr val="000000">
                <a:alpha val="22000"/>
              </a:srgbClr>
            </a:outerShdw>
          </a:effectLst>
        </p:spPr>
      </p:sp>
      <p:sp>
        <p:nvSpPr>
          <p:cNvPr id="7" name="Text 5"/>
          <p:cNvSpPr/>
          <p:nvPr/>
        </p:nvSpPr>
        <p:spPr>
          <a:xfrm>
            <a:off x="6053328" y="749808"/>
            <a:ext cx="548640" cy="384048"/>
          </a:xfrm>
          <a:prstGeom prst="rect">
            <a:avLst/>
          </a:prstGeom>
          <a:noFill/>
          <a:ln/>
        </p:spPr>
        <p:txBody>
          <a:bodyPr wrap="square" rtlCol="0" anchor="t"/>
          <a:lstStyle/>
          <a:p>
            <a:pPr indent="0" marL="0">
              <a:buNone/>
            </a:pPr>
            <a:r>
              <a:rPr lang="en-US" sz="2000" b="1" dirty="0">
                <a:solidFill>
                  <a:srgbClr val="10B981"/>
                </a:solidFill>
                <a:latin typeface="Calibri" pitchFamily="34" charset="0"/>
                <a:ea typeface="Calibri" pitchFamily="34" charset="-122"/>
                <a:cs typeface="Calibri" pitchFamily="34" charset="-120"/>
              </a:rPr>
              <a:t>01</a:t>
            </a:r>
            <a:endParaRPr lang="en-US" sz="2000" dirty="0"/>
          </a:p>
        </p:txBody>
      </p:sp>
      <p:sp>
        <p:nvSpPr>
          <p:cNvPr id="8" name="Text 6"/>
          <p:cNvSpPr/>
          <p:nvPr/>
        </p:nvSpPr>
        <p:spPr>
          <a:xfrm>
            <a:off x="6565392" y="749808"/>
            <a:ext cx="2121408" cy="36576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HOM DAO (~2022-2024)</a:t>
            </a:r>
            <a:endParaRPr lang="en-US" sz="1300" dirty="0"/>
          </a:p>
        </p:txBody>
      </p:sp>
      <p:sp>
        <p:nvSpPr>
          <p:cNvPr id="9" name="Text 7"/>
          <p:cNvSpPr/>
          <p:nvPr/>
        </p:nvSpPr>
        <p:spPr>
          <a:xfrm>
            <a:off x="6565392" y="1133856"/>
            <a:ext cx="2121408" cy="685800"/>
          </a:xfrm>
          <a:prstGeom prst="rect">
            <a:avLst/>
          </a:prstGeom>
          <a:noFill/>
          <a:ln/>
        </p:spPr>
        <p:txBody>
          <a:bodyPr wrap="square" rtlCol="0" anchor="t"/>
          <a:lstStyle/>
          <a:p>
            <a:pPr indent="0" marL="0">
              <a:lnSpc>
                <a:spcPct val="130000"/>
              </a:lnSpc>
              <a:buNone/>
            </a:pPr>
            <a:r>
              <a:rPr lang="en-US" sz="1100" dirty="0">
                <a:solidFill>
                  <a:srgbClr val="AABBCC"/>
                </a:solidFill>
                <a:latin typeface="Calibri" pitchFamily="34" charset="0"/>
                <a:ea typeface="Calibri" pitchFamily="34" charset="-122"/>
                <a:cs typeface="Calibri" pitchFamily="34" charset="-120"/>
              </a:rPr>
              <a:t>Distributed ownership of real-regulated assets. Decentralized governance. 167 contributors put capital, time, and network in.</a:t>
            </a:r>
            <a:endParaRPr lang="en-US" sz="1100" dirty="0"/>
          </a:p>
        </p:txBody>
      </p:sp>
      <p:sp>
        <p:nvSpPr>
          <p:cNvPr id="10" name="Text 8"/>
          <p:cNvSpPr/>
          <p:nvPr/>
        </p:nvSpPr>
        <p:spPr>
          <a:xfrm>
            <a:off x="6053328" y="2103120"/>
            <a:ext cx="548640" cy="384048"/>
          </a:xfrm>
          <a:prstGeom prst="rect">
            <a:avLst/>
          </a:prstGeom>
          <a:noFill/>
          <a:ln/>
        </p:spPr>
        <p:txBody>
          <a:bodyPr wrap="square" rtlCol="0" anchor="t"/>
          <a:lstStyle/>
          <a:p>
            <a:pPr indent="0" marL="0">
              <a:buNone/>
            </a:pPr>
            <a:r>
              <a:rPr lang="en-US" sz="2000" b="1" dirty="0">
                <a:solidFill>
                  <a:srgbClr val="10B981"/>
                </a:solidFill>
                <a:latin typeface="Calibri" pitchFamily="34" charset="0"/>
                <a:ea typeface="Calibri" pitchFamily="34" charset="-122"/>
                <a:cs typeface="Calibri" pitchFamily="34" charset="-120"/>
              </a:rPr>
              <a:t>02</a:t>
            </a:r>
            <a:endParaRPr lang="en-US" sz="2000" dirty="0"/>
          </a:p>
        </p:txBody>
      </p:sp>
      <p:sp>
        <p:nvSpPr>
          <p:cNvPr id="11" name="Text 9"/>
          <p:cNvSpPr/>
          <p:nvPr/>
        </p:nvSpPr>
        <p:spPr>
          <a:xfrm>
            <a:off x="6565392" y="2103120"/>
            <a:ext cx="2121408" cy="36576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TitleApp LLC (~2024-2026)</a:t>
            </a:r>
            <a:endParaRPr lang="en-US" sz="1300" dirty="0"/>
          </a:p>
        </p:txBody>
      </p:sp>
      <p:sp>
        <p:nvSpPr>
          <p:cNvPr id="12" name="Text 10"/>
          <p:cNvSpPr/>
          <p:nvPr/>
        </p:nvSpPr>
        <p:spPr>
          <a:xfrm>
            <a:off x="6565392" y="2487168"/>
            <a:ext cx="2121408" cy="685800"/>
          </a:xfrm>
          <a:prstGeom prst="rect">
            <a:avLst/>
          </a:prstGeom>
          <a:noFill/>
          <a:ln/>
        </p:spPr>
        <p:txBody>
          <a:bodyPr wrap="square" rtlCol="0" anchor="t"/>
          <a:lstStyle/>
          <a:p>
            <a:pPr indent="0" marL="0">
              <a:lnSpc>
                <a:spcPct val="130000"/>
              </a:lnSpc>
              <a:buNone/>
            </a:pPr>
            <a:r>
              <a:rPr lang="en-US" sz="1100" dirty="0">
                <a:solidFill>
                  <a:srgbClr val="AABBCC"/>
                </a:solidFill>
                <a:latin typeface="Calibri" pitchFamily="34" charset="0"/>
                <a:ea typeface="Calibri" pitchFamily="34" charset="-122"/>
                <a:cs typeface="Calibri" pitchFamily="34" charset="-120"/>
              </a:rPr>
              <a:t>Productized title search inside a Delaware LLC. The worker platform that emerged became the real product.</a:t>
            </a:r>
            <a:endParaRPr lang="en-US" sz="1100" dirty="0"/>
          </a:p>
        </p:txBody>
      </p:sp>
      <p:sp>
        <p:nvSpPr>
          <p:cNvPr id="13" name="Text 11"/>
          <p:cNvSpPr/>
          <p:nvPr/>
        </p:nvSpPr>
        <p:spPr>
          <a:xfrm>
            <a:off x="6053328" y="3456432"/>
            <a:ext cx="548640" cy="384048"/>
          </a:xfrm>
          <a:prstGeom prst="rect">
            <a:avLst/>
          </a:prstGeom>
          <a:noFill/>
          <a:ln/>
        </p:spPr>
        <p:txBody>
          <a:bodyPr wrap="square" rtlCol="0" anchor="t"/>
          <a:lstStyle/>
          <a:p>
            <a:pPr indent="0" marL="0">
              <a:buNone/>
            </a:pPr>
            <a:r>
              <a:rPr lang="en-US" sz="2000" b="1" dirty="0">
                <a:solidFill>
                  <a:srgbClr val="10B981"/>
                </a:solidFill>
                <a:latin typeface="Calibri" pitchFamily="34" charset="0"/>
                <a:ea typeface="Calibri" pitchFamily="34" charset="-122"/>
                <a:cs typeface="Calibri" pitchFamily="34" charset="-120"/>
              </a:rPr>
              <a:t>03</a:t>
            </a:r>
            <a:endParaRPr lang="en-US" sz="2000" dirty="0"/>
          </a:p>
        </p:txBody>
      </p:sp>
      <p:sp>
        <p:nvSpPr>
          <p:cNvPr id="14" name="Text 12"/>
          <p:cNvSpPr/>
          <p:nvPr/>
        </p:nvSpPr>
        <p:spPr>
          <a:xfrm>
            <a:off x="6565392" y="3456432"/>
            <a:ext cx="2121408" cy="36576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SOCIII Inc. (2026 →)</a:t>
            </a:r>
            <a:endParaRPr lang="en-US" sz="1300" dirty="0"/>
          </a:p>
        </p:txBody>
      </p:sp>
      <p:sp>
        <p:nvSpPr>
          <p:cNvPr id="15" name="Text 13"/>
          <p:cNvSpPr/>
          <p:nvPr/>
        </p:nvSpPr>
        <p:spPr>
          <a:xfrm>
            <a:off x="6565392" y="3840480"/>
            <a:ext cx="2121408" cy="685800"/>
          </a:xfrm>
          <a:prstGeom prst="rect">
            <a:avLst/>
          </a:prstGeom>
          <a:noFill/>
          <a:ln/>
        </p:spPr>
        <p:txBody>
          <a:bodyPr wrap="square" rtlCol="0" anchor="t"/>
          <a:lstStyle/>
          <a:p>
            <a:pPr indent="0" marL="0">
              <a:lnSpc>
                <a:spcPct val="130000"/>
              </a:lnSpc>
              <a:buNone/>
            </a:pPr>
            <a:r>
              <a:rPr lang="en-US" sz="1100" dirty="0">
                <a:solidFill>
                  <a:srgbClr val="AABBCC"/>
                </a:solidFill>
                <a:latin typeface="Calibri" pitchFamily="34" charset="0"/>
                <a:ea typeface="Calibri" pitchFamily="34" charset="-122"/>
                <a:cs typeface="Calibri" pitchFamily="34" charset="-120"/>
              </a:rPr>
              <a:t>Governed AI worker platform. 1,000+ workers live across 8 industries. Delaware C-corp.</a:t>
            </a:r>
            <a:endParaRPr lang="en-US" sz="1100" dirty="0"/>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475569"/>
                </a:solidFill>
                <a:latin typeface="Calibri" pitchFamily="34" charset="0"/>
              </a:rPr>
              <a:t>SOCIII, Inc.  ·  CONFIDENTIAL  ·  DRAFT — NOT AN OFFER  ·  Contact: alex@sociii.ai  ·  www.sociii.ai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4A1D8C"/>
          </a:solidFill>
          <a:ln/>
        </p:spPr>
      </p:sp>
      <p:sp>
        <p:nvSpPr>
          <p:cNvPr id="3" name="Text 1"/>
          <p:cNvSpPr/>
          <p:nvPr/>
        </p:nvSpPr>
        <p:spPr>
          <a:xfrm>
            <a:off x="320040" y="292608"/>
            <a:ext cx="3657600" cy="256032"/>
          </a:xfrm>
          <a:prstGeom prst="rect">
            <a:avLst/>
          </a:prstGeom>
          <a:noFill/>
          <a:ln/>
        </p:spPr>
        <p:txBody>
          <a:bodyPr wrap="square" rtlCol="0" anchor="ctr"/>
          <a:lstStyle/>
          <a:p>
            <a:pPr indent="0" marL="0">
              <a:buNone/>
            </a:pPr>
            <a:r>
              <a:rPr lang="en-US" sz="1100" b="1" spc="300" kern="0" dirty="0">
                <a:solidFill>
                  <a:srgbClr val="7B3FE4"/>
                </a:solidFill>
                <a:latin typeface="Calibri" pitchFamily="34" charset="0"/>
                <a:ea typeface="Calibri" pitchFamily="34" charset="-122"/>
                <a:cs typeface="Calibri" pitchFamily="34" charset="-120"/>
              </a:rPr>
              <a:t>THE PROBLEM</a:t>
            </a:r>
            <a:endParaRPr lang="en-US" sz="1100" dirty="0"/>
          </a:p>
        </p:txBody>
      </p:sp>
      <p:sp>
        <p:nvSpPr>
          <p:cNvPr id="4" name="Text 2"/>
          <p:cNvSpPr/>
          <p:nvPr/>
        </p:nvSpPr>
        <p:spPr>
          <a:xfrm>
            <a:off x="320040" y="530352"/>
            <a:ext cx="8412480" cy="1188720"/>
          </a:xfrm>
          <a:prstGeom prst="rect">
            <a:avLst/>
          </a:prstGeom>
          <a:noFill/>
          <a:ln/>
        </p:spPr>
        <p:txBody>
          <a:bodyPr wrap="square" rtlCol="0" anchor="ctr"/>
          <a:lstStyle/>
          <a:p>
            <a:pPr indent="0" marL="0">
              <a:lnSpc>
                <a:spcPct val="110000"/>
              </a:lnSpc>
              <a:buNone/>
            </a:pPr>
            <a:r>
              <a:rPr lang="en-US" sz="3600" b="1" dirty="0">
                <a:solidFill>
                  <a:srgbClr val="FFFFFF"/>
                </a:solidFill>
                <a:latin typeface="Calibri" pitchFamily="34" charset="0"/>
                <a:ea typeface="Calibri" pitchFamily="34" charset="-122"/>
                <a:cs typeface="Calibri" pitchFamily="34" charset="-120"/>
              </a:rPr>
              <a:t>Regulated Industries</a:t>
            </a:r>
            <a:endParaRPr lang="en-US" sz="3600" dirty="0"/>
          </a:p>
          <a:p>
            <a:pPr indent="0" marL="0">
              <a:lnSpc>
                <a:spcPct val="110000"/>
              </a:lnSpc>
              <a:buNone/>
            </a:pPr>
            <a:r>
              <a:rPr lang="en-US" sz="3600" b="1" dirty="0">
                <a:solidFill>
                  <a:srgbClr val="FFFFFF"/>
                </a:solidFill>
                <a:latin typeface="Calibri" pitchFamily="34" charset="0"/>
                <a:ea typeface="Calibri" pitchFamily="34" charset="-122"/>
                <a:cs typeface="Calibri" pitchFamily="34" charset="-120"/>
              </a:rPr>
              <a:t>Are Underserved by AI.</a:t>
            </a:r>
            <a:endParaRPr lang="en-US" sz="3600" dirty="0"/>
          </a:p>
        </p:txBody>
      </p:sp>
      <p:sp>
        <p:nvSpPr>
          <p:cNvPr id="5" name="Shape 3"/>
          <p:cNvSpPr/>
          <p:nvPr/>
        </p:nvSpPr>
        <p:spPr>
          <a:xfrm>
            <a:off x="320040" y="1993392"/>
            <a:ext cx="2743200" cy="2852928"/>
          </a:xfrm>
          <a:prstGeom prst="rect">
            <a:avLst/>
          </a:prstGeom>
          <a:solidFill>
            <a:srgbClr val="1E3A6E">
              <a:alpha val="70000"/>
            </a:srgbClr>
          </a:solidFill>
          <a:ln w="12700">
            <a:solidFill>
              <a:srgbClr val="2D6BE4">
                <a:alpha val="30000"/>
              </a:srgbClr>
            </a:solidFill>
            <a:prstDash val="solid"/>
          </a:ln>
        </p:spPr>
      </p:sp>
      <p:sp>
        <p:nvSpPr>
          <p:cNvPr id="6" name="Text 4"/>
          <p:cNvSpPr/>
          <p:nvPr/>
        </p:nvSpPr>
        <p:spPr>
          <a:xfrm>
            <a:off x="502920" y="2103120"/>
            <a:ext cx="457200" cy="411480"/>
          </a:xfrm>
          <a:prstGeom prst="rect">
            <a:avLst/>
          </a:prstGeom>
          <a:noFill/>
          <a:ln/>
        </p:spPr>
        <p:txBody>
          <a:bodyPr wrap="square" rtlCol="0" anchor="ctr"/>
          <a:lstStyle/>
          <a:p>
            <a:pPr indent="0" marL="0">
              <a:buNone/>
            </a:pPr>
            <a:r>
              <a:rPr lang="en-US" sz="2200" b="1" dirty="0">
                <a:solidFill>
                  <a:srgbClr val="10B981"/>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457200" y="2578608"/>
            <a:ext cx="2468880" cy="566928"/>
          </a:xfrm>
          <a:prstGeom prst="rect">
            <a:avLst/>
          </a:prstGeom>
          <a:noFill/>
          <a:ln/>
        </p:spPr>
        <p:txBody>
          <a:bodyPr wrap="square"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Generic AI fails compliance</a:t>
            </a:r>
            <a:endParaRPr lang="en-US" sz="1300" dirty="0"/>
          </a:p>
        </p:txBody>
      </p:sp>
      <p:sp>
        <p:nvSpPr>
          <p:cNvPr id="8" name="Text 6"/>
          <p:cNvSpPr/>
          <p:nvPr/>
        </p:nvSpPr>
        <p:spPr>
          <a:xfrm>
            <a:off x="457200" y="3200400"/>
            <a:ext cx="2468880" cy="1536192"/>
          </a:xfrm>
          <a:prstGeom prst="rect">
            <a:avLst/>
          </a:prstGeom>
          <a:noFill/>
          <a:ln/>
        </p:spPr>
        <p:txBody>
          <a:bodyPr wrap="square" rtlCol="0" anchor="ctr"/>
          <a:lstStyle/>
          <a:p>
            <a:pPr indent="0" marL="0">
              <a:lnSpc>
                <a:spcPct val="135000"/>
              </a:lnSpc>
              <a:buNone/>
            </a:pPr>
            <a:r>
              <a:rPr lang="en-US" sz="1100" dirty="0">
                <a:solidFill>
                  <a:srgbClr val="AABBDD"/>
                </a:solidFill>
                <a:latin typeface="Calibri" pitchFamily="34" charset="0"/>
                <a:ea typeface="Calibri" pitchFamily="34" charset="-122"/>
                <a:cs typeface="Calibri" pitchFamily="34" charset="-120"/>
              </a:rPr>
              <a:t>ChatGPT gives confident answers that violate FAA regulations. A pilot gets wrong approach minima. A nurse gets a dosing error. No one is liable. Everyone is exposed.</a:t>
            </a:r>
            <a:endParaRPr lang="en-US" sz="1100" dirty="0"/>
          </a:p>
        </p:txBody>
      </p:sp>
      <p:sp>
        <p:nvSpPr>
          <p:cNvPr id="9" name="Shape 7"/>
          <p:cNvSpPr/>
          <p:nvPr/>
        </p:nvSpPr>
        <p:spPr>
          <a:xfrm>
            <a:off x="3264408" y="1993392"/>
            <a:ext cx="2743200" cy="2852928"/>
          </a:xfrm>
          <a:prstGeom prst="rect">
            <a:avLst/>
          </a:prstGeom>
          <a:solidFill>
            <a:srgbClr val="1E3A6E">
              <a:alpha val="70000"/>
            </a:srgbClr>
          </a:solidFill>
          <a:ln w="12700">
            <a:solidFill>
              <a:srgbClr val="2D6BE4">
                <a:alpha val="30000"/>
              </a:srgbClr>
            </a:solidFill>
            <a:prstDash val="solid"/>
          </a:ln>
        </p:spPr>
      </p:sp>
      <p:sp>
        <p:nvSpPr>
          <p:cNvPr id="10" name="Text 8"/>
          <p:cNvSpPr/>
          <p:nvPr/>
        </p:nvSpPr>
        <p:spPr>
          <a:xfrm>
            <a:off x="3447288" y="2103120"/>
            <a:ext cx="457200" cy="411480"/>
          </a:xfrm>
          <a:prstGeom prst="rect">
            <a:avLst/>
          </a:prstGeom>
          <a:noFill/>
          <a:ln/>
        </p:spPr>
        <p:txBody>
          <a:bodyPr wrap="square" rtlCol="0" anchor="ctr"/>
          <a:lstStyle/>
          <a:p>
            <a:pPr indent="0" marL="0">
              <a:buNone/>
            </a:pPr>
            <a:r>
              <a:rPr lang="en-US" sz="2200" b="1" dirty="0">
                <a:solidFill>
                  <a:srgbClr val="10B981"/>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3401568" y="2578608"/>
            <a:ext cx="2468880" cy="566928"/>
          </a:xfrm>
          <a:prstGeom prst="rect">
            <a:avLst/>
          </a:prstGeom>
          <a:noFill/>
          <a:ln/>
        </p:spPr>
        <p:txBody>
          <a:bodyPr wrap="square"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Professionals can't build</a:t>
            </a:r>
            <a:endParaRPr lang="en-US" sz="1300" dirty="0"/>
          </a:p>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their own tools</a:t>
            </a:r>
            <a:endParaRPr lang="en-US" sz="1300" dirty="0"/>
          </a:p>
        </p:txBody>
      </p:sp>
      <p:sp>
        <p:nvSpPr>
          <p:cNvPr id="12" name="Text 10"/>
          <p:cNvSpPr/>
          <p:nvPr/>
        </p:nvSpPr>
        <p:spPr>
          <a:xfrm>
            <a:off x="3401568" y="3200400"/>
            <a:ext cx="2468880" cy="1536192"/>
          </a:xfrm>
          <a:prstGeom prst="rect">
            <a:avLst/>
          </a:prstGeom>
          <a:noFill/>
          <a:ln/>
        </p:spPr>
        <p:txBody>
          <a:bodyPr wrap="square" rtlCol="0" anchor="ctr"/>
          <a:lstStyle/>
          <a:p>
            <a:pPr indent="0" marL="0">
              <a:lnSpc>
                <a:spcPct val="135000"/>
              </a:lnSpc>
              <a:buNone/>
            </a:pPr>
            <a:r>
              <a:rPr lang="en-US" sz="1100" dirty="0">
                <a:solidFill>
                  <a:srgbClr val="AABBDD"/>
                </a:solidFill>
                <a:latin typeface="Calibri" pitchFamily="34" charset="0"/>
                <a:ea typeface="Calibri" pitchFamily="34" charset="-122"/>
                <a:cs typeface="Calibri" pitchFamily="34" charset="-120"/>
              </a:rPr>
              <a:t>A flight nurse with 20 years of expertise has no way to encode her knowledge into something her community can use. That expertise disappears when she retires.</a:t>
            </a:r>
            <a:endParaRPr lang="en-US" sz="1100" dirty="0"/>
          </a:p>
        </p:txBody>
      </p:sp>
      <p:sp>
        <p:nvSpPr>
          <p:cNvPr id="13" name="Shape 11"/>
          <p:cNvSpPr/>
          <p:nvPr/>
        </p:nvSpPr>
        <p:spPr>
          <a:xfrm>
            <a:off x="6208776" y="1993392"/>
            <a:ext cx="2743200" cy="2852928"/>
          </a:xfrm>
          <a:prstGeom prst="rect">
            <a:avLst/>
          </a:prstGeom>
          <a:solidFill>
            <a:srgbClr val="1E3A6E">
              <a:alpha val="70000"/>
            </a:srgbClr>
          </a:solidFill>
          <a:ln w="12700">
            <a:solidFill>
              <a:srgbClr val="2D6BE4">
                <a:alpha val="30000"/>
              </a:srgbClr>
            </a:solidFill>
            <a:prstDash val="solid"/>
          </a:ln>
        </p:spPr>
      </p:sp>
      <p:sp>
        <p:nvSpPr>
          <p:cNvPr id="14" name="Text 12"/>
          <p:cNvSpPr/>
          <p:nvPr/>
        </p:nvSpPr>
        <p:spPr>
          <a:xfrm>
            <a:off x="6391656" y="2103120"/>
            <a:ext cx="457200" cy="411480"/>
          </a:xfrm>
          <a:prstGeom prst="rect">
            <a:avLst/>
          </a:prstGeom>
          <a:noFill/>
          <a:ln/>
        </p:spPr>
        <p:txBody>
          <a:bodyPr wrap="square" rtlCol="0" anchor="ctr"/>
          <a:lstStyle/>
          <a:p>
            <a:pPr indent="0" marL="0">
              <a:buNone/>
            </a:pPr>
            <a:r>
              <a:rPr lang="en-US" sz="2200" b="1" dirty="0">
                <a:solidFill>
                  <a:srgbClr val="10B981"/>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6345936" y="2578608"/>
            <a:ext cx="2468880" cy="566928"/>
          </a:xfrm>
          <a:prstGeom prst="rect">
            <a:avLst/>
          </a:prstGeom>
          <a:noFill/>
          <a:ln/>
        </p:spPr>
        <p:txBody>
          <a:bodyPr wrap="square"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Compliance is disconnected</a:t>
            </a:r>
            <a:endParaRPr lang="en-US" sz="1300" dirty="0"/>
          </a:p>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from AI</a:t>
            </a:r>
            <a:endParaRPr lang="en-US" sz="1300" dirty="0"/>
          </a:p>
        </p:txBody>
      </p:sp>
      <p:sp>
        <p:nvSpPr>
          <p:cNvPr id="16" name="Text 14"/>
          <p:cNvSpPr/>
          <p:nvPr/>
        </p:nvSpPr>
        <p:spPr>
          <a:xfrm>
            <a:off x="6345936" y="3200400"/>
            <a:ext cx="2468880" cy="1536192"/>
          </a:xfrm>
          <a:prstGeom prst="rect">
            <a:avLst/>
          </a:prstGeom>
          <a:noFill/>
          <a:ln/>
        </p:spPr>
        <p:txBody>
          <a:bodyPr wrap="square" rtlCol="0" anchor="ctr"/>
          <a:lstStyle/>
          <a:p>
            <a:pPr indent="0" marL="0">
              <a:lnSpc>
                <a:spcPct val="135000"/>
              </a:lnSpc>
              <a:buNone/>
            </a:pPr>
            <a:r>
              <a:rPr lang="en-US" sz="1100" dirty="0">
                <a:solidFill>
                  <a:srgbClr val="AABBDD"/>
                </a:solidFill>
                <a:latin typeface="Calibri" pitchFamily="34" charset="0"/>
                <a:ea typeface="Calibri" pitchFamily="34" charset="-122"/>
                <a:cs typeface="Calibri" pitchFamily="34" charset="-120"/>
              </a:rPr>
              <a:t>Aviation, healthcare, real estate, legal — real rules with real consequences. No AI platform structurally enforces those rules. They add disclaimers. We enforce rules.</a:t>
            </a:r>
            <a:endParaRPr lang="en-US" sz="1100" dirty="0"/>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sociii.ai  ·  CONFIDENTIAL  ·  SOCIII Inc. (Delaware C-Corp)  ·  May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4A1D8C"/>
          </a:solidFill>
          <a:ln/>
        </p:spPr>
      </p:sp>
      <p:sp>
        <p:nvSpPr>
          <p:cNvPr id="3" name="Text 1"/>
          <p:cNvSpPr/>
          <p:nvPr/>
        </p:nvSpPr>
        <p:spPr>
          <a:xfrm>
            <a:off x="320040" y="292608"/>
            <a:ext cx="4572000" cy="256032"/>
          </a:xfrm>
          <a:prstGeom prst="rect">
            <a:avLst/>
          </a:prstGeom>
          <a:noFill/>
          <a:ln/>
        </p:spPr>
        <p:txBody>
          <a:bodyPr wrap="square" rtlCol="0" anchor="ctr"/>
          <a:lstStyle/>
          <a:p>
            <a:pPr indent="0" marL="0">
              <a:buNone/>
            </a:pPr>
            <a:r>
              <a:rPr lang="en-US" sz="1100" b="1" spc="300" kern="0" dirty="0">
                <a:solidFill>
                  <a:srgbClr val="4A1D8C"/>
                </a:solidFill>
                <a:latin typeface="Calibri" pitchFamily="34" charset="0"/>
                <a:ea typeface="Calibri" pitchFamily="34" charset="-122"/>
                <a:cs typeface="Calibri" pitchFamily="34" charset="-120"/>
              </a:rPr>
              <a:t>COMPETITIVE LANDSCAPE</a:t>
            </a:r>
            <a:endParaRPr lang="en-US" sz="1100" dirty="0"/>
          </a:p>
        </p:txBody>
      </p:sp>
      <p:sp>
        <p:nvSpPr>
          <p:cNvPr id="4" name="Text 2"/>
          <p:cNvSpPr/>
          <p:nvPr/>
        </p:nvSpPr>
        <p:spPr>
          <a:xfrm>
            <a:off x="320040" y="530352"/>
            <a:ext cx="5943600" cy="1170432"/>
          </a:xfrm>
          <a:prstGeom prst="rect">
            <a:avLst/>
          </a:prstGeom>
          <a:noFill/>
          <a:ln/>
        </p:spPr>
        <p:txBody>
          <a:bodyPr wrap="square" rtlCol="0" anchor="ctr"/>
          <a:lstStyle/>
          <a:p>
            <a:pPr indent="0" marL="0">
              <a:lnSpc>
                <a:spcPct val="110000"/>
              </a:lnSpc>
              <a:buNone/>
            </a:pPr>
            <a:r>
              <a:rPr lang="en-US" sz="3000" b="1" dirty="0">
                <a:solidFill>
                  <a:srgbClr val="1A0A2E"/>
                </a:solidFill>
                <a:latin typeface="Calibri" pitchFamily="34" charset="0"/>
                <a:ea typeface="Calibri" pitchFamily="34" charset="-122"/>
                <a:cs typeface="Calibri" pitchFamily="34" charset="-120"/>
              </a:rPr>
              <a:t>SOCIII Is Not a SaaS Tool.</a:t>
            </a:r>
            <a:endParaRPr lang="en-US" sz="3000" dirty="0"/>
          </a:p>
          <a:p>
            <a:pPr indent="0" marL="0">
              <a:lnSpc>
                <a:spcPct val="110000"/>
              </a:lnSpc>
              <a:buNone/>
            </a:pPr>
            <a:r>
              <a:rPr lang="en-US" sz="3000" b="1" dirty="0">
                <a:solidFill>
                  <a:srgbClr val="1A0A2E"/>
                </a:solidFill>
                <a:latin typeface="Calibri" pitchFamily="34" charset="0"/>
                <a:ea typeface="Calibri" pitchFamily="34" charset="-122"/>
                <a:cs typeface="Calibri" pitchFamily="34" charset="-120"/>
              </a:rPr>
              <a:t>It's the SaaS Replacement.</a:t>
            </a:r>
            <a:endParaRPr lang="en-US" sz="3000" dirty="0"/>
          </a:p>
        </p:txBody>
      </p:sp>
      <p:sp>
        <p:nvSpPr>
          <p:cNvPr id="5" name="Shape 3"/>
          <p:cNvSpPr/>
          <p:nvPr/>
        </p:nvSpPr>
        <p:spPr>
          <a:xfrm>
            <a:off x="274320" y="1901952"/>
            <a:ext cx="1627632" cy="2944368"/>
          </a:xfrm>
          <a:prstGeom prst="rect">
            <a:avLst/>
          </a:prstGeom>
          <a:solidFill>
            <a:srgbClr val="1A0A2E"/>
          </a:solidFill>
          <a:ln/>
          <a:effectLst>
            <a:outerShdw sx="100000" sy="100000" kx="0" ky="0" algn="bl" rotWithShape="0" blurRad="76200" dist="25400" dir="8100000">
              <a:srgbClr val="000000">
                <a:alpha val="15000"/>
              </a:srgbClr>
            </a:outerShdw>
          </a:effectLst>
        </p:spPr>
      </p:sp>
      <p:sp>
        <p:nvSpPr>
          <p:cNvPr id="6" name="Text 4"/>
          <p:cNvSpPr/>
          <p:nvPr/>
        </p:nvSpPr>
        <p:spPr>
          <a:xfrm>
            <a:off x="274320" y="1993392"/>
            <a:ext cx="1627632" cy="347472"/>
          </a:xfrm>
          <a:prstGeom prst="rect">
            <a:avLst/>
          </a:prstGeom>
          <a:noFill/>
          <a:ln/>
        </p:spPr>
        <p:txBody>
          <a:bodyPr wrap="square" rtlCol="0" anchor="ctr"/>
          <a:lstStyle/>
          <a:p>
            <a:pPr algn="ctr" indent="0" marL="0">
              <a:buNone/>
            </a:pPr>
            <a:r>
              <a:rPr lang="en-US" sz="1300" b="1" dirty="0">
                <a:solidFill>
                  <a:srgbClr val="7B3FE4"/>
                </a:solidFill>
                <a:latin typeface="Calibri" pitchFamily="34" charset="0"/>
                <a:ea typeface="Calibri" pitchFamily="34" charset="-122"/>
                <a:cs typeface="Calibri" pitchFamily="34" charset="-120"/>
              </a:rPr>
              <a:t>OpenClaw</a:t>
            </a:r>
            <a:endParaRPr lang="en-US" sz="1300" dirty="0"/>
          </a:p>
        </p:txBody>
      </p:sp>
      <p:sp>
        <p:nvSpPr>
          <p:cNvPr id="7" name="Text 5"/>
          <p:cNvSpPr/>
          <p:nvPr/>
        </p:nvSpPr>
        <p:spPr>
          <a:xfrm>
            <a:off x="274320" y="2340864"/>
            <a:ext cx="1627632" cy="502920"/>
          </a:xfrm>
          <a:prstGeom prst="rect">
            <a:avLst/>
          </a:prstGeom>
          <a:noFill/>
          <a:ln/>
        </p:spPr>
        <p:txBody>
          <a:bodyPr wrap="square" rtlCol="0" anchor="ctr"/>
          <a:lstStyle/>
          <a:p>
            <a:pPr algn="ctr" indent="0" marL="0">
              <a:lnSpc>
                <a:spcPct val="110000"/>
              </a:lnSpc>
              <a:buNone/>
            </a:pPr>
            <a:r>
              <a:rPr lang="en-US" sz="1500" b="1" dirty="0">
                <a:solidFill>
                  <a:srgbClr val="FFFFFF"/>
                </a:solidFill>
                <a:latin typeface="Calibri" pitchFamily="34" charset="0"/>
                <a:ea typeface="Calibri" pitchFamily="34" charset="-122"/>
                <a:cs typeface="Calibri" pitchFamily="34" charset="-120"/>
              </a:rPr>
              <a:t>Acquired</a:t>
            </a:r>
            <a:endParaRPr lang="en-US" sz="1500" dirty="0"/>
          </a:p>
          <a:p>
            <a:pPr algn="ctr" indent="0" marL="0">
              <a:lnSpc>
                <a:spcPct val="110000"/>
              </a:lnSpc>
              <a:buNone/>
            </a:pPr>
            <a:r>
              <a:rPr lang="en-US" sz="1500" b="1" dirty="0">
                <a:solidFill>
                  <a:srgbClr val="FFFFFF"/>
                </a:solidFill>
                <a:latin typeface="Calibri" pitchFamily="34" charset="0"/>
                <a:ea typeface="Calibri" pitchFamily="34" charset="-122"/>
                <a:cs typeface="Calibri" pitchFamily="34" charset="-120"/>
              </a:rPr>
              <a:t>for Billions</a:t>
            </a:r>
            <a:endParaRPr lang="en-US" sz="1500" dirty="0"/>
          </a:p>
        </p:txBody>
      </p:sp>
      <p:sp>
        <p:nvSpPr>
          <p:cNvPr id="8" name="Text 6"/>
          <p:cNvSpPr/>
          <p:nvPr/>
        </p:nvSpPr>
        <p:spPr>
          <a:xfrm>
            <a:off x="274320" y="2889504"/>
            <a:ext cx="1627632" cy="292608"/>
          </a:xfrm>
          <a:prstGeom prst="rect">
            <a:avLst/>
          </a:prstGeom>
          <a:noFill/>
          <a:ln/>
        </p:spPr>
        <p:txBody>
          <a:bodyPr wrap="square" rtlCol="0" anchor="ctr"/>
          <a:lstStyle/>
          <a:p>
            <a:pPr algn="ctr" indent="0" marL="0">
              <a:buNone/>
            </a:pPr>
            <a:r>
              <a:rPr lang="en-US" sz="900" b="1" spc="100" kern="0" dirty="0">
                <a:solidFill>
                  <a:srgbClr val="7B3FE4"/>
                </a:solidFill>
                <a:latin typeface="Calibri" pitchFamily="34" charset="0"/>
                <a:ea typeface="Calibri" pitchFamily="34" charset="-122"/>
                <a:cs typeface="Calibri" pitchFamily="34" charset="-120"/>
              </a:rPr>
              <a:t>THE SIGNAL</a:t>
            </a:r>
            <a:endParaRPr lang="en-US" sz="900" dirty="0"/>
          </a:p>
        </p:txBody>
      </p:sp>
      <p:sp>
        <p:nvSpPr>
          <p:cNvPr id="9" name="Text 7"/>
          <p:cNvSpPr/>
          <p:nvPr/>
        </p:nvSpPr>
        <p:spPr>
          <a:xfrm>
            <a:off x="365760" y="3236976"/>
            <a:ext cx="1463040" cy="1481328"/>
          </a:xfrm>
          <a:prstGeom prst="rect">
            <a:avLst/>
          </a:prstGeom>
          <a:noFill/>
          <a:ln/>
        </p:spPr>
        <p:txBody>
          <a:bodyPr wrap="square" rtlCol="0" anchor="ctr"/>
          <a:lstStyle/>
          <a:p>
            <a:pPr indent="0" marL="0">
              <a:lnSpc>
                <a:spcPct val="130000"/>
              </a:lnSpc>
              <a:buNone/>
            </a:pPr>
            <a:r>
              <a:rPr lang="en-US" sz="950" dirty="0">
                <a:solidFill>
                  <a:srgbClr val="7B3FE4"/>
                </a:solidFill>
                <a:latin typeface="Calibri" pitchFamily="34" charset="0"/>
                <a:ea typeface="Calibri" pitchFamily="34" charset="-122"/>
                <a:cs typeface="Calibri" pitchFamily="34" charset="-120"/>
              </a:rPr>
              <a:t>Consumer AI. No compliance. Proves the category is real and worth billions.</a:t>
            </a:r>
            <a:endParaRPr lang="en-US" sz="950" dirty="0"/>
          </a:p>
        </p:txBody>
      </p:sp>
      <p:sp>
        <p:nvSpPr>
          <p:cNvPr id="10" name="Shape 8"/>
          <p:cNvSpPr/>
          <p:nvPr/>
        </p:nvSpPr>
        <p:spPr>
          <a:xfrm>
            <a:off x="2029968" y="1901952"/>
            <a:ext cx="1627632" cy="2944368"/>
          </a:xfrm>
          <a:prstGeom prst="rect">
            <a:avLst/>
          </a:prstGeom>
          <a:solidFill>
            <a:srgbClr val="1E3A6E"/>
          </a:solidFill>
          <a:ln/>
          <a:effectLst>
            <a:outerShdw sx="100000" sy="100000" kx="0" ky="0" algn="bl" rotWithShape="0" blurRad="76200" dist="25400" dir="8100000">
              <a:srgbClr val="000000">
                <a:alpha val="15000"/>
              </a:srgbClr>
            </a:outerShdw>
          </a:effectLst>
        </p:spPr>
      </p:sp>
      <p:sp>
        <p:nvSpPr>
          <p:cNvPr id="11" name="Text 9"/>
          <p:cNvSpPr/>
          <p:nvPr/>
        </p:nvSpPr>
        <p:spPr>
          <a:xfrm>
            <a:off x="2029968" y="1993392"/>
            <a:ext cx="162763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ChatGPT</a:t>
            </a:r>
            <a:endParaRPr lang="en-US" sz="1300" dirty="0"/>
          </a:p>
        </p:txBody>
      </p:sp>
      <p:sp>
        <p:nvSpPr>
          <p:cNvPr id="12" name="Text 10"/>
          <p:cNvSpPr/>
          <p:nvPr/>
        </p:nvSpPr>
        <p:spPr>
          <a:xfrm>
            <a:off x="2029968" y="2340864"/>
            <a:ext cx="1627632" cy="502920"/>
          </a:xfrm>
          <a:prstGeom prst="rect">
            <a:avLst/>
          </a:prstGeom>
          <a:noFill/>
          <a:ln/>
        </p:spPr>
        <p:txBody>
          <a:bodyPr wrap="square" rtlCol="0" anchor="ctr"/>
          <a:lstStyle/>
          <a:p>
            <a:pPr algn="ctr" indent="0" marL="0">
              <a:lnSpc>
                <a:spcPct val="110000"/>
              </a:lnSpc>
              <a:buNone/>
            </a:pPr>
            <a:r>
              <a:rPr lang="en-US" sz="1500" b="1" dirty="0">
                <a:solidFill>
                  <a:srgbClr val="FFFFFF"/>
                </a:solidFill>
                <a:latin typeface="Calibri" pitchFamily="34" charset="0"/>
                <a:ea typeface="Calibri" pitchFamily="34" charset="-122"/>
                <a:cs typeface="Calibri" pitchFamily="34" charset="-120"/>
              </a:rPr>
              <a:t>$157B+ company</a:t>
            </a:r>
            <a:endParaRPr lang="en-US" sz="1500" dirty="0"/>
          </a:p>
        </p:txBody>
      </p:sp>
      <p:sp>
        <p:nvSpPr>
          <p:cNvPr id="13" name="Text 11"/>
          <p:cNvSpPr/>
          <p:nvPr/>
        </p:nvSpPr>
        <p:spPr>
          <a:xfrm>
            <a:off x="2029968" y="2889504"/>
            <a:ext cx="1627632" cy="292608"/>
          </a:xfrm>
          <a:prstGeom prst="rect">
            <a:avLst/>
          </a:prstGeom>
          <a:noFill/>
          <a:ln/>
        </p:spPr>
        <p:txBody>
          <a:bodyPr wrap="square"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NOT OUR MARKET</a:t>
            </a:r>
            <a:endParaRPr lang="en-US" sz="900" dirty="0"/>
          </a:p>
        </p:txBody>
      </p:sp>
      <p:sp>
        <p:nvSpPr>
          <p:cNvPr id="14" name="Text 12"/>
          <p:cNvSpPr/>
          <p:nvPr/>
        </p:nvSpPr>
        <p:spPr>
          <a:xfrm>
            <a:off x="2121408" y="3236976"/>
            <a:ext cx="1463040" cy="1481328"/>
          </a:xfrm>
          <a:prstGeom prst="rect">
            <a:avLst/>
          </a:prstGeom>
          <a:noFill/>
          <a:ln/>
        </p:spPr>
        <p:txBody>
          <a:bodyPr wrap="square" rtlCol="0" anchor="ctr"/>
          <a:lstStyle/>
          <a:p>
            <a:pPr indent="0" marL="0">
              <a:lnSpc>
                <a:spcPct val="130000"/>
              </a:lnSpc>
              <a:buNone/>
            </a:pPr>
            <a:r>
              <a:rPr lang="en-US" sz="950" dirty="0">
                <a:solidFill>
                  <a:srgbClr val="FFFFFF"/>
                </a:solidFill>
                <a:latin typeface="Calibri" pitchFamily="34" charset="0"/>
                <a:ea typeface="Calibri" pitchFamily="34" charset="-122"/>
                <a:cs typeface="Calibri" pitchFamily="34" charset="-120"/>
              </a:rPr>
              <a:t>Brilliant at everything. Accountable for nothing. Cannot move into compliance without rebuilding from scratch.</a:t>
            </a:r>
            <a:endParaRPr lang="en-US" sz="950" dirty="0"/>
          </a:p>
        </p:txBody>
      </p:sp>
      <p:sp>
        <p:nvSpPr>
          <p:cNvPr id="15" name="Shape 13"/>
          <p:cNvSpPr/>
          <p:nvPr/>
        </p:nvSpPr>
        <p:spPr>
          <a:xfrm>
            <a:off x="3785616" y="1901952"/>
            <a:ext cx="1627632" cy="2944368"/>
          </a:xfrm>
          <a:prstGeom prst="rect">
            <a:avLst/>
          </a:prstGeom>
          <a:solidFill>
            <a:srgbClr val="0D7A5F"/>
          </a:solidFill>
          <a:ln/>
          <a:effectLst>
            <a:outerShdw sx="100000" sy="100000" kx="0" ky="0" algn="bl" rotWithShape="0" blurRad="76200" dist="25400" dir="8100000">
              <a:srgbClr val="000000">
                <a:alpha val="15000"/>
              </a:srgbClr>
            </a:outerShdw>
          </a:effectLst>
        </p:spPr>
      </p:sp>
      <p:sp>
        <p:nvSpPr>
          <p:cNvPr id="16" name="Text 14"/>
          <p:cNvSpPr/>
          <p:nvPr/>
        </p:nvSpPr>
        <p:spPr>
          <a:xfrm>
            <a:off x="3785616" y="1993392"/>
            <a:ext cx="162763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Harvey AI</a:t>
            </a:r>
            <a:endParaRPr lang="en-US" sz="1300" dirty="0"/>
          </a:p>
        </p:txBody>
      </p:sp>
      <p:sp>
        <p:nvSpPr>
          <p:cNvPr id="17" name="Text 15"/>
          <p:cNvSpPr/>
          <p:nvPr/>
        </p:nvSpPr>
        <p:spPr>
          <a:xfrm>
            <a:off x="3785616" y="2340864"/>
            <a:ext cx="1627632" cy="502920"/>
          </a:xfrm>
          <a:prstGeom prst="rect">
            <a:avLst/>
          </a:prstGeom>
          <a:noFill/>
          <a:ln/>
        </p:spPr>
        <p:txBody>
          <a:bodyPr wrap="square" rtlCol="0" anchor="ctr"/>
          <a:lstStyle/>
          <a:p>
            <a:pPr algn="ctr" indent="0" marL="0">
              <a:lnSpc>
                <a:spcPct val="110000"/>
              </a:lnSpc>
              <a:buNone/>
            </a:pPr>
            <a:r>
              <a:rPr lang="en-US" sz="1500" b="1" dirty="0">
                <a:solidFill>
                  <a:srgbClr val="FFFFFF"/>
                </a:solidFill>
                <a:latin typeface="Calibri" pitchFamily="34" charset="0"/>
                <a:ea typeface="Calibri" pitchFamily="34" charset="-122"/>
                <a:cs typeface="Calibri" pitchFamily="34" charset="-120"/>
              </a:rPr>
              <a:t>$3B+</a:t>
            </a:r>
            <a:endParaRPr lang="en-US" sz="1500" dirty="0"/>
          </a:p>
        </p:txBody>
      </p:sp>
      <p:sp>
        <p:nvSpPr>
          <p:cNvPr id="18" name="Text 16"/>
          <p:cNvSpPr/>
          <p:nvPr/>
        </p:nvSpPr>
        <p:spPr>
          <a:xfrm>
            <a:off x="3785616" y="2889504"/>
            <a:ext cx="1627632" cy="292608"/>
          </a:xfrm>
          <a:prstGeom prst="rect">
            <a:avLst/>
          </a:prstGeom>
          <a:noFill/>
          <a:ln/>
        </p:spPr>
        <p:txBody>
          <a:bodyPr wrap="square"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VALIDATES THESIS</a:t>
            </a:r>
            <a:endParaRPr lang="en-US" sz="900" dirty="0"/>
          </a:p>
        </p:txBody>
      </p:sp>
      <p:sp>
        <p:nvSpPr>
          <p:cNvPr id="19" name="Text 17"/>
          <p:cNvSpPr/>
          <p:nvPr/>
        </p:nvSpPr>
        <p:spPr>
          <a:xfrm>
            <a:off x="3877056" y="3236976"/>
            <a:ext cx="1463040" cy="1481328"/>
          </a:xfrm>
          <a:prstGeom prst="rect">
            <a:avLst/>
          </a:prstGeom>
          <a:noFill/>
          <a:ln/>
        </p:spPr>
        <p:txBody>
          <a:bodyPr wrap="square" rtlCol="0" anchor="ctr"/>
          <a:lstStyle/>
          <a:p>
            <a:pPr indent="0" marL="0">
              <a:lnSpc>
                <a:spcPct val="130000"/>
              </a:lnSpc>
              <a:buNone/>
            </a:pPr>
            <a:r>
              <a:rPr lang="en-US" sz="950" dirty="0">
                <a:solidFill>
                  <a:srgbClr val="FFFFFF"/>
                </a:solidFill>
                <a:latin typeface="Calibri" pitchFamily="34" charset="0"/>
                <a:ea typeface="Calibri" pitchFamily="34" charset="-122"/>
                <a:cs typeface="Calibri" pitchFamily="34" charset="-120"/>
              </a:rPr>
              <a:t>Vertical AI done right — one industry, deep compliance, massive valuation. Harvey owns legal. We own the rest.</a:t>
            </a:r>
            <a:endParaRPr lang="en-US" sz="950" dirty="0"/>
          </a:p>
        </p:txBody>
      </p:sp>
      <p:sp>
        <p:nvSpPr>
          <p:cNvPr id="20" name="Shape 18"/>
          <p:cNvSpPr/>
          <p:nvPr/>
        </p:nvSpPr>
        <p:spPr>
          <a:xfrm>
            <a:off x="5541264" y="1901952"/>
            <a:ext cx="1627632" cy="2944368"/>
          </a:xfrm>
          <a:prstGeom prst="rect">
            <a:avLst/>
          </a:prstGeom>
          <a:solidFill>
            <a:srgbClr val="6B21A8"/>
          </a:solidFill>
          <a:ln/>
          <a:effectLst>
            <a:outerShdw sx="100000" sy="100000" kx="0" ky="0" algn="bl" rotWithShape="0" blurRad="76200" dist="25400" dir="8100000">
              <a:srgbClr val="000000">
                <a:alpha val="15000"/>
              </a:srgbClr>
            </a:outerShdw>
          </a:effectLst>
        </p:spPr>
      </p:sp>
      <p:sp>
        <p:nvSpPr>
          <p:cNvPr id="21" name="Text 19"/>
          <p:cNvSpPr/>
          <p:nvPr/>
        </p:nvSpPr>
        <p:spPr>
          <a:xfrm>
            <a:off x="5541264" y="1993392"/>
            <a:ext cx="162763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Legacy SaaS</a:t>
            </a:r>
            <a:endParaRPr lang="en-US" sz="1300" dirty="0"/>
          </a:p>
        </p:txBody>
      </p:sp>
      <p:sp>
        <p:nvSpPr>
          <p:cNvPr id="22" name="Text 20"/>
          <p:cNvSpPr/>
          <p:nvPr/>
        </p:nvSpPr>
        <p:spPr>
          <a:xfrm>
            <a:off x="5541264" y="2340864"/>
            <a:ext cx="1627632" cy="502920"/>
          </a:xfrm>
          <a:prstGeom prst="rect">
            <a:avLst/>
          </a:prstGeom>
          <a:noFill/>
          <a:ln/>
        </p:spPr>
        <p:txBody>
          <a:bodyPr wrap="square" rtlCol="0" anchor="ctr"/>
          <a:lstStyle/>
          <a:p>
            <a:pPr algn="ctr" indent="0" marL="0">
              <a:lnSpc>
                <a:spcPct val="110000"/>
              </a:lnSpc>
              <a:buNone/>
            </a:pPr>
            <a:r>
              <a:rPr lang="en-US" sz="1500" b="1" dirty="0">
                <a:solidFill>
                  <a:srgbClr val="FFFFFF"/>
                </a:solidFill>
                <a:latin typeface="Calibri" pitchFamily="34" charset="0"/>
                <a:ea typeface="Calibri" pitchFamily="34" charset="-122"/>
                <a:cs typeface="Calibri" pitchFamily="34" charset="-120"/>
              </a:rPr>
              <a:t>$40-300B</a:t>
            </a:r>
            <a:endParaRPr lang="en-US" sz="1500" dirty="0"/>
          </a:p>
        </p:txBody>
      </p:sp>
      <p:sp>
        <p:nvSpPr>
          <p:cNvPr id="23" name="Text 21"/>
          <p:cNvSpPr/>
          <p:nvPr/>
        </p:nvSpPr>
        <p:spPr>
          <a:xfrm>
            <a:off x="5541264" y="2889504"/>
            <a:ext cx="1627632" cy="292608"/>
          </a:xfrm>
          <a:prstGeom prst="rect">
            <a:avLst/>
          </a:prstGeom>
          <a:noFill/>
          <a:ln/>
        </p:spPr>
        <p:txBody>
          <a:bodyPr wrap="square"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REPLACE THEM</a:t>
            </a:r>
            <a:endParaRPr lang="en-US" sz="900" dirty="0"/>
          </a:p>
        </p:txBody>
      </p:sp>
      <p:sp>
        <p:nvSpPr>
          <p:cNvPr id="24" name="Text 22"/>
          <p:cNvSpPr/>
          <p:nvPr/>
        </p:nvSpPr>
        <p:spPr>
          <a:xfrm>
            <a:off x="5632704" y="3236976"/>
            <a:ext cx="1463040" cy="1481328"/>
          </a:xfrm>
          <a:prstGeom prst="rect">
            <a:avLst/>
          </a:prstGeom>
          <a:noFill/>
          <a:ln/>
        </p:spPr>
        <p:txBody>
          <a:bodyPr wrap="square" rtlCol="0" anchor="ctr"/>
          <a:lstStyle/>
          <a:p>
            <a:pPr indent="0" marL="0">
              <a:lnSpc>
                <a:spcPct val="130000"/>
              </a:lnSpc>
              <a:buNone/>
            </a:pPr>
            <a:r>
              <a:rPr lang="en-US" sz="950" dirty="0">
                <a:solidFill>
                  <a:srgbClr val="FFFFFF"/>
                </a:solidFill>
                <a:latin typeface="Calibri" pitchFamily="34" charset="0"/>
                <a:ea typeface="Calibri" pitchFamily="34" charset="-122"/>
                <a:cs typeface="Calibri" pitchFamily="34" charset="-120"/>
              </a:rPr>
              <a:t>$300+/hr consultants stitching single-purpose tools. SOCIII replaces the entire stack.</a:t>
            </a:r>
            <a:endParaRPr lang="en-US" sz="950" dirty="0"/>
          </a:p>
        </p:txBody>
      </p:sp>
      <p:sp>
        <p:nvSpPr>
          <p:cNvPr id="25" name="Shape 23"/>
          <p:cNvSpPr/>
          <p:nvPr/>
        </p:nvSpPr>
        <p:spPr>
          <a:xfrm>
            <a:off x="7296912" y="1901952"/>
            <a:ext cx="1627632" cy="2944368"/>
          </a:xfrm>
          <a:prstGeom prst="rect">
            <a:avLst/>
          </a:prstGeom>
          <a:solidFill>
            <a:srgbClr val="7B3FE4"/>
          </a:solidFill>
          <a:ln/>
          <a:effectLst>
            <a:outerShdw sx="100000" sy="100000" kx="0" ky="0" algn="bl" rotWithShape="0" blurRad="76200" dist="25400" dir="8100000">
              <a:srgbClr val="000000">
                <a:alpha val="15000"/>
              </a:srgbClr>
            </a:outerShdw>
          </a:effectLst>
        </p:spPr>
      </p:sp>
      <p:sp>
        <p:nvSpPr>
          <p:cNvPr id="26" name="Text 24"/>
          <p:cNvSpPr/>
          <p:nvPr/>
        </p:nvSpPr>
        <p:spPr>
          <a:xfrm>
            <a:off x="7296912" y="1993392"/>
            <a:ext cx="162763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SOCIII</a:t>
            </a:r>
            <a:endParaRPr lang="en-US" sz="1300" dirty="0"/>
          </a:p>
        </p:txBody>
      </p:sp>
      <p:sp>
        <p:nvSpPr>
          <p:cNvPr id="27" name="Text 25"/>
          <p:cNvSpPr/>
          <p:nvPr/>
        </p:nvSpPr>
        <p:spPr>
          <a:xfrm>
            <a:off x="7296912" y="2340864"/>
            <a:ext cx="1627632" cy="502920"/>
          </a:xfrm>
          <a:prstGeom prst="rect">
            <a:avLst/>
          </a:prstGeom>
          <a:noFill/>
          <a:ln/>
        </p:spPr>
        <p:txBody>
          <a:bodyPr wrap="square" rtlCol="0" anchor="ctr"/>
          <a:lstStyle/>
          <a:p>
            <a:pPr algn="ctr" indent="0" marL="0">
              <a:lnSpc>
                <a:spcPct val="110000"/>
              </a:lnSpc>
              <a:buNone/>
            </a:pPr>
            <a:r>
              <a:rPr lang="en-US" sz="1500" b="1" dirty="0">
                <a:solidFill>
                  <a:srgbClr val="10B981"/>
                </a:solidFill>
                <a:latin typeface="Calibri" pitchFamily="34" charset="0"/>
                <a:ea typeface="Calibri" pitchFamily="34" charset="-122"/>
                <a:cs typeface="Calibri" pitchFamily="34" charset="-120"/>
              </a:rPr>
              <a:t>Now</a:t>
            </a:r>
            <a:endParaRPr lang="en-US" sz="1500" dirty="0"/>
          </a:p>
        </p:txBody>
      </p:sp>
      <p:sp>
        <p:nvSpPr>
          <p:cNvPr id="28" name="Text 26"/>
          <p:cNvSpPr/>
          <p:nvPr/>
        </p:nvSpPr>
        <p:spPr>
          <a:xfrm>
            <a:off x="7296912" y="2889504"/>
            <a:ext cx="1627632" cy="292608"/>
          </a:xfrm>
          <a:prstGeom prst="rect">
            <a:avLst/>
          </a:prstGeom>
          <a:noFill/>
          <a:ln/>
        </p:spPr>
        <p:txBody>
          <a:bodyPr wrap="square"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WHERE WE PLAY</a:t>
            </a:r>
            <a:endParaRPr lang="en-US" sz="900" dirty="0"/>
          </a:p>
        </p:txBody>
      </p:sp>
      <p:sp>
        <p:nvSpPr>
          <p:cNvPr id="29" name="Text 27"/>
          <p:cNvSpPr/>
          <p:nvPr/>
        </p:nvSpPr>
        <p:spPr>
          <a:xfrm>
            <a:off x="7388352" y="3236976"/>
            <a:ext cx="1463040" cy="1481328"/>
          </a:xfrm>
          <a:prstGeom prst="rect">
            <a:avLst/>
          </a:prstGeom>
          <a:noFill/>
          <a:ln/>
        </p:spPr>
        <p:txBody>
          <a:bodyPr wrap="square" rtlCol="0" anchor="ctr"/>
          <a:lstStyle/>
          <a:p>
            <a:pPr indent="0" marL="0">
              <a:lnSpc>
                <a:spcPct val="130000"/>
              </a:lnSpc>
              <a:buNone/>
            </a:pPr>
            <a:r>
              <a:rPr lang="en-US" sz="950" dirty="0">
                <a:solidFill>
                  <a:srgbClr val="FFFFFF"/>
                </a:solidFill>
                <a:latin typeface="Calibri" pitchFamily="34" charset="0"/>
                <a:ea typeface="Calibri" pitchFamily="34" charset="-122"/>
                <a:cs typeface="Calibri" pitchFamily="34" charset="-120"/>
              </a:rPr>
              <a:t>RAAS compliance. 1,000+ workers (state-augmented). The Ledger. Studio Locker. Creator economy. Built. Deployed. Running.</a:t>
            </a:r>
            <a:endParaRPr lang="en-US" sz="950" dirty="0"/>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475569"/>
                </a:solidFill>
                <a:latin typeface="Calibri" pitchFamily="34" charset="0"/>
              </a:rPr>
              <a:t>sociii.ai  ·  CONFIDENTIAL  ·  SOCIII Inc. (Delaware C-Corp)  ·  May 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D7A5F"/>
          </a:solidFill>
          <a:ln/>
        </p:spPr>
      </p:sp>
      <p:sp>
        <p:nvSpPr>
          <p:cNvPr id="3" name="Text 1"/>
          <p:cNvSpPr/>
          <p:nvPr/>
        </p:nvSpPr>
        <p:spPr>
          <a:xfrm>
            <a:off x="320040" y="292608"/>
            <a:ext cx="3657600" cy="256032"/>
          </a:xfrm>
          <a:prstGeom prst="rect">
            <a:avLst/>
          </a:prstGeom>
          <a:noFill/>
          <a:ln/>
        </p:spPr>
        <p:txBody>
          <a:bodyPr wrap="square" rtlCol="0" anchor="ctr"/>
          <a:lstStyle/>
          <a:p>
            <a:pPr indent="0" marL="0">
              <a:buNone/>
            </a:pPr>
            <a:r>
              <a:rPr lang="en-US" sz="1100" b="1" spc="300" kern="0" dirty="0">
                <a:solidFill>
                  <a:srgbClr val="10B981"/>
                </a:solidFill>
                <a:latin typeface="Calibri" pitchFamily="34" charset="0"/>
                <a:ea typeface="Calibri" pitchFamily="34" charset="-122"/>
                <a:cs typeface="Calibri" pitchFamily="34" charset="-120"/>
              </a:rPr>
              <a:t>THE SOLUTION</a:t>
            </a:r>
            <a:endParaRPr lang="en-US" sz="1100" dirty="0"/>
          </a:p>
        </p:txBody>
      </p:sp>
      <p:sp>
        <p:nvSpPr>
          <p:cNvPr id="4" name="Text 2"/>
          <p:cNvSpPr/>
          <p:nvPr/>
        </p:nvSpPr>
        <p:spPr>
          <a:xfrm>
            <a:off x="320040" y="530352"/>
            <a:ext cx="6858000" cy="621792"/>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RAAS — Rules + AI-as-a-Service</a:t>
            </a:r>
            <a:endParaRPr lang="en-US" sz="3200" dirty="0"/>
          </a:p>
        </p:txBody>
      </p:sp>
      <p:sp>
        <p:nvSpPr>
          <p:cNvPr id="5" name="Text 3"/>
          <p:cNvSpPr/>
          <p:nvPr/>
        </p:nvSpPr>
        <p:spPr>
          <a:xfrm>
            <a:off x="320040" y="1133856"/>
            <a:ext cx="8412480" cy="411480"/>
          </a:xfrm>
          <a:prstGeom prst="rect">
            <a:avLst/>
          </a:prstGeom>
          <a:noFill/>
          <a:ln/>
        </p:spPr>
        <p:txBody>
          <a:bodyPr wrap="square" rtlCol="0" anchor="ctr"/>
          <a:lstStyle/>
          <a:p>
            <a:pPr indent="0" marL="0">
              <a:buNone/>
            </a:pPr>
            <a:r>
              <a:rPr lang="en-US" sz="1300" i="1" dirty="0">
                <a:solidFill>
                  <a:srgbClr val="10B981"/>
                </a:solidFill>
                <a:latin typeface="Calibri" pitchFamily="34" charset="0"/>
                <a:ea typeface="Calibri" pitchFamily="34" charset="-122"/>
                <a:cs typeface="Calibri" pitchFamily="34" charset="-120"/>
              </a:rPr>
              <a:t>Four-tier compliance architecture baked into every Digital Worker. Aviation, real estate, auto, and banking digital workers live in production today, all RAAS-compliant.</a:t>
            </a:r>
            <a:endParaRPr lang="en-US" sz="1300" dirty="0"/>
          </a:p>
        </p:txBody>
      </p:sp>
      <p:sp>
        <p:nvSpPr>
          <p:cNvPr id="6" name="Shape 4"/>
          <p:cNvSpPr/>
          <p:nvPr/>
        </p:nvSpPr>
        <p:spPr>
          <a:xfrm>
            <a:off x="320040" y="1755648"/>
            <a:ext cx="2029968" cy="3090672"/>
          </a:xfrm>
          <a:prstGeom prst="rect">
            <a:avLst/>
          </a:prstGeom>
          <a:solidFill>
            <a:srgbClr val="3D0000"/>
          </a:solidFill>
          <a:ln w="12700">
            <a:solidFill>
              <a:srgbClr val="FF6B6B">
                <a:alpha val="40000"/>
              </a:srgbClr>
            </a:solidFill>
            <a:prstDash val="solid"/>
          </a:ln>
        </p:spPr>
      </p:sp>
      <p:sp>
        <p:nvSpPr>
          <p:cNvPr id="7" name="Text 5"/>
          <p:cNvSpPr/>
          <p:nvPr/>
        </p:nvSpPr>
        <p:spPr>
          <a:xfrm>
            <a:off x="320040" y="1847088"/>
            <a:ext cx="2029968" cy="320040"/>
          </a:xfrm>
          <a:prstGeom prst="rect">
            <a:avLst/>
          </a:prstGeom>
          <a:noFill/>
          <a:ln/>
        </p:spPr>
        <p:txBody>
          <a:bodyPr wrap="square" rtlCol="0" anchor="ctr"/>
          <a:lstStyle/>
          <a:p>
            <a:pPr algn="ctr" indent="0" marL="0">
              <a:buNone/>
            </a:pPr>
            <a:r>
              <a:rPr lang="en-US" sz="1100" b="1" spc="200" kern="0" dirty="0">
                <a:solidFill>
                  <a:srgbClr val="FF6B6B"/>
                </a:solidFill>
                <a:latin typeface="Calibri" pitchFamily="34" charset="0"/>
                <a:ea typeface="Calibri" pitchFamily="34" charset="-122"/>
                <a:cs typeface="Calibri" pitchFamily="34" charset="-120"/>
              </a:rPr>
              <a:t>TIER 0</a:t>
            </a:r>
            <a:endParaRPr lang="en-US" sz="1100" dirty="0"/>
          </a:p>
        </p:txBody>
      </p:sp>
      <p:sp>
        <p:nvSpPr>
          <p:cNvPr id="8" name="Text 6"/>
          <p:cNvSpPr/>
          <p:nvPr/>
        </p:nvSpPr>
        <p:spPr>
          <a:xfrm>
            <a:off x="429768" y="2212848"/>
            <a:ext cx="182880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Platform Safety</a:t>
            </a:r>
            <a:endParaRPr lang="en-US" sz="1400" dirty="0"/>
          </a:p>
        </p:txBody>
      </p:sp>
      <p:sp>
        <p:nvSpPr>
          <p:cNvPr id="9" name="Text 7"/>
          <p:cNvSpPr/>
          <p:nvPr/>
        </p:nvSpPr>
        <p:spPr>
          <a:xfrm>
            <a:off x="429768" y="2697480"/>
            <a:ext cx="1828800" cy="1965960"/>
          </a:xfrm>
          <a:prstGeom prst="rect">
            <a:avLst/>
          </a:prstGeom>
          <a:noFill/>
          <a:ln/>
        </p:spPr>
        <p:txBody>
          <a:bodyPr wrap="square" rtlCol="0" anchor="ctr"/>
          <a:lstStyle/>
          <a:p>
            <a:pPr indent="0" marL="0">
              <a:lnSpc>
                <a:spcPct val="135000"/>
              </a:lnSpc>
              <a:buNone/>
            </a:pPr>
            <a:r>
              <a:rPr lang="en-US" sz="1100" dirty="0">
                <a:solidFill>
                  <a:srgbClr val="CCCCCC"/>
                </a:solidFill>
                <a:latin typeface="Calibri" pitchFamily="34" charset="0"/>
                <a:ea typeface="Calibri" pitchFamily="34" charset="-122"/>
                <a:cs typeface="Calibri" pitchFamily="34" charset="-120"/>
              </a:rPr>
              <a:t>Universal rules. Violence, PHI, harmful content blocked on every worker. Cannot be overridden by anyone.</a:t>
            </a:r>
            <a:endParaRPr lang="en-US" sz="1100" dirty="0"/>
          </a:p>
        </p:txBody>
      </p:sp>
      <p:sp>
        <p:nvSpPr>
          <p:cNvPr id="10" name="Shape 8"/>
          <p:cNvSpPr/>
          <p:nvPr/>
        </p:nvSpPr>
        <p:spPr>
          <a:xfrm>
            <a:off x="2532888" y="1755648"/>
            <a:ext cx="2029968" cy="3090672"/>
          </a:xfrm>
          <a:prstGeom prst="rect">
            <a:avLst/>
          </a:prstGeom>
          <a:solidFill>
            <a:srgbClr val="1A0A2E"/>
          </a:solidFill>
          <a:ln w="12700">
            <a:solidFill>
              <a:srgbClr val="7B3FE4">
                <a:alpha val="40000"/>
              </a:srgbClr>
            </a:solidFill>
            <a:prstDash val="solid"/>
          </a:ln>
        </p:spPr>
      </p:sp>
      <p:sp>
        <p:nvSpPr>
          <p:cNvPr id="11" name="Text 9"/>
          <p:cNvSpPr/>
          <p:nvPr/>
        </p:nvSpPr>
        <p:spPr>
          <a:xfrm>
            <a:off x="2532888" y="1847088"/>
            <a:ext cx="2029968" cy="320040"/>
          </a:xfrm>
          <a:prstGeom prst="rect">
            <a:avLst/>
          </a:prstGeom>
          <a:noFill/>
          <a:ln/>
        </p:spPr>
        <p:txBody>
          <a:bodyPr wrap="square" rtlCol="0" anchor="ctr"/>
          <a:lstStyle/>
          <a:p>
            <a:pPr algn="ctr" indent="0" marL="0">
              <a:buNone/>
            </a:pPr>
            <a:r>
              <a:rPr lang="en-US" sz="1100" b="1" spc="200" kern="0" dirty="0">
                <a:solidFill>
                  <a:srgbClr val="7B3FE4"/>
                </a:solidFill>
                <a:latin typeface="Calibri" pitchFamily="34" charset="0"/>
                <a:ea typeface="Calibri" pitchFamily="34" charset="-122"/>
                <a:cs typeface="Calibri" pitchFamily="34" charset="-120"/>
              </a:rPr>
              <a:t>TIER 1</a:t>
            </a:r>
            <a:endParaRPr lang="en-US" sz="1100" dirty="0"/>
          </a:p>
        </p:txBody>
      </p:sp>
      <p:sp>
        <p:nvSpPr>
          <p:cNvPr id="12" name="Text 10"/>
          <p:cNvSpPr/>
          <p:nvPr/>
        </p:nvSpPr>
        <p:spPr>
          <a:xfrm>
            <a:off x="2642616" y="2212848"/>
            <a:ext cx="182880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Industry Regulations</a:t>
            </a:r>
            <a:endParaRPr lang="en-US" sz="1400" dirty="0"/>
          </a:p>
        </p:txBody>
      </p:sp>
      <p:sp>
        <p:nvSpPr>
          <p:cNvPr id="13" name="Text 11"/>
          <p:cNvSpPr/>
          <p:nvPr/>
        </p:nvSpPr>
        <p:spPr>
          <a:xfrm>
            <a:off x="2642616" y="2697480"/>
            <a:ext cx="1828800" cy="1965960"/>
          </a:xfrm>
          <a:prstGeom prst="rect">
            <a:avLst/>
          </a:prstGeom>
          <a:noFill/>
          <a:ln/>
        </p:spPr>
        <p:txBody>
          <a:bodyPr wrap="square" rtlCol="0" anchor="ctr"/>
          <a:lstStyle/>
          <a:p>
            <a:pPr indent="0" marL="0">
              <a:lnSpc>
                <a:spcPct val="135000"/>
              </a:lnSpc>
              <a:buNone/>
            </a:pPr>
            <a:r>
              <a:rPr lang="en-US" sz="1100" dirty="0">
                <a:solidFill>
                  <a:srgbClr val="CCCCCC"/>
                </a:solidFill>
                <a:latin typeface="Calibri" pitchFamily="34" charset="0"/>
                <a:ea typeface="Calibri" pitchFamily="34" charset="-122"/>
                <a:cs typeface="Calibri" pitchFamily="34" charset="-120"/>
              </a:rPr>
              <a:t>Real statutes — FAR/AIM, NCLEX, state RE law, HIPAA, Reg D. Compiled once, immutable. A wrong answer in aviation is a safety issue.</a:t>
            </a:r>
            <a:endParaRPr lang="en-US" sz="1100" dirty="0"/>
          </a:p>
        </p:txBody>
      </p:sp>
      <p:sp>
        <p:nvSpPr>
          <p:cNvPr id="14" name="Shape 12"/>
          <p:cNvSpPr/>
          <p:nvPr/>
        </p:nvSpPr>
        <p:spPr>
          <a:xfrm>
            <a:off x="4745736" y="1755648"/>
            <a:ext cx="2029968" cy="3090672"/>
          </a:xfrm>
          <a:prstGeom prst="rect">
            <a:avLst/>
          </a:prstGeom>
          <a:solidFill>
            <a:srgbClr val="1E3A6E"/>
          </a:solidFill>
          <a:ln w="12700">
            <a:solidFill>
              <a:srgbClr val="2D6BE4">
                <a:alpha val="40000"/>
              </a:srgbClr>
            </a:solidFill>
            <a:prstDash val="solid"/>
          </a:ln>
        </p:spPr>
      </p:sp>
      <p:sp>
        <p:nvSpPr>
          <p:cNvPr id="15" name="Text 13"/>
          <p:cNvSpPr/>
          <p:nvPr/>
        </p:nvSpPr>
        <p:spPr>
          <a:xfrm>
            <a:off x="4745736" y="1847088"/>
            <a:ext cx="2029968" cy="320040"/>
          </a:xfrm>
          <a:prstGeom prst="rect">
            <a:avLst/>
          </a:prstGeom>
          <a:noFill/>
          <a:ln/>
        </p:spPr>
        <p:txBody>
          <a:bodyPr wrap="square" rtlCol="0" anchor="ctr"/>
          <a:lstStyle/>
          <a:p>
            <a:pPr algn="ctr" indent="0" marL="0">
              <a:buNone/>
            </a:pPr>
            <a:r>
              <a:rPr lang="en-US" sz="1100" b="1" spc="200" kern="0" dirty="0">
                <a:solidFill>
                  <a:srgbClr val="2D6BE4"/>
                </a:solidFill>
                <a:latin typeface="Calibri" pitchFamily="34" charset="0"/>
                <a:ea typeface="Calibri" pitchFamily="34" charset="-122"/>
                <a:cs typeface="Calibri" pitchFamily="34" charset="-120"/>
              </a:rPr>
              <a:t>TIER 2</a:t>
            </a:r>
            <a:endParaRPr lang="en-US" sz="1100" dirty="0"/>
          </a:p>
        </p:txBody>
      </p:sp>
      <p:sp>
        <p:nvSpPr>
          <p:cNvPr id="16" name="Text 14"/>
          <p:cNvSpPr/>
          <p:nvPr/>
        </p:nvSpPr>
        <p:spPr>
          <a:xfrm>
            <a:off x="4855464" y="2212848"/>
            <a:ext cx="182880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Operator Policies</a:t>
            </a:r>
            <a:endParaRPr lang="en-US" sz="1400" dirty="0"/>
          </a:p>
        </p:txBody>
      </p:sp>
      <p:sp>
        <p:nvSpPr>
          <p:cNvPr id="17" name="Text 15"/>
          <p:cNvSpPr/>
          <p:nvPr/>
        </p:nvSpPr>
        <p:spPr>
          <a:xfrm>
            <a:off x="4855464" y="2697480"/>
            <a:ext cx="1828800" cy="1965960"/>
          </a:xfrm>
          <a:prstGeom prst="rect">
            <a:avLst/>
          </a:prstGeom>
          <a:noFill/>
          <a:ln/>
        </p:spPr>
        <p:txBody>
          <a:bodyPr wrap="square" rtlCol="0" anchor="ctr"/>
          <a:lstStyle/>
          <a:p>
            <a:pPr indent="0" marL="0">
              <a:lnSpc>
                <a:spcPct val="135000"/>
              </a:lnSpc>
              <a:buNone/>
            </a:pPr>
            <a:r>
              <a:rPr lang="en-US" sz="1100" dirty="0">
                <a:solidFill>
                  <a:srgbClr val="CCCCCC"/>
                </a:solidFill>
                <a:latin typeface="Calibri" pitchFamily="34" charset="0"/>
                <a:ea typeface="Calibri" pitchFamily="34" charset="-122"/>
                <a:cs typeface="Calibri" pitchFamily="34" charset="-120"/>
              </a:rPr>
              <a:t>Hospital protocols, dealership SOPs, company operations manuals. Creator-editable. Specific to this operator's deployment.</a:t>
            </a:r>
            <a:endParaRPr lang="en-US" sz="1100" dirty="0"/>
          </a:p>
        </p:txBody>
      </p:sp>
      <p:sp>
        <p:nvSpPr>
          <p:cNvPr id="18" name="Shape 16"/>
          <p:cNvSpPr/>
          <p:nvPr/>
        </p:nvSpPr>
        <p:spPr>
          <a:xfrm>
            <a:off x="6958584" y="1755648"/>
            <a:ext cx="2029968" cy="3090672"/>
          </a:xfrm>
          <a:prstGeom prst="rect">
            <a:avLst/>
          </a:prstGeom>
          <a:solidFill>
            <a:srgbClr val="0A2E1A"/>
          </a:solidFill>
          <a:ln w="12700">
            <a:solidFill>
              <a:srgbClr val="10B981">
                <a:alpha val="40000"/>
              </a:srgbClr>
            </a:solidFill>
            <a:prstDash val="solid"/>
          </a:ln>
        </p:spPr>
      </p:sp>
      <p:sp>
        <p:nvSpPr>
          <p:cNvPr id="19" name="Text 17"/>
          <p:cNvSpPr/>
          <p:nvPr/>
        </p:nvSpPr>
        <p:spPr>
          <a:xfrm>
            <a:off x="6958584" y="1847088"/>
            <a:ext cx="2029968" cy="320040"/>
          </a:xfrm>
          <a:prstGeom prst="rect">
            <a:avLst/>
          </a:prstGeom>
          <a:noFill/>
          <a:ln/>
        </p:spPr>
        <p:txBody>
          <a:bodyPr wrap="square" rtlCol="0" anchor="ctr"/>
          <a:lstStyle/>
          <a:p>
            <a:pPr algn="ctr" indent="0" marL="0">
              <a:buNone/>
            </a:pPr>
            <a:r>
              <a:rPr lang="en-US" sz="1100" b="1" spc="200" kern="0" dirty="0">
                <a:solidFill>
                  <a:srgbClr val="10B981"/>
                </a:solidFill>
                <a:latin typeface="Calibri" pitchFamily="34" charset="0"/>
                <a:ea typeface="Calibri" pitchFamily="34" charset="-122"/>
                <a:cs typeface="Calibri" pitchFamily="34" charset="-120"/>
              </a:rPr>
              <a:t>TIER 3</a:t>
            </a:r>
            <a:endParaRPr lang="en-US" sz="1100" dirty="0"/>
          </a:p>
        </p:txBody>
      </p:sp>
      <p:sp>
        <p:nvSpPr>
          <p:cNvPr id="20" name="Text 18"/>
          <p:cNvSpPr/>
          <p:nvPr/>
        </p:nvSpPr>
        <p:spPr>
          <a:xfrm>
            <a:off x="7068312" y="2212848"/>
            <a:ext cx="182880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User Preferences</a:t>
            </a:r>
            <a:endParaRPr lang="en-US" sz="1400" dirty="0"/>
          </a:p>
        </p:txBody>
      </p:sp>
      <p:sp>
        <p:nvSpPr>
          <p:cNvPr id="21" name="Text 19"/>
          <p:cNvSpPr/>
          <p:nvPr/>
        </p:nvSpPr>
        <p:spPr>
          <a:xfrm>
            <a:off x="7068312" y="2697480"/>
            <a:ext cx="1828800" cy="1965960"/>
          </a:xfrm>
          <a:prstGeom prst="rect">
            <a:avLst/>
          </a:prstGeom>
          <a:noFill/>
          <a:ln/>
        </p:spPr>
        <p:txBody>
          <a:bodyPr wrap="square" rtlCol="0" anchor="ctr"/>
          <a:lstStyle/>
          <a:p>
            <a:pPr indent="0" marL="0">
              <a:lnSpc>
                <a:spcPct val="135000"/>
              </a:lnSpc>
              <a:buNone/>
            </a:pPr>
            <a:r>
              <a:rPr lang="en-US" sz="1100" dirty="0">
                <a:solidFill>
                  <a:srgbClr val="CCCCCC"/>
                </a:solidFill>
                <a:latin typeface="Calibri" pitchFamily="34" charset="0"/>
                <a:ea typeface="Calibri" pitchFamily="34" charset="-122"/>
                <a:cs typeface="Calibri" pitchFamily="34" charset="-120"/>
              </a:rPr>
              <a:t>Individual settings within all tiers above. Pro Tips. Personal context. Subscriber-editable. Makes every worker feel personal.</a:t>
            </a:r>
            <a:endParaRPr lang="en-US" sz="1100" dirty="0"/>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sociii.ai  ·  CONFIDENTIAL  ·  SOCIII Inc. (Delaware C-Corp)  ·  May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4A1D8C"/>
          </a:solidFill>
          <a:ln/>
        </p:spPr>
      </p:sp>
      <p:sp>
        <p:nvSpPr>
          <p:cNvPr id="3" name="Text 1"/>
          <p:cNvSpPr/>
          <p:nvPr/>
        </p:nvSpPr>
        <p:spPr>
          <a:xfrm>
            <a:off x="320040" y="292608"/>
            <a:ext cx="3657600" cy="256032"/>
          </a:xfrm>
          <a:prstGeom prst="rect">
            <a:avLst/>
          </a:prstGeom>
          <a:noFill/>
          <a:ln/>
        </p:spPr>
        <p:txBody>
          <a:bodyPr wrap="square" rtlCol="0" anchor="ctr"/>
          <a:lstStyle/>
          <a:p>
            <a:pPr indent="0" marL="0">
              <a:buNone/>
            </a:pPr>
            <a:r>
              <a:rPr lang="en-US" sz="1100" b="1" spc="300" kern="0" dirty="0">
                <a:solidFill>
                  <a:srgbClr val="4A1D8C"/>
                </a:solidFill>
                <a:latin typeface="Calibri" pitchFamily="34" charset="0"/>
                <a:ea typeface="Calibri" pitchFamily="34" charset="-122"/>
                <a:cs typeface="Calibri" pitchFamily="34" charset="-120"/>
              </a:rPr>
              <a:t>WHAT SOCIII IS</a:t>
            </a:r>
            <a:endParaRPr lang="en-US" sz="1100" dirty="0"/>
          </a:p>
        </p:txBody>
      </p:sp>
      <p:sp>
        <p:nvSpPr>
          <p:cNvPr id="4" name="Text 2"/>
          <p:cNvSpPr/>
          <p:nvPr/>
        </p:nvSpPr>
        <p:spPr>
          <a:xfrm>
            <a:off x="320040" y="530352"/>
            <a:ext cx="8229600" cy="685800"/>
          </a:xfrm>
          <a:prstGeom prst="rect">
            <a:avLst/>
          </a:prstGeom>
          <a:noFill/>
          <a:ln/>
        </p:spPr>
        <p:txBody>
          <a:bodyPr wrap="square" rtlCol="0" anchor="ctr"/>
          <a:lstStyle/>
          <a:p>
            <a:pPr indent="0" marL="0">
              <a:buNone/>
            </a:pPr>
            <a:r>
              <a:rPr lang="en-US" sz="3400" b="1" dirty="0">
                <a:solidFill>
                  <a:srgbClr val="1A0A2E"/>
                </a:solidFill>
                <a:latin typeface="Calibri" pitchFamily="34" charset="0"/>
                <a:ea typeface="Calibri" pitchFamily="34" charset="-122"/>
                <a:cs typeface="Calibri" pitchFamily="34" charset="-120"/>
              </a:rPr>
              <a:t>Business in a Box. Starting at $29/month.</a:t>
            </a:r>
            <a:endParaRPr lang="en-US" sz="3400" dirty="0"/>
          </a:p>
        </p:txBody>
      </p:sp>
      <p:sp>
        <p:nvSpPr>
          <p:cNvPr id="5" name="Text 3"/>
          <p:cNvSpPr/>
          <p:nvPr/>
        </p:nvSpPr>
        <p:spPr>
          <a:xfrm>
            <a:off x="320040" y="1207008"/>
            <a:ext cx="8412480" cy="347472"/>
          </a:xfrm>
          <a:prstGeom prst="rect">
            <a:avLst/>
          </a:prstGeom>
          <a:noFill/>
          <a:ln/>
        </p:spPr>
        <p:txBody>
          <a:bodyPr wrap="square" rtlCol="0" anchor="ctr"/>
          <a:lstStyle/>
          <a:p>
            <a:pPr indent="0" marL="0">
              <a:buNone/>
            </a:pPr>
            <a:r>
              <a:rPr lang="en-US" sz="1300" i="1" dirty="0">
                <a:solidFill>
                  <a:srgbClr val="2A2D3E"/>
                </a:solidFill>
                <a:latin typeface="Calibri" pitchFamily="34" charset="0"/>
                <a:ea typeface="Calibri" pitchFamily="34" charset="-122"/>
                <a:cs typeface="Calibri" pitchFamily="34" charset="-120"/>
              </a:rPr>
              <a:t>Basic Cable + Premium Cable + HBO. The more you use it, the more it's worth — and the more you spend.</a:t>
            </a:r>
            <a:endParaRPr lang="en-US" sz="1300" dirty="0"/>
          </a:p>
        </p:txBody>
      </p:sp>
      <p:sp>
        <p:nvSpPr>
          <p:cNvPr id="6" name="Shape 4"/>
          <p:cNvSpPr/>
          <p:nvPr/>
        </p:nvSpPr>
        <p:spPr>
          <a:xfrm>
            <a:off x="320040" y="1719072"/>
            <a:ext cx="2743200" cy="3182112"/>
          </a:xfrm>
          <a:prstGeom prst="rect">
            <a:avLst/>
          </a:prstGeom>
          <a:solidFill>
            <a:srgbClr val="1A0A2E"/>
          </a:solidFill>
          <a:ln/>
          <a:effectLst>
            <a:outerShdw sx="100000" sy="100000" kx="0" ky="0" algn="bl" rotWithShape="0" blurRad="76200" dist="25400" dir="8100000">
              <a:srgbClr val="000000">
                <a:alpha val="15000"/>
              </a:srgbClr>
            </a:outerShdw>
          </a:effectLst>
        </p:spPr>
      </p:sp>
      <p:sp>
        <p:nvSpPr>
          <p:cNvPr id="7" name="Text 5"/>
          <p:cNvSpPr/>
          <p:nvPr/>
        </p:nvSpPr>
        <p:spPr>
          <a:xfrm>
            <a:off x="457200" y="1810512"/>
            <a:ext cx="24688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Basic Cable — from $29/mo</a:t>
            </a:r>
            <a:endParaRPr lang="en-US" sz="1300" dirty="0"/>
          </a:p>
        </p:txBody>
      </p:sp>
      <p:sp>
        <p:nvSpPr>
          <p:cNvPr id="8" name="Text 6"/>
          <p:cNvSpPr/>
          <p:nvPr/>
        </p:nvSpPr>
        <p:spPr>
          <a:xfrm>
            <a:off x="457200" y="2194560"/>
            <a:ext cx="2468880" cy="274320"/>
          </a:xfrm>
          <a:prstGeom prst="rect">
            <a:avLst/>
          </a:prstGeom>
          <a:noFill/>
          <a:ln/>
        </p:spPr>
        <p:txBody>
          <a:bodyPr wrap="square" rtlCol="0" anchor="ctr"/>
          <a:lstStyle/>
          <a:p>
            <a:pPr indent="0" marL="0">
              <a:buNone/>
            </a:pPr>
            <a:r>
              <a:rPr lang="en-US" sz="1000" i="1" dirty="0">
                <a:solidFill>
                  <a:srgbClr val="7B3FE4"/>
                </a:solidFill>
                <a:latin typeface="Calibri" pitchFamily="34" charset="0"/>
                <a:ea typeface="Calibri" pitchFamily="34" charset="-122"/>
                <a:cs typeface="Calibri" pitchFamily="34" charset="-120"/>
              </a:rPr>
              <a:t>Platform layer. Included for everyone.</a:t>
            </a:r>
            <a:endParaRPr lang="en-US" sz="1000" dirty="0"/>
          </a:p>
        </p:txBody>
      </p:sp>
      <p:sp>
        <p:nvSpPr>
          <p:cNvPr id="9" name="Shape 7"/>
          <p:cNvSpPr/>
          <p:nvPr/>
        </p:nvSpPr>
        <p:spPr>
          <a:xfrm>
            <a:off x="457200" y="2487168"/>
            <a:ext cx="2468880" cy="18288"/>
          </a:xfrm>
          <a:prstGeom prst="rect">
            <a:avLst/>
          </a:prstGeom>
          <a:solidFill>
            <a:srgbClr val="FFFFFF">
              <a:alpha val="25000"/>
            </a:srgbClr>
          </a:solidFill>
          <a:ln/>
        </p:spPr>
      </p:sp>
      <p:sp>
        <p:nvSpPr>
          <p:cNvPr id="10" name="Text 8"/>
          <p:cNvSpPr/>
          <p:nvPr/>
        </p:nvSpPr>
        <p:spPr>
          <a:xfrm>
            <a:off x="457200" y="256032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Alex Chief of Staff (daily brief, pipeline, investor tracking)</a:t>
            </a:r>
            <a:endParaRPr lang="en-US" sz="1000" dirty="0"/>
          </a:p>
        </p:txBody>
      </p:sp>
      <p:sp>
        <p:nvSpPr>
          <p:cNvPr id="11" name="Text 9"/>
          <p:cNvSpPr/>
          <p:nvPr/>
        </p:nvSpPr>
        <p:spPr>
          <a:xfrm>
            <a:off x="457200" y="290779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Control Center (revenue, burn, cash position)</a:t>
            </a:r>
            <a:endParaRPr lang="en-US" sz="1000" dirty="0"/>
          </a:p>
        </p:txBody>
      </p:sp>
      <p:sp>
        <p:nvSpPr>
          <p:cNvPr id="12" name="Text 10"/>
          <p:cNvSpPr/>
          <p:nvPr/>
        </p:nvSpPr>
        <p:spPr>
          <a:xfrm>
            <a:off x="457200" y="3255264"/>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Accounting (statement ingestion, P&amp;L, invoicing)</a:t>
            </a:r>
            <a:endParaRPr lang="en-US" sz="1000" dirty="0"/>
          </a:p>
        </p:txBody>
      </p:sp>
      <p:sp>
        <p:nvSpPr>
          <p:cNvPr id="13" name="Text 11"/>
          <p:cNvSpPr/>
          <p:nvPr/>
        </p:nvSpPr>
        <p:spPr>
          <a:xfrm>
            <a:off x="457200" y="3602736"/>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HR &amp; People (offers, onboarding, compliance)</a:t>
            </a:r>
            <a:endParaRPr lang="en-US" sz="1000" dirty="0"/>
          </a:p>
        </p:txBody>
      </p:sp>
      <p:sp>
        <p:nvSpPr>
          <p:cNvPr id="14" name="Text 12"/>
          <p:cNvSpPr/>
          <p:nvPr/>
        </p:nvSpPr>
        <p:spPr>
          <a:xfrm>
            <a:off x="457200" y="3950208"/>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Marketing &amp; Content (brand voice, social, campaigns)</a:t>
            </a:r>
            <a:endParaRPr lang="en-US" sz="1000" dirty="0"/>
          </a:p>
        </p:txBody>
      </p:sp>
      <p:sp>
        <p:nvSpPr>
          <p:cNvPr id="15" name="Text 13"/>
          <p:cNvSpPr/>
          <p:nvPr/>
        </p:nvSpPr>
        <p:spPr>
          <a:xfrm>
            <a:off x="457200" y="429768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Studio Locker + Document Control</a:t>
            </a:r>
            <a:endParaRPr lang="en-US" sz="1000" dirty="0"/>
          </a:p>
        </p:txBody>
      </p:sp>
      <p:sp>
        <p:nvSpPr>
          <p:cNvPr id="16" name="Text 14"/>
          <p:cNvSpPr/>
          <p:nvPr/>
        </p:nvSpPr>
        <p:spPr>
          <a:xfrm>
            <a:off x="457200" y="464515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1,000 Data Credits/month included</a:t>
            </a:r>
            <a:endParaRPr lang="en-US" sz="1000" dirty="0"/>
          </a:p>
        </p:txBody>
      </p:sp>
      <p:sp>
        <p:nvSpPr>
          <p:cNvPr id="17" name="Shape 15"/>
          <p:cNvSpPr/>
          <p:nvPr/>
        </p:nvSpPr>
        <p:spPr>
          <a:xfrm>
            <a:off x="3291840" y="1719072"/>
            <a:ext cx="2743200" cy="3182112"/>
          </a:xfrm>
          <a:prstGeom prst="rect">
            <a:avLst/>
          </a:prstGeom>
          <a:solidFill>
            <a:srgbClr val="4A1D8C"/>
          </a:solidFill>
          <a:ln/>
          <a:effectLst>
            <a:outerShdw sx="100000" sy="100000" kx="0" ky="0" algn="bl" rotWithShape="0" blurRad="76200" dist="25400" dir="8100000">
              <a:srgbClr val="000000">
                <a:alpha val="15000"/>
              </a:srgbClr>
            </a:outerShdw>
          </a:effectLst>
        </p:spPr>
      </p:sp>
      <p:sp>
        <p:nvSpPr>
          <p:cNvPr id="18" name="Text 16"/>
          <p:cNvSpPr/>
          <p:nvPr/>
        </p:nvSpPr>
        <p:spPr>
          <a:xfrm>
            <a:off x="3429000" y="1810512"/>
            <a:ext cx="24688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Premium Cable — add-on</a:t>
            </a:r>
            <a:endParaRPr lang="en-US" sz="1300" dirty="0"/>
          </a:p>
        </p:txBody>
      </p:sp>
      <p:sp>
        <p:nvSpPr>
          <p:cNvPr id="19" name="Text 17"/>
          <p:cNvSpPr/>
          <p:nvPr/>
        </p:nvSpPr>
        <p:spPr>
          <a:xfrm>
            <a:off x="3429000" y="2194560"/>
            <a:ext cx="2468880" cy="274320"/>
          </a:xfrm>
          <a:prstGeom prst="rect">
            <a:avLst/>
          </a:prstGeom>
          <a:noFill/>
          <a:ln/>
        </p:spPr>
        <p:txBody>
          <a:bodyPr wrap="square" rtlCol="0" anchor="ctr"/>
          <a:lstStyle/>
          <a:p>
            <a:pPr indent="0" marL="0">
              <a:buNone/>
            </a:pPr>
            <a:r>
              <a:rPr lang="en-US" sz="1000" i="1" dirty="0">
                <a:solidFill>
                  <a:srgbClr val="7B3FE4"/>
                </a:solidFill>
                <a:latin typeface="Calibri" pitchFamily="34" charset="0"/>
                <a:ea typeface="Calibri" pitchFamily="34" charset="-122"/>
                <a:cs typeface="Calibri" pitchFamily="34" charset="-120"/>
              </a:rPr>
              <a:t>3-5 specialized workers per industry.</a:t>
            </a:r>
            <a:endParaRPr lang="en-US" sz="1000" dirty="0"/>
          </a:p>
        </p:txBody>
      </p:sp>
      <p:sp>
        <p:nvSpPr>
          <p:cNvPr id="20" name="Shape 18"/>
          <p:cNvSpPr/>
          <p:nvPr/>
        </p:nvSpPr>
        <p:spPr>
          <a:xfrm>
            <a:off x="3429000" y="2487168"/>
            <a:ext cx="2468880" cy="18288"/>
          </a:xfrm>
          <a:prstGeom prst="rect">
            <a:avLst/>
          </a:prstGeom>
          <a:solidFill>
            <a:srgbClr val="FFFFFF">
              <a:alpha val="25000"/>
            </a:srgbClr>
          </a:solidFill>
          <a:ln/>
        </p:spPr>
      </p:sp>
      <p:sp>
        <p:nvSpPr>
          <p:cNvPr id="21" name="Text 19"/>
          <p:cNvSpPr/>
          <p:nvPr/>
        </p:nvSpPr>
        <p:spPr>
          <a:xfrm>
            <a:off x="3429000" y="256032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Aviation: PC12 CoPilot, Flight Planning, Logbook, FRAT</a:t>
            </a:r>
            <a:endParaRPr lang="en-US" sz="1000" dirty="0"/>
          </a:p>
        </p:txBody>
      </p:sp>
      <p:sp>
        <p:nvSpPr>
          <p:cNvPr id="22" name="Text 20"/>
          <p:cNvSpPr/>
          <p:nvPr/>
        </p:nvSpPr>
        <p:spPr>
          <a:xfrm>
            <a:off x="3429000" y="290779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Healthcare: Nursing Assessment, Protocol Advisor</a:t>
            </a:r>
            <a:endParaRPr lang="en-US" sz="1000" dirty="0"/>
          </a:p>
        </p:txBody>
      </p:sp>
      <p:sp>
        <p:nvSpPr>
          <p:cNvPr id="23" name="Text 21"/>
          <p:cNvSpPr/>
          <p:nvPr/>
        </p:nvSpPr>
        <p:spPr>
          <a:xfrm>
            <a:off x="3429000" y="3255264"/>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Auto Dealer: F&amp;I Closer, VIN Decode, Deal Desk</a:t>
            </a:r>
            <a:endParaRPr lang="en-US" sz="1000" dirty="0"/>
          </a:p>
        </p:txBody>
      </p:sp>
      <p:sp>
        <p:nvSpPr>
          <p:cNvPr id="24" name="Text 22"/>
          <p:cNvSpPr/>
          <p:nvPr/>
        </p:nvSpPr>
        <p:spPr>
          <a:xfrm>
            <a:off x="3429000" y="3602736"/>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Real Estate: CRE Analyst, Cap Rate, Lease Analyzer</a:t>
            </a:r>
            <a:endParaRPr lang="en-US" sz="1000" dirty="0"/>
          </a:p>
        </p:txBody>
      </p:sp>
      <p:sp>
        <p:nvSpPr>
          <p:cNvPr id="25" name="Text 23"/>
          <p:cNvSpPr/>
          <p:nvPr/>
        </p:nvSpPr>
        <p:spPr>
          <a:xfrm>
            <a:off x="3429000" y="3950208"/>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Banking: Investor Relations, Reg D Compliance</a:t>
            </a:r>
            <a:endParaRPr lang="en-US" sz="1000" dirty="0"/>
          </a:p>
        </p:txBody>
      </p:sp>
      <p:sp>
        <p:nvSpPr>
          <p:cNvPr id="26" name="Text 24"/>
          <p:cNvSpPr/>
          <p:nvPr/>
        </p:nvSpPr>
        <p:spPr>
          <a:xfrm>
            <a:off x="3429000" y="429768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Web3: DAO Governance, Treasury, Token Analytics</a:t>
            </a:r>
            <a:endParaRPr lang="en-US" sz="1000" dirty="0"/>
          </a:p>
        </p:txBody>
      </p:sp>
      <p:sp>
        <p:nvSpPr>
          <p:cNvPr id="27" name="Shape 25"/>
          <p:cNvSpPr/>
          <p:nvPr/>
        </p:nvSpPr>
        <p:spPr>
          <a:xfrm>
            <a:off x="6263640" y="1719072"/>
            <a:ext cx="2743200" cy="3182112"/>
          </a:xfrm>
          <a:prstGeom prst="rect">
            <a:avLst/>
          </a:prstGeom>
          <a:solidFill>
            <a:srgbClr val="0D7A5F"/>
          </a:solidFill>
          <a:ln/>
          <a:effectLst>
            <a:outerShdw sx="100000" sy="100000" kx="0" ky="0" algn="bl" rotWithShape="0" blurRad="76200" dist="25400" dir="8100000">
              <a:srgbClr val="000000">
                <a:alpha val="15000"/>
              </a:srgbClr>
            </a:outerShdw>
          </a:effectLst>
        </p:spPr>
      </p:sp>
      <p:sp>
        <p:nvSpPr>
          <p:cNvPr id="28" name="Text 26"/>
          <p:cNvSpPr/>
          <p:nvPr/>
        </p:nvSpPr>
        <p:spPr>
          <a:xfrm>
            <a:off x="6400800" y="1810512"/>
            <a:ext cx="24688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Creator HBO — marketplace</a:t>
            </a:r>
            <a:endParaRPr lang="en-US" sz="1300" dirty="0"/>
          </a:p>
        </p:txBody>
      </p:sp>
      <p:sp>
        <p:nvSpPr>
          <p:cNvPr id="29" name="Text 27"/>
          <p:cNvSpPr/>
          <p:nvPr/>
        </p:nvSpPr>
        <p:spPr>
          <a:xfrm>
            <a:off x="6400800" y="2194560"/>
            <a:ext cx="2468880" cy="274320"/>
          </a:xfrm>
          <a:prstGeom prst="rect">
            <a:avLst/>
          </a:prstGeom>
          <a:noFill/>
          <a:ln/>
        </p:spPr>
        <p:txBody>
          <a:bodyPr wrap="square" rtlCol="0" anchor="ctr"/>
          <a:lstStyle/>
          <a:p>
            <a:pPr indent="0" marL="0">
              <a:buNone/>
            </a:pPr>
            <a:r>
              <a:rPr lang="en-US" sz="1000" i="1" dirty="0">
                <a:solidFill>
                  <a:srgbClr val="10B981"/>
                </a:solidFill>
                <a:latin typeface="Calibri" pitchFamily="34" charset="0"/>
                <a:ea typeface="Calibri" pitchFamily="34" charset="-122"/>
                <a:cs typeface="Calibri" pitchFamily="34" charset="-120"/>
              </a:rPr>
              <a:t>Domain experts build. Community subscribes.</a:t>
            </a:r>
            <a:endParaRPr lang="en-US" sz="1000" dirty="0"/>
          </a:p>
        </p:txBody>
      </p:sp>
      <p:sp>
        <p:nvSpPr>
          <p:cNvPr id="30" name="Shape 28"/>
          <p:cNvSpPr/>
          <p:nvPr/>
        </p:nvSpPr>
        <p:spPr>
          <a:xfrm>
            <a:off x="6400800" y="2487168"/>
            <a:ext cx="2468880" cy="18288"/>
          </a:xfrm>
          <a:prstGeom prst="rect">
            <a:avLst/>
          </a:prstGeom>
          <a:solidFill>
            <a:srgbClr val="FFFFFF">
              <a:alpha val="25000"/>
            </a:srgbClr>
          </a:solidFill>
          <a:ln/>
        </p:spPr>
      </p:sp>
      <p:sp>
        <p:nvSpPr>
          <p:cNvPr id="31" name="Text 29"/>
          <p:cNvSpPr/>
          <p:nvPr/>
        </p:nvSpPr>
        <p:spPr>
          <a:xfrm>
            <a:off x="6400800" y="256032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Any professional builds a worker in one session</a:t>
            </a:r>
            <a:endParaRPr lang="en-US" sz="1000" dirty="0"/>
          </a:p>
        </p:txBody>
      </p:sp>
      <p:sp>
        <p:nvSpPr>
          <p:cNvPr id="32" name="Text 30"/>
          <p:cNvSpPr/>
          <p:nvPr/>
        </p:nvSpPr>
        <p:spPr>
          <a:xfrm>
            <a:off x="6400800" y="290779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High school football team in a box</a:t>
            </a:r>
            <a:endParaRPr lang="en-US" sz="1000" dirty="0"/>
          </a:p>
        </p:txBody>
      </p:sp>
      <p:sp>
        <p:nvSpPr>
          <p:cNvPr id="33" name="Text 31"/>
          <p:cNvSpPr/>
          <p:nvPr/>
        </p:nvSpPr>
        <p:spPr>
          <a:xfrm>
            <a:off x="6400800" y="3255264"/>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A QB coach builds a worker for student athletes</a:t>
            </a:r>
            <a:endParaRPr lang="en-US" sz="1000" dirty="0"/>
          </a:p>
        </p:txBody>
      </p:sp>
      <p:sp>
        <p:nvSpPr>
          <p:cNvPr id="34" name="Text 32"/>
          <p:cNvSpPr/>
          <p:nvPr/>
        </p:nvSpPr>
        <p:spPr>
          <a:xfrm>
            <a:off x="6400800" y="3602736"/>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Creator keeps 75% of subscription revenue</a:t>
            </a:r>
            <a:endParaRPr lang="en-US" sz="1000" dirty="0"/>
          </a:p>
        </p:txBody>
      </p:sp>
      <p:sp>
        <p:nvSpPr>
          <p:cNvPr id="35" name="Text 33"/>
          <p:cNvSpPr/>
          <p:nvPr/>
        </p:nvSpPr>
        <p:spPr>
          <a:xfrm>
            <a:off x="6400800" y="3950208"/>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SOCIII earns 25% + Data Credits on every session</a:t>
            </a:r>
            <a:endParaRPr lang="en-US" sz="1000" dirty="0"/>
          </a:p>
        </p:txBody>
      </p:sp>
      <p:sp>
        <p:nvSpPr>
          <p:cNvPr id="36" name="Text 34"/>
          <p:cNvSpPr/>
          <p:nvPr/>
        </p:nvSpPr>
        <p:spPr>
          <a:xfrm>
            <a:off x="6400800" y="429768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Network effects: more creators → more subscribers</a:t>
            </a:r>
            <a:endParaRPr lang="en-US" sz="1000" dirty="0"/>
          </a:p>
        </p:txBody>
      </p:sp>
      <p:sp>
        <p:nvSpPr>
          <p:cNvPr id="37" name="Text 35"/>
          <p:cNvSpPr/>
          <p:nvPr/>
        </p:nvSpPr>
        <p:spPr>
          <a:xfrm>
            <a:off x="320040" y="4990000"/>
            <a:ext cx="8412480" cy="219456"/>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Data Credits run out ~weekly for active users. Alex notifies. End of month Alex recommends bulk purchase. Individual workers $29 / $49 / $79; Business in a Box $99; all workers $299. Average active user spend $99+/mo with compute.</a:t>
            </a:r>
            <a:endParaRPr lang="en-US" sz="1000" dirty="0"/>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475569"/>
                </a:solidFill>
                <a:latin typeface="Calibri" pitchFamily="34" charset="0"/>
              </a:rPr>
              <a:t>sociii.ai  ·  CONFIDENTIAL  ·  SOCIII Inc. (Delaware C-Corp)  ·  May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2D6BE4"/>
          </a:solidFill>
          <a:ln/>
        </p:spPr>
      </p:sp>
      <p:sp>
        <p:nvSpPr>
          <p:cNvPr id="3" name="Text 1"/>
          <p:cNvSpPr/>
          <p:nvPr/>
        </p:nvSpPr>
        <p:spPr>
          <a:xfrm>
            <a:off x="320040" y="201168"/>
            <a:ext cx="4572000" cy="256032"/>
          </a:xfrm>
          <a:prstGeom prst="rect">
            <a:avLst/>
          </a:prstGeom>
          <a:noFill/>
          <a:ln/>
        </p:spPr>
        <p:txBody>
          <a:bodyPr wrap="square" rtlCol="0" anchor="ctr"/>
          <a:lstStyle/>
          <a:p>
            <a:pPr indent="0" marL="0">
              <a:buNone/>
            </a:pPr>
            <a:r>
              <a:rPr lang="en-US" sz="1100" b="1" spc="300" kern="0" dirty="0">
                <a:solidFill>
                  <a:srgbClr val="2D6BE4"/>
                </a:solidFill>
                <a:latin typeface="Calibri" pitchFamily="34" charset="0"/>
                <a:ea typeface="Calibri" pitchFamily="34" charset="-122"/>
                <a:cs typeface="Calibri" pitchFamily="34" charset="-120"/>
              </a:rPr>
              <a:t>THE PRODUCT — LIVE</a:t>
            </a:r>
            <a:endParaRPr lang="en-US" sz="1100" dirty="0"/>
          </a:p>
        </p:txBody>
      </p:sp>
      <p:sp>
        <p:nvSpPr>
          <p:cNvPr id="4" name="Text 2"/>
          <p:cNvSpPr/>
          <p:nvPr/>
        </p:nvSpPr>
        <p:spPr>
          <a:xfrm>
            <a:off x="320040" y="438912"/>
            <a:ext cx="5029200" cy="1005840"/>
          </a:xfrm>
          <a:prstGeom prst="rect">
            <a:avLst/>
          </a:prstGeom>
          <a:noFill/>
          <a:ln/>
        </p:spPr>
        <p:txBody>
          <a:bodyPr wrap="square" rtlCol="0" anchor="ctr"/>
          <a:lstStyle/>
          <a:p>
            <a:pPr indent="0" marL="0">
              <a:lnSpc>
                <a:spcPct val="110000"/>
              </a:lnSpc>
              <a:buNone/>
            </a:pPr>
            <a:r>
              <a:rPr lang="en-US" sz="2800" b="1" dirty="0">
                <a:solidFill>
                  <a:srgbClr val="FFFFFF"/>
                </a:solidFill>
                <a:latin typeface="Calibri" pitchFamily="34" charset="0"/>
                <a:ea typeface="Calibri" pitchFamily="34" charset="-122"/>
                <a:cs typeface="Calibri" pitchFamily="34" charset="-120"/>
              </a:rPr>
              <a:t>Not a mockup. Not a demo.</a:t>
            </a:r>
            <a:endParaRPr lang="en-US" sz="2800" dirty="0"/>
          </a:p>
          <a:p>
            <a:pPr indent="0" marL="0">
              <a:lnSpc>
                <a:spcPct val="110000"/>
              </a:lnSpc>
              <a:buNone/>
            </a:pPr>
            <a:r>
              <a:rPr lang="en-US" sz="2800" b="1" dirty="0">
                <a:solidFill>
                  <a:srgbClr val="FFFFFF"/>
                </a:solidFill>
                <a:latin typeface="Calibri" pitchFamily="34" charset="0"/>
                <a:ea typeface="Calibri" pitchFamily="34" charset="-122"/>
                <a:cs typeface="Calibri" pitchFamily="34" charset="-120"/>
              </a:rPr>
              <a:t>This runs every day.</a:t>
            </a:r>
            <a:endParaRPr lang="en-US" sz="2800" dirty="0"/>
          </a:p>
        </p:txBody>
      </p:sp>
      <p:sp>
        <p:nvSpPr>
          <p:cNvPr id="5" name="Text 3"/>
          <p:cNvSpPr/>
          <p:nvPr/>
        </p:nvSpPr>
        <p:spPr>
          <a:xfrm>
            <a:off x="320040" y="1444752"/>
            <a:ext cx="5029200" cy="320040"/>
          </a:xfrm>
          <a:prstGeom prst="rect">
            <a:avLst/>
          </a:prstGeom>
          <a:noFill/>
          <a:ln/>
        </p:spPr>
        <p:txBody>
          <a:bodyPr wrap="square" rtlCol="0" anchor="ctr"/>
          <a:lstStyle/>
          <a:p>
            <a:pPr indent="0" marL="0">
              <a:buNone/>
            </a:pPr>
            <a:r>
              <a:rPr lang="en-US" sz="1200" i="1" dirty="0">
                <a:solidFill>
                  <a:srgbClr val="10B981"/>
                </a:solidFill>
                <a:latin typeface="Calibri" pitchFamily="34" charset="0"/>
                <a:ea typeface="Calibri" pitchFamily="34" charset="-122"/>
                <a:cs typeface="Calibri" pitchFamily="34" charset="-120"/>
              </a:rPr>
              <a:t>Real workspace. Real marketplace. Real worker. Three views of the live product.</a:t>
            </a:r>
            <a:endParaRPr lang="en-US" sz="1200" dirty="0"/>
          </a:p>
        </p:txBody>
      </p:sp>
      <p:sp>
        <p:nvSpPr>
          <p:cNvPr id="101" name="Frame101"/>
          <p:cNvSpPr/>
          <p:nvPr/>
        </p:nvSpPr>
        <p:spPr>
          <a:xfrm>
            <a:off x="305040" y="1874520"/>
            <a:ext cx="2780000" cy="1920000"/>
          </a:xfrm>
          <a:prstGeom prst="rect">
            <a:avLst/>
          </a:prstGeom>
          <a:solidFill>
            <a:srgbClr val="1A1F2E"/>
          </a:solidFill>
          <a:ln>
            <a:solidFill>
              <a:srgbClr val="7C3AED"/>
            </a:solidFill>
          </a:ln>
        </p:spPr>
      </p:sp>
      <p:pic>
        <p:nvPicPr>
          <p:cNvPr id="102" name="ShotDashboard"/>
          <p:cNvPicPr>
            <a:picLocks noChangeAspect="1"/>
          </p:cNvPicPr>
          <p:nvPr/>
        </p:nvPicPr>
        <p:blipFill>
          <a:blip r:embed="rId3"/>
          <a:stretch>
            <a:fillRect/>
          </a:stretch>
        </p:blipFill>
        <p:spPr>
          <a:xfrm>
            <a:off x="320040" y="1892808"/>
            <a:ext cx="2750000" cy="1750000"/>
          </a:xfrm>
          <a:prstGeom prst="rect">
            <a:avLst/>
          </a:prstGeom>
        </p:spPr>
      </p:pic>
      <p:sp>
        <p:nvSpPr>
          <p:cNvPr id="103" name="Caption103"/>
          <p:cNvSpPr/>
          <p:nvPr/>
        </p:nvSpPr>
        <p:spPr>
          <a:xfrm>
            <a:off x="320040" y="3700000"/>
            <a:ext cx="2750000" cy="200000"/>
          </a:xfrm>
          <a:prstGeom prst="rect">
            <a:avLst/>
          </a:prstGeom>
          <a:noFill/>
          <a:ln/>
        </p:spPr>
        <p:txBody>
          <a:bodyPr wrap="square" rtlCol="0" anchor="t"/>
          <a:lstStyle/>
          <a:p>
            <a:pPr indent="0" marL="0" algn="ctr">
              <a:buNone/>
            </a:pPr>
            <a:r>
              <a:rPr lang="en-US" sz="900" i="1" kern="0" dirty="0">
                <a:solidFill>
                  <a:srgbClr val="AABBDD"/>
                </a:solidFill>
                <a:latin typeface="Calibri" pitchFamily="34" charset="0"/>
              </a:rPr>
              <a:t>Workspace · 22 active workers across 6 categories</a:t>
            </a:r>
          </a:p>
        </p:txBody>
      </p:sp>
      <p:sp>
        <p:nvSpPr>
          <p:cNvPr id="104" name="Frame104"/>
          <p:cNvSpPr/>
          <p:nvPr/>
        </p:nvSpPr>
        <p:spPr>
          <a:xfrm>
            <a:off x="3175040" y="1874520"/>
            <a:ext cx="2780000" cy="1920000"/>
          </a:xfrm>
          <a:prstGeom prst="rect">
            <a:avLst/>
          </a:prstGeom>
          <a:solidFill>
            <a:srgbClr val="1A1F2E"/>
          </a:solidFill>
          <a:ln>
            <a:solidFill>
              <a:srgbClr val="7C3AED"/>
            </a:solidFill>
          </a:ln>
        </p:spPr>
      </p:sp>
      <p:pic>
        <p:nvPicPr>
          <p:cNvPr id="105" name="ShotMarketplace"/>
          <p:cNvPicPr>
            <a:picLocks noChangeAspect="1"/>
          </p:cNvPicPr>
          <p:nvPr/>
        </p:nvPicPr>
        <p:blipFill>
          <a:blip r:embed="rId4"/>
          <a:stretch>
            <a:fillRect/>
          </a:stretch>
        </p:blipFill>
        <p:spPr>
          <a:xfrm>
            <a:off x="3190040" y="1892808"/>
            <a:ext cx="2750000" cy="1750000"/>
          </a:xfrm>
          <a:prstGeom prst="rect">
            <a:avLst/>
          </a:prstGeom>
        </p:spPr>
      </p:pic>
      <p:sp>
        <p:nvSpPr>
          <p:cNvPr id="106" name="Caption106"/>
          <p:cNvSpPr/>
          <p:nvPr/>
        </p:nvSpPr>
        <p:spPr>
          <a:xfrm>
            <a:off x="3190040" y="3700000"/>
            <a:ext cx="2750000" cy="200000"/>
          </a:xfrm>
          <a:prstGeom prst="rect">
            <a:avLst/>
          </a:prstGeom>
          <a:noFill/>
          <a:ln/>
        </p:spPr>
        <p:txBody>
          <a:bodyPr wrap="square" rtlCol="0" anchor="t"/>
          <a:lstStyle/>
          <a:p>
            <a:pPr indent="0" marL="0" algn="ctr">
              <a:buNone/>
            </a:pPr>
            <a:r>
              <a:rPr lang="en-US" sz="900" i="1" kern="0" dirty="0">
                <a:solidFill>
                  <a:srgbClr val="AABBDD"/>
                </a:solidFill>
                <a:latin typeface="Calibri" pitchFamily="34" charset="0"/>
              </a:rPr>
              <a:t>Marketplace · 1,000+ workers · 13 industries · 54 countries</a:t>
            </a:r>
          </a:p>
        </p:txBody>
      </p:sp>
      <p:sp>
        <p:nvSpPr>
          <p:cNvPr id="107" name="Frame107"/>
          <p:cNvSpPr/>
          <p:nvPr/>
        </p:nvSpPr>
        <p:spPr>
          <a:xfrm>
            <a:off x="6045040" y="1874520"/>
            <a:ext cx="2780000" cy="1920000"/>
          </a:xfrm>
          <a:prstGeom prst="rect">
            <a:avLst/>
          </a:prstGeom>
          <a:solidFill>
            <a:srgbClr val="1A1F2E"/>
          </a:solidFill>
          <a:ln>
            <a:solidFill>
              <a:srgbClr val="7C3AED"/>
            </a:solidFill>
          </a:ln>
        </p:spPr>
      </p:sp>
      <p:pic>
        <p:nvPicPr>
          <p:cNvPr id="108" name="ShotPC12"/>
          <p:cNvPicPr>
            <a:picLocks noChangeAspect="1"/>
          </p:cNvPicPr>
          <p:nvPr/>
        </p:nvPicPr>
        <p:blipFill>
          <a:blip r:embed="rId5"/>
          <a:stretch>
            <a:fillRect/>
          </a:stretch>
        </p:blipFill>
        <p:spPr>
          <a:xfrm>
            <a:off x="6060040" y="1892808"/>
            <a:ext cx="2750000" cy="1750000"/>
          </a:xfrm>
          <a:prstGeom prst="rect">
            <a:avLst/>
          </a:prstGeom>
        </p:spPr>
      </p:pic>
      <p:sp>
        <p:nvSpPr>
          <p:cNvPr id="109" name="Caption109"/>
          <p:cNvSpPr/>
          <p:nvPr/>
        </p:nvSpPr>
        <p:spPr>
          <a:xfrm>
            <a:off x="6060040" y="3700000"/>
            <a:ext cx="2750000" cy="200000"/>
          </a:xfrm>
          <a:prstGeom prst="rect">
            <a:avLst/>
          </a:prstGeom>
          <a:noFill/>
          <a:ln/>
        </p:spPr>
        <p:txBody>
          <a:bodyPr wrap="square" rtlCol="0" anchor="t"/>
          <a:lstStyle/>
          <a:p>
            <a:pPr indent="0" marL="0" algn="ctr">
              <a:buNone/>
            </a:pPr>
            <a:r>
              <a:rPr lang="en-US" sz="900" i="1" kern="0" dirty="0">
                <a:solidFill>
                  <a:srgbClr val="AABBDD"/>
                </a:solidFill>
                <a:latin typeface="Calibri" pitchFamily="34" charset="0"/>
              </a:rPr>
              <a:t>PC12-NG CoPilot · Flight planning, sample KSEA→KPDX</a:t>
            </a:r>
          </a:p>
        </p:txBody>
      </p:sp>
      <p:sp>
        <p:nvSpPr>
          <p:cNvPr id="44" name="Text 40"/>
          <p:cNvSpPr/>
          <p:nvPr/>
        </p:nvSpPr>
        <p:spPr>
          <a:xfrm>
            <a:off x="320040" y="4864608"/>
            <a:ext cx="5577840" cy="219456"/>
          </a:xfrm>
          <a:prstGeom prst="rect">
            <a:avLst/>
          </a:prstGeom>
          <a:noFill/>
          <a:ln/>
        </p:spPr>
        <p:txBody>
          <a:bodyPr wrap="square" rtlCol="0" anchor="ctr"/>
          <a:lstStyle/>
          <a:p>
            <a:pPr indent="0" marL="0">
              <a:buNone/>
            </a:pPr>
            <a:r>
              <a:rPr lang="en-US" sz="1000" b="1" i="1" dirty="0">
                <a:solidFill>
                  <a:srgbClr val="10B981"/>
                </a:solidFill>
                <a:latin typeface="Calibri" pitchFamily="34" charset="0"/>
                <a:ea typeface="Calibri" pitchFamily="34" charset="-122"/>
                <a:cs typeface="Calibri" pitchFamily="34" charset="-120"/>
              </a:rPr>
              <a:t>Every worker built on the platform is a recurring revenue line we operate. Built once, operated forever, governed for compliance.</a:t>
            </a:r>
            <a:endParaRPr lang="en-US" sz="1000" dirty="0"/>
          </a:p>
        </p:txBody>
      </p:sp>
      <p:pic>
        <p:nvPicPr>
          <p:cNvPr id="45" name="Picture 44" descr="s1_small.png"/>
          <p:cNvPicPr>
            <a:picLocks noChangeAspect="1"/>
          </p:cNvPicPr>
          <p:nvPr/>
        </p:nvPicPr>
        <p:blipFill>
          <a:blip r:embed="rId3"/>
          <a:stretch>
            <a:fillRect/>
          </a:stretch>
        </p:blipFill>
        <p:spPr>
          <a:xfrm>
            <a:off x="292608" y="1892807"/>
            <a:ext cx="3026664" cy="1883664"/>
          </a:xfrm>
          <a:prstGeom prst="rect">
            <a:avLst/>
          </a:prstGeom>
        </p:spPr>
      </p:pic>
      <p:pic>
        <p:nvPicPr>
          <p:cNvPr id="46" name="Picture 45" descr="s5_small.png"/>
          <p:cNvPicPr>
            <a:picLocks noChangeAspect="1"/>
          </p:cNvPicPr>
          <p:nvPr/>
        </p:nvPicPr>
        <p:blipFill>
          <a:blip r:embed="rId4"/>
          <a:stretch>
            <a:fillRect/>
          </a:stretch>
        </p:blipFill>
        <p:spPr>
          <a:xfrm>
            <a:off x="3447288" y="1892807"/>
            <a:ext cx="2340864" cy="1883664"/>
          </a:xfrm>
          <a:prstGeom prst="rect">
            <a:avLst/>
          </a:prstGeom>
        </p:spPr>
      </p:pic>
      <p:pic>
        <p:nvPicPr>
          <p:cNvPr id="950" name="CornerLogo"/>
          <p:cNvPicPr>
            <a:picLocks noChangeAspect="1"/>
          </p:cNvPicPr>
          <p:nvPr/>
        </p:nvPicPr>
        <p:blipFill>
          <a:blip r:embed="rId6"/>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sociii.ai  ·  CONFIDENTIAL  ·  SOCIII Inc. (Delaware C-Corp)  ·  May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4A1D8C"/>
          </a:solidFill>
          <a:ln/>
        </p:spPr>
      </p:sp>
      <p:sp>
        <p:nvSpPr>
          <p:cNvPr id="3" name="Text 1"/>
          <p:cNvSpPr/>
          <p:nvPr/>
        </p:nvSpPr>
        <p:spPr>
          <a:xfrm>
            <a:off x="320040" y="201168"/>
            <a:ext cx="3657600" cy="256032"/>
          </a:xfrm>
          <a:prstGeom prst="rect">
            <a:avLst/>
          </a:prstGeom>
          <a:noFill/>
          <a:ln/>
        </p:spPr>
        <p:txBody>
          <a:bodyPr wrap="square" rtlCol="0" anchor="ctr"/>
          <a:lstStyle/>
          <a:p>
            <a:pPr indent="0" marL="0">
              <a:buNone/>
            </a:pPr>
            <a:r>
              <a:rPr lang="en-US" sz="1100" b="1" spc="300" kern="0" dirty="0">
                <a:solidFill>
                  <a:srgbClr val="4A1D8C"/>
                </a:solidFill>
                <a:latin typeface="Calibri" pitchFamily="34" charset="0"/>
                <a:ea typeface="Calibri" pitchFamily="34" charset="-122"/>
                <a:cs typeface="Calibri" pitchFamily="34" charset="-120"/>
              </a:rPr>
              <a:t>APPENDIX  ·  GO-TO-MARKET</a:t>
            </a:r>
            <a:endParaRPr lang="en-US" sz="1100" dirty="0"/>
          </a:p>
        </p:txBody>
      </p:sp>
      <p:sp>
        <p:nvSpPr>
          <p:cNvPr id="4" name="Text 2"/>
          <p:cNvSpPr/>
          <p:nvPr/>
        </p:nvSpPr>
        <p:spPr>
          <a:xfrm>
            <a:off x="320040" y="411480"/>
            <a:ext cx="5669280" cy="1444752"/>
          </a:xfrm>
          <a:prstGeom prst="rect">
            <a:avLst/>
          </a:prstGeom>
          <a:noFill/>
          <a:ln/>
        </p:spPr>
        <p:txBody>
          <a:bodyPr wrap="square" rtlCol="0" anchor="ctr"/>
          <a:lstStyle/>
          <a:p>
            <a:pPr indent="0" marL="0">
              <a:lnSpc>
                <a:spcPct val="112000"/>
              </a:lnSpc>
              <a:buNone/>
            </a:pPr>
            <a:r>
              <a:rPr lang="en-US" sz="2600" b="1" dirty="0">
                <a:solidFill>
                  <a:srgbClr val="1A0A2E"/>
                </a:solidFill>
                <a:latin typeface="Calibri" pitchFamily="34" charset="0"/>
                <a:ea typeface="Calibri" pitchFamily="34" charset="-122"/>
                <a:cs typeface="Calibri" pitchFamily="34" charset="-120"/>
              </a:rPr>
              <a:t>20 Years of Clinical</a:t>
            </a:r>
            <a:endParaRPr lang="en-US" sz="2600" dirty="0"/>
          </a:p>
          <a:p>
            <a:pPr indent="0" marL="0">
              <a:lnSpc>
                <a:spcPct val="112000"/>
              </a:lnSpc>
              <a:buNone/>
            </a:pPr>
            <a:r>
              <a:rPr lang="en-US" sz="2600" b="1" dirty="0">
                <a:solidFill>
                  <a:srgbClr val="1A0A2E"/>
                </a:solidFill>
                <a:latin typeface="Calibri" pitchFamily="34" charset="0"/>
                <a:ea typeface="Calibri" pitchFamily="34" charset="-122"/>
                <a:cs typeface="Calibri" pitchFamily="34" charset="-120"/>
              </a:rPr>
              <a:t>Experience Beats a</a:t>
            </a:r>
            <a:endParaRPr lang="en-US" sz="2600" dirty="0"/>
          </a:p>
          <a:p>
            <a:pPr indent="0" marL="0">
              <a:lnSpc>
                <a:spcPct val="112000"/>
              </a:lnSpc>
              <a:buNone/>
            </a:pPr>
            <a:r>
              <a:rPr lang="en-US" sz="2600" b="1" dirty="0">
                <a:solidFill>
                  <a:srgbClr val="1A0A2E"/>
                </a:solidFill>
                <a:latin typeface="Calibri" pitchFamily="34" charset="0"/>
                <a:ea typeface="Calibri" pitchFamily="34" charset="-122"/>
                <a:cs typeface="Calibri" pitchFamily="34" charset="-120"/>
              </a:rPr>
              <a:t>20-Year-Old With None.</a:t>
            </a:r>
            <a:endParaRPr lang="en-US" sz="2600" dirty="0"/>
          </a:p>
        </p:txBody>
      </p:sp>
      <p:sp>
        <p:nvSpPr>
          <p:cNvPr id="5" name="Text 3"/>
          <p:cNvSpPr/>
          <p:nvPr/>
        </p:nvSpPr>
        <p:spPr>
          <a:xfrm>
            <a:off x="320040" y="1883664"/>
            <a:ext cx="8412480" cy="320040"/>
          </a:xfrm>
          <a:prstGeom prst="rect">
            <a:avLst/>
          </a:prstGeom>
          <a:noFill/>
          <a:ln/>
        </p:spPr>
        <p:txBody>
          <a:bodyPr wrap="square" rtlCol="0" anchor="ctr"/>
          <a:lstStyle/>
          <a:p>
            <a:pPr indent="0" marL="0">
              <a:buNone/>
            </a:pPr>
            <a:r>
              <a:rPr lang="en-US" sz="1300" i="1" dirty="0">
                <a:solidFill>
                  <a:srgbClr val="2A2D3E"/>
                </a:solidFill>
                <a:latin typeface="Calibri" pitchFamily="34" charset="0"/>
                <a:ea typeface="Calibri" pitchFamily="34" charset="-122"/>
                <a:cs typeface="Calibri" pitchFamily="34" charset="-120"/>
              </a:rPr>
              <a:t>The professional community is the distribution. Domain expertise is the marketing.</a:t>
            </a:r>
            <a:endParaRPr lang="en-US" sz="1300" dirty="0"/>
          </a:p>
        </p:txBody>
      </p:sp>
      <p:sp>
        <p:nvSpPr>
          <p:cNvPr id="6" name="Shape 4"/>
          <p:cNvSpPr/>
          <p:nvPr/>
        </p:nvSpPr>
        <p:spPr>
          <a:xfrm>
            <a:off x="320040" y="2304288"/>
            <a:ext cx="3657600" cy="2542032"/>
          </a:xfrm>
          <a:prstGeom prst="rect">
            <a:avLst/>
          </a:prstGeom>
          <a:solidFill>
            <a:srgbClr val="0D7A5F"/>
          </a:solidFill>
          <a:ln/>
          <a:effectLst>
            <a:outerShdw sx="100000" sy="100000" kx="0" ky="0" algn="bl" rotWithShape="0" blurRad="152400" dist="50800" dir="8100000">
              <a:srgbClr val="000000">
                <a:alpha val="28000"/>
              </a:srgbClr>
            </a:outerShdw>
          </a:effectLst>
        </p:spPr>
      </p:sp>
      <p:sp>
        <p:nvSpPr>
          <p:cNvPr id="7" name="Text 5"/>
          <p:cNvSpPr/>
          <p:nvPr/>
        </p:nvSpPr>
        <p:spPr>
          <a:xfrm>
            <a:off x="475488" y="2395728"/>
            <a:ext cx="3337560" cy="347472"/>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How It Spreads</a:t>
            </a:r>
            <a:endParaRPr lang="en-US" sz="1500" dirty="0"/>
          </a:p>
        </p:txBody>
      </p:sp>
      <p:sp>
        <p:nvSpPr>
          <p:cNvPr id="8" name="Text 6"/>
          <p:cNvSpPr/>
          <p:nvPr/>
        </p:nvSpPr>
        <p:spPr>
          <a:xfrm>
            <a:off x="475488" y="278892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The Nurse demos her worker at NurseCon.</a:t>
            </a:r>
            <a:endParaRPr lang="en-US" sz="1150" dirty="0"/>
          </a:p>
        </p:txBody>
      </p:sp>
      <p:sp>
        <p:nvSpPr>
          <p:cNvPr id="9" name="Text 7"/>
          <p:cNvSpPr/>
          <p:nvPr/>
        </p:nvSpPr>
        <p:spPr>
          <a:xfrm>
            <a:off x="475488" y="306324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200 nurses pull out their phones.</a:t>
            </a:r>
            <a:endParaRPr lang="en-US" sz="1150" dirty="0"/>
          </a:p>
        </p:txBody>
      </p:sp>
      <p:sp>
        <p:nvSpPr>
          <p:cNvPr id="10" name="Text 8"/>
          <p:cNvSpPr/>
          <p:nvPr/>
        </p:nvSpPr>
        <p:spPr>
          <a:xfrm>
            <a:off x="475488" y="333756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They post. Their networks see it.</a:t>
            </a:r>
            <a:endParaRPr lang="en-US" sz="1150" dirty="0"/>
          </a:p>
        </p:txBody>
      </p:sp>
      <p:sp>
        <p:nvSpPr>
          <p:cNvPr id="11" name="Text 9"/>
          <p:cNvSpPr/>
          <p:nvPr/>
        </p:nvSpPr>
        <p:spPr>
          <a:xfrm>
            <a:off x="475488" y="361188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By midnight, nurses across the country</a:t>
            </a:r>
            <a:endParaRPr lang="en-US" sz="1150" dirty="0"/>
          </a:p>
        </p:txBody>
      </p:sp>
      <p:sp>
        <p:nvSpPr>
          <p:cNvPr id="12" name="Text 10"/>
          <p:cNvSpPr/>
          <p:nvPr/>
        </p:nvSpPr>
        <p:spPr>
          <a:xfrm>
            <a:off x="475488" y="388620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are building workers for their units,</a:t>
            </a:r>
            <a:endParaRPr lang="en-US" sz="1150" dirty="0"/>
          </a:p>
        </p:txBody>
      </p:sp>
      <p:sp>
        <p:nvSpPr>
          <p:cNvPr id="13" name="Text 11"/>
          <p:cNvSpPr/>
          <p:nvPr/>
        </p:nvSpPr>
        <p:spPr>
          <a:xfrm>
            <a:off x="475488" y="416052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their students, their communities.</a:t>
            </a:r>
            <a:endParaRPr lang="en-US" sz="1150" dirty="0"/>
          </a:p>
        </p:txBody>
      </p:sp>
      <p:sp>
        <p:nvSpPr>
          <p:cNvPr id="14" name="Text 12"/>
          <p:cNvSpPr/>
          <p:nvPr/>
        </p:nvSpPr>
        <p:spPr>
          <a:xfrm>
            <a:off x="475488" y="4434840"/>
            <a:ext cx="3337560" cy="256032"/>
          </a:xfrm>
          <a:prstGeom prst="rect">
            <a:avLst/>
          </a:prstGeom>
          <a:noFill/>
          <a:ln/>
        </p:spPr>
        <p:txBody>
          <a:bodyPr wrap="square" rtlCol="0" anchor="ctr"/>
          <a:lstStyle/>
          <a:p>
            <a:pPr indent="0" marL="0">
              <a:buNone/>
            </a:pPr>
            <a:endParaRPr lang="en-US" sz="1150" dirty="0"/>
          </a:p>
        </p:txBody>
      </p:sp>
      <p:sp>
        <p:nvSpPr>
          <p:cNvPr id="15" name="Text 13"/>
          <p:cNvSpPr/>
          <p:nvPr/>
        </p:nvSpPr>
        <p:spPr>
          <a:xfrm>
            <a:off x="475488" y="4520000"/>
            <a:ext cx="3337560" cy="256032"/>
          </a:xfrm>
          <a:prstGeom prst="rect">
            <a:avLst/>
          </a:prstGeom>
          <a:noFill/>
          <a:ln/>
        </p:spPr>
        <p:txBody>
          <a:bodyPr wrap="square"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This kind of community-led adoption can’t be bought. It compounds when it’s earned.</a:t>
            </a:r>
            <a:endParaRPr lang="en-US" sz="1150" dirty="0"/>
          </a:p>
        </p:txBody>
      </p:sp>
      <p:sp>
        <p:nvSpPr>
          <p:cNvPr id="16" name="Shape 14"/>
          <p:cNvSpPr/>
          <p:nvPr/>
        </p:nvSpPr>
        <p:spPr>
          <a:xfrm>
            <a:off x="4160520" y="2304288"/>
            <a:ext cx="1143000" cy="2542032"/>
          </a:xfrm>
          <a:prstGeom prst="rect">
            <a:avLst/>
          </a:prstGeom>
          <a:solidFill>
            <a:srgbClr val="4A1D8C"/>
          </a:solidFill>
          <a:ln/>
          <a:effectLst>
            <a:outerShdw sx="100000" sy="100000" kx="0" ky="0" algn="bl" rotWithShape="0" blurRad="63500" dist="25400" dir="8100000">
              <a:srgbClr val="000000">
                <a:alpha val="18000"/>
              </a:srgbClr>
            </a:outerShdw>
          </a:effectLst>
        </p:spPr>
      </p:sp>
      <p:sp>
        <p:nvSpPr>
          <p:cNvPr id="17" name="Text 15"/>
          <p:cNvSpPr/>
          <p:nvPr/>
        </p:nvSpPr>
        <p:spPr>
          <a:xfrm>
            <a:off x="4160520" y="2395728"/>
            <a:ext cx="1143000" cy="4114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8" name="Text 16"/>
          <p:cNvSpPr/>
          <p:nvPr/>
        </p:nvSpPr>
        <p:spPr>
          <a:xfrm>
            <a:off x="4233672" y="2834640"/>
            <a:ext cx="100584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Nurse</a:t>
            </a:r>
            <a:endParaRPr lang="en-US" sz="1200" dirty="0"/>
          </a:p>
        </p:txBody>
      </p:sp>
      <p:sp>
        <p:nvSpPr>
          <p:cNvPr id="19" name="Text 17"/>
          <p:cNvSpPr/>
          <p:nvPr/>
        </p:nvSpPr>
        <p:spPr>
          <a:xfrm>
            <a:off x="4233672" y="3182112"/>
            <a:ext cx="1005840" cy="1536192"/>
          </a:xfrm>
          <a:prstGeom prst="rect">
            <a:avLst/>
          </a:prstGeom>
          <a:noFill/>
          <a:ln/>
        </p:spPr>
        <p:txBody>
          <a:bodyPr wrap="square" rtlCol="0" anchor="ctr"/>
          <a:lstStyle/>
          <a:p>
            <a:pPr indent="0" marL="0">
              <a:lnSpc>
                <a:spcPct val="130000"/>
              </a:lnSpc>
              <a:buNone/>
            </a:pPr>
            <a:r>
              <a:rPr lang="en-US" sz="950" dirty="0">
                <a:solidFill>
                  <a:srgbClr val="DDDDFF"/>
                </a:solidFill>
                <a:latin typeface="Calibri" pitchFamily="34" charset="0"/>
                <a:ea typeface="Calibri" pitchFamily="34" charset="-122"/>
                <a:cs typeface="Calibri" pitchFamily="34" charset="-120"/>
              </a:rPr>
              <a:t>20 years expertise. One afternoon. Worker published.</a:t>
            </a:r>
            <a:endParaRPr lang="en-US" sz="950" dirty="0"/>
          </a:p>
        </p:txBody>
      </p:sp>
      <p:sp>
        <p:nvSpPr>
          <p:cNvPr id="20" name="Shape 18"/>
          <p:cNvSpPr/>
          <p:nvPr/>
        </p:nvSpPr>
        <p:spPr>
          <a:xfrm>
            <a:off x="5404104" y="2304288"/>
            <a:ext cx="1143000" cy="2542032"/>
          </a:xfrm>
          <a:prstGeom prst="rect">
            <a:avLst/>
          </a:prstGeom>
          <a:solidFill>
            <a:srgbClr val="1E3A6E"/>
          </a:solidFill>
          <a:ln/>
          <a:effectLst>
            <a:outerShdw sx="100000" sy="100000" kx="0" ky="0" algn="bl" rotWithShape="0" blurRad="63500" dist="25400" dir="8100000">
              <a:srgbClr val="000000">
                <a:alpha val="18000"/>
              </a:srgbClr>
            </a:outerShdw>
          </a:effectLst>
        </p:spPr>
      </p:sp>
      <p:sp>
        <p:nvSpPr>
          <p:cNvPr id="21" name="Text 19"/>
          <p:cNvSpPr/>
          <p:nvPr/>
        </p:nvSpPr>
        <p:spPr>
          <a:xfrm>
            <a:off x="5404104" y="2395728"/>
            <a:ext cx="1143000" cy="4114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22" name="Text 20"/>
          <p:cNvSpPr/>
          <p:nvPr/>
        </p:nvSpPr>
        <p:spPr>
          <a:xfrm>
            <a:off x="5477256" y="2834640"/>
            <a:ext cx="100584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Room</a:t>
            </a:r>
            <a:endParaRPr lang="en-US" sz="1200" dirty="0"/>
          </a:p>
        </p:txBody>
      </p:sp>
      <p:sp>
        <p:nvSpPr>
          <p:cNvPr id="23" name="Text 21"/>
          <p:cNvSpPr/>
          <p:nvPr/>
        </p:nvSpPr>
        <p:spPr>
          <a:xfrm>
            <a:off x="5477256" y="3182112"/>
            <a:ext cx="1005840" cy="1536192"/>
          </a:xfrm>
          <a:prstGeom prst="rect">
            <a:avLst/>
          </a:prstGeom>
          <a:noFill/>
          <a:ln/>
        </p:spPr>
        <p:txBody>
          <a:bodyPr wrap="square" rtlCol="0" anchor="ctr"/>
          <a:lstStyle/>
          <a:p>
            <a:pPr indent="0" marL="0">
              <a:lnSpc>
                <a:spcPct val="130000"/>
              </a:lnSpc>
              <a:buNone/>
            </a:pPr>
            <a:r>
              <a:rPr lang="en-US" sz="950" dirty="0">
                <a:solidFill>
                  <a:srgbClr val="DDDDFF"/>
                </a:solidFill>
                <a:latin typeface="Calibri" pitchFamily="34" charset="0"/>
                <a:ea typeface="Calibri" pitchFamily="34" charset="-122"/>
                <a:cs typeface="Calibri" pitchFamily="34" charset="-120"/>
              </a:rPr>
              <a:t>200 professionals watch it work. They share it. Their networks share it.</a:t>
            </a:r>
            <a:endParaRPr lang="en-US" sz="950" dirty="0"/>
          </a:p>
        </p:txBody>
      </p:sp>
      <p:sp>
        <p:nvSpPr>
          <p:cNvPr id="24" name="Shape 22"/>
          <p:cNvSpPr/>
          <p:nvPr/>
        </p:nvSpPr>
        <p:spPr>
          <a:xfrm>
            <a:off x="6647688" y="2304288"/>
            <a:ext cx="1143000" cy="2542032"/>
          </a:xfrm>
          <a:prstGeom prst="rect">
            <a:avLst/>
          </a:prstGeom>
          <a:solidFill>
            <a:srgbClr val="0D7A5F"/>
          </a:solidFill>
          <a:ln/>
          <a:effectLst>
            <a:outerShdw sx="100000" sy="100000" kx="0" ky="0" algn="bl" rotWithShape="0" blurRad="63500" dist="25400" dir="8100000">
              <a:srgbClr val="000000">
                <a:alpha val="18000"/>
              </a:srgbClr>
            </a:outerShdw>
          </a:effectLst>
        </p:spPr>
      </p:sp>
      <p:sp>
        <p:nvSpPr>
          <p:cNvPr id="25" name="Text 23"/>
          <p:cNvSpPr/>
          <p:nvPr/>
        </p:nvSpPr>
        <p:spPr>
          <a:xfrm>
            <a:off x="6647688" y="2395728"/>
            <a:ext cx="1143000" cy="4114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6" name="Text 24"/>
          <p:cNvSpPr/>
          <p:nvPr/>
        </p:nvSpPr>
        <p:spPr>
          <a:xfrm>
            <a:off x="6720840" y="2834640"/>
            <a:ext cx="100584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Network</a:t>
            </a:r>
            <a:endParaRPr lang="en-US" sz="1200" dirty="0"/>
          </a:p>
        </p:txBody>
      </p:sp>
      <p:sp>
        <p:nvSpPr>
          <p:cNvPr id="27" name="Text 25"/>
          <p:cNvSpPr/>
          <p:nvPr/>
        </p:nvSpPr>
        <p:spPr>
          <a:xfrm>
            <a:off x="6720840" y="3182112"/>
            <a:ext cx="1005840" cy="1536192"/>
          </a:xfrm>
          <a:prstGeom prst="rect">
            <a:avLst/>
          </a:prstGeom>
          <a:noFill/>
          <a:ln/>
        </p:spPr>
        <p:txBody>
          <a:bodyPr wrap="square" rtlCol="0" anchor="ctr"/>
          <a:lstStyle/>
          <a:p>
            <a:pPr indent="0" marL="0">
              <a:lnSpc>
                <a:spcPct val="130000"/>
              </a:lnSpc>
              <a:buNone/>
            </a:pPr>
            <a:r>
              <a:rPr lang="en-US" sz="950" dirty="0">
                <a:solidFill>
                  <a:srgbClr val="DDDDFF"/>
                </a:solidFill>
                <a:latin typeface="Calibri" pitchFamily="34" charset="0"/>
                <a:ea typeface="Calibri" pitchFamily="34" charset="-122"/>
                <a:cs typeface="Calibri" pitchFamily="34" charset="-120"/>
              </a:rPr>
              <a:t>Followers build their own workers. Faculty build curriculum tools. The community grows itself.</a:t>
            </a:r>
            <a:endParaRPr lang="en-US" sz="950" dirty="0"/>
          </a:p>
        </p:txBody>
      </p:sp>
      <p:sp>
        <p:nvSpPr>
          <p:cNvPr id="28" name="Shape 26"/>
          <p:cNvSpPr/>
          <p:nvPr/>
        </p:nvSpPr>
        <p:spPr>
          <a:xfrm>
            <a:off x="7891272" y="2304288"/>
            <a:ext cx="1143000" cy="2542032"/>
          </a:xfrm>
          <a:prstGeom prst="rect">
            <a:avLst/>
          </a:prstGeom>
          <a:solidFill>
            <a:srgbClr val="7B3FE4"/>
          </a:solidFill>
          <a:ln/>
          <a:effectLst>
            <a:outerShdw sx="100000" sy="100000" kx="0" ky="0" algn="bl" rotWithShape="0" blurRad="63500" dist="25400" dir="8100000">
              <a:srgbClr val="000000">
                <a:alpha val="18000"/>
              </a:srgbClr>
            </a:outerShdw>
          </a:effectLst>
        </p:spPr>
      </p:sp>
      <p:sp>
        <p:nvSpPr>
          <p:cNvPr id="29" name="Text 27"/>
          <p:cNvSpPr/>
          <p:nvPr/>
        </p:nvSpPr>
        <p:spPr>
          <a:xfrm>
            <a:off x="7891272" y="2395728"/>
            <a:ext cx="1143000" cy="4114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30" name="Text 28"/>
          <p:cNvSpPr/>
          <p:nvPr/>
        </p:nvSpPr>
        <p:spPr>
          <a:xfrm>
            <a:off x="7964424" y="2834640"/>
            <a:ext cx="100584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Flywheel</a:t>
            </a:r>
            <a:endParaRPr lang="en-US" sz="1200" dirty="0"/>
          </a:p>
        </p:txBody>
      </p:sp>
      <p:sp>
        <p:nvSpPr>
          <p:cNvPr id="31" name="Text 29"/>
          <p:cNvSpPr/>
          <p:nvPr/>
        </p:nvSpPr>
        <p:spPr>
          <a:xfrm>
            <a:off x="7964424" y="3182112"/>
            <a:ext cx="1005840" cy="1536192"/>
          </a:xfrm>
          <a:prstGeom prst="rect">
            <a:avLst/>
          </a:prstGeom>
          <a:noFill/>
          <a:ln/>
        </p:spPr>
        <p:txBody>
          <a:bodyPr wrap="square" rtlCol="0" anchor="ctr"/>
          <a:lstStyle/>
          <a:p>
            <a:pPr indent="0" marL="0">
              <a:lnSpc>
                <a:spcPct val="130000"/>
              </a:lnSpc>
              <a:buNone/>
            </a:pPr>
            <a:r>
              <a:rPr lang="en-US" sz="950" dirty="0">
                <a:solidFill>
                  <a:srgbClr val="DDDDFF"/>
                </a:solidFill>
                <a:latin typeface="Calibri" pitchFamily="34" charset="0"/>
                <a:ea typeface="Calibri" pitchFamily="34" charset="-122"/>
                <a:cs typeface="Calibri" pitchFamily="34" charset="-120"/>
              </a:rPr>
              <a:t>10 experts per industry. 8 live industries. Network effects compound.</a:t>
            </a:r>
            <a:endParaRPr lang="en-US" sz="950" dirty="0"/>
          </a:p>
        </p:txBody>
      </p:sp>
      <p:sp>
        <p:nvSpPr>
          <p:cNvPr id="32" name="Text 30"/>
          <p:cNvSpPr/>
          <p:nvPr/>
        </p:nvSpPr>
        <p:spPr>
          <a:xfrm>
            <a:off x="320040" y="4870000"/>
            <a:ext cx="8412480" cy="219456"/>
          </a:xfrm>
          <a:prstGeom prst="rect">
            <a:avLst/>
          </a:prstGeom>
          <a:noFill/>
          <a:ln/>
        </p:spPr>
        <p:txBody>
          <a:bodyPr wrap="square" rtlCol="0" anchor="ctr"/>
          <a:lstStyle/>
          <a:p>
            <a:pPr indent="0" marL="0">
              <a:buNone/>
            </a:pPr>
            <a:r>
              <a:rPr lang="en-US" sz="1000" i="1" dirty="0">
                <a:solidFill>
                  <a:srgbClr val="8892A4"/>
                </a:solidFill>
                <a:latin typeface="Calibri" pitchFamily="34" charset="0"/>
                <a:ea typeface="Calibri" pitchFamily="34" charset="-122"/>
                <a:cs typeface="Calibri" pitchFamily="34" charset="-120"/>
              </a:rPr>
              <a:t>This is how Harvey AI grew. This is how Figma grew. Community-led, expert-seeded, network-compounded.</a:t>
            </a:r>
            <a:endParaRPr lang="en-US" sz="1000" dirty="0"/>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475569"/>
                </a:solidFill>
                <a:latin typeface="Calibri" pitchFamily="34" charset="0"/>
              </a:rPr>
              <a:t>sociii.ai  ·  CONFIDENTIAL  ·  SOCIII Inc. (Delaware C-Corp)  ·  May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7B3FE4"/>
          </a:solidFill>
          <a:ln/>
        </p:spPr>
      </p:sp>
      <p:sp>
        <p:nvSpPr>
          <p:cNvPr id="3" name="Text 1"/>
          <p:cNvSpPr/>
          <p:nvPr/>
        </p:nvSpPr>
        <p:spPr>
          <a:xfrm>
            <a:off x="320040" y="201168"/>
            <a:ext cx="3657600" cy="256032"/>
          </a:xfrm>
          <a:prstGeom prst="rect">
            <a:avLst/>
          </a:prstGeom>
          <a:noFill/>
          <a:ln/>
        </p:spPr>
        <p:txBody>
          <a:bodyPr wrap="square" rtlCol="0" anchor="ctr"/>
          <a:lstStyle/>
          <a:p>
            <a:pPr indent="0" marL="0">
              <a:buNone/>
            </a:pPr>
            <a:r>
              <a:rPr lang="en-US" sz="1100" b="1" spc="300" kern="0" dirty="0">
                <a:solidFill>
                  <a:srgbClr val="7B3FE4"/>
                </a:solidFill>
                <a:latin typeface="Calibri" pitchFamily="34" charset="0"/>
                <a:ea typeface="Calibri" pitchFamily="34" charset="-122"/>
                <a:cs typeface="Calibri" pitchFamily="34" charset="-120"/>
              </a:rPr>
              <a:t>THE MOAT</a:t>
            </a:r>
            <a:endParaRPr lang="en-US" sz="1100" dirty="0"/>
          </a:p>
        </p:txBody>
      </p:sp>
      <p:sp>
        <p:nvSpPr>
          <p:cNvPr id="4" name="Text 2"/>
          <p:cNvSpPr/>
          <p:nvPr/>
        </p:nvSpPr>
        <p:spPr>
          <a:xfrm>
            <a:off x="320040" y="411480"/>
            <a:ext cx="8412480" cy="530352"/>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Four Interlocking Moats.</a:t>
            </a:r>
            <a:endParaRPr lang="en-US" sz="3600" dirty="0"/>
          </a:p>
        </p:txBody>
      </p:sp>
      <p:sp>
        <p:nvSpPr>
          <p:cNvPr id="5" name="Text 3"/>
          <p:cNvSpPr/>
          <p:nvPr/>
        </p:nvSpPr>
        <p:spPr>
          <a:xfrm>
            <a:off x="320040" y="950976"/>
            <a:ext cx="8412480" cy="475488"/>
          </a:xfrm>
          <a:prstGeom prst="rect">
            <a:avLst/>
          </a:prstGeom>
          <a:noFill/>
          <a:ln/>
        </p:spPr>
        <p:txBody>
          <a:bodyPr wrap="square" rtlCol="0" anchor="ctr"/>
          <a:lstStyle/>
          <a:p>
            <a:pPr indent="0" marL="0">
              <a:lnSpc>
                <a:spcPct val="130000"/>
              </a:lnSpc>
              <a:buNone/>
            </a:pPr>
            <a:r>
              <a:rPr lang="en-US" sz="1150" i="1" dirty="0">
                <a:solidFill>
                  <a:srgbClr val="8892A4"/>
                </a:solidFill>
                <a:latin typeface="Calibri" pitchFamily="34" charset="0"/>
                <a:ea typeface="Calibri" pitchFamily="34" charset="-122"/>
                <a:cs typeface="Calibri" pitchFamily="34" charset="-120"/>
              </a:rPr>
              <a:t>Structural compliance + document lock-in + governed creator economy + patented audit trail. Build one and you have a product. Build all four and you have a platform.</a:t>
            </a:r>
            <a:endParaRPr lang="en-US" sz="1150" dirty="0"/>
          </a:p>
        </p:txBody>
      </p:sp>
      <p:sp>
        <p:nvSpPr>
          <p:cNvPr id="6" name="Shape 4"/>
          <p:cNvSpPr/>
          <p:nvPr/>
        </p:nvSpPr>
        <p:spPr>
          <a:xfrm>
            <a:off x="320040" y="1572768"/>
            <a:ext cx="2084832" cy="3364992"/>
          </a:xfrm>
          <a:prstGeom prst="rect">
            <a:avLst/>
          </a:prstGeom>
          <a:solidFill>
            <a:srgbClr val="4A1D8C"/>
          </a:solidFill>
          <a:ln w="12700">
            <a:solidFill>
              <a:srgbClr val="FFFFFF"/>
            </a:solidFill>
            <a:prstDash val="solid"/>
          </a:ln>
          <a:effectLst>
            <a:outerShdw sx="100000" sy="100000" kx="0" ky="0" algn="bl" rotWithShape="0" blurRad="63500" dist="25400" dir="8100000">
              <a:srgbClr val="000000">
                <a:alpha val="18000"/>
              </a:srgbClr>
            </a:outerShdw>
          </a:effectLst>
        </p:spPr>
      </p:sp>
      <p:sp>
        <p:nvSpPr>
          <p:cNvPr id="7" name="Shape 5"/>
          <p:cNvSpPr/>
          <p:nvPr/>
        </p:nvSpPr>
        <p:spPr>
          <a:xfrm>
            <a:off x="429768" y="1682496"/>
            <a:ext cx="475488" cy="329184"/>
          </a:xfrm>
          <a:prstGeom prst="rect">
            <a:avLst/>
          </a:prstGeom>
          <a:solidFill>
            <a:srgbClr val="FFFFFF"/>
          </a:solidFill>
          <a:ln/>
        </p:spPr>
      </p:sp>
      <p:sp>
        <p:nvSpPr>
          <p:cNvPr id="8" name="Text 6"/>
          <p:cNvSpPr/>
          <p:nvPr/>
        </p:nvSpPr>
        <p:spPr>
          <a:xfrm>
            <a:off x="429768" y="1682496"/>
            <a:ext cx="475488" cy="329184"/>
          </a:xfrm>
          <a:prstGeom prst="rect">
            <a:avLst/>
          </a:prstGeom>
          <a:noFill/>
          <a:ln/>
        </p:spPr>
        <p:txBody>
          <a:bodyPr wrap="square" rtlCol="0" anchor="ctr"/>
          <a:lstStyle/>
          <a:p>
            <a:pPr algn="ctr" indent="0" marL="0">
              <a:buNone/>
            </a:pPr>
            <a:r>
              <a:rPr lang="en-US" sz="1300" b="1" dirty="0">
                <a:solidFill>
                  <a:srgbClr val="4A1D8C"/>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429768" y="2066544"/>
            <a:ext cx="18745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RAAS</a:t>
            </a:r>
            <a:endParaRPr lang="en-US" sz="1500" dirty="0"/>
          </a:p>
        </p:txBody>
      </p:sp>
      <p:sp>
        <p:nvSpPr>
          <p:cNvPr id="10" name="Text 8"/>
          <p:cNvSpPr/>
          <p:nvPr/>
        </p:nvSpPr>
        <p:spPr>
          <a:xfrm>
            <a:off x="429768" y="2414016"/>
            <a:ext cx="1874520" cy="274320"/>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Structural Compliance Architecture</a:t>
            </a:r>
            <a:endParaRPr lang="en-US" sz="950" dirty="0"/>
          </a:p>
        </p:txBody>
      </p:sp>
      <p:sp>
        <p:nvSpPr>
          <p:cNvPr id="11" name="Shape 9"/>
          <p:cNvSpPr/>
          <p:nvPr/>
        </p:nvSpPr>
        <p:spPr>
          <a:xfrm>
            <a:off x="429768" y="2706624"/>
            <a:ext cx="1874520" cy="18288"/>
          </a:xfrm>
          <a:prstGeom prst="rect">
            <a:avLst/>
          </a:prstGeom>
          <a:solidFill>
            <a:srgbClr val="FFFFFF">
              <a:alpha val="20000"/>
            </a:srgbClr>
          </a:solidFill>
          <a:ln/>
        </p:spPr>
      </p:sp>
      <p:sp>
        <p:nvSpPr>
          <p:cNvPr id="12" name="Text 10"/>
          <p:cNvSpPr/>
          <p:nvPr/>
        </p:nvSpPr>
        <p:spPr>
          <a:xfrm>
            <a:off x="429768" y="2779776"/>
            <a:ext cx="1874520" cy="2029968"/>
          </a:xfrm>
          <a:prstGeom prst="rect">
            <a:avLst/>
          </a:prstGeom>
          <a:noFill/>
          <a:ln/>
        </p:spPr>
        <p:txBody>
          <a:bodyPr wrap="square" rtlCol="0" anchor="ctr"/>
          <a:lstStyle/>
          <a:p>
            <a:pPr indent="0" marL="0">
              <a:lnSpc>
                <a:spcPct val="142000"/>
              </a:lnSpc>
              <a:buNone/>
            </a:pPr>
            <a:r>
              <a:rPr lang="en-US" sz="1100" dirty="0">
                <a:solidFill>
                  <a:srgbClr val="DDDDEE"/>
                </a:solidFill>
                <a:latin typeface="Calibri" pitchFamily="34" charset="0"/>
                <a:ea typeface="Calibri" pitchFamily="34" charset="-122"/>
                <a:cs typeface="Calibri" pitchFamily="34" charset="-120"/>
              </a:rPr>
              <a:t>Four-tier compliance hierarchy built into every output. Competitors can build AI products. They cannot easily replicate a governed compliance layer without rebuilding everything from scratch.</a:t>
            </a:r>
            <a:endParaRPr lang="en-US" sz="1100" dirty="0"/>
          </a:p>
        </p:txBody>
      </p:sp>
      <p:sp>
        <p:nvSpPr>
          <p:cNvPr id="13" name="Shape 11"/>
          <p:cNvSpPr/>
          <p:nvPr/>
        </p:nvSpPr>
        <p:spPr>
          <a:xfrm>
            <a:off x="2532888" y="1572768"/>
            <a:ext cx="2084832" cy="3364992"/>
          </a:xfrm>
          <a:prstGeom prst="rect">
            <a:avLst/>
          </a:prstGeom>
          <a:solidFill>
            <a:srgbClr val="1A1A2E"/>
          </a:solidFill>
          <a:ln w="12700">
            <a:solidFill>
              <a:srgbClr val="7B3FE4">
                <a:alpha val="60000"/>
              </a:srgbClr>
            </a:solidFill>
            <a:prstDash val="solid"/>
          </a:ln>
          <a:effectLst>
            <a:outerShdw sx="100000" sy="100000" kx="0" ky="0" algn="bl" rotWithShape="0" blurRad="63500" dist="25400" dir="8100000">
              <a:srgbClr val="000000">
                <a:alpha val="18000"/>
              </a:srgbClr>
            </a:outerShdw>
          </a:effectLst>
        </p:spPr>
      </p:sp>
      <p:sp>
        <p:nvSpPr>
          <p:cNvPr id="14" name="Shape 12"/>
          <p:cNvSpPr/>
          <p:nvPr/>
        </p:nvSpPr>
        <p:spPr>
          <a:xfrm>
            <a:off x="2642616" y="1682496"/>
            <a:ext cx="475488" cy="329184"/>
          </a:xfrm>
          <a:prstGeom prst="rect">
            <a:avLst/>
          </a:prstGeom>
          <a:solidFill>
            <a:srgbClr val="7B3FE4">
              <a:alpha val="25000"/>
            </a:srgbClr>
          </a:solidFill>
          <a:ln/>
        </p:spPr>
      </p:sp>
      <p:sp>
        <p:nvSpPr>
          <p:cNvPr id="15" name="Text 13"/>
          <p:cNvSpPr/>
          <p:nvPr/>
        </p:nvSpPr>
        <p:spPr>
          <a:xfrm>
            <a:off x="2642616" y="1682496"/>
            <a:ext cx="475488" cy="329184"/>
          </a:xfrm>
          <a:prstGeom prst="rect">
            <a:avLst/>
          </a:prstGeom>
          <a:noFill/>
          <a:ln/>
        </p:spPr>
        <p:txBody>
          <a:bodyPr wrap="square" rtlCol="0" anchor="ctr"/>
          <a:lstStyle/>
          <a:p>
            <a:pPr algn="ctr" indent="0" marL="0">
              <a:buNone/>
            </a:pPr>
            <a:r>
              <a:rPr lang="en-US" sz="1300" b="1" dirty="0">
                <a:solidFill>
                  <a:srgbClr val="7B3FE4"/>
                </a:solidFill>
                <a:latin typeface="Calibri" pitchFamily="34" charset="0"/>
                <a:ea typeface="Calibri" pitchFamily="34" charset="-122"/>
                <a:cs typeface="Calibri" pitchFamily="34" charset="-120"/>
              </a:rPr>
              <a:t>02</a:t>
            </a:r>
            <a:endParaRPr lang="en-US" sz="1300" dirty="0"/>
          </a:p>
        </p:txBody>
      </p:sp>
      <p:sp>
        <p:nvSpPr>
          <p:cNvPr id="16" name="Text 14"/>
          <p:cNvSpPr/>
          <p:nvPr/>
        </p:nvSpPr>
        <p:spPr>
          <a:xfrm>
            <a:off x="2642616" y="2066544"/>
            <a:ext cx="18745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Studio Locker</a:t>
            </a:r>
            <a:endParaRPr lang="en-US" sz="1500" dirty="0"/>
          </a:p>
        </p:txBody>
      </p:sp>
      <p:sp>
        <p:nvSpPr>
          <p:cNvPr id="17" name="Text 15"/>
          <p:cNvSpPr/>
          <p:nvPr/>
        </p:nvSpPr>
        <p:spPr>
          <a:xfrm>
            <a:off x="2642616" y="2414016"/>
            <a:ext cx="1874520" cy="274320"/>
          </a:xfrm>
          <a:prstGeom prst="rect">
            <a:avLst/>
          </a:prstGeom>
          <a:noFill/>
          <a:ln/>
        </p:spPr>
        <p:txBody>
          <a:bodyPr wrap="square" rtlCol="0" anchor="ctr"/>
          <a:lstStyle/>
          <a:p>
            <a:pPr indent="0" marL="0">
              <a:buNone/>
            </a:pPr>
            <a:r>
              <a:rPr lang="en-US" sz="950" i="1" dirty="0">
                <a:solidFill>
                  <a:srgbClr val="7B3FE4"/>
                </a:solidFill>
                <a:latin typeface="Calibri" pitchFamily="34" charset="0"/>
                <a:ea typeface="Calibri" pitchFamily="34" charset="-122"/>
                <a:cs typeface="Calibri" pitchFamily="34" charset="-120"/>
              </a:rPr>
              <a:t>Document-Driven Outputs</a:t>
            </a:r>
            <a:endParaRPr lang="en-US" sz="950" dirty="0"/>
          </a:p>
        </p:txBody>
      </p:sp>
      <p:sp>
        <p:nvSpPr>
          <p:cNvPr id="18" name="Shape 16"/>
          <p:cNvSpPr/>
          <p:nvPr/>
        </p:nvSpPr>
        <p:spPr>
          <a:xfrm>
            <a:off x="2642616" y="2706624"/>
            <a:ext cx="1874520" cy="18288"/>
          </a:xfrm>
          <a:prstGeom prst="rect">
            <a:avLst/>
          </a:prstGeom>
          <a:solidFill>
            <a:srgbClr val="FFFFFF">
              <a:alpha val="20000"/>
            </a:srgbClr>
          </a:solidFill>
          <a:ln/>
        </p:spPr>
      </p:sp>
      <p:sp>
        <p:nvSpPr>
          <p:cNvPr id="19" name="Text 17"/>
          <p:cNvSpPr/>
          <p:nvPr/>
        </p:nvSpPr>
        <p:spPr>
          <a:xfrm>
            <a:off x="2642616" y="2779776"/>
            <a:ext cx="1874520" cy="2029968"/>
          </a:xfrm>
          <a:prstGeom prst="rect">
            <a:avLst/>
          </a:prstGeom>
          <a:noFill/>
          <a:ln/>
        </p:spPr>
        <p:txBody>
          <a:bodyPr wrap="square" rtlCol="0" anchor="ctr"/>
          <a:lstStyle/>
          <a:p>
            <a:pPr indent="0" marL="0">
              <a:lnSpc>
                <a:spcPct val="142000"/>
              </a:lnSpc>
              <a:buNone/>
            </a:pPr>
            <a:r>
              <a:rPr lang="en-US" sz="1100" dirty="0">
                <a:solidFill>
                  <a:srgbClr val="DDDDEE"/>
                </a:solidFill>
                <a:latin typeface="Calibri" pitchFamily="34" charset="0"/>
                <a:ea typeface="Calibri" pitchFamily="34" charset="-122"/>
                <a:cs typeface="Calibri" pitchFamily="34" charset="-120"/>
              </a:rPr>
              <a:t>A worker trained on this operator's specific POH, protocols, and policies produces outputs no generic AI can match. Documents compound the moat. Switching cost grows with every file uploaded.</a:t>
            </a:r>
            <a:endParaRPr lang="en-US" sz="1100" dirty="0"/>
          </a:p>
        </p:txBody>
      </p:sp>
      <p:sp>
        <p:nvSpPr>
          <p:cNvPr id="20" name="Shape 18"/>
          <p:cNvSpPr/>
          <p:nvPr/>
        </p:nvSpPr>
        <p:spPr>
          <a:xfrm>
            <a:off x="4745736" y="1572768"/>
            <a:ext cx="2084832" cy="3364992"/>
          </a:xfrm>
          <a:prstGeom prst="rect">
            <a:avLst/>
          </a:prstGeom>
          <a:solidFill>
            <a:srgbClr val="0A1A0A"/>
          </a:solidFill>
          <a:ln w="12700">
            <a:solidFill>
              <a:srgbClr val="10B981">
                <a:alpha val="60000"/>
              </a:srgbClr>
            </a:solidFill>
            <a:prstDash val="solid"/>
          </a:ln>
          <a:effectLst>
            <a:outerShdw sx="100000" sy="100000" kx="0" ky="0" algn="bl" rotWithShape="0" blurRad="63500" dist="25400" dir="8100000">
              <a:srgbClr val="000000">
                <a:alpha val="18000"/>
              </a:srgbClr>
            </a:outerShdw>
          </a:effectLst>
        </p:spPr>
      </p:sp>
      <p:sp>
        <p:nvSpPr>
          <p:cNvPr id="21" name="Shape 19"/>
          <p:cNvSpPr/>
          <p:nvPr/>
        </p:nvSpPr>
        <p:spPr>
          <a:xfrm>
            <a:off x="4855464" y="1682496"/>
            <a:ext cx="475488" cy="329184"/>
          </a:xfrm>
          <a:prstGeom prst="rect">
            <a:avLst/>
          </a:prstGeom>
          <a:solidFill>
            <a:srgbClr val="10B981">
              <a:alpha val="25000"/>
            </a:srgbClr>
          </a:solidFill>
          <a:ln/>
        </p:spPr>
      </p:sp>
      <p:sp>
        <p:nvSpPr>
          <p:cNvPr id="22" name="Text 20"/>
          <p:cNvSpPr/>
          <p:nvPr/>
        </p:nvSpPr>
        <p:spPr>
          <a:xfrm>
            <a:off x="4855464" y="1682496"/>
            <a:ext cx="475488" cy="329184"/>
          </a:xfrm>
          <a:prstGeom prst="rect">
            <a:avLst/>
          </a:prstGeom>
          <a:noFill/>
          <a:ln/>
        </p:spPr>
        <p:txBody>
          <a:bodyPr wrap="square" rtlCol="0" anchor="ctr"/>
          <a:lstStyle/>
          <a:p>
            <a:pPr algn="ctr" indent="0" marL="0">
              <a:buNone/>
            </a:pPr>
            <a:r>
              <a:rPr lang="en-US" sz="1300" b="1" dirty="0">
                <a:solidFill>
                  <a:srgbClr val="10B981"/>
                </a:solidFill>
                <a:latin typeface="Calibri" pitchFamily="34" charset="0"/>
                <a:ea typeface="Calibri" pitchFamily="34" charset="-122"/>
                <a:cs typeface="Calibri" pitchFamily="34" charset="-120"/>
              </a:rPr>
              <a:t>03</a:t>
            </a:r>
            <a:endParaRPr lang="en-US" sz="1300" dirty="0"/>
          </a:p>
        </p:txBody>
      </p:sp>
      <p:sp>
        <p:nvSpPr>
          <p:cNvPr id="23" name="Text 21"/>
          <p:cNvSpPr/>
          <p:nvPr/>
        </p:nvSpPr>
        <p:spPr>
          <a:xfrm>
            <a:off x="4855464" y="2066544"/>
            <a:ext cx="18745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Codex</a:t>
            </a:r>
            <a:endParaRPr lang="en-US" sz="1500" dirty="0"/>
          </a:p>
        </p:txBody>
      </p:sp>
      <p:sp>
        <p:nvSpPr>
          <p:cNvPr id="24" name="Text 22"/>
          <p:cNvSpPr/>
          <p:nvPr/>
        </p:nvSpPr>
        <p:spPr>
          <a:xfrm>
            <a:off x="4855464" y="2414016"/>
            <a:ext cx="1874520" cy="274320"/>
          </a:xfrm>
          <a:prstGeom prst="rect">
            <a:avLst/>
          </a:prstGeom>
          <a:noFill/>
          <a:ln/>
        </p:spPr>
        <p:txBody>
          <a:bodyPr wrap="square" rtlCol="0" anchor="ctr"/>
          <a:lstStyle/>
          <a:p>
            <a:pPr indent="0" marL="0">
              <a:buNone/>
            </a:pPr>
            <a:r>
              <a:rPr lang="en-US" sz="950" i="1" dirty="0">
                <a:solidFill>
                  <a:srgbClr val="10B981"/>
                </a:solidFill>
                <a:latin typeface="Calibri" pitchFamily="34" charset="0"/>
                <a:ea typeface="Calibri" pitchFamily="34" charset="-122"/>
                <a:cs typeface="Calibri" pitchFamily="34" charset="-120"/>
              </a:rPr>
              <a:t>Governed Creator Economy</a:t>
            </a:r>
            <a:endParaRPr lang="en-US" sz="950" dirty="0"/>
          </a:p>
        </p:txBody>
      </p:sp>
      <p:sp>
        <p:nvSpPr>
          <p:cNvPr id="25" name="Shape 23"/>
          <p:cNvSpPr/>
          <p:nvPr/>
        </p:nvSpPr>
        <p:spPr>
          <a:xfrm>
            <a:off x="4855464" y="2706624"/>
            <a:ext cx="1874520" cy="18288"/>
          </a:xfrm>
          <a:prstGeom prst="rect">
            <a:avLst/>
          </a:prstGeom>
          <a:solidFill>
            <a:srgbClr val="FFFFFF">
              <a:alpha val="20000"/>
            </a:srgbClr>
          </a:solidFill>
          <a:ln/>
        </p:spPr>
      </p:sp>
      <p:sp>
        <p:nvSpPr>
          <p:cNvPr id="26" name="Text 24"/>
          <p:cNvSpPr/>
          <p:nvPr/>
        </p:nvSpPr>
        <p:spPr>
          <a:xfrm>
            <a:off x="4855464" y="2779776"/>
            <a:ext cx="1874520" cy="2029968"/>
          </a:xfrm>
          <a:prstGeom prst="rect">
            <a:avLst/>
          </a:prstGeom>
          <a:noFill/>
          <a:ln/>
        </p:spPr>
        <p:txBody>
          <a:bodyPr wrap="square" rtlCol="0" anchor="ctr"/>
          <a:lstStyle/>
          <a:p>
            <a:pPr indent="0" marL="0">
              <a:lnSpc>
                <a:spcPct val="142000"/>
              </a:lnSpc>
              <a:buNone/>
            </a:pPr>
            <a:r>
              <a:rPr lang="en-US" sz="1100" dirty="0">
                <a:solidFill>
                  <a:srgbClr val="DDDDEE"/>
                </a:solidFill>
                <a:latin typeface="Calibri" pitchFamily="34" charset="0"/>
                <a:ea typeface="Calibri" pitchFamily="34" charset="-122"/>
                <a:cs typeface="Calibri" pitchFamily="34" charset="-120"/>
              </a:rPr>
              <a:t>Every worker auto-generates a living record of its rules, connectors, and compliance posture. Transparent. Auditable. Version-controlled. The regulatory paper trail regulators will eventually require.</a:t>
            </a:r>
            <a:endParaRPr lang="en-US" sz="1100" dirty="0"/>
          </a:p>
        </p:txBody>
      </p:sp>
      <p:sp>
        <p:nvSpPr>
          <p:cNvPr id="27" name="Shape 25"/>
          <p:cNvSpPr/>
          <p:nvPr/>
        </p:nvSpPr>
        <p:spPr>
          <a:xfrm>
            <a:off x="6958584" y="1572768"/>
            <a:ext cx="2084832" cy="3364992"/>
          </a:xfrm>
          <a:prstGeom prst="rect">
            <a:avLst/>
          </a:prstGeom>
          <a:solidFill>
            <a:srgbClr val="1A0A2E"/>
          </a:solidFill>
          <a:ln w="12700">
            <a:solidFill>
              <a:srgbClr val="2D6BE4">
                <a:alpha val="60000"/>
              </a:srgbClr>
            </a:solidFill>
            <a:prstDash val="solid"/>
          </a:ln>
          <a:effectLst>
            <a:outerShdw sx="100000" sy="100000" kx="0" ky="0" algn="bl" rotWithShape="0" blurRad="63500" dist="25400" dir="8100000">
              <a:srgbClr val="000000">
                <a:alpha val="18000"/>
              </a:srgbClr>
            </a:outerShdw>
          </a:effectLst>
        </p:spPr>
      </p:sp>
      <p:sp>
        <p:nvSpPr>
          <p:cNvPr id="28" name="Shape 26"/>
          <p:cNvSpPr/>
          <p:nvPr/>
        </p:nvSpPr>
        <p:spPr>
          <a:xfrm>
            <a:off x="7068312" y="1682496"/>
            <a:ext cx="475488" cy="329184"/>
          </a:xfrm>
          <a:prstGeom prst="rect">
            <a:avLst/>
          </a:prstGeom>
          <a:solidFill>
            <a:srgbClr val="2D6BE4">
              <a:alpha val="25000"/>
            </a:srgbClr>
          </a:solidFill>
          <a:ln/>
        </p:spPr>
      </p:sp>
      <p:sp>
        <p:nvSpPr>
          <p:cNvPr id="29" name="Text 27"/>
          <p:cNvSpPr/>
          <p:nvPr/>
        </p:nvSpPr>
        <p:spPr>
          <a:xfrm>
            <a:off x="7068312" y="1682496"/>
            <a:ext cx="475488" cy="329184"/>
          </a:xfrm>
          <a:prstGeom prst="rect">
            <a:avLst/>
          </a:prstGeom>
          <a:noFill/>
          <a:ln/>
        </p:spPr>
        <p:txBody>
          <a:bodyPr wrap="square" rtlCol="0" anchor="ctr"/>
          <a:lstStyle/>
          <a:p>
            <a:pPr algn="ctr" indent="0" marL="0">
              <a:buNone/>
            </a:pPr>
            <a:r>
              <a:rPr lang="en-US" sz="1300" b="1" dirty="0">
                <a:solidFill>
                  <a:srgbClr val="2D6BE4"/>
                </a:solidFill>
                <a:latin typeface="Calibri" pitchFamily="34" charset="0"/>
                <a:ea typeface="Calibri" pitchFamily="34" charset="-122"/>
                <a:cs typeface="Calibri" pitchFamily="34" charset="-120"/>
              </a:rPr>
              <a:t>04</a:t>
            </a:r>
            <a:endParaRPr lang="en-US" sz="1300" dirty="0"/>
          </a:p>
        </p:txBody>
      </p:sp>
      <p:sp>
        <p:nvSpPr>
          <p:cNvPr id="30" name="Shape 28"/>
          <p:cNvSpPr/>
          <p:nvPr/>
        </p:nvSpPr>
        <p:spPr>
          <a:xfrm>
            <a:off x="7598664" y="1700784"/>
            <a:ext cx="1325880" cy="274320"/>
          </a:xfrm>
          <a:prstGeom prst="rect">
            <a:avLst/>
          </a:prstGeom>
          <a:solidFill>
            <a:srgbClr val="2D6BE4"/>
          </a:solidFill>
          <a:ln/>
        </p:spPr>
      </p:sp>
      <p:sp>
        <p:nvSpPr>
          <p:cNvPr id="31" name="Text 29"/>
          <p:cNvSpPr/>
          <p:nvPr/>
        </p:nvSpPr>
        <p:spPr>
          <a:xfrm>
            <a:off x="7598664" y="1719072"/>
            <a:ext cx="1325880" cy="237744"/>
          </a:xfrm>
          <a:prstGeom prst="rect">
            <a:avLst/>
          </a:prstGeom>
          <a:noFill/>
          <a:ln/>
        </p:spPr>
        <p:txBody>
          <a:bodyPr wrap="square"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PATENT PENDING</a:t>
            </a:r>
            <a:endParaRPr lang="en-US" sz="850" dirty="0"/>
          </a:p>
        </p:txBody>
      </p:sp>
      <p:sp>
        <p:nvSpPr>
          <p:cNvPr id="32" name="Text 30"/>
          <p:cNvSpPr/>
          <p:nvPr/>
        </p:nvSpPr>
        <p:spPr>
          <a:xfrm>
            <a:off x="7068312" y="2066544"/>
            <a:ext cx="18745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Ledger</a:t>
            </a:r>
            <a:endParaRPr lang="en-US" sz="1500" dirty="0"/>
          </a:p>
        </p:txBody>
      </p:sp>
      <p:sp>
        <p:nvSpPr>
          <p:cNvPr id="33" name="Text 31"/>
          <p:cNvSpPr/>
          <p:nvPr/>
        </p:nvSpPr>
        <p:spPr>
          <a:xfrm>
            <a:off x="7068312" y="2414016"/>
            <a:ext cx="1874520" cy="274320"/>
          </a:xfrm>
          <a:prstGeom prst="rect">
            <a:avLst/>
          </a:prstGeom>
          <a:noFill/>
          <a:ln/>
        </p:spPr>
        <p:txBody>
          <a:bodyPr wrap="square" rtlCol="0" anchor="ctr"/>
          <a:lstStyle/>
          <a:p>
            <a:pPr indent="0" marL="0">
              <a:buNone/>
            </a:pPr>
            <a:r>
              <a:rPr lang="en-US" sz="950" i="1" dirty="0">
                <a:solidFill>
                  <a:srgbClr val="2D6BE4"/>
                </a:solidFill>
                <a:latin typeface="Calibri" pitchFamily="34" charset="0"/>
                <a:ea typeface="Calibri" pitchFamily="34" charset="-122"/>
                <a:cs typeface="Calibri" pitchFamily="34" charset="-120"/>
              </a:rPr>
              <a:t>Immutable Blockchain Audit Trail</a:t>
            </a:r>
            <a:endParaRPr lang="en-US" sz="950" dirty="0"/>
          </a:p>
        </p:txBody>
      </p:sp>
      <p:sp>
        <p:nvSpPr>
          <p:cNvPr id="34" name="Shape 32"/>
          <p:cNvSpPr/>
          <p:nvPr/>
        </p:nvSpPr>
        <p:spPr>
          <a:xfrm>
            <a:off x="7068312" y="2706624"/>
            <a:ext cx="1874520" cy="18288"/>
          </a:xfrm>
          <a:prstGeom prst="rect">
            <a:avLst/>
          </a:prstGeom>
          <a:solidFill>
            <a:srgbClr val="FFFFFF">
              <a:alpha val="20000"/>
            </a:srgbClr>
          </a:solidFill>
          <a:ln/>
        </p:spPr>
      </p:sp>
      <p:sp>
        <p:nvSpPr>
          <p:cNvPr id="35" name="Text 33"/>
          <p:cNvSpPr/>
          <p:nvPr/>
        </p:nvSpPr>
        <p:spPr>
          <a:xfrm>
            <a:off x="7068312" y="2779776"/>
            <a:ext cx="1874520" cy="2029968"/>
          </a:xfrm>
          <a:prstGeom prst="rect">
            <a:avLst/>
          </a:prstGeom>
          <a:noFill/>
          <a:ln/>
        </p:spPr>
        <p:txBody>
          <a:bodyPr wrap="square" rtlCol="0" anchor="ctr"/>
          <a:lstStyle/>
          <a:p>
            <a:pPr indent="0" marL="0">
              <a:lnSpc>
                <a:spcPct val="142000"/>
              </a:lnSpc>
              <a:buNone/>
            </a:pPr>
            <a:r>
              <a:rPr lang="en-US" sz="1100" dirty="0">
                <a:solidFill>
                  <a:srgbClr val="DDDDEE"/>
                </a:solidFill>
                <a:latin typeface="Calibri" pitchFamily="34" charset="0"/>
                <a:ea typeface="Calibri" pitchFamily="34" charset="-122"/>
                <a:cs typeface="Calibri" pitchFamily="34" charset="-120"/>
              </a:rPr>
              <a:t>Patent pending. Every significant output minted on-chain automatically. The only cryptographic proof of what an AI said in a regulated context. Patent pending. First and only filing of its kind.</a:t>
            </a:r>
            <a:endParaRPr lang="en-US" sz="1100" dirty="0"/>
          </a:p>
        </p:txBody>
      </p:sp>
      <p:sp>
        <p:nvSpPr>
          <p:cNvPr id="200" name="Badge1Rect"/>
          <p:cNvSpPr/>
          <p:nvPr/>
        </p:nvSpPr>
        <p:spPr>
          <a:xfrm>
            <a:off x="960120" y="1700784"/>
            <a:ext cx="1325880" cy="274320"/>
          </a:xfrm>
          <a:prstGeom prst="rect">
            <a:avLst/>
          </a:prstGeom>
          <a:solidFill>
            <a:srgbClr val="4A1D8C"/>
          </a:solidFill>
          <a:ln/>
        </p:spPr>
      </p:sp>
      <p:sp>
        <p:nvSpPr>
          <p:cNvPr id="201" name="Badge1Text"/>
          <p:cNvSpPr/>
          <p:nvPr/>
        </p:nvSpPr>
        <p:spPr>
          <a:xfrm>
            <a:off x="960120" y="1719072"/>
            <a:ext cx="1325880" cy="237744"/>
          </a:xfrm>
          <a:prstGeom prst="rect">
            <a:avLst/>
          </a:prstGeom>
          <a:noFill/>
          <a:ln/>
        </p:spPr>
        <p:txBody>
          <a:bodyPr wrap="square" rtlCol="0" anchor="ctr"/>
          <a:lstStyle/>
          <a:p>
            <a:pPr algn="ctr" indent="0" marL="0">
              <a:buNone/>
            </a:pPr>
            <a:r>
              <a:rPr lang="en-US" sz="850" b="1" spc="100" kern="0" dirty="0">
                <a:solidFill>
                  <a:srgbClr val="FFFFFF"/>
                </a:solidFill>
                <a:latin typeface="Calibri" pitchFamily="34" charset="0"/>
              </a:rPr>
              <a:t>PATENT PENDING</a:t>
            </a:r>
          </a:p>
        </p:txBody>
      </p:sp>
      <p:sp>
        <p:nvSpPr>
          <p:cNvPr id="202" name="Badge2Rect"/>
          <p:cNvSpPr/>
          <p:nvPr/>
        </p:nvSpPr>
        <p:spPr>
          <a:xfrm>
            <a:off x="3172968" y="1700784"/>
            <a:ext cx="1325880" cy="274320"/>
          </a:xfrm>
          <a:prstGeom prst="rect">
            <a:avLst/>
          </a:prstGeom>
          <a:solidFill>
            <a:srgbClr val="7B3FE4"/>
          </a:solidFill>
          <a:ln/>
        </p:spPr>
      </p:sp>
      <p:sp>
        <p:nvSpPr>
          <p:cNvPr id="203" name="Badge2Text"/>
          <p:cNvSpPr/>
          <p:nvPr/>
        </p:nvSpPr>
        <p:spPr>
          <a:xfrm>
            <a:off x="3172968" y="1719072"/>
            <a:ext cx="1325880" cy="237744"/>
          </a:xfrm>
          <a:prstGeom prst="rect">
            <a:avLst/>
          </a:prstGeom>
          <a:noFill/>
          <a:ln/>
        </p:spPr>
        <p:txBody>
          <a:bodyPr wrap="square" rtlCol="0" anchor="ctr"/>
          <a:lstStyle/>
          <a:p>
            <a:pPr algn="ctr" indent="0" marL="0">
              <a:buNone/>
            </a:pPr>
            <a:r>
              <a:rPr lang="en-US" sz="850" b="1" spc="100" kern="0" dirty="0">
                <a:solidFill>
                  <a:srgbClr val="FFFFFF"/>
                </a:solidFill>
                <a:latin typeface="Calibri" pitchFamily="34" charset="0"/>
              </a:rPr>
              <a:t>PATENT PENDING</a:t>
            </a:r>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sociii.ai  ·  CONFIDENTIAL  ·  SOCIII Inc. (Delaware C-Corp)  ·  May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D7A5F"/>
          </a:solidFill>
          <a:ln/>
        </p:spPr>
      </p:sp>
      <p:sp>
        <p:nvSpPr>
          <p:cNvPr id="3" name="Text 1"/>
          <p:cNvSpPr/>
          <p:nvPr/>
        </p:nvSpPr>
        <p:spPr>
          <a:xfrm>
            <a:off x="320040" y="292608"/>
            <a:ext cx="3657600" cy="256032"/>
          </a:xfrm>
          <a:prstGeom prst="rect">
            <a:avLst/>
          </a:prstGeom>
          <a:noFill/>
          <a:ln/>
        </p:spPr>
        <p:txBody>
          <a:bodyPr wrap="square" rtlCol="0" anchor="ctr"/>
          <a:lstStyle/>
          <a:p>
            <a:pPr indent="0" marL="0">
              <a:buNone/>
            </a:pPr>
            <a:r>
              <a:rPr lang="en-US" sz="1100" b="1" spc="300" kern="0" dirty="0">
                <a:solidFill>
                  <a:srgbClr val="0D7A5F"/>
                </a:solidFill>
                <a:latin typeface="Calibri" pitchFamily="34" charset="0"/>
                <a:ea typeface="Calibri" pitchFamily="34" charset="-122"/>
                <a:cs typeface="Calibri" pitchFamily="34" charset="-120"/>
              </a:rPr>
              <a:t>BUSINESS MODEL</a:t>
            </a:r>
            <a:endParaRPr lang="en-US" sz="1100" dirty="0"/>
          </a:p>
        </p:txBody>
      </p:sp>
      <p:sp>
        <p:nvSpPr>
          <p:cNvPr id="4" name="Text 2"/>
          <p:cNvSpPr/>
          <p:nvPr/>
        </p:nvSpPr>
        <p:spPr>
          <a:xfrm>
            <a:off x="320040" y="530352"/>
            <a:ext cx="8412480" cy="1051560"/>
          </a:xfrm>
          <a:prstGeom prst="rect">
            <a:avLst/>
          </a:prstGeom>
          <a:noFill/>
          <a:ln/>
        </p:spPr>
        <p:txBody>
          <a:bodyPr wrap="square" rtlCol="0" anchor="ctr"/>
          <a:lstStyle/>
          <a:p>
            <a:pPr indent="0" marL="0">
              <a:lnSpc>
                <a:spcPct val="110000"/>
              </a:lnSpc>
              <a:buNone/>
            </a:pPr>
            <a:r>
              <a:rPr lang="en-US" sz="3200" b="1" dirty="0">
                <a:solidFill>
                  <a:srgbClr val="1A0A2E"/>
                </a:solidFill>
                <a:latin typeface="Calibri" pitchFamily="34" charset="0"/>
                <a:ea typeface="Calibri" pitchFamily="34" charset="-122"/>
                <a:cs typeface="Calibri" pitchFamily="34" charset="-120"/>
              </a:rPr>
              <a:t>Five Revenue Streams.</a:t>
            </a:r>
            <a:endParaRPr lang="en-US" sz="3200" dirty="0"/>
          </a:p>
          <a:p>
            <a:pPr indent="0" marL="0">
              <a:lnSpc>
                <a:spcPct val="110000"/>
              </a:lnSpc>
              <a:buNone/>
            </a:pPr>
            <a:r>
              <a:rPr lang="en-US" sz="3200" b="1" dirty="0">
                <a:solidFill>
                  <a:srgbClr val="1A0A2E"/>
                </a:solidFill>
                <a:latin typeface="Calibri" pitchFamily="34" charset="0"/>
                <a:ea typeface="Calibri" pitchFamily="34" charset="-122"/>
                <a:cs typeface="Calibri" pitchFamily="34" charset="-120"/>
              </a:rPr>
              <a:t>Three Are Near-100% Margin.</a:t>
            </a:r>
            <a:endParaRPr lang="en-US" sz="3200" dirty="0"/>
          </a:p>
        </p:txBody>
      </p:sp>
      <p:sp>
        <p:nvSpPr>
          <p:cNvPr id="5" name="Shape 3"/>
          <p:cNvSpPr/>
          <p:nvPr/>
        </p:nvSpPr>
        <p:spPr>
          <a:xfrm>
            <a:off x="320040" y="1783080"/>
            <a:ext cx="2194560" cy="347472"/>
          </a:xfrm>
          <a:prstGeom prst="rect">
            <a:avLst/>
          </a:prstGeom>
          <a:solidFill>
            <a:srgbClr val="4A1D8C"/>
          </a:solidFill>
          <a:ln/>
        </p:spPr>
      </p:sp>
      <p:sp>
        <p:nvSpPr>
          <p:cNvPr id="6" name="Text 4"/>
          <p:cNvSpPr/>
          <p:nvPr/>
        </p:nvSpPr>
        <p:spPr>
          <a:xfrm>
            <a:off x="393192" y="1810512"/>
            <a:ext cx="2048256"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Revenue Stream</a:t>
            </a:r>
            <a:endParaRPr lang="en-US" sz="1100" dirty="0"/>
          </a:p>
        </p:txBody>
      </p:sp>
      <p:sp>
        <p:nvSpPr>
          <p:cNvPr id="7" name="Shape 5"/>
          <p:cNvSpPr/>
          <p:nvPr/>
        </p:nvSpPr>
        <p:spPr>
          <a:xfrm>
            <a:off x="2514600" y="1783080"/>
            <a:ext cx="1371600" cy="347472"/>
          </a:xfrm>
          <a:prstGeom prst="rect">
            <a:avLst/>
          </a:prstGeom>
          <a:solidFill>
            <a:srgbClr val="4A1D8C"/>
          </a:solidFill>
          <a:ln/>
        </p:spPr>
      </p:sp>
      <p:sp>
        <p:nvSpPr>
          <p:cNvPr id="8" name="Text 6"/>
          <p:cNvSpPr/>
          <p:nvPr/>
        </p:nvSpPr>
        <p:spPr>
          <a:xfrm>
            <a:off x="2587752" y="1810512"/>
            <a:ext cx="1225296"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Pricing</a:t>
            </a:r>
            <a:endParaRPr lang="en-US" sz="1100" dirty="0"/>
          </a:p>
        </p:txBody>
      </p:sp>
      <p:sp>
        <p:nvSpPr>
          <p:cNvPr id="9" name="Shape 7"/>
          <p:cNvSpPr/>
          <p:nvPr/>
        </p:nvSpPr>
        <p:spPr>
          <a:xfrm>
            <a:off x="3886200" y="1783080"/>
            <a:ext cx="822960" cy="347472"/>
          </a:xfrm>
          <a:prstGeom prst="rect">
            <a:avLst/>
          </a:prstGeom>
          <a:solidFill>
            <a:srgbClr val="4A1D8C"/>
          </a:solidFill>
          <a:ln/>
        </p:spPr>
      </p:sp>
      <p:sp>
        <p:nvSpPr>
          <p:cNvPr id="10" name="Text 8"/>
          <p:cNvSpPr/>
          <p:nvPr/>
        </p:nvSpPr>
        <p:spPr>
          <a:xfrm>
            <a:off x="3959352" y="1810512"/>
            <a:ext cx="676656"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Margin</a:t>
            </a:r>
            <a:endParaRPr lang="en-US" sz="1100" dirty="0"/>
          </a:p>
        </p:txBody>
      </p:sp>
      <p:sp>
        <p:nvSpPr>
          <p:cNvPr id="11" name="Shape 9"/>
          <p:cNvSpPr/>
          <p:nvPr/>
        </p:nvSpPr>
        <p:spPr>
          <a:xfrm>
            <a:off x="4709160" y="1783080"/>
            <a:ext cx="1005840" cy="347472"/>
          </a:xfrm>
          <a:prstGeom prst="rect">
            <a:avLst/>
          </a:prstGeom>
          <a:solidFill>
            <a:srgbClr val="4A1D8C"/>
          </a:solidFill>
          <a:ln/>
        </p:spPr>
      </p:sp>
      <p:sp>
        <p:nvSpPr>
          <p:cNvPr id="12" name="Text 10"/>
          <p:cNvSpPr/>
          <p:nvPr/>
        </p:nvSpPr>
        <p:spPr>
          <a:xfrm>
            <a:off x="4782312" y="1810512"/>
            <a:ext cx="859536"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Creator Gets</a:t>
            </a:r>
            <a:endParaRPr lang="en-US" sz="1100" dirty="0"/>
          </a:p>
        </p:txBody>
      </p:sp>
      <p:sp>
        <p:nvSpPr>
          <p:cNvPr id="13" name="Shape 11"/>
          <p:cNvSpPr/>
          <p:nvPr/>
        </p:nvSpPr>
        <p:spPr>
          <a:xfrm>
            <a:off x="5715000" y="1783080"/>
            <a:ext cx="2880360" cy="347472"/>
          </a:xfrm>
          <a:prstGeom prst="rect">
            <a:avLst/>
          </a:prstGeom>
          <a:solidFill>
            <a:srgbClr val="4A1D8C"/>
          </a:solidFill>
          <a:ln/>
        </p:spPr>
      </p:sp>
      <p:sp>
        <p:nvSpPr>
          <p:cNvPr id="14" name="Text 12"/>
          <p:cNvSpPr/>
          <p:nvPr/>
        </p:nvSpPr>
        <p:spPr>
          <a:xfrm>
            <a:off x="5788152" y="1810512"/>
            <a:ext cx="2734056"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Scales With</a:t>
            </a:r>
            <a:endParaRPr lang="en-US" sz="1100" dirty="0"/>
          </a:p>
        </p:txBody>
      </p:sp>
      <p:sp>
        <p:nvSpPr>
          <p:cNvPr id="15" name="Shape 13"/>
          <p:cNvSpPr/>
          <p:nvPr/>
        </p:nvSpPr>
        <p:spPr>
          <a:xfrm>
            <a:off x="320040" y="2130552"/>
            <a:ext cx="2194560" cy="438912"/>
          </a:xfrm>
          <a:prstGeom prst="rect">
            <a:avLst/>
          </a:prstGeom>
          <a:solidFill>
            <a:srgbClr val="EDE0FF"/>
          </a:solidFill>
          <a:ln/>
        </p:spPr>
      </p:sp>
      <p:sp>
        <p:nvSpPr>
          <p:cNvPr id="16" name="Text 14"/>
          <p:cNvSpPr/>
          <p:nvPr/>
        </p:nvSpPr>
        <p:spPr>
          <a:xfrm>
            <a:off x="393192" y="2185416"/>
            <a:ext cx="2048256" cy="347472"/>
          </a:xfrm>
          <a:prstGeom prst="rect">
            <a:avLst/>
          </a:prstGeom>
          <a:noFill/>
          <a:ln/>
        </p:spPr>
        <p:txBody>
          <a:bodyPr wrap="square" rtlCol="0" anchor="ctr"/>
          <a:lstStyle/>
          <a:p>
            <a:pPr indent="0" marL="0">
              <a:buNone/>
            </a:pPr>
            <a:r>
              <a:rPr lang="en-US" sz="1100" b="1" dirty="0">
                <a:solidFill>
                  <a:srgbClr val="4A1D8C"/>
                </a:solidFill>
                <a:latin typeface="Calibri" pitchFamily="34" charset="0"/>
                <a:ea typeface="Calibri" pitchFamily="34" charset="-122"/>
                <a:cs typeface="Calibri" pitchFamily="34" charset="-120"/>
              </a:rPr>
              <a:t>Subscription</a:t>
            </a:r>
            <a:endParaRPr lang="en-US" sz="1100" dirty="0"/>
          </a:p>
        </p:txBody>
      </p:sp>
      <p:sp>
        <p:nvSpPr>
          <p:cNvPr id="17" name="Shape 15"/>
          <p:cNvSpPr/>
          <p:nvPr/>
        </p:nvSpPr>
        <p:spPr>
          <a:xfrm>
            <a:off x="2514600" y="2130552"/>
            <a:ext cx="1371600" cy="438912"/>
          </a:xfrm>
          <a:prstGeom prst="rect">
            <a:avLst/>
          </a:prstGeom>
          <a:solidFill>
            <a:srgbClr val="EDE0FF"/>
          </a:solidFill>
          <a:ln/>
        </p:spPr>
      </p:sp>
      <p:sp>
        <p:nvSpPr>
          <p:cNvPr id="18" name="Text 16"/>
          <p:cNvSpPr/>
          <p:nvPr/>
        </p:nvSpPr>
        <p:spPr>
          <a:xfrm>
            <a:off x="2587752" y="2185416"/>
            <a:ext cx="1225296" cy="347472"/>
          </a:xfrm>
          <a:prstGeom prst="rect">
            <a:avLst/>
          </a:prstGeom>
          <a:noFill/>
          <a:ln/>
        </p:spPr>
        <p:txBody>
          <a:bodyPr wrap="square" rtlCol="0" anchor="ctr"/>
          <a:lstStyle/>
          <a:p>
            <a:pPr indent="0" marL="0">
              <a:buNone/>
            </a:pPr>
            <a:r>
              <a:rPr lang="en-US" sz="1100" dirty="0">
                <a:solidFill>
                  <a:srgbClr val="4A1D8C"/>
                </a:solidFill>
                <a:latin typeface="Calibri" pitchFamily="34" charset="0"/>
                <a:ea typeface="Calibri" pitchFamily="34" charset="-122"/>
                <a:cs typeface="Calibri" pitchFamily="34" charset="-120"/>
              </a:rPr>
              <a:t>$29-$99/mo</a:t>
            </a:r>
            <a:endParaRPr lang="en-US" sz="1100" dirty="0"/>
          </a:p>
        </p:txBody>
      </p:sp>
      <p:sp>
        <p:nvSpPr>
          <p:cNvPr id="19" name="Shape 17"/>
          <p:cNvSpPr/>
          <p:nvPr/>
        </p:nvSpPr>
        <p:spPr>
          <a:xfrm>
            <a:off x="3886200" y="2130552"/>
            <a:ext cx="822960" cy="438912"/>
          </a:xfrm>
          <a:prstGeom prst="rect">
            <a:avLst/>
          </a:prstGeom>
          <a:solidFill>
            <a:srgbClr val="EDE0FF"/>
          </a:solidFill>
          <a:ln/>
        </p:spPr>
      </p:sp>
      <p:sp>
        <p:nvSpPr>
          <p:cNvPr id="20" name="Text 18"/>
          <p:cNvSpPr/>
          <p:nvPr/>
        </p:nvSpPr>
        <p:spPr>
          <a:xfrm>
            <a:off x="3959352" y="2185416"/>
            <a:ext cx="676656" cy="347472"/>
          </a:xfrm>
          <a:prstGeom prst="rect">
            <a:avLst/>
          </a:prstGeom>
          <a:noFill/>
          <a:ln/>
        </p:spPr>
        <p:txBody>
          <a:bodyPr wrap="square" rtlCol="0" anchor="ctr"/>
          <a:lstStyle/>
          <a:p>
            <a:pPr indent="0" marL="0">
              <a:buNone/>
            </a:pPr>
            <a:r>
              <a:rPr lang="en-US" sz="1100" dirty="0">
                <a:solidFill>
                  <a:srgbClr val="4A1D8C"/>
                </a:solidFill>
                <a:latin typeface="Calibri" pitchFamily="34" charset="0"/>
                <a:ea typeface="Calibri" pitchFamily="34" charset="-122"/>
                <a:cs typeface="Calibri" pitchFamily="34" charset="-120"/>
              </a:rPr>
              <a:t>~75%</a:t>
            </a:r>
            <a:endParaRPr lang="en-US" sz="1100" dirty="0"/>
          </a:p>
        </p:txBody>
      </p:sp>
      <p:sp>
        <p:nvSpPr>
          <p:cNvPr id="21" name="Shape 19"/>
          <p:cNvSpPr/>
          <p:nvPr/>
        </p:nvSpPr>
        <p:spPr>
          <a:xfrm>
            <a:off x="4709160" y="2130552"/>
            <a:ext cx="1005840" cy="438912"/>
          </a:xfrm>
          <a:prstGeom prst="rect">
            <a:avLst/>
          </a:prstGeom>
          <a:solidFill>
            <a:srgbClr val="EDE0FF"/>
          </a:solidFill>
          <a:ln/>
        </p:spPr>
      </p:sp>
      <p:sp>
        <p:nvSpPr>
          <p:cNvPr id="22" name="Text 20"/>
          <p:cNvSpPr/>
          <p:nvPr/>
        </p:nvSpPr>
        <p:spPr>
          <a:xfrm>
            <a:off x="4782312" y="2185416"/>
            <a:ext cx="859536" cy="347472"/>
          </a:xfrm>
          <a:prstGeom prst="rect">
            <a:avLst/>
          </a:prstGeom>
          <a:noFill/>
          <a:ln/>
        </p:spPr>
        <p:txBody>
          <a:bodyPr wrap="square" rtlCol="0" anchor="ctr"/>
          <a:lstStyle/>
          <a:p>
            <a:pPr indent="0" marL="0">
              <a:buNone/>
            </a:pPr>
            <a:r>
              <a:rPr lang="en-US" sz="1100" dirty="0">
                <a:solidFill>
                  <a:srgbClr val="4A1D8C"/>
                </a:solidFill>
                <a:latin typeface="Calibri" pitchFamily="34" charset="0"/>
                <a:ea typeface="Calibri" pitchFamily="34" charset="-122"/>
                <a:cs typeface="Calibri" pitchFamily="34" charset="-120"/>
              </a:rPr>
              <a:t>75%</a:t>
            </a:r>
            <a:endParaRPr lang="en-US" sz="1100" dirty="0"/>
          </a:p>
        </p:txBody>
      </p:sp>
      <p:sp>
        <p:nvSpPr>
          <p:cNvPr id="23" name="Shape 21"/>
          <p:cNvSpPr/>
          <p:nvPr/>
        </p:nvSpPr>
        <p:spPr>
          <a:xfrm>
            <a:off x="5715000" y="2130552"/>
            <a:ext cx="2880360" cy="438912"/>
          </a:xfrm>
          <a:prstGeom prst="rect">
            <a:avLst/>
          </a:prstGeom>
          <a:solidFill>
            <a:srgbClr val="EDE0FF"/>
          </a:solidFill>
          <a:ln/>
        </p:spPr>
      </p:sp>
      <p:sp>
        <p:nvSpPr>
          <p:cNvPr id="24" name="Text 22"/>
          <p:cNvSpPr/>
          <p:nvPr/>
        </p:nvSpPr>
        <p:spPr>
          <a:xfrm>
            <a:off x="5788152" y="2185416"/>
            <a:ext cx="2734056" cy="347472"/>
          </a:xfrm>
          <a:prstGeom prst="rect">
            <a:avLst/>
          </a:prstGeom>
          <a:noFill/>
          <a:ln/>
        </p:spPr>
        <p:txBody>
          <a:bodyPr wrap="square" rtlCol="0" anchor="ctr"/>
          <a:lstStyle/>
          <a:p>
            <a:pPr indent="0" marL="0">
              <a:buNone/>
            </a:pPr>
            <a:r>
              <a:rPr lang="en-US" sz="1100" dirty="0">
                <a:solidFill>
                  <a:srgbClr val="4A1D8C"/>
                </a:solidFill>
                <a:latin typeface="Calibri" pitchFamily="34" charset="0"/>
                <a:ea typeface="Calibri" pitchFamily="34" charset="-122"/>
                <a:cs typeface="Calibri" pitchFamily="34" charset="-120"/>
              </a:rPr>
              <a:t>Creator + subscriber growth</a:t>
            </a:r>
            <a:endParaRPr lang="en-US" sz="1100" dirty="0"/>
          </a:p>
        </p:txBody>
      </p:sp>
      <p:sp>
        <p:nvSpPr>
          <p:cNvPr id="25" name="Shape 23"/>
          <p:cNvSpPr/>
          <p:nvPr/>
        </p:nvSpPr>
        <p:spPr>
          <a:xfrm>
            <a:off x="320040" y="2606040"/>
            <a:ext cx="2194560" cy="438912"/>
          </a:xfrm>
          <a:prstGeom prst="rect">
            <a:avLst/>
          </a:prstGeom>
          <a:solidFill>
            <a:srgbClr val="F0EEFF"/>
          </a:solidFill>
          <a:ln/>
        </p:spPr>
      </p:sp>
      <p:sp>
        <p:nvSpPr>
          <p:cNvPr id="26" name="Text 24"/>
          <p:cNvSpPr/>
          <p:nvPr/>
        </p:nvSpPr>
        <p:spPr>
          <a:xfrm>
            <a:off x="393192" y="2660904"/>
            <a:ext cx="20482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Data Credits</a:t>
            </a:r>
            <a:endParaRPr lang="en-US" sz="1100" dirty="0"/>
          </a:p>
        </p:txBody>
      </p:sp>
      <p:sp>
        <p:nvSpPr>
          <p:cNvPr id="27" name="Shape 25"/>
          <p:cNvSpPr/>
          <p:nvPr/>
        </p:nvSpPr>
        <p:spPr>
          <a:xfrm>
            <a:off x="2514600" y="2606040"/>
            <a:ext cx="1371600" cy="438912"/>
          </a:xfrm>
          <a:prstGeom prst="rect">
            <a:avLst/>
          </a:prstGeom>
          <a:solidFill>
            <a:srgbClr val="F0EEFF"/>
          </a:solidFill>
          <a:ln/>
        </p:spPr>
      </p:sp>
      <p:sp>
        <p:nvSpPr>
          <p:cNvPr id="28" name="Text 26"/>
          <p:cNvSpPr/>
          <p:nvPr/>
        </p:nvSpPr>
        <p:spPr>
          <a:xfrm>
            <a:off x="2587752" y="2660904"/>
            <a:ext cx="122529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$0.02/credit</a:t>
            </a:r>
            <a:endParaRPr lang="en-US" sz="1100" dirty="0"/>
          </a:p>
        </p:txBody>
      </p:sp>
      <p:sp>
        <p:nvSpPr>
          <p:cNvPr id="29" name="Shape 27"/>
          <p:cNvSpPr/>
          <p:nvPr/>
        </p:nvSpPr>
        <p:spPr>
          <a:xfrm>
            <a:off x="3886200" y="2606040"/>
            <a:ext cx="822960" cy="438912"/>
          </a:xfrm>
          <a:prstGeom prst="rect">
            <a:avLst/>
          </a:prstGeom>
          <a:solidFill>
            <a:srgbClr val="F0EEFF"/>
          </a:solidFill>
          <a:ln/>
        </p:spPr>
      </p:sp>
      <p:sp>
        <p:nvSpPr>
          <p:cNvPr id="30" name="Text 28"/>
          <p:cNvSpPr/>
          <p:nvPr/>
        </p:nvSpPr>
        <p:spPr>
          <a:xfrm>
            <a:off x="3959352" y="2660904"/>
            <a:ext cx="6766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~90%</a:t>
            </a:r>
            <a:endParaRPr lang="en-US" sz="1100" dirty="0"/>
          </a:p>
        </p:txBody>
      </p:sp>
      <p:sp>
        <p:nvSpPr>
          <p:cNvPr id="31" name="Shape 29"/>
          <p:cNvSpPr/>
          <p:nvPr/>
        </p:nvSpPr>
        <p:spPr>
          <a:xfrm>
            <a:off x="4709160" y="2606040"/>
            <a:ext cx="1005840" cy="438912"/>
          </a:xfrm>
          <a:prstGeom prst="rect">
            <a:avLst/>
          </a:prstGeom>
          <a:solidFill>
            <a:srgbClr val="F0EEFF"/>
          </a:solidFill>
          <a:ln/>
        </p:spPr>
      </p:sp>
      <p:sp>
        <p:nvSpPr>
          <p:cNvPr id="32" name="Text 30"/>
          <p:cNvSpPr/>
          <p:nvPr/>
        </p:nvSpPr>
        <p:spPr>
          <a:xfrm>
            <a:off x="4782312" y="2660904"/>
            <a:ext cx="85953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0%</a:t>
            </a:r>
            <a:endParaRPr lang="en-US" sz="1100" dirty="0"/>
          </a:p>
        </p:txBody>
      </p:sp>
      <p:sp>
        <p:nvSpPr>
          <p:cNvPr id="33" name="Shape 31"/>
          <p:cNvSpPr/>
          <p:nvPr/>
        </p:nvSpPr>
        <p:spPr>
          <a:xfrm>
            <a:off x="5715000" y="2606040"/>
            <a:ext cx="2880360" cy="438912"/>
          </a:xfrm>
          <a:prstGeom prst="rect">
            <a:avLst/>
          </a:prstGeom>
          <a:solidFill>
            <a:srgbClr val="F0EEFF"/>
          </a:solidFill>
          <a:ln/>
        </p:spPr>
      </p:sp>
      <p:sp>
        <p:nvSpPr>
          <p:cNvPr id="34" name="Text 32"/>
          <p:cNvSpPr/>
          <p:nvPr/>
        </p:nvSpPr>
        <p:spPr>
          <a:xfrm>
            <a:off x="5788152" y="2660904"/>
            <a:ext cx="27340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Usage — Alex upsells bulk purchase</a:t>
            </a:r>
            <a:endParaRPr lang="en-US" sz="1100" dirty="0"/>
          </a:p>
        </p:txBody>
      </p:sp>
      <p:sp>
        <p:nvSpPr>
          <p:cNvPr id="35" name="Shape 33"/>
          <p:cNvSpPr/>
          <p:nvPr/>
        </p:nvSpPr>
        <p:spPr>
          <a:xfrm>
            <a:off x="320040" y="3081528"/>
            <a:ext cx="2194560" cy="438912"/>
          </a:xfrm>
          <a:prstGeom prst="rect">
            <a:avLst/>
          </a:prstGeom>
          <a:solidFill>
            <a:srgbClr val="FFFFFF"/>
          </a:solidFill>
          <a:ln/>
        </p:spPr>
      </p:sp>
      <p:sp>
        <p:nvSpPr>
          <p:cNvPr id="36" name="Text 34"/>
          <p:cNvSpPr/>
          <p:nvPr/>
        </p:nvSpPr>
        <p:spPr>
          <a:xfrm>
            <a:off x="393192" y="3136392"/>
            <a:ext cx="20482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API Pass-Through</a:t>
            </a:r>
            <a:endParaRPr lang="en-US" sz="1100" dirty="0"/>
          </a:p>
        </p:txBody>
      </p:sp>
      <p:sp>
        <p:nvSpPr>
          <p:cNvPr id="37" name="Shape 35"/>
          <p:cNvSpPr/>
          <p:nvPr/>
        </p:nvSpPr>
        <p:spPr>
          <a:xfrm>
            <a:off x="2514600" y="3081528"/>
            <a:ext cx="1371600" cy="438912"/>
          </a:xfrm>
          <a:prstGeom prst="rect">
            <a:avLst/>
          </a:prstGeom>
          <a:solidFill>
            <a:srgbClr val="FFFFFF"/>
          </a:solidFill>
          <a:ln/>
        </p:spPr>
      </p:sp>
      <p:sp>
        <p:nvSpPr>
          <p:cNvPr id="38" name="Text 36"/>
          <p:cNvSpPr/>
          <p:nvPr/>
        </p:nvSpPr>
        <p:spPr>
          <a:xfrm>
            <a:off x="2587752" y="3136392"/>
            <a:ext cx="122529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2× cost floor</a:t>
            </a:r>
            <a:endParaRPr lang="en-US" sz="1100" dirty="0"/>
          </a:p>
        </p:txBody>
      </p:sp>
      <p:sp>
        <p:nvSpPr>
          <p:cNvPr id="39" name="Shape 37"/>
          <p:cNvSpPr/>
          <p:nvPr/>
        </p:nvSpPr>
        <p:spPr>
          <a:xfrm>
            <a:off x="3886200" y="3081528"/>
            <a:ext cx="822960" cy="438912"/>
          </a:xfrm>
          <a:prstGeom prst="rect">
            <a:avLst/>
          </a:prstGeom>
          <a:solidFill>
            <a:srgbClr val="FFFFFF"/>
          </a:solidFill>
          <a:ln/>
        </p:spPr>
      </p:sp>
      <p:sp>
        <p:nvSpPr>
          <p:cNvPr id="40" name="Text 38"/>
          <p:cNvSpPr/>
          <p:nvPr/>
        </p:nvSpPr>
        <p:spPr>
          <a:xfrm>
            <a:off x="3959352" y="3136392"/>
            <a:ext cx="6766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50-85%</a:t>
            </a:r>
            <a:endParaRPr lang="en-US" sz="1100" dirty="0"/>
          </a:p>
        </p:txBody>
      </p:sp>
      <p:sp>
        <p:nvSpPr>
          <p:cNvPr id="41" name="Shape 39"/>
          <p:cNvSpPr/>
          <p:nvPr/>
        </p:nvSpPr>
        <p:spPr>
          <a:xfrm>
            <a:off x="4709160" y="3081528"/>
            <a:ext cx="1005840" cy="438912"/>
          </a:xfrm>
          <a:prstGeom prst="rect">
            <a:avLst/>
          </a:prstGeom>
          <a:solidFill>
            <a:srgbClr val="FFFFFF"/>
          </a:solidFill>
          <a:ln/>
        </p:spPr>
      </p:sp>
      <p:sp>
        <p:nvSpPr>
          <p:cNvPr id="42" name="Text 40"/>
          <p:cNvSpPr/>
          <p:nvPr/>
        </p:nvSpPr>
        <p:spPr>
          <a:xfrm>
            <a:off x="4782312" y="3136392"/>
            <a:ext cx="85953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75%</a:t>
            </a:r>
            <a:endParaRPr lang="en-US" sz="1100" dirty="0"/>
          </a:p>
        </p:txBody>
      </p:sp>
      <p:sp>
        <p:nvSpPr>
          <p:cNvPr id="43" name="Shape 41"/>
          <p:cNvSpPr/>
          <p:nvPr/>
        </p:nvSpPr>
        <p:spPr>
          <a:xfrm>
            <a:off x="5715000" y="3081528"/>
            <a:ext cx="2880360" cy="438912"/>
          </a:xfrm>
          <a:prstGeom prst="rect">
            <a:avLst/>
          </a:prstGeom>
          <a:solidFill>
            <a:srgbClr val="FFFFFF"/>
          </a:solidFill>
          <a:ln/>
        </p:spPr>
      </p:sp>
      <p:sp>
        <p:nvSpPr>
          <p:cNvPr id="44" name="Text 42"/>
          <p:cNvSpPr/>
          <p:nvPr/>
        </p:nvSpPr>
        <p:spPr>
          <a:xfrm>
            <a:off x="5788152" y="3136392"/>
            <a:ext cx="27340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Data richness per session</a:t>
            </a:r>
            <a:endParaRPr lang="en-US" sz="1100" dirty="0"/>
          </a:p>
        </p:txBody>
      </p:sp>
      <p:sp>
        <p:nvSpPr>
          <p:cNvPr id="45" name="Shape 43"/>
          <p:cNvSpPr/>
          <p:nvPr/>
        </p:nvSpPr>
        <p:spPr>
          <a:xfrm>
            <a:off x="320040" y="3557016"/>
            <a:ext cx="2194560" cy="438912"/>
          </a:xfrm>
          <a:prstGeom prst="rect">
            <a:avLst/>
          </a:prstGeom>
          <a:solidFill>
            <a:srgbClr val="F0EEFF"/>
          </a:solidFill>
          <a:ln/>
        </p:spPr>
      </p:sp>
      <p:sp>
        <p:nvSpPr>
          <p:cNvPr id="46" name="Text 44"/>
          <p:cNvSpPr/>
          <p:nvPr/>
        </p:nvSpPr>
        <p:spPr>
          <a:xfrm>
            <a:off x="393192" y="3611880"/>
            <a:ext cx="20482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Audit Trail</a:t>
            </a:r>
            <a:endParaRPr lang="en-US" sz="1100" dirty="0"/>
          </a:p>
        </p:txBody>
      </p:sp>
      <p:sp>
        <p:nvSpPr>
          <p:cNvPr id="47" name="Shape 45"/>
          <p:cNvSpPr/>
          <p:nvPr/>
        </p:nvSpPr>
        <p:spPr>
          <a:xfrm>
            <a:off x="2514600" y="3557016"/>
            <a:ext cx="1371600" cy="438912"/>
          </a:xfrm>
          <a:prstGeom prst="rect">
            <a:avLst/>
          </a:prstGeom>
          <a:solidFill>
            <a:srgbClr val="F0EEFF"/>
          </a:solidFill>
          <a:ln/>
        </p:spPr>
      </p:sp>
      <p:sp>
        <p:nvSpPr>
          <p:cNvPr id="48" name="Text 46"/>
          <p:cNvSpPr/>
          <p:nvPr/>
        </p:nvSpPr>
        <p:spPr>
          <a:xfrm>
            <a:off x="2587752" y="3611880"/>
            <a:ext cx="122529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$0.005/record</a:t>
            </a:r>
            <a:endParaRPr lang="en-US" sz="1100" dirty="0"/>
          </a:p>
        </p:txBody>
      </p:sp>
      <p:sp>
        <p:nvSpPr>
          <p:cNvPr id="49" name="Shape 47"/>
          <p:cNvSpPr/>
          <p:nvPr/>
        </p:nvSpPr>
        <p:spPr>
          <a:xfrm>
            <a:off x="3886200" y="3557016"/>
            <a:ext cx="822960" cy="438912"/>
          </a:xfrm>
          <a:prstGeom prst="rect">
            <a:avLst/>
          </a:prstGeom>
          <a:solidFill>
            <a:srgbClr val="F0EEFF"/>
          </a:solidFill>
          <a:ln/>
        </p:spPr>
      </p:sp>
      <p:sp>
        <p:nvSpPr>
          <p:cNvPr id="50" name="Text 48"/>
          <p:cNvSpPr/>
          <p:nvPr/>
        </p:nvSpPr>
        <p:spPr>
          <a:xfrm>
            <a:off x="3959352" y="3611880"/>
            <a:ext cx="6766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~95%</a:t>
            </a:r>
            <a:endParaRPr lang="en-US" sz="1100" dirty="0"/>
          </a:p>
        </p:txBody>
      </p:sp>
      <p:sp>
        <p:nvSpPr>
          <p:cNvPr id="51" name="Shape 49"/>
          <p:cNvSpPr/>
          <p:nvPr/>
        </p:nvSpPr>
        <p:spPr>
          <a:xfrm>
            <a:off x="4709160" y="3557016"/>
            <a:ext cx="1005840" cy="438912"/>
          </a:xfrm>
          <a:prstGeom prst="rect">
            <a:avLst/>
          </a:prstGeom>
          <a:solidFill>
            <a:srgbClr val="F0EEFF"/>
          </a:solidFill>
          <a:ln/>
        </p:spPr>
      </p:sp>
      <p:sp>
        <p:nvSpPr>
          <p:cNvPr id="52" name="Text 50"/>
          <p:cNvSpPr/>
          <p:nvPr/>
        </p:nvSpPr>
        <p:spPr>
          <a:xfrm>
            <a:off x="4782312" y="3611880"/>
            <a:ext cx="85953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0%</a:t>
            </a:r>
            <a:endParaRPr lang="en-US" sz="1100" dirty="0"/>
          </a:p>
        </p:txBody>
      </p:sp>
      <p:sp>
        <p:nvSpPr>
          <p:cNvPr id="53" name="Shape 51"/>
          <p:cNvSpPr/>
          <p:nvPr/>
        </p:nvSpPr>
        <p:spPr>
          <a:xfrm>
            <a:off x="5715000" y="3557016"/>
            <a:ext cx="2880360" cy="438912"/>
          </a:xfrm>
          <a:prstGeom prst="rect">
            <a:avLst/>
          </a:prstGeom>
          <a:solidFill>
            <a:srgbClr val="F0EEFF"/>
          </a:solidFill>
          <a:ln/>
        </p:spPr>
      </p:sp>
      <p:sp>
        <p:nvSpPr>
          <p:cNvPr id="54" name="Text 52"/>
          <p:cNvSpPr/>
          <p:nvPr/>
        </p:nvSpPr>
        <p:spPr>
          <a:xfrm>
            <a:off x="5788152" y="3611880"/>
            <a:ext cx="27340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Regulated industry sessions</a:t>
            </a:r>
            <a:endParaRPr lang="en-US" sz="1100" dirty="0"/>
          </a:p>
        </p:txBody>
      </p:sp>
      <p:sp>
        <p:nvSpPr>
          <p:cNvPr id="55" name="Shape 53"/>
          <p:cNvSpPr/>
          <p:nvPr/>
        </p:nvSpPr>
        <p:spPr>
          <a:xfrm>
            <a:off x="320040" y="4032504"/>
            <a:ext cx="2194560" cy="438912"/>
          </a:xfrm>
          <a:prstGeom prst="rect">
            <a:avLst/>
          </a:prstGeom>
          <a:solidFill>
            <a:srgbClr val="FFFFFF"/>
          </a:solidFill>
          <a:ln/>
        </p:spPr>
      </p:sp>
      <p:sp>
        <p:nvSpPr>
          <p:cNvPr id="56" name="Text 54"/>
          <p:cNvSpPr/>
          <p:nvPr/>
        </p:nvSpPr>
        <p:spPr>
          <a:xfrm>
            <a:off x="393192" y="4087368"/>
            <a:ext cx="20482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Creator License</a:t>
            </a:r>
            <a:endParaRPr lang="en-US" sz="1100" dirty="0"/>
          </a:p>
        </p:txBody>
      </p:sp>
      <p:sp>
        <p:nvSpPr>
          <p:cNvPr id="57" name="Shape 55"/>
          <p:cNvSpPr/>
          <p:nvPr/>
        </p:nvSpPr>
        <p:spPr>
          <a:xfrm>
            <a:off x="2514600" y="4032504"/>
            <a:ext cx="1371600" cy="438912"/>
          </a:xfrm>
          <a:prstGeom prst="rect">
            <a:avLst/>
          </a:prstGeom>
          <a:solidFill>
            <a:srgbClr val="FFFFFF"/>
          </a:solidFill>
          <a:ln/>
        </p:spPr>
      </p:sp>
      <p:sp>
        <p:nvSpPr>
          <p:cNvPr id="58" name="Text 56"/>
          <p:cNvSpPr/>
          <p:nvPr/>
        </p:nvSpPr>
        <p:spPr>
          <a:xfrm>
            <a:off x="2587752" y="4087368"/>
            <a:ext cx="122529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$49/yr</a:t>
            </a:r>
            <a:endParaRPr lang="en-US" sz="1100" dirty="0"/>
          </a:p>
        </p:txBody>
      </p:sp>
      <p:sp>
        <p:nvSpPr>
          <p:cNvPr id="59" name="Shape 57"/>
          <p:cNvSpPr/>
          <p:nvPr/>
        </p:nvSpPr>
        <p:spPr>
          <a:xfrm>
            <a:off x="3886200" y="4032504"/>
            <a:ext cx="822960" cy="438912"/>
          </a:xfrm>
          <a:prstGeom prst="rect">
            <a:avLst/>
          </a:prstGeom>
          <a:solidFill>
            <a:srgbClr val="FFFFFF"/>
          </a:solidFill>
          <a:ln/>
        </p:spPr>
      </p:sp>
      <p:sp>
        <p:nvSpPr>
          <p:cNvPr id="60" name="Text 58"/>
          <p:cNvSpPr/>
          <p:nvPr/>
        </p:nvSpPr>
        <p:spPr>
          <a:xfrm>
            <a:off x="3959352" y="4087368"/>
            <a:ext cx="6766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~100%</a:t>
            </a:r>
            <a:endParaRPr lang="en-US" sz="1100" dirty="0"/>
          </a:p>
        </p:txBody>
      </p:sp>
      <p:sp>
        <p:nvSpPr>
          <p:cNvPr id="61" name="Shape 59"/>
          <p:cNvSpPr/>
          <p:nvPr/>
        </p:nvSpPr>
        <p:spPr>
          <a:xfrm>
            <a:off x="4709160" y="4032504"/>
            <a:ext cx="1005840" cy="438912"/>
          </a:xfrm>
          <a:prstGeom prst="rect">
            <a:avLst/>
          </a:prstGeom>
          <a:solidFill>
            <a:srgbClr val="FFFFFF"/>
          </a:solidFill>
          <a:ln/>
        </p:spPr>
      </p:sp>
      <p:sp>
        <p:nvSpPr>
          <p:cNvPr id="62" name="Text 60"/>
          <p:cNvSpPr/>
          <p:nvPr/>
        </p:nvSpPr>
        <p:spPr>
          <a:xfrm>
            <a:off x="4782312" y="4087368"/>
            <a:ext cx="85953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0%</a:t>
            </a:r>
            <a:endParaRPr lang="en-US" sz="1100" dirty="0"/>
          </a:p>
        </p:txBody>
      </p:sp>
      <p:sp>
        <p:nvSpPr>
          <p:cNvPr id="63" name="Shape 61"/>
          <p:cNvSpPr/>
          <p:nvPr/>
        </p:nvSpPr>
        <p:spPr>
          <a:xfrm>
            <a:off x="5715000" y="4032504"/>
            <a:ext cx="2880360" cy="438912"/>
          </a:xfrm>
          <a:prstGeom prst="rect">
            <a:avLst/>
          </a:prstGeom>
          <a:solidFill>
            <a:srgbClr val="FFFFFF"/>
          </a:solidFill>
          <a:ln/>
        </p:spPr>
      </p:sp>
      <p:sp>
        <p:nvSpPr>
          <p:cNvPr id="64" name="Text 62"/>
          <p:cNvSpPr/>
          <p:nvPr/>
        </p:nvSpPr>
        <p:spPr>
          <a:xfrm>
            <a:off x="5788152" y="4087368"/>
            <a:ext cx="2734056" cy="347472"/>
          </a:xfrm>
          <a:prstGeom prst="rect">
            <a:avLst/>
          </a:prstGeom>
          <a:noFill/>
          <a:ln/>
        </p:spPr>
        <p:txBody>
          <a:bodyPr wrap="square" rtlCol="0" anchor="ctr"/>
          <a:lstStyle/>
          <a:p>
            <a:pPr indent="0" marL="0">
              <a:buNone/>
            </a:pPr>
            <a:r>
              <a:rPr lang="en-US" sz="1100" dirty="0">
                <a:solidFill>
                  <a:srgbClr val="2A2D3E"/>
                </a:solidFill>
                <a:latin typeface="Calibri" pitchFamily="34" charset="0"/>
                <a:ea typeface="Calibri" pitchFamily="34" charset="-122"/>
                <a:cs typeface="Calibri" pitchFamily="34" charset="-120"/>
              </a:rPr>
              <a:t>Total creator population</a:t>
            </a:r>
            <a:endParaRPr lang="en-US" sz="1100" dirty="0"/>
          </a:p>
        </p:txBody>
      </p:sp>
      <p:sp>
        <p:nvSpPr>
          <p:cNvPr id="65" name="Text 63"/>
          <p:cNvSpPr/>
          <p:nvPr/>
        </p:nvSpPr>
        <p:spPr>
          <a:xfrm>
            <a:off x="320040" y="4864608"/>
            <a:ext cx="8412480" cy="219456"/>
          </a:xfrm>
          <a:prstGeom prst="rect">
            <a:avLst/>
          </a:prstGeom>
          <a:noFill/>
          <a:ln/>
        </p:spPr>
        <p:txBody>
          <a:bodyPr wrap="square" rtlCol="0" anchor="ctr"/>
          <a:lstStyle/>
          <a:p>
            <a:pPr indent="0" marL="0">
              <a:buNone/>
            </a:pPr>
            <a:r>
              <a:rPr lang="en-US" sz="1000" i="1" dirty="0">
                <a:solidFill>
                  <a:srgbClr val="8892A4"/>
                </a:solidFill>
                <a:latin typeface="Calibri" pitchFamily="34" charset="0"/>
                <a:ea typeface="Calibri" pitchFamily="34" charset="-122"/>
                <a:cs typeface="Calibri" pitchFamily="34" charset="-120"/>
              </a:rPr>
              <a:t>Free tier gets you in. Data Credits grow with usage. Alex recommends top-ups. Active subscribers average $99+/mo with compute.</a:t>
            </a:r>
            <a:endParaRPr lang="en-US" sz="1000" dirty="0"/>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475569"/>
                </a:solidFill>
                <a:latin typeface="Calibri" pitchFamily="34" charset="0"/>
              </a:rPr>
              <a:t>sociii.ai  ·  CONFIDENTIAL  ·  SOCIII Inc. (Delaware C-Corp)  ·  May 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0B981"/>
          </a:solidFill>
          <a:ln/>
        </p:spPr>
      </p:sp>
      <p:sp>
        <p:nvSpPr>
          <p:cNvPr id="3" name="Text 1"/>
          <p:cNvSpPr/>
          <p:nvPr/>
        </p:nvSpPr>
        <p:spPr>
          <a:xfrm>
            <a:off x="320040" y="228600"/>
            <a:ext cx="4572000" cy="256032"/>
          </a:xfrm>
          <a:prstGeom prst="rect">
            <a:avLst/>
          </a:prstGeom>
          <a:noFill/>
          <a:ln/>
        </p:spPr>
        <p:txBody>
          <a:bodyPr wrap="square" rtlCol="0" anchor="ctr"/>
          <a:lstStyle/>
          <a:p>
            <a:pPr indent="0" marL="0">
              <a:buNone/>
            </a:pPr>
            <a:r>
              <a:rPr lang="en-US" sz="1100" b="1" spc="300" kern="0" dirty="0">
                <a:solidFill>
                  <a:srgbClr val="0D7A5F"/>
                </a:solidFill>
                <a:latin typeface="Calibri" pitchFamily="34" charset="0"/>
                <a:ea typeface="Calibri" pitchFamily="34" charset="-122"/>
                <a:cs typeface="Calibri" pitchFamily="34" charset="-120"/>
              </a:rPr>
              <a:t>THE NUMBERS</a:t>
            </a:r>
            <a:endParaRPr lang="en-US" sz="1100" dirty="0"/>
          </a:p>
        </p:txBody>
      </p:sp>
      <p:sp>
        <p:nvSpPr>
          <p:cNvPr id="4" name="Text 2"/>
          <p:cNvSpPr/>
          <p:nvPr/>
        </p:nvSpPr>
        <p:spPr>
          <a:xfrm>
            <a:off x="320040" y="457200"/>
            <a:ext cx="8412480" cy="566928"/>
          </a:xfrm>
          <a:prstGeom prst="rect">
            <a:avLst/>
          </a:prstGeom>
          <a:noFill/>
          <a:ln/>
        </p:spPr>
        <p:txBody>
          <a:bodyPr wrap="square" rtlCol="0" anchor="ctr"/>
          <a:lstStyle/>
          <a:p>
            <a:pPr indent="0" marL="0">
              <a:buNone/>
            </a:pPr>
            <a:r>
              <a:rPr lang="en-US" sz="3400" b="1" dirty="0">
                <a:solidFill>
                  <a:srgbClr val="1A0A2E"/>
                </a:solidFill>
                <a:latin typeface="Calibri" pitchFamily="34" charset="0"/>
                <a:ea typeface="Calibri" pitchFamily="34" charset="-122"/>
                <a:cs typeface="Calibri" pitchFamily="34" charset="-120"/>
              </a:rPr>
              <a:t>Three Scenarios. One Model.</a:t>
            </a:r>
            <a:endParaRPr lang="en-US" sz="3400" dirty="0"/>
          </a:p>
        </p:txBody>
      </p:sp>
      <p:sp>
        <p:nvSpPr>
          <p:cNvPr id="5" name="Text 3"/>
          <p:cNvSpPr/>
          <p:nvPr/>
        </p:nvSpPr>
        <p:spPr>
          <a:xfrm>
            <a:off x="320040" y="1005840"/>
            <a:ext cx="8412480" cy="292608"/>
          </a:xfrm>
          <a:prstGeom prst="rect">
            <a:avLst/>
          </a:prstGeom>
          <a:noFill/>
          <a:ln/>
        </p:spPr>
        <p:txBody>
          <a:bodyPr wrap="square" rtlCol="0" anchor="ctr"/>
          <a:lstStyle/>
          <a:p>
            <a:pPr indent="0" marL="0">
              <a:buNone/>
            </a:pPr>
            <a:r>
              <a:rPr lang="en-US" sz="1200" i="1" dirty="0">
                <a:solidFill>
                  <a:srgbClr val="8892A4"/>
                </a:solidFill>
                <a:latin typeface="Calibri" pitchFamily="34" charset="0"/>
                <a:ea typeface="Calibri" pitchFamily="34" charset="-122"/>
                <a:cs typeface="Calibri" pitchFamily="34" charset="-120"/>
              </a:rPr>
              <a:t>All scenarios: $99/mo blended base. Differ only by growth rate and churn. $25K/mo fixed overhead post-raise. Footers reflect a $5M reference raise; the current raise is $1–2M.</a:t>
            </a:r>
            <a:endParaRPr lang="en-US" sz="1200" dirty="0"/>
          </a:p>
        </p:txBody>
      </p:sp>
      <p:sp>
        <p:nvSpPr>
          <p:cNvPr id="6" name="Shape 4"/>
          <p:cNvSpPr/>
          <p:nvPr/>
        </p:nvSpPr>
        <p:spPr>
          <a:xfrm>
            <a:off x="320040" y="1463040"/>
            <a:ext cx="2761488" cy="3493008"/>
          </a:xfrm>
          <a:prstGeom prst="rect">
            <a:avLst/>
          </a:prstGeom>
          <a:solidFill>
            <a:srgbClr val="FFFFFF"/>
          </a:solidFill>
          <a:ln w="12700">
            <a:solidFill>
              <a:srgbClr val="C62828"/>
            </a:solidFill>
            <a:prstDash val="solid"/>
          </a:ln>
          <a:effectLst>
            <a:outerShdw sx="100000" sy="100000" kx="0" ky="0" algn="bl" rotWithShape="0" blurRad="152400" dist="50800" dir="8100000">
              <a:srgbClr val="000000">
                <a:alpha val="22000"/>
              </a:srgbClr>
            </a:outerShdw>
          </a:effectLst>
        </p:spPr>
      </p:sp>
      <p:sp>
        <p:nvSpPr>
          <p:cNvPr id="7" name="Shape 5"/>
          <p:cNvSpPr/>
          <p:nvPr/>
        </p:nvSpPr>
        <p:spPr>
          <a:xfrm>
            <a:off x="320040" y="1463040"/>
            <a:ext cx="2761488" cy="566928"/>
          </a:xfrm>
          <a:prstGeom prst="rect">
            <a:avLst/>
          </a:prstGeom>
          <a:solidFill>
            <a:srgbClr val="C62828"/>
          </a:solidFill>
          <a:ln/>
        </p:spPr>
      </p:sp>
      <p:sp>
        <p:nvSpPr>
          <p:cNvPr id="8" name="Text 6"/>
          <p:cNvSpPr/>
          <p:nvPr/>
        </p:nvSpPr>
        <p:spPr>
          <a:xfrm>
            <a:off x="457200" y="1536192"/>
            <a:ext cx="2487168" cy="347472"/>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WORST</a:t>
            </a:r>
            <a:endParaRPr lang="en-US" sz="1800" dirty="0"/>
          </a:p>
        </p:txBody>
      </p:sp>
      <p:sp>
        <p:nvSpPr>
          <p:cNvPr id="9" name="Text 7"/>
          <p:cNvSpPr/>
          <p:nvPr/>
        </p:nvSpPr>
        <p:spPr>
          <a:xfrm>
            <a:off x="457200" y="2084832"/>
            <a:ext cx="2487168" cy="237744"/>
          </a:xfrm>
          <a:prstGeom prst="rect">
            <a:avLst/>
          </a:prstGeom>
          <a:noFill/>
          <a:ln/>
        </p:spPr>
        <p:txBody>
          <a:bodyPr wrap="square" rtlCol="0" anchor="ctr"/>
          <a:lstStyle/>
          <a:p>
            <a:pPr indent="0" marL="0">
              <a:buNone/>
            </a:pPr>
            <a:r>
              <a:rPr lang="en-US" sz="950" i="1" dirty="0">
                <a:solidFill>
                  <a:srgbClr val="C62828"/>
                </a:solidFill>
                <a:latin typeface="Calibri" pitchFamily="34" charset="0"/>
                <a:ea typeface="Calibri" pitchFamily="34" charset="-122"/>
                <a:cs typeface="Calibri" pitchFamily="34" charset="-120"/>
              </a:rPr>
              <a:t>5% monthly growth · 5% churn</a:t>
            </a:r>
            <a:endParaRPr lang="en-US" sz="950" dirty="0"/>
          </a:p>
        </p:txBody>
      </p:sp>
      <p:sp>
        <p:nvSpPr>
          <p:cNvPr id="10" name="Shape 8"/>
          <p:cNvSpPr/>
          <p:nvPr/>
        </p:nvSpPr>
        <p:spPr>
          <a:xfrm>
            <a:off x="457200" y="2340864"/>
            <a:ext cx="2487168" cy="18288"/>
          </a:xfrm>
          <a:prstGeom prst="rect">
            <a:avLst/>
          </a:prstGeom>
          <a:solidFill>
            <a:srgbClr val="C62828">
              <a:alpha val="30000"/>
            </a:srgbClr>
          </a:solidFill>
          <a:ln/>
        </p:spPr>
      </p:sp>
      <p:sp>
        <p:nvSpPr>
          <p:cNvPr id="11" name="Text 9"/>
          <p:cNvSpPr/>
          <p:nvPr/>
        </p:nvSpPr>
        <p:spPr>
          <a:xfrm>
            <a:off x="457200" y="2414016"/>
            <a:ext cx="777240" cy="292608"/>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Month 12:</a:t>
            </a:r>
            <a:endParaRPr lang="en-US" sz="1000" dirty="0"/>
          </a:p>
        </p:txBody>
      </p:sp>
      <p:sp>
        <p:nvSpPr>
          <p:cNvPr id="12" name="Text 10"/>
          <p:cNvSpPr/>
          <p:nvPr/>
        </p:nvSpPr>
        <p:spPr>
          <a:xfrm>
            <a:off x="1216152" y="2414016"/>
            <a:ext cx="1828800" cy="292608"/>
          </a:xfrm>
          <a:prstGeom prst="rect">
            <a:avLst/>
          </a:prstGeom>
          <a:noFill/>
          <a:ln/>
        </p:spPr>
        <p:txBody>
          <a:bodyPr wrap="square" rtlCol="0" anchor="ctr"/>
          <a:lstStyle/>
          <a:p>
            <a:pPr indent="0" marL="0">
              <a:buNone/>
            </a:pPr>
            <a:r>
              <a:rPr lang="en-US" sz="1000" dirty="0">
                <a:solidFill>
                  <a:srgbClr val="2A2D3E"/>
                </a:solidFill>
                <a:latin typeface="Calibri" pitchFamily="34" charset="0"/>
                <a:ea typeface="Calibri" pitchFamily="34" charset="-122"/>
                <a:cs typeface="Calibri" pitchFamily="34" charset="-120"/>
              </a:rPr>
              <a:t>47 subs · $4,871 MRR</a:t>
            </a:r>
            <a:endParaRPr lang="en-US" sz="1000" dirty="0"/>
          </a:p>
        </p:txBody>
      </p:sp>
      <p:sp>
        <p:nvSpPr>
          <p:cNvPr id="13" name="Text 11"/>
          <p:cNvSpPr/>
          <p:nvPr/>
        </p:nvSpPr>
        <p:spPr>
          <a:xfrm>
            <a:off x="457200" y="2779776"/>
            <a:ext cx="777240" cy="292608"/>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Month 24:</a:t>
            </a:r>
            <a:endParaRPr lang="en-US" sz="1000" dirty="0"/>
          </a:p>
        </p:txBody>
      </p:sp>
      <p:sp>
        <p:nvSpPr>
          <p:cNvPr id="14" name="Text 12"/>
          <p:cNvSpPr/>
          <p:nvPr/>
        </p:nvSpPr>
        <p:spPr>
          <a:xfrm>
            <a:off x="1216152" y="2779776"/>
            <a:ext cx="1828800" cy="292608"/>
          </a:xfrm>
          <a:prstGeom prst="rect">
            <a:avLst/>
          </a:prstGeom>
          <a:noFill/>
          <a:ln/>
        </p:spPr>
        <p:txBody>
          <a:bodyPr wrap="square" rtlCol="0" anchor="ctr"/>
          <a:lstStyle/>
          <a:p>
            <a:pPr indent="0" marL="0">
              <a:buNone/>
            </a:pPr>
            <a:r>
              <a:rPr lang="en-US" sz="1000" dirty="0">
                <a:solidFill>
                  <a:srgbClr val="2A2D3E"/>
                </a:solidFill>
                <a:latin typeface="Calibri" pitchFamily="34" charset="0"/>
                <a:ea typeface="Calibri" pitchFamily="34" charset="-122"/>
                <a:cs typeface="Calibri" pitchFamily="34" charset="-120"/>
              </a:rPr>
              <a:t>133 subs · $13,782 MRR</a:t>
            </a:r>
            <a:endParaRPr lang="en-US" sz="1000" dirty="0"/>
          </a:p>
        </p:txBody>
      </p:sp>
      <p:sp>
        <p:nvSpPr>
          <p:cNvPr id="15" name="Text 13"/>
          <p:cNvSpPr/>
          <p:nvPr/>
        </p:nvSpPr>
        <p:spPr>
          <a:xfrm>
            <a:off x="457200" y="3145536"/>
            <a:ext cx="777240" cy="292608"/>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Month 36:</a:t>
            </a:r>
            <a:endParaRPr lang="en-US" sz="1000" dirty="0"/>
          </a:p>
        </p:txBody>
      </p:sp>
      <p:sp>
        <p:nvSpPr>
          <p:cNvPr id="16" name="Text 14"/>
          <p:cNvSpPr/>
          <p:nvPr/>
        </p:nvSpPr>
        <p:spPr>
          <a:xfrm>
            <a:off x="1216152" y="3145536"/>
            <a:ext cx="1828800" cy="292608"/>
          </a:xfrm>
          <a:prstGeom prst="rect">
            <a:avLst/>
          </a:prstGeom>
          <a:noFill/>
          <a:ln/>
        </p:spPr>
        <p:txBody>
          <a:bodyPr wrap="square" rtlCol="0" anchor="ctr"/>
          <a:lstStyle/>
          <a:p>
            <a:pPr indent="0" marL="0">
              <a:buNone/>
            </a:pPr>
            <a:r>
              <a:rPr lang="en-US" sz="1000" dirty="0">
                <a:solidFill>
                  <a:srgbClr val="2A2D3E"/>
                </a:solidFill>
                <a:latin typeface="Calibri" pitchFamily="34" charset="0"/>
                <a:ea typeface="Calibri" pitchFamily="34" charset="-122"/>
                <a:cs typeface="Calibri" pitchFamily="34" charset="-120"/>
              </a:rPr>
              <a:t>278 subs · $28,809 MRR</a:t>
            </a:r>
            <a:endParaRPr lang="en-US" sz="1000" dirty="0"/>
          </a:p>
        </p:txBody>
      </p:sp>
      <p:sp>
        <p:nvSpPr>
          <p:cNvPr id="17" name="Shape 15"/>
          <p:cNvSpPr/>
          <p:nvPr/>
        </p:nvSpPr>
        <p:spPr>
          <a:xfrm>
            <a:off x="457200" y="3511296"/>
            <a:ext cx="2487168" cy="18288"/>
          </a:xfrm>
          <a:prstGeom prst="rect">
            <a:avLst/>
          </a:prstGeom>
          <a:solidFill>
            <a:srgbClr val="C62828">
              <a:alpha val="30000"/>
            </a:srgbClr>
          </a:solidFill>
          <a:ln/>
        </p:spPr>
      </p:sp>
      <p:sp>
        <p:nvSpPr>
          <p:cNvPr id="18" name="Text 16"/>
          <p:cNvSpPr/>
          <p:nvPr/>
        </p:nvSpPr>
        <p:spPr>
          <a:xfrm>
            <a:off x="457200" y="3584448"/>
            <a:ext cx="2487168" cy="274320"/>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$4.1M of raise remaining</a:t>
            </a:r>
            <a:endParaRPr lang="en-US" sz="1000" dirty="0"/>
          </a:p>
        </p:txBody>
      </p:sp>
      <p:sp>
        <p:nvSpPr>
          <p:cNvPr id="19" name="Text 17"/>
          <p:cNvSpPr/>
          <p:nvPr/>
        </p:nvSpPr>
        <p:spPr>
          <a:xfrm>
            <a:off x="457200" y="3877056"/>
            <a:ext cx="2487168" cy="274320"/>
          </a:xfrm>
          <a:prstGeom prst="rect">
            <a:avLst/>
          </a:prstGeom>
          <a:noFill/>
          <a:ln/>
        </p:spPr>
        <p:txBody>
          <a:bodyPr wrap="square" rtlCol="0" anchor="ctr"/>
          <a:lstStyle/>
          <a:p>
            <a:pPr indent="0" marL="0">
              <a:buNone/>
            </a:pPr>
            <a:r>
              <a:rPr lang="en-US" sz="950" i="1" dirty="0">
                <a:solidFill>
                  <a:srgbClr val="8892A4"/>
                </a:solidFill>
                <a:latin typeface="Calibri" pitchFamily="34" charset="0"/>
                <a:ea typeface="Calibri" pitchFamily="34" charset="-122"/>
                <a:cs typeface="Calibri" pitchFamily="34" charset="-120"/>
              </a:rPr>
              <a:t>Series A: needs more traction</a:t>
            </a:r>
            <a:endParaRPr lang="en-US" sz="950" dirty="0"/>
          </a:p>
        </p:txBody>
      </p:sp>
      <p:sp>
        <p:nvSpPr>
          <p:cNvPr id="20" name="Shape 18"/>
          <p:cNvSpPr/>
          <p:nvPr/>
        </p:nvSpPr>
        <p:spPr>
          <a:xfrm>
            <a:off x="3264408" y="1463040"/>
            <a:ext cx="2761488" cy="3493008"/>
          </a:xfrm>
          <a:prstGeom prst="rect">
            <a:avLst/>
          </a:prstGeom>
          <a:solidFill>
            <a:srgbClr val="FFFFFF"/>
          </a:solidFill>
          <a:ln w="12700">
            <a:solidFill>
              <a:srgbClr val="4A1D8C"/>
            </a:solidFill>
            <a:prstDash val="solid"/>
          </a:ln>
          <a:effectLst>
            <a:outerShdw sx="100000" sy="100000" kx="0" ky="0" algn="bl" rotWithShape="0" blurRad="152400" dist="50800" dir="8100000">
              <a:srgbClr val="000000">
                <a:alpha val="22000"/>
              </a:srgbClr>
            </a:outerShdw>
          </a:effectLst>
        </p:spPr>
      </p:sp>
      <p:sp>
        <p:nvSpPr>
          <p:cNvPr id="21" name="Shape 19"/>
          <p:cNvSpPr/>
          <p:nvPr/>
        </p:nvSpPr>
        <p:spPr>
          <a:xfrm>
            <a:off x="3264408" y="1463040"/>
            <a:ext cx="2761488" cy="566928"/>
          </a:xfrm>
          <a:prstGeom prst="rect">
            <a:avLst/>
          </a:prstGeom>
          <a:solidFill>
            <a:srgbClr val="4A1D8C"/>
          </a:solidFill>
          <a:ln/>
        </p:spPr>
      </p:sp>
      <p:sp>
        <p:nvSpPr>
          <p:cNvPr id="22" name="Text 20"/>
          <p:cNvSpPr/>
          <p:nvPr/>
        </p:nvSpPr>
        <p:spPr>
          <a:xfrm>
            <a:off x="3401568" y="1536192"/>
            <a:ext cx="2487168" cy="347472"/>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BASE</a:t>
            </a:r>
            <a:endParaRPr lang="en-US" sz="1800" dirty="0"/>
          </a:p>
        </p:txBody>
      </p:sp>
      <p:sp>
        <p:nvSpPr>
          <p:cNvPr id="23" name="Text 21"/>
          <p:cNvSpPr/>
          <p:nvPr/>
        </p:nvSpPr>
        <p:spPr>
          <a:xfrm>
            <a:off x="3401568" y="2084832"/>
            <a:ext cx="2487168" cy="237744"/>
          </a:xfrm>
          <a:prstGeom prst="rect">
            <a:avLst/>
          </a:prstGeom>
          <a:noFill/>
          <a:ln/>
        </p:spPr>
        <p:txBody>
          <a:bodyPr wrap="square" rtlCol="0" anchor="ctr"/>
          <a:lstStyle/>
          <a:p>
            <a:pPr indent="0" marL="0">
              <a:buNone/>
            </a:pPr>
            <a:r>
              <a:rPr lang="en-US" sz="950" i="1" dirty="0">
                <a:solidFill>
                  <a:srgbClr val="4A1D8C"/>
                </a:solidFill>
                <a:latin typeface="Calibri" pitchFamily="34" charset="0"/>
                <a:ea typeface="Calibri" pitchFamily="34" charset="-122"/>
                <a:cs typeface="Calibri" pitchFamily="34" charset="-120"/>
              </a:rPr>
              <a:t>10% monthly growth · 2% churn</a:t>
            </a:r>
            <a:endParaRPr lang="en-US" sz="950" dirty="0"/>
          </a:p>
        </p:txBody>
      </p:sp>
      <p:sp>
        <p:nvSpPr>
          <p:cNvPr id="24" name="Shape 22"/>
          <p:cNvSpPr/>
          <p:nvPr/>
        </p:nvSpPr>
        <p:spPr>
          <a:xfrm>
            <a:off x="3401568" y="2340864"/>
            <a:ext cx="2487168" cy="18288"/>
          </a:xfrm>
          <a:prstGeom prst="rect">
            <a:avLst/>
          </a:prstGeom>
          <a:solidFill>
            <a:srgbClr val="4A1D8C">
              <a:alpha val="30000"/>
            </a:srgbClr>
          </a:solidFill>
          <a:ln/>
        </p:spPr>
      </p:sp>
      <p:sp>
        <p:nvSpPr>
          <p:cNvPr id="25" name="Text 23"/>
          <p:cNvSpPr/>
          <p:nvPr/>
        </p:nvSpPr>
        <p:spPr>
          <a:xfrm>
            <a:off x="3401568" y="2414016"/>
            <a:ext cx="777240" cy="292608"/>
          </a:xfrm>
          <a:prstGeom prst="rect">
            <a:avLst/>
          </a:prstGeom>
          <a:noFill/>
          <a:ln/>
        </p:spPr>
        <p:txBody>
          <a:bodyPr wrap="square" rtlCol="0" anchor="ctr"/>
          <a:lstStyle/>
          <a:p>
            <a:pPr indent="0" marL="0">
              <a:buNone/>
            </a:pPr>
            <a:r>
              <a:rPr lang="en-US" sz="1000" b="1" dirty="0">
                <a:solidFill>
                  <a:srgbClr val="4A1D8C"/>
                </a:solidFill>
                <a:latin typeface="Calibri" pitchFamily="34" charset="0"/>
                <a:ea typeface="Calibri" pitchFamily="34" charset="-122"/>
                <a:cs typeface="Calibri" pitchFamily="34" charset="-120"/>
              </a:rPr>
              <a:t>Month 12:</a:t>
            </a:r>
            <a:endParaRPr lang="en-US" sz="1000" dirty="0"/>
          </a:p>
        </p:txBody>
      </p:sp>
      <p:sp>
        <p:nvSpPr>
          <p:cNvPr id="26" name="Text 24"/>
          <p:cNvSpPr/>
          <p:nvPr/>
        </p:nvSpPr>
        <p:spPr>
          <a:xfrm>
            <a:off x="4160520" y="2414016"/>
            <a:ext cx="1828800" cy="292608"/>
          </a:xfrm>
          <a:prstGeom prst="rect">
            <a:avLst/>
          </a:prstGeom>
          <a:noFill/>
          <a:ln/>
        </p:spPr>
        <p:txBody>
          <a:bodyPr wrap="square" rtlCol="0" anchor="ctr"/>
          <a:lstStyle/>
          <a:p>
            <a:pPr indent="0" marL="0">
              <a:buNone/>
            </a:pPr>
            <a:r>
              <a:rPr lang="en-US" sz="1000" dirty="0">
                <a:solidFill>
                  <a:srgbClr val="2A2D3E"/>
                </a:solidFill>
                <a:latin typeface="Calibri" pitchFamily="34" charset="0"/>
                <a:ea typeface="Calibri" pitchFamily="34" charset="-122"/>
                <a:cs typeface="Calibri" pitchFamily="34" charset="-120"/>
              </a:rPr>
              <a:t>213 subs · $25,087 MRR</a:t>
            </a:r>
            <a:endParaRPr lang="en-US" sz="1000" dirty="0"/>
          </a:p>
        </p:txBody>
      </p:sp>
      <p:sp>
        <p:nvSpPr>
          <p:cNvPr id="27" name="Text 25"/>
          <p:cNvSpPr/>
          <p:nvPr/>
        </p:nvSpPr>
        <p:spPr>
          <a:xfrm>
            <a:off x="3401568" y="2779776"/>
            <a:ext cx="777240" cy="292608"/>
          </a:xfrm>
          <a:prstGeom prst="rect">
            <a:avLst/>
          </a:prstGeom>
          <a:noFill/>
          <a:ln/>
        </p:spPr>
        <p:txBody>
          <a:bodyPr wrap="square" rtlCol="0" anchor="ctr"/>
          <a:lstStyle/>
          <a:p>
            <a:pPr indent="0" marL="0">
              <a:buNone/>
            </a:pPr>
            <a:r>
              <a:rPr lang="en-US" sz="1000" b="1" dirty="0">
                <a:solidFill>
                  <a:srgbClr val="4A1D8C"/>
                </a:solidFill>
                <a:latin typeface="Calibri" pitchFamily="34" charset="0"/>
                <a:ea typeface="Calibri" pitchFamily="34" charset="-122"/>
                <a:cs typeface="Calibri" pitchFamily="34" charset="-120"/>
              </a:rPr>
              <a:t>Month 24:</a:t>
            </a:r>
            <a:endParaRPr lang="en-US" sz="1000" dirty="0"/>
          </a:p>
        </p:txBody>
      </p:sp>
      <p:sp>
        <p:nvSpPr>
          <p:cNvPr id="28" name="Text 26"/>
          <p:cNvSpPr/>
          <p:nvPr/>
        </p:nvSpPr>
        <p:spPr>
          <a:xfrm>
            <a:off x="4160520" y="2779776"/>
            <a:ext cx="1828800" cy="292608"/>
          </a:xfrm>
          <a:prstGeom prst="rect">
            <a:avLst/>
          </a:prstGeom>
          <a:noFill/>
          <a:ln/>
        </p:spPr>
        <p:txBody>
          <a:bodyPr wrap="square" rtlCol="0" anchor="ctr"/>
          <a:lstStyle/>
          <a:p>
            <a:pPr indent="0" marL="0">
              <a:buNone/>
            </a:pPr>
            <a:r>
              <a:rPr lang="en-US" sz="1000" dirty="0">
                <a:solidFill>
                  <a:srgbClr val="2A2D3E"/>
                </a:solidFill>
                <a:latin typeface="Calibri" pitchFamily="34" charset="0"/>
                <a:ea typeface="Calibri" pitchFamily="34" charset="-122"/>
                <a:cs typeface="Calibri" pitchFamily="34" charset="-120"/>
              </a:rPr>
              <a:t>872 subs · $102,724 MRR ✓</a:t>
            </a:r>
            <a:endParaRPr lang="en-US" sz="1000" dirty="0"/>
          </a:p>
        </p:txBody>
      </p:sp>
      <p:sp>
        <p:nvSpPr>
          <p:cNvPr id="29" name="Text 27"/>
          <p:cNvSpPr/>
          <p:nvPr/>
        </p:nvSpPr>
        <p:spPr>
          <a:xfrm>
            <a:off x="3401568" y="3145536"/>
            <a:ext cx="777240" cy="292608"/>
          </a:xfrm>
          <a:prstGeom prst="rect">
            <a:avLst/>
          </a:prstGeom>
          <a:noFill/>
          <a:ln/>
        </p:spPr>
        <p:txBody>
          <a:bodyPr wrap="square" rtlCol="0" anchor="ctr"/>
          <a:lstStyle/>
          <a:p>
            <a:pPr indent="0" marL="0">
              <a:buNone/>
            </a:pPr>
            <a:r>
              <a:rPr lang="en-US" sz="1000" b="1" dirty="0">
                <a:solidFill>
                  <a:srgbClr val="4A1D8C"/>
                </a:solidFill>
                <a:latin typeface="Calibri" pitchFamily="34" charset="0"/>
                <a:ea typeface="Calibri" pitchFamily="34" charset="-122"/>
                <a:cs typeface="Calibri" pitchFamily="34" charset="-120"/>
              </a:rPr>
              <a:t>Month 36:</a:t>
            </a:r>
            <a:endParaRPr lang="en-US" sz="1000" dirty="0"/>
          </a:p>
        </p:txBody>
      </p:sp>
      <p:sp>
        <p:nvSpPr>
          <p:cNvPr id="30" name="Text 28"/>
          <p:cNvSpPr/>
          <p:nvPr/>
        </p:nvSpPr>
        <p:spPr>
          <a:xfrm>
            <a:off x="4160520" y="3145536"/>
            <a:ext cx="1828800" cy="292608"/>
          </a:xfrm>
          <a:prstGeom prst="rect">
            <a:avLst/>
          </a:prstGeom>
          <a:noFill/>
          <a:ln/>
        </p:spPr>
        <p:txBody>
          <a:bodyPr wrap="square" rtlCol="0" anchor="ctr"/>
          <a:lstStyle/>
          <a:p>
            <a:pPr indent="0" marL="0">
              <a:buNone/>
            </a:pPr>
            <a:r>
              <a:rPr lang="en-US" sz="1000" dirty="0">
                <a:solidFill>
                  <a:srgbClr val="2A2D3E"/>
                </a:solidFill>
                <a:latin typeface="Calibri" pitchFamily="34" charset="0"/>
                <a:ea typeface="Calibri" pitchFamily="34" charset="-122"/>
                <a:cs typeface="Calibri" pitchFamily="34" charset="-120"/>
              </a:rPr>
              <a:t>2,938 subs · $346,099 MRR</a:t>
            </a:r>
            <a:endParaRPr lang="en-US" sz="1000" dirty="0"/>
          </a:p>
        </p:txBody>
      </p:sp>
      <p:sp>
        <p:nvSpPr>
          <p:cNvPr id="31" name="Shape 29"/>
          <p:cNvSpPr/>
          <p:nvPr/>
        </p:nvSpPr>
        <p:spPr>
          <a:xfrm>
            <a:off x="3401568" y="3511296"/>
            <a:ext cx="2487168" cy="18288"/>
          </a:xfrm>
          <a:prstGeom prst="rect">
            <a:avLst/>
          </a:prstGeom>
          <a:solidFill>
            <a:srgbClr val="4A1D8C">
              <a:alpha val="30000"/>
            </a:srgbClr>
          </a:solidFill>
          <a:ln/>
        </p:spPr>
      </p:sp>
      <p:sp>
        <p:nvSpPr>
          <p:cNvPr id="32" name="Text 30"/>
          <p:cNvSpPr/>
          <p:nvPr/>
        </p:nvSpPr>
        <p:spPr>
          <a:xfrm>
            <a:off x="3401568" y="3584448"/>
            <a:ext cx="2487168" cy="274320"/>
          </a:xfrm>
          <a:prstGeom prst="rect">
            <a:avLst/>
          </a:prstGeom>
          <a:noFill/>
          <a:ln/>
        </p:spPr>
        <p:txBody>
          <a:bodyPr wrap="square" rtlCol="0" anchor="ctr"/>
          <a:lstStyle/>
          <a:p>
            <a:pPr indent="0" marL="0">
              <a:buNone/>
            </a:pPr>
            <a:r>
              <a:rPr lang="en-US" sz="1000" b="1" dirty="0">
                <a:solidFill>
                  <a:srgbClr val="4A1D8C"/>
                </a:solidFill>
                <a:latin typeface="Calibri" pitchFamily="34" charset="0"/>
                <a:ea typeface="Calibri" pitchFamily="34" charset="-122"/>
                <a:cs typeface="Calibri" pitchFamily="34" charset="-120"/>
              </a:rPr>
              <a:t>$6.5M at M36 — made money</a:t>
            </a:r>
            <a:endParaRPr lang="en-US" sz="1000" dirty="0"/>
          </a:p>
        </p:txBody>
      </p:sp>
      <p:sp>
        <p:nvSpPr>
          <p:cNvPr id="33" name="Text 31"/>
          <p:cNvSpPr/>
          <p:nvPr/>
        </p:nvSpPr>
        <p:spPr>
          <a:xfrm>
            <a:off x="3401568" y="3877056"/>
            <a:ext cx="2487168" cy="274320"/>
          </a:xfrm>
          <a:prstGeom prst="rect">
            <a:avLst/>
          </a:prstGeom>
          <a:noFill/>
          <a:ln/>
        </p:spPr>
        <p:txBody>
          <a:bodyPr wrap="square" rtlCol="0" anchor="ctr"/>
          <a:lstStyle/>
          <a:p>
            <a:pPr indent="0" marL="0">
              <a:buNone/>
            </a:pPr>
            <a:r>
              <a:rPr lang="en-US" sz="950" i="1" dirty="0">
                <a:solidFill>
                  <a:srgbClr val="8892A4"/>
                </a:solidFill>
                <a:latin typeface="Calibri" pitchFamily="34" charset="0"/>
                <a:ea typeface="Calibri" pitchFamily="34" charset="-122"/>
                <a:cs typeface="Calibri" pitchFamily="34" charset="-120"/>
              </a:rPr>
              <a:t>Series A trigger: Month 18</a:t>
            </a:r>
            <a:endParaRPr lang="en-US" sz="950" dirty="0"/>
          </a:p>
        </p:txBody>
      </p:sp>
      <p:sp>
        <p:nvSpPr>
          <p:cNvPr id="34" name="Shape 32"/>
          <p:cNvSpPr/>
          <p:nvPr/>
        </p:nvSpPr>
        <p:spPr>
          <a:xfrm>
            <a:off x="6208776" y="1463040"/>
            <a:ext cx="2761488" cy="3493008"/>
          </a:xfrm>
          <a:prstGeom prst="rect">
            <a:avLst/>
          </a:prstGeom>
          <a:solidFill>
            <a:srgbClr val="FFFFFF"/>
          </a:solidFill>
          <a:ln w="12700">
            <a:solidFill>
              <a:srgbClr val="0D7A5F"/>
            </a:solidFill>
            <a:prstDash val="solid"/>
          </a:ln>
          <a:effectLst>
            <a:outerShdw sx="100000" sy="100000" kx="0" ky="0" algn="bl" rotWithShape="0" blurRad="152400" dist="50800" dir="8100000">
              <a:srgbClr val="000000">
                <a:alpha val="22000"/>
              </a:srgbClr>
            </a:outerShdw>
          </a:effectLst>
        </p:spPr>
      </p:sp>
      <p:sp>
        <p:nvSpPr>
          <p:cNvPr id="35" name="Shape 33"/>
          <p:cNvSpPr/>
          <p:nvPr/>
        </p:nvSpPr>
        <p:spPr>
          <a:xfrm>
            <a:off x="6208776" y="1463040"/>
            <a:ext cx="2761488" cy="566928"/>
          </a:xfrm>
          <a:prstGeom prst="rect">
            <a:avLst/>
          </a:prstGeom>
          <a:solidFill>
            <a:srgbClr val="0D7A5F"/>
          </a:solidFill>
          <a:ln/>
        </p:spPr>
      </p:sp>
      <p:sp>
        <p:nvSpPr>
          <p:cNvPr id="36" name="Text 34"/>
          <p:cNvSpPr/>
          <p:nvPr/>
        </p:nvSpPr>
        <p:spPr>
          <a:xfrm>
            <a:off x="6345936" y="1536192"/>
            <a:ext cx="2487168" cy="347472"/>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BEST</a:t>
            </a:r>
            <a:endParaRPr lang="en-US" sz="1800" dirty="0"/>
          </a:p>
        </p:txBody>
      </p:sp>
      <p:sp>
        <p:nvSpPr>
          <p:cNvPr id="37" name="Text 35"/>
          <p:cNvSpPr/>
          <p:nvPr/>
        </p:nvSpPr>
        <p:spPr>
          <a:xfrm>
            <a:off x="6345936" y="2084832"/>
            <a:ext cx="2487168" cy="237744"/>
          </a:xfrm>
          <a:prstGeom prst="rect">
            <a:avLst/>
          </a:prstGeom>
          <a:noFill/>
          <a:ln/>
        </p:spPr>
        <p:txBody>
          <a:bodyPr wrap="square" rtlCol="0" anchor="ctr"/>
          <a:lstStyle/>
          <a:p>
            <a:pPr indent="0" marL="0">
              <a:buNone/>
            </a:pPr>
            <a:r>
              <a:rPr lang="en-US" sz="950" i="1" dirty="0">
                <a:solidFill>
                  <a:srgbClr val="0D7A5F"/>
                </a:solidFill>
                <a:latin typeface="Calibri" pitchFamily="34" charset="0"/>
                <a:ea typeface="Calibri" pitchFamily="34" charset="-122"/>
                <a:cs typeface="Calibri" pitchFamily="34" charset="-120"/>
              </a:rPr>
              <a:t>20% monthly growth · 0.5% churn</a:t>
            </a:r>
            <a:endParaRPr lang="en-US" sz="950" dirty="0"/>
          </a:p>
        </p:txBody>
      </p:sp>
      <p:sp>
        <p:nvSpPr>
          <p:cNvPr id="38" name="Shape 36"/>
          <p:cNvSpPr/>
          <p:nvPr/>
        </p:nvSpPr>
        <p:spPr>
          <a:xfrm>
            <a:off x="6345936" y="2340864"/>
            <a:ext cx="2487168" cy="18288"/>
          </a:xfrm>
          <a:prstGeom prst="rect">
            <a:avLst/>
          </a:prstGeom>
          <a:solidFill>
            <a:srgbClr val="0D7A5F">
              <a:alpha val="30000"/>
            </a:srgbClr>
          </a:solidFill>
          <a:ln/>
        </p:spPr>
      </p:sp>
      <p:sp>
        <p:nvSpPr>
          <p:cNvPr id="39" name="Text 37"/>
          <p:cNvSpPr/>
          <p:nvPr/>
        </p:nvSpPr>
        <p:spPr>
          <a:xfrm>
            <a:off x="6345936" y="2414016"/>
            <a:ext cx="777240" cy="292608"/>
          </a:xfrm>
          <a:prstGeom prst="rect">
            <a:avLst/>
          </a:prstGeom>
          <a:noFill/>
          <a:ln/>
        </p:spPr>
        <p:txBody>
          <a:bodyPr wrap="square" rtlCol="0" anchor="ctr"/>
          <a:lstStyle/>
          <a:p>
            <a:pPr indent="0" marL="0">
              <a:buNone/>
            </a:pPr>
            <a:r>
              <a:rPr lang="en-US" sz="1000" b="1" dirty="0">
                <a:solidFill>
                  <a:srgbClr val="0D7A5F"/>
                </a:solidFill>
                <a:latin typeface="Calibri" pitchFamily="34" charset="0"/>
                <a:ea typeface="Calibri" pitchFamily="34" charset="-122"/>
                <a:cs typeface="Calibri" pitchFamily="34" charset="-120"/>
              </a:rPr>
              <a:t>Month 12:</a:t>
            </a:r>
            <a:endParaRPr lang="en-US" sz="1000" dirty="0"/>
          </a:p>
        </p:txBody>
      </p:sp>
      <p:sp>
        <p:nvSpPr>
          <p:cNvPr id="40" name="Text 38"/>
          <p:cNvSpPr/>
          <p:nvPr/>
        </p:nvSpPr>
        <p:spPr>
          <a:xfrm>
            <a:off x="7104888" y="2414016"/>
            <a:ext cx="1828800" cy="292608"/>
          </a:xfrm>
          <a:prstGeom prst="rect">
            <a:avLst/>
          </a:prstGeom>
          <a:noFill/>
          <a:ln/>
        </p:spPr>
        <p:txBody>
          <a:bodyPr wrap="square" rtlCol="0" anchor="ctr"/>
          <a:lstStyle/>
          <a:p>
            <a:pPr indent="0" marL="0">
              <a:buNone/>
            </a:pPr>
            <a:r>
              <a:rPr lang="en-US" sz="1000" dirty="0">
                <a:solidFill>
                  <a:srgbClr val="2A2D3E"/>
                </a:solidFill>
                <a:latin typeface="Calibri" pitchFamily="34" charset="0"/>
                <a:ea typeface="Calibri" pitchFamily="34" charset="-122"/>
                <a:cs typeface="Calibri" pitchFamily="34" charset="-120"/>
              </a:rPr>
              <a:t>987 subs · $151,811 MRR ✓</a:t>
            </a:r>
            <a:endParaRPr lang="en-US" sz="1000" dirty="0"/>
          </a:p>
        </p:txBody>
      </p:sp>
      <p:sp>
        <p:nvSpPr>
          <p:cNvPr id="41" name="Text 39"/>
          <p:cNvSpPr/>
          <p:nvPr/>
        </p:nvSpPr>
        <p:spPr>
          <a:xfrm>
            <a:off x="6345936" y="2779776"/>
            <a:ext cx="777240" cy="292608"/>
          </a:xfrm>
          <a:prstGeom prst="rect">
            <a:avLst/>
          </a:prstGeom>
          <a:noFill/>
          <a:ln/>
        </p:spPr>
        <p:txBody>
          <a:bodyPr wrap="square" rtlCol="0" anchor="ctr"/>
          <a:lstStyle/>
          <a:p>
            <a:pPr indent="0" marL="0">
              <a:buNone/>
            </a:pPr>
            <a:r>
              <a:rPr lang="en-US" sz="1000" b="1" dirty="0">
                <a:solidFill>
                  <a:srgbClr val="0D7A5F"/>
                </a:solidFill>
                <a:latin typeface="Calibri" pitchFamily="34" charset="0"/>
                <a:ea typeface="Calibri" pitchFamily="34" charset="-122"/>
                <a:cs typeface="Calibri" pitchFamily="34" charset="-120"/>
              </a:rPr>
              <a:t>Month 24:</a:t>
            </a:r>
            <a:endParaRPr lang="en-US" sz="1000" dirty="0"/>
          </a:p>
        </p:txBody>
      </p:sp>
      <p:sp>
        <p:nvSpPr>
          <p:cNvPr id="42" name="Text 40"/>
          <p:cNvSpPr/>
          <p:nvPr/>
        </p:nvSpPr>
        <p:spPr>
          <a:xfrm>
            <a:off x="7104888" y="2779776"/>
            <a:ext cx="1828800" cy="292608"/>
          </a:xfrm>
          <a:prstGeom prst="rect">
            <a:avLst/>
          </a:prstGeom>
          <a:noFill/>
          <a:ln/>
        </p:spPr>
        <p:txBody>
          <a:bodyPr wrap="square" rtlCol="0" anchor="ctr"/>
          <a:lstStyle/>
          <a:p>
            <a:pPr indent="0" marL="0">
              <a:buNone/>
            </a:pPr>
            <a:r>
              <a:rPr lang="en-US" sz="1000" dirty="0">
                <a:solidFill>
                  <a:srgbClr val="2A2D3E"/>
                </a:solidFill>
                <a:latin typeface="Calibri" pitchFamily="34" charset="0"/>
                <a:ea typeface="Calibri" pitchFamily="34" charset="-122"/>
                <a:cs typeface="Calibri" pitchFamily="34" charset="-120"/>
              </a:rPr>
              <a:t>9,772 subs · $1.5M MRR</a:t>
            </a:r>
            <a:endParaRPr lang="en-US" sz="1000" dirty="0"/>
          </a:p>
        </p:txBody>
      </p:sp>
      <p:sp>
        <p:nvSpPr>
          <p:cNvPr id="43" name="Text 41"/>
          <p:cNvSpPr/>
          <p:nvPr/>
        </p:nvSpPr>
        <p:spPr>
          <a:xfrm>
            <a:off x="6345936" y="3145536"/>
            <a:ext cx="777240" cy="292608"/>
          </a:xfrm>
          <a:prstGeom prst="rect">
            <a:avLst/>
          </a:prstGeom>
          <a:noFill/>
          <a:ln/>
        </p:spPr>
        <p:txBody>
          <a:bodyPr wrap="square" rtlCol="0" anchor="ctr"/>
          <a:lstStyle/>
          <a:p>
            <a:pPr indent="0" marL="0">
              <a:buNone/>
            </a:pPr>
            <a:r>
              <a:rPr lang="en-US" sz="1000" b="1" dirty="0">
                <a:solidFill>
                  <a:srgbClr val="0D7A5F"/>
                </a:solidFill>
                <a:latin typeface="Calibri" pitchFamily="34" charset="0"/>
                <a:ea typeface="Calibri" pitchFamily="34" charset="-122"/>
                <a:cs typeface="Calibri" pitchFamily="34" charset="-120"/>
              </a:rPr>
              <a:t>Month 36:</a:t>
            </a:r>
            <a:endParaRPr lang="en-US" sz="1000" dirty="0"/>
          </a:p>
        </p:txBody>
      </p:sp>
      <p:sp>
        <p:nvSpPr>
          <p:cNvPr id="44" name="Text 42"/>
          <p:cNvSpPr/>
          <p:nvPr/>
        </p:nvSpPr>
        <p:spPr>
          <a:xfrm>
            <a:off x="7104888" y="3145536"/>
            <a:ext cx="1828800" cy="292608"/>
          </a:xfrm>
          <a:prstGeom prst="rect">
            <a:avLst/>
          </a:prstGeom>
          <a:noFill/>
          <a:ln/>
        </p:spPr>
        <p:txBody>
          <a:bodyPr wrap="square" rtlCol="0" anchor="ctr"/>
          <a:lstStyle/>
          <a:p>
            <a:pPr indent="0" marL="0">
              <a:buNone/>
            </a:pPr>
            <a:r>
              <a:rPr lang="en-US" sz="1000" dirty="0">
                <a:solidFill>
                  <a:srgbClr val="2A2D3E"/>
                </a:solidFill>
                <a:latin typeface="Calibri" pitchFamily="34" charset="0"/>
                <a:ea typeface="Calibri" pitchFamily="34" charset="-122"/>
                <a:cs typeface="Calibri" pitchFamily="34" charset="-120"/>
              </a:rPr>
              <a:t>88K subs · $13.5M MRR</a:t>
            </a:r>
            <a:endParaRPr lang="en-US" sz="1000" dirty="0"/>
          </a:p>
        </p:txBody>
      </p:sp>
      <p:sp>
        <p:nvSpPr>
          <p:cNvPr id="45" name="Shape 43"/>
          <p:cNvSpPr/>
          <p:nvPr/>
        </p:nvSpPr>
        <p:spPr>
          <a:xfrm>
            <a:off x="6345936" y="3511296"/>
            <a:ext cx="2487168" cy="18288"/>
          </a:xfrm>
          <a:prstGeom prst="rect">
            <a:avLst/>
          </a:prstGeom>
          <a:solidFill>
            <a:srgbClr val="0D7A5F">
              <a:alpha val="30000"/>
            </a:srgbClr>
          </a:solidFill>
          <a:ln/>
        </p:spPr>
      </p:sp>
      <p:sp>
        <p:nvSpPr>
          <p:cNvPr id="46" name="Text 44"/>
          <p:cNvSpPr/>
          <p:nvPr/>
        </p:nvSpPr>
        <p:spPr>
          <a:xfrm>
            <a:off x="6345936" y="3584448"/>
            <a:ext cx="2487168" cy="274320"/>
          </a:xfrm>
          <a:prstGeom prst="rect">
            <a:avLst/>
          </a:prstGeom>
          <a:noFill/>
          <a:ln/>
        </p:spPr>
        <p:txBody>
          <a:bodyPr wrap="square" rtlCol="0" anchor="ctr"/>
          <a:lstStyle/>
          <a:p>
            <a:pPr indent="0" marL="0">
              <a:buNone/>
            </a:pPr>
            <a:r>
              <a:rPr lang="en-US" sz="1000" b="1" dirty="0">
                <a:solidFill>
                  <a:srgbClr val="0D7A5F"/>
                </a:solidFill>
                <a:latin typeface="Calibri" pitchFamily="34" charset="0"/>
                <a:ea typeface="Calibri" pitchFamily="34" charset="-122"/>
                <a:cs typeface="Calibri" pitchFamily="34" charset="-120"/>
              </a:rPr>
              <a:t>$71M at M36</a:t>
            </a:r>
            <a:endParaRPr lang="en-US" sz="1000" dirty="0"/>
          </a:p>
        </p:txBody>
      </p:sp>
      <p:sp>
        <p:nvSpPr>
          <p:cNvPr id="47" name="Text 45"/>
          <p:cNvSpPr/>
          <p:nvPr/>
        </p:nvSpPr>
        <p:spPr>
          <a:xfrm>
            <a:off x="6345936" y="3877056"/>
            <a:ext cx="2487168" cy="274320"/>
          </a:xfrm>
          <a:prstGeom prst="rect">
            <a:avLst/>
          </a:prstGeom>
          <a:noFill/>
          <a:ln/>
        </p:spPr>
        <p:txBody>
          <a:bodyPr wrap="square" rtlCol="0" anchor="ctr"/>
          <a:lstStyle/>
          <a:p>
            <a:pPr indent="0" marL="0">
              <a:buNone/>
            </a:pPr>
            <a:r>
              <a:rPr lang="en-US" sz="950" i="1" dirty="0">
                <a:solidFill>
                  <a:srgbClr val="8892A4"/>
                </a:solidFill>
                <a:latin typeface="Calibri" pitchFamily="34" charset="0"/>
                <a:ea typeface="Calibri" pitchFamily="34" charset="-122"/>
                <a:cs typeface="Calibri" pitchFamily="34" charset="-120"/>
              </a:rPr>
              <a:t>Series A: Month 10. Don't need it.</a:t>
            </a:r>
            <a:endParaRPr lang="en-US" sz="950" dirty="0"/>
          </a:p>
        </p:txBody>
      </p:sp>
      <p:sp>
        <p:nvSpPr>
          <p:cNvPr id="48" name="Text 46"/>
          <p:cNvSpPr/>
          <p:nvPr/>
        </p:nvSpPr>
        <p:spPr>
          <a:xfrm>
            <a:off x="320040" y="4810000"/>
            <a:ext cx="8412480" cy="201168"/>
          </a:xfrm>
          <a:prstGeom prst="rect">
            <a:avLst/>
          </a:prstGeom>
          <a:noFill/>
          <a:ln/>
        </p:spPr>
        <p:txBody>
          <a:bodyPr wrap="square" rtlCol="0" anchor="ctr"/>
          <a:lstStyle/>
          <a:p>
            <a:pPr indent="0" marL="0">
              <a:buNone/>
            </a:pPr>
            <a:r>
              <a:rPr lang="en-US" sz="1000" i="1" dirty="0">
                <a:solidFill>
                  <a:srgbClr val="0D7A5F"/>
                </a:solidFill>
                <a:latin typeface="Calibri" pitchFamily="34" charset="0"/>
                <a:ea typeface="Calibri" pitchFamily="34" charset="-122"/>
                <a:cs typeface="Calibri" pitchFamily="34" charset="-120"/>
              </a:rPr>
              <a:t>✓ = $150K MRR Series A trigger ($1.8M ARR). Base case hits this at Month 18.</a:t>
            </a:r>
            <a:endParaRPr lang="en-US" sz="1000" dirty="0"/>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475569"/>
                </a:solidFill>
                <a:latin typeface="Calibri" pitchFamily="34" charset="0"/>
              </a:rPr>
              <a:t>sociii.ai  ·  CONFIDENTIAL  ·  SOCIII Inc. (Delaware C-Corp)  ·  May 2026</a:t>
            </a:r>
          </a:p>
        </p:txBody>
      </p:sp>
      <p:sp>
        <p:nvSpPr>
          <p:cNvPr id="970" name="ScenarioDisclaimer"/>
          <p:cNvSpPr/>
          <p:nvPr/>
        </p:nvSpPr>
        <p:spPr>
          <a:xfrm>
            <a:off x="320040" y="4970000"/>
            <a:ext cx="8503920" cy="80000"/>
          </a:xfrm>
          <a:prstGeom prst="rect">
            <a:avLst/>
          </a:prstGeom>
          <a:noFill/>
        </p:spPr>
        <p:txBody>
          <a:bodyPr wrap="square" rtlCol="0" anchor="t"/>
          <a:lstStyle/>
          <a:p>
            <a:pPr indent="0" marL="0">
              <a:buNone/>
            </a:pPr>
            <a:r>
              <a:rPr lang="en-US" sz="900" i="1" kern="0">
                <a:solidFill>
                  <a:srgbClr val="DC2626"/>
                </a:solidFill>
                <a:latin typeface="Calibri" pitchFamily="34" charset="0"/>
              </a:rPr>
              <a:t>Illustrative model only — not a projection, promise, or forward-looking statement. See Important Notices.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4A1D8C"/>
          </a:solidFill>
          <a:ln/>
        </p:spPr>
        <p:txBody>
          <a:bodyPr/>
          <a:p/>
        </p:txBody>
      </p:sp>
      <p:sp>
        <p:nvSpPr>
          <p:cNvPr id="3" name="Text 1"/>
          <p:cNvSpPr/>
          <p:nvPr/>
        </p:nvSpPr>
        <p:spPr>
          <a:xfrm>
            <a:off x="320040" y="228600"/>
            <a:ext cx="4572000" cy="256032"/>
          </a:xfrm>
          <a:prstGeom prst="rect">
            <a:avLst/>
          </a:prstGeom>
          <a:noFill/>
          <a:ln/>
        </p:spPr>
        <p:txBody>
          <a:bodyPr wrap="square" rtlCol="0" anchor="ctr"/>
          <a:lstStyle/>
          <a:p>
            <a:pPr indent="0" marL="0">
              <a:buNone/>
            </a:pPr>
            <a:r>
              <a:rPr lang="en-US" sz="1100" b="1" spc="300" kern="0" dirty="0">
                <a:solidFill>
                  <a:srgbClr val="4A1D8C"/>
                </a:solidFill>
                <a:latin typeface="Calibri" pitchFamily="34" charset="0"/>
                <a:ea typeface="Calibri" pitchFamily="34" charset="-122"/>
                <a:cs typeface="Calibri" pitchFamily="34" charset="-120"/>
              </a:rPr>
              <a:t>TRACTION</a:t>
            </a:r>
            <a:endParaRPr lang="en-US" sz="1100" dirty="0"/>
          </a:p>
        </p:txBody>
      </p:sp>
      <p:sp>
        <p:nvSpPr>
          <p:cNvPr id="4" name="Text 2"/>
          <p:cNvSpPr/>
          <p:nvPr/>
        </p:nvSpPr>
        <p:spPr>
          <a:xfrm>
            <a:off x="320040" y="438912"/>
            <a:ext cx="6400800" cy="1097280"/>
          </a:xfrm>
          <a:prstGeom prst="rect">
            <a:avLst/>
          </a:prstGeom>
          <a:noFill/>
          <a:ln/>
        </p:spPr>
        <p:txBody>
          <a:bodyPr wrap="square" rtlCol="0" anchor="ctr"/>
          <a:lstStyle/>
          <a:p>
            <a:pPr indent="0" marL="0">
              <a:lnSpc>
                <a:spcPct val="110000"/>
              </a:lnSpc>
              <a:buNone/>
            </a:pPr>
            <a:r>
              <a:rPr lang="en-US" sz="3200" b="1" dirty="0">
                <a:solidFill>
                  <a:srgbClr val="1A0A2E"/>
                </a:solidFill>
                <a:latin typeface="Calibri" pitchFamily="34" charset="0"/>
                <a:ea typeface="Calibri" pitchFamily="34" charset="-122"/>
                <a:cs typeface="Calibri" pitchFamily="34" charset="-120"/>
              </a:rPr>
              <a:t>Built to Prove the Thesis.</a:t>
            </a:r>
            <a:endParaRPr lang="en-US" sz="3200" dirty="0"/>
          </a:p>
          <a:p>
            <a:pPr indent="0" marL="0">
              <a:lnSpc>
                <a:spcPct val="110000"/>
              </a:lnSpc>
              <a:buNone/>
            </a:pPr>
            <a:r>
              <a:rPr lang="en-US" sz="3200" b="1" dirty="0">
                <a:solidFill>
                  <a:srgbClr val="1A0A2E"/>
                </a:solidFill>
                <a:latin typeface="Calibri" pitchFamily="34" charset="0"/>
                <a:ea typeface="Calibri" pitchFamily="34" charset="-122"/>
                <a:cs typeface="Calibri" pitchFamily="34" charset="-120"/>
              </a:rPr>
              <a:t>Not to Raise a Round.</a:t>
            </a:r>
            <a:endParaRPr lang="en-US" sz="3200" dirty="0"/>
          </a:p>
        </p:txBody>
      </p:sp>
      <p:sp>
        <p:nvSpPr>
          <p:cNvPr id="5" name="Shape 3"/>
          <p:cNvSpPr/>
          <p:nvPr/>
        </p:nvSpPr>
        <p:spPr>
          <a:xfrm>
            <a:off x="320040" y="1691640"/>
            <a:ext cx="2004822" cy="1938528"/>
          </a:xfrm>
          <a:prstGeom prst="rect">
            <a:avLst/>
          </a:prstGeom>
          <a:solidFill>
            <a:srgbClr val="4A1D8C"/>
          </a:solidFill>
          <a:ln/>
          <a:effectLst>
            <a:outerShdw sx="100000" sy="100000" kx="0" ky="0" algn="bl" rotWithShape="0" blurRad="76200" dist="25400" dir="8100000">
              <a:srgbClr val="000000">
                <a:alpha val="15000"/>
              </a:srgbClr>
            </a:outerShdw>
          </a:effectLst>
        </p:spPr>
        <p:txBody>
          <a:bodyPr/>
          <a:p/>
        </p:txBody>
      </p:sp>
      <p:sp>
        <p:nvSpPr>
          <p:cNvPr id="6" name="Text 4"/>
          <p:cNvSpPr/>
          <p:nvPr/>
        </p:nvSpPr>
        <p:spPr>
          <a:xfrm>
            <a:off x="320040" y="1783080"/>
            <a:ext cx="2004822" cy="56692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1,000+</a:t>
            </a:r>
            <a:endParaRPr lang="en-US" sz="2200" dirty="0"/>
          </a:p>
        </p:txBody>
      </p:sp>
      <p:sp>
        <p:nvSpPr>
          <p:cNvPr id="7" name="Text 5"/>
          <p:cNvSpPr/>
          <p:nvPr/>
        </p:nvSpPr>
        <p:spPr>
          <a:xfrm>
            <a:off x="411480" y="2377440"/>
            <a:ext cx="1849374" cy="914400"/>
          </a:xfrm>
          <a:prstGeom prst="rect">
            <a:avLst/>
          </a:prstGeom>
          <a:noFill/>
          <a:ln/>
        </p:spPr>
        <p:txBody>
          <a:bodyPr wrap="square" rtlCol="0" anchor="ctr"/>
          <a:lstStyle/>
          <a:p>
            <a:pPr algn="ctr" indent="0" marL="0">
              <a:lnSpc>
                <a:spcPct val="130000"/>
              </a:lnSpc>
              <a:buNone/>
            </a:pPr>
            <a:r>
              <a:rPr lang="en-US" sz="1000" dirty="0">
                <a:solidFill>
                  <a:srgbClr val="DDDDFF"/>
                </a:solidFill>
                <a:latin typeface="Calibri" pitchFamily="34" charset="0"/>
                <a:ea typeface="Calibri" pitchFamily="34" charset="-122"/>
                <a:cs typeface="Calibri" pitchFamily="34" charset="-120"/>
              </a:rPr>
              <a:t>Workers (state-augmented)</a:t>
            </a:r>
            <a:endParaRPr lang="en-US" sz="1000" dirty="0"/>
          </a:p>
          <a:p>
            <a:pPr algn="ctr" indent="0" marL="0">
              <a:lnSpc>
                <a:spcPct val="130000"/>
              </a:lnSpc>
              <a:buNone/>
            </a:pPr>
            <a:r>
              <a:rPr lang="en-US" sz="1000" dirty="0">
                <a:solidFill>
                  <a:srgbClr val="DDDDFF"/>
                </a:solidFill>
                <a:latin typeface="Calibri" pitchFamily="34" charset="0"/>
                <a:ea typeface="Calibri" pitchFamily="34" charset="-122"/>
                <a:cs typeface="Calibri" pitchFamily="34" charset="-120"/>
              </a:rPr>
              <a:t>8 live industries</a:t>
            </a:r>
            <a:endParaRPr lang="en-US" sz="1000" dirty="0"/>
          </a:p>
        </p:txBody>
      </p:sp>
      <p:sp>
        <p:nvSpPr>
          <p:cNvPr id="8" name="Shape 6"/>
          <p:cNvSpPr/>
          <p:nvPr/>
        </p:nvSpPr>
        <p:spPr>
          <a:xfrm>
            <a:off x="2471166" y="1691640"/>
            <a:ext cx="2004822" cy="1938528"/>
          </a:xfrm>
          <a:prstGeom prst="rect">
            <a:avLst/>
          </a:prstGeom>
          <a:solidFill>
            <a:srgbClr val="1E3A6E"/>
          </a:solidFill>
          <a:ln/>
          <a:effectLst>
            <a:outerShdw sx="100000" sy="100000" kx="0" ky="0" algn="bl" rotWithShape="0" blurRad="76200" dist="25400" dir="8100000">
              <a:srgbClr val="000000">
                <a:alpha val="15000"/>
              </a:srgbClr>
            </a:outerShdw>
          </a:effectLst>
        </p:spPr>
        <p:txBody>
          <a:bodyPr/>
          <a:p/>
        </p:txBody>
      </p:sp>
      <p:sp>
        <p:nvSpPr>
          <p:cNvPr id="9" name="Text 7"/>
          <p:cNvSpPr/>
          <p:nvPr/>
        </p:nvSpPr>
        <p:spPr>
          <a:xfrm>
            <a:off x="2471166" y="1783080"/>
            <a:ext cx="2004822" cy="56692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8</a:t>
            </a:r>
            <a:endParaRPr lang="en-US" sz="2200" dirty="0"/>
          </a:p>
        </p:txBody>
      </p:sp>
      <p:sp>
        <p:nvSpPr>
          <p:cNvPr id="10" name="Text 8"/>
          <p:cNvSpPr/>
          <p:nvPr/>
        </p:nvSpPr>
        <p:spPr>
          <a:xfrm>
            <a:off x="2562606" y="2377440"/>
            <a:ext cx="1849374" cy="914400"/>
          </a:xfrm>
          <a:prstGeom prst="rect">
            <a:avLst/>
          </a:prstGeom>
          <a:noFill/>
          <a:ln/>
        </p:spPr>
        <p:txBody>
          <a:bodyPr wrap="square" rtlCol="0" anchor="ctr"/>
          <a:lstStyle/>
          <a:p>
            <a:pPr algn="ctr" indent="0" marL="0">
              <a:lnSpc>
                <a:spcPct val="130000"/>
              </a:lnSpc>
              <a:buNone/>
            </a:pPr>
            <a:r>
              <a:rPr lang="en-US" sz="1000" dirty="0">
                <a:solidFill>
                  <a:srgbClr val="DDDDFF"/>
                </a:solidFill>
                <a:latin typeface="Calibri" pitchFamily="34" charset="0"/>
                <a:ea typeface="Calibri" pitchFamily="34" charset="-122"/>
                <a:cs typeface="Calibri" pitchFamily="34" charset="-120"/>
              </a:rPr>
              <a:t>Industries Live</a:t>
            </a:r>
            <a:endParaRPr lang="en-US" sz="1000" dirty="0"/>
          </a:p>
          <a:p>
            <a:pPr algn="ctr" indent="0" marL="0">
              <a:lnSpc>
                <a:spcPct val="130000"/>
              </a:lnSpc>
              <a:buNone/>
            </a:pPr>
            <a:r>
              <a:rPr lang="en-US" sz="1000" dirty="0">
                <a:solidFill>
                  <a:srgbClr val="DDDDFF"/>
                </a:solidFill>
                <a:latin typeface="Calibri" pitchFamily="34" charset="0"/>
                <a:ea typeface="Calibri" pitchFamily="34" charset="-122"/>
                <a:cs typeface="Calibri" pitchFamily="34" charset="-120"/>
              </a:rPr>
              <a:t>Workers in production</a:t>
            </a:r>
            <a:endParaRPr lang="en-US" sz="1000" dirty="0"/>
          </a:p>
        </p:txBody>
      </p:sp>
      <p:sp>
        <p:nvSpPr>
          <p:cNvPr id="11" name="Shape 9"/>
          <p:cNvSpPr/>
          <p:nvPr/>
        </p:nvSpPr>
        <p:spPr>
          <a:xfrm>
            <a:off x="4622292" y="1691640"/>
            <a:ext cx="2004822" cy="1938528"/>
          </a:xfrm>
          <a:prstGeom prst="rect">
            <a:avLst/>
          </a:prstGeom>
          <a:solidFill>
            <a:srgbClr val="0D7A5F"/>
          </a:solidFill>
          <a:ln/>
          <a:effectLst>
            <a:outerShdw sx="100000" sy="100000" kx="0" ky="0" algn="bl" rotWithShape="0" blurRad="76200" dist="25400" dir="8100000">
              <a:srgbClr val="000000">
                <a:alpha val="15000"/>
              </a:srgbClr>
            </a:outerShdw>
          </a:effectLst>
        </p:spPr>
        <p:txBody>
          <a:bodyPr/>
          <a:p/>
        </p:txBody>
      </p:sp>
      <p:sp>
        <p:nvSpPr>
          <p:cNvPr id="12" name="Text 10"/>
          <p:cNvSpPr/>
          <p:nvPr/>
        </p:nvSpPr>
        <p:spPr>
          <a:xfrm>
            <a:off x="4622292" y="1783080"/>
            <a:ext cx="2004822" cy="56692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RAAS</a:t>
            </a:r>
            <a:endParaRPr lang="en-US" sz="2200" dirty="0"/>
          </a:p>
        </p:txBody>
      </p:sp>
      <p:sp>
        <p:nvSpPr>
          <p:cNvPr id="13" name="Text 11"/>
          <p:cNvSpPr/>
          <p:nvPr/>
        </p:nvSpPr>
        <p:spPr>
          <a:xfrm>
            <a:off x="4713732" y="2377440"/>
            <a:ext cx="1849374" cy="914400"/>
          </a:xfrm>
          <a:prstGeom prst="rect">
            <a:avLst/>
          </a:prstGeom>
          <a:noFill/>
          <a:ln/>
        </p:spPr>
        <p:txBody>
          <a:bodyPr wrap="square" rtlCol="0" anchor="ctr"/>
          <a:lstStyle/>
          <a:p>
            <a:pPr algn="ctr" indent="0" marL="0">
              <a:lnSpc>
                <a:spcPct val="130000"/>
              </a:lnSpc>
              <a:buNone/>
            </a:pPr>
            <a:r>
              <a:rPr lang="en-US" sz="1000" dirty="0">
                <a:solidFill>
                  <a:srgbClr val="DDDDFF"/>
                </a:solidFill>
                <a:latin typeface="Calibri" pitchFamily="34" charset="0"/>
                <a:ea typeface="Calibri" pitchFamily="34" charset="-122"/>
                <a:cs typeface="Calibri" pitchFamily="34" charset="-120"/>
              </a:rPr>
              <a:t>Live in production</a:t>
            </a:r>
            <a:endParaRPr lang="en-US" sz="1000" dirty="0"/>
          </a:p>
          <a:p>
            <a:pPr algn="ctr" indent="0" marL="0">
              <a:lnSpc>
                <a:spcPct val="130000"/>
              </a:lnSpc>
              <a:buNone/>
            </a:pPr>
            <a:r>
              <a:rPr lang="en-US" sz="1000" dirty="0">
                <a:solidFill>
                  <a:srgbClr val="DDDDFF"/>
                </a:solidFill>
                <a:latin typeface="Calibri" pitchFamily="34" charset="0"/>
                <a:ea typeface="Calibri" pitchFamily="34" charset="-122"/>
                <a:cs typeface="Calibri" pitchFamily="34" charset="-120"/>
              </a:rPr>
              <a:t>all industries</a:t>
            </a:r>
            <a:endParaRPr lang="en-US" sz="1000" dirty="0"/>
          </a:p>
        </p:txBody>
      </p:sp>
      <p:sp>
        <p:nvSpPr>
          <p:cNvPr id="14" name="Shape 12"/>
          <p:cNvSpPr/>
          <p:nvPr/>
        </p:nvSpPr>
        <p:spPr>
          <a:xfrm>
            <a:off x="6773418" y="1691640"/>
            <a:ext cx="2004822" cy="1938528"/>
          </a:xfrm>
          <a:prstGeom prst="rect">
            <a:avLst/>
          </a:prstGeom>
          <a:solidFill>
            <a:srgbClr val="7B3FE4"/>
          </a:solidFill>
          <a:ln/>
          <a:effectLst>
            <a:outerShdw sx="100000" sy="100000" kx="0" ky="0" algn="bl" rotWithShape="0" blurRad="76200" dist="25400" dir="8100000">
              <a:srgbClr val="000000">
                <a:alpha val="15000"/>
              </a:srgbClr>
            </a:outerShdw>
          </a:effectLst>
        </p:spPr>
        <p:txBody>
          <a:bodyPr/>
          <a:p/>
        </p:txBody>
      </p:sp>
      <p:sp>
        <p:nvSpPr>
          <p:cNvPr id="15" name="Text 13"/>
          <p:cNvSpPr/>
          <p:nvPr/>
        </p:nvSpPr>
        <p:spPr>
          <a:xfrm>
            <a:off x="6773418" y="1783080"/>
            <a:ext cx="2004822" cy="56692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$5K</a:t>
            </a:r>
            <a:endParaRPr lang="en-US" sz="2200" dirty="0"/>
          </a:p>
        </p:txBody>
      </p:sp>
      <p:sp>
        <p:nvSpPr>
          <p:cNvPr id="16" name="Text 14"/>
          <p:cNvSpPr/>
          <p:nvPr/>
        </p:nvSpPr>
        <p:spPr>
          <a:xfrm>
            <a:off x="6864858" y="2377440"/>
            <a:ext cx="1849374" cy="914400"/>
          </a:xfrm>
          <a:prstGeom prst="rect">
            <a:avLst/>
          </a:prstGeom>
          <a:noFill/>
          <a:ln/>
        </p:spPr>
        <p:txBody>
          <a:bodyPr wrap="square" rtlCol="0" anchor="ctr"/>
          <a:lstStyle/>
          <a:p>
            <a:pPr algn="ctr" indent="0" marL="0">
              <a:lnSpc>
                <a:spcPct val="130000"/>
              </a:lnSpc>
              <a:buNone/>
            </a:pPr>
            <a:r>
              <a:rPr lang="en-US" sz="1000" dirty="0">
                <a:solidFill>
                  <a:srgbClr val="DDDDFF"/>
                </a:solidFill>
                <a:latin typeface="Calibri" pitchFamily="34" charset="0"/>
                <a:ea typeface="Calibri" pitchFamily="34" charset="-122"/>
                <a:cs typeface="Calibri" pitchFamily="34" charset="-120"/>
              </a:rPr>
              <a:t>Monthly AI burn</a:t>
            </a:r>
            <a:endParaRPr lang="en-US" sz="1000" dirty="0"/>
          </a:p>
          <a:p>
            <a:pPr algn="ctr" indent="0" marL="0">
              <a:lnSpc>
                <a:spcPct val="130000"/>
              </a:lnSpc>
              <a:buNone/>
            </a:pPr>
            <a:r>
              <a:rPr lang="en-US" sz="1000" dirty="0">
                <a:solidFill>
                  <a:srgbClr val="DDDDFF"/>
                </a:solidFill>
                <a:latin typeface="Calibri" pitchFamily="34" charset="0"/>
                <a:ea typeface="Calibri" pitchFamily="34" charset="-122"/>
                <a:cs typeface="Calibri" pitchFamily="34" charset="-120"/>
              </a:rPr>
              <a:t>Replaces ~25-person dev team</a:t>
            </a:r>
            <a:endParaRPr lang="en-US" sz="1000" dirty="0"/>
          </a:p>
        </p:txBody>
      </p:sp>
      <p:sp>
        <p:nvSpPr>
          <p:cNvPr id="20" name="Shape 18"/>
          <p:cNvSpPr/>
          <p:nvPr/>
        </p:nvSpPr>
        <p:spPr>
          <a:xfrm>
            <a:off x="320040" y="3822192"/>
            <a:ext cx="8458200" cy="1024128"/>
          </a:xfrm>
          <a:prstGeom prst="rect">
            <a:avLst/>
          </a:prstGeom>
          <a:solidFill>
            <a:srgbClr val="1A0A2E"/>
          </a:solidFill>
          <a:ln/>
        </p:spPr>
        <p:txBody>
          <a:bodyPr/>
          <a:p/>
        </p:txBody>
      </p:sp>
      <p:sp>
        <p:nvSpPr>
          <p:cNvPr id="21" name="Text 19"/>
          <p:cNvSpPr/>
          <p:nvPr/>
        </p:nvSpPr>
        <p:spPr>
          <a:xfrm>
            <a:off x="475488" y="3895344"/>
            <a:ext cx="8138160" cy="256032"/>
          </a:xfrm>
          <a:prstGeom prst="rect">
            <a:avLst/>
          </a:prstGeom>
          <a:noFill/>
          <a:ln/>
        </p:spPr>
        <p:txBody>
          <a:bodyPr wrap="square" rtlCol="0" anchor="ctr"/>
          <a:lstStyle/>
          <a:p>
            <a:pPr indent="0" marL="0">
              <a:buNone/>
            </a:pPr>
            <a:r>
              <a:rPr lang="en-US" sz="1050" dirty="0">
                <a:solidFill>
                  <a:srgbClr val="7B3FE4"/>
                </a:solidFill>
                <a:latin typeface="Calibri" pitchFamily="34" charset="0"/>
                <a:ea typeface="Calibri" pitchFamily="34" charset="-122"/>
                <a:cs typeface="Calibri" pitchFamily="34" charset="-120"/>
              </a:rPr>
              <a:t>1,000+ workers (state-augmented) shipped on $35K of operating burn in 5 months. RAAS live in production. Alex briefs the team every morning.</a:t>
            </a:r>
            <a:endParaRPr lang="en-US" sz="1050" dirty="0"/>
          </a:p>
        </p:txBody>
      </p:sp>
      <p:sp>
        <p:nvSpPr>
          <p:cNvPr id="22" name="Text 20"/>
          <p:cNvSpPr/>
          <p:nvPr/>
        </p:nvSpPr>
        <p:spPr>
          <a:xfrm>
            <a:off x="475488" y="4151376"/>
            <a:ext cx="8138160" cy="25603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Real users: Platform live across 8 industries today. Workers in production. RAAS deployed across aviation, real estate, auto, and banking workers in production today.</a:t>
            </a:r>
            <a:endParaRPr lang="en-US" sz="1050" dirty="0"/>
          </a:p>
        </p:txBody>
      </p:sp>
      <p:sp>
        <p:nvSpPr>
          <p:cNvPr id="23" name="Text 21"/>
          <p:cNvSpPr/>
          <p:nvPr/>
        </p:nvSpPr>
        <p:spPr>
          <a:xfrm>
            <a:off x="475488" y="4407408"/>
            <a:ext cx="8138160" cy="256032"/>
          </a:xfrm>
          <a:prstGeom prst="rect">
            <a:avLst/>
          </a:prstGeom>
          <a:noFill/>
          <a:ln/>
        </p:spPr>
        <p:txBody>
          <a:bodyPr wrap="square" rtlCol="0" anchor="ctr"/>
          <a:lstStyle/>
          <a:p>
            <a:pPr indent="0" marL="0">
              <a:buNone/>
            </a:pPr>
            <a:r>
              <a:rPr lang="en-US" sz="1000" i="1" dirty="0">
                <a:solidFill>
                  <a:srgbClr val="10B981"/>
                </a:solidFill>
                <a:latin typeface="Calibri" pitchFamily="34" charset="0"/>
                <a:ea typeface="Calibri" pitchFamily="34" charset="-122"/>
                <a:cs typeface="Calibri" pitchFamily="34" charset="-120"/>
              </a:rPr>
              <a:t>Every tool we build for professionals, we use to build SOCIII. The product is the proof.</a:t>
            </a:r>
            <a:endParaRPr lang="en-US" sz="1000" dirty="0"/>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475569"/>
                </a:solidFill>
                <a:latin typeface="Calibri" pitchFamily="34" charset="0"/>
              </a:rPr>
              <a:t>sociii.ai  ·  CONFIDENTIAL  ·  SOCIII Inc. (Delaware C-Corp)  ·  May 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0A2E"/>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4A1D8C"/>
          </a:solidFill>
          <a:ln/>
        </p:spPr>
        <p:txBody>
          <a:bodyPr/>
          <a:p/>
        </p:txBody>
      </p:sp>
      <p:sp>
        <p:nvSpPr>
          <p:cNvPr id="3" name="Text 1"/>
          <p:cNvSpPr/>
          <p:nvPr/>
        </p:nvSpPr>
        <p:spPr>
          <a:xfrm>
            <a:off x="320040" y="292608"/>
            <a:ext cx="3657600" cy="256032"/>
          </a:xfrm>
          <a:prstGeom prst="rect">
            <a:avLst/>
          </a:prstGeom>
          <a:noFill/>
          <a:ln/>
        </p:spPr>
        <p:txBody>
          <a:bodyPr wrap="square" rtlCol="0" anchor="ctr"/>
          <a:lstStyle/>
          <a:p>
            <a:pPr indent="0" marL="0">
              <a:buNone/>
            </a:pPr>
            <a:r>
              <a:rPr lang="en-US" sz="1100" b="1" spc="300" kern="0" dirty="0">
                <a:solidFill>
                  <a:srgbClr val="7B3FE4"/>
                </a:solidFill>
                <a:latin typeface="Calibri" pitchFamily="34" charset="0"/>
                <a:ea typeface="Calibri" pitchFamily="34" charset="-122"/>
                <a:cs typeface="Calibri" pitchFamily="34" charset="-120"/>
              </a:rPr>
              <a:t>THE ASK</a:t>
            </a:r>
            <a:endParaRPr lang="en-US" sz="1100" dirty="0"/>
          </a:p>
        </p:txBody>
      </p:sp>
      <p:sp>
        <p:nvSpPr>
          <p:cNvPr id="4" name="Text 2"/>
          <p:cNvSpPr/>
          <p:nvPr/>
        </p:nvSpPr>
        <p:spPr>
          <a:xfrm>
            <a:off x="320040" y="530352"/>
            <a:ext cx="5943600" cy="1170432"/>
          </a:xfrm>
          <a:prstGeom prst="rect">
            <a:avLst/>
          </a:prstGeom>
          <a:noFill/>
          <a:ln/>
        </p:spPr>
        <p:txBody>
          <a:bodyPr wrap="square" rtlCol="0" anchor="ctr"/>
          <a:lstStyle/>
          <a:p>
            <a:pPr indent="0" marL="0">
              <a:lnSpc>
                <a:spcPct val="110000"/>
              </a:lnSpc>
              <a:buNone/>
            </a:pPr>
            <a:r>
              <a:rPr lang="en-US" sz="3400" b="1" dirty="0">
                <a:solidFill>
                  <a:srgbClr val="FFFFFF"/>
                </a:solidFill>
                <a:latin typeface="Calibri" pitchFamily="34" charset="0"/>
                <a:ea typeface="Calibri" pitchFamily="34" charset="-122"/>
                <a:cs typeface="Calibri" pitchFamily="34" charset="-120"/>
              </a:rPr>
              <a:t>Raising $1–2M.</a:t>
            </a:r>
            <a:endParaRPr lang="en-US" sz="3400" dirty="0"/>
          </a:p>
          <a:p>
            <a:pPr indent="0" marL="0">
              <a:lnSpc>
                <a:spcPct val="110000"/>
              </a:lnSpc>
              <a:buNone/>
            </a:pPr>
            <a:r>
              <a:rPr lang="en-US" sz="3400" b="1" dirty="0">
                <a:solidFill>
                  <a:srgbClr val="FFFFFF"/>
                </a:solidFill>
                <a:latin typeface="Calibri" pitchFamily="34" charset="0"/>
                <a:ea typeface="Calibri" pitchFamily="34" charset="-122"/>
                <a:cs typeface="Calibri" pitchFamily="34" charset="-120"/>
              </a:rPr>
              <a:t>Let's Own This Category.</a:t>
            </a:r>
            <a:endParaRPr lang="en-US" sz="3400" dirty="0"/>
          </a:p>
        </p:txBody>
      </p:sp>
      <p:sp>
        <p:nvSpPr>
          <p:cNvPr id="5" name="Text 3"/>
          <p:cNvSpPr/>
          <p:nvPr/>
        </p:nvSpPr>
        <p:spPr>
          <a:xfrm>
            <a:off x="320040" y="1737360"/>
            <a:ext cx="8412480" cy="411480"/>
          </a:xfrm>
          <a:prstGeom prst="rect">
            <a:avLst/>
          </a:prstGeom>
          <a:noFill/>
          <a:ln/>
        </p:spPr>
        <p:txBody>
          <a:bodyPr wrap="square" rtlCol="0" anchor="ctr"/>
          <a:lstStyle/>
          <a:p>
            <a:pPr indent="0" marL="0">
              <a:buNone/>
            </a:pPr>
            <a:r>
              <a:rPr lang="en-US" sz="1300" i="1" dirty="0">
                <a:solidFill>
                  <a:srgbClr val="10B981"/>
                </a:solidFill>
                <a:latin typeface="Calibri" pitchFamily="34" charset="0"/>
                <a:ea typeface="Calibri" pitchFamily="34" charset="-122"/>
                <a:cs typeface="Calibri" pitchFamily="34" charset="-120"/>
              </a:rPr>
              <a:t>First $250K clears inherited debt obligations. Remaining $1.5-1.75M funds commercial launch, community activation, and 18-month runway. Profitable at month 24 with or without this check.</a:t>
            </a:r>
            <a:endParaRPr lang="en-US" sz="1300" dirty="0"/>
          </a:p>
        </p:txBody>
      </p:sp>
      <p:sp>
        <p:nvSpPr>
          <p:cNvPr id="6" name="Shape 4"/>
          <p:cNvSpPr/>
          <p:nvPr/>
        </p:nvSpPr>
        <p:spPr>
          <a:xfrm>
            <a:off x="320040" y="2331720"/>
            <a:ext cx="4041648" cy="1261872"/>
          </a:xfrm>
          <a:prstGeom prst="rect">
            <a:avLst/>
          </a:prstGeom>
          <a:solidFill>
            <a:srgbClr val="4A1D8C"/>
          </a:solidFill>
          <a:ln/>
          <a:effectLst>
            <a:outerShdw sx="100000" sy="100000" kx="0" ky="0" algn="bl" rotWithShape="0" blurRad="76200" dist="25400" dir="8100000">
              <a:srgbClr val="000000">
                <a:alpha val="15000"/>
              </a:srgbClr>
            </a:outerShdw>
          </a:effectLst>
        </p:spPr>
        <p:txBody>
          <a:bodyPr/>
          <a:p/>
        </p:txBody>
      </p:sp>
      <p:sp>
        <p:nvSpPr>
          <p:cNvPr id="7" name="Text 5"/>
          <p:cNvSpPr/>
          <p:nvPr/>
        </p:nvSpPr>
        <p:spPr>
          <a:xfrm>
            <a:off x="484632" y="2441448"/>
            <a:ext cx="822960" cy="384048"/>
          </a:xfrm>
          <a:prstGeom prst="rect">
            <a:avLst/>
          </a:prstGeom>
          <a:noFill/>
          <a:ln/>
        </p:spPr>
        <p:txBody>
          <a:bodyPr wrap="square"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$250K</a:t>
            </a:r>
            <a:endParaRPr lang="en-US" sz="1600" dirty="0"/>
          </a:p>
        </p:txBody>
      </p:sp>
      <p:sp>
        <p:nvSpPr>
          <p:cNvPr id="8" name="Text 6"/>
          <p:cNvSpPr/>
          <p:nvPr/>
        </p:nvSpPr>
        <p:spPr>
          <a:xfrm>
            <a:off x="1344168" y="2441448"/>
            <a:ext cx="288036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Debt Service</a:t>
            </a:r>
            <a:endParaRPr lang="en-US" sz="1200" dirty="0"/>
          </a:p>
        </p:txBody>
      </p:sp>
      <p:sp>
        <p:nvSpPr>
          <p:cNvPr id="9" name="Text 7"/>
          <p:cNvSpPr/>
          <p:nvPr/>
        </p:nvSpPr>
        <p:spPr>
          <a:xfrm>
            <a:off x="484632" y="2843784"/>
            <a:ext cx="3703320" cy="658368"/>
          </a:xfrm>
          <a:prstGeom prst="rect">
            <a:avLst/>
          </a:prstGeom>
          <a:noFill/>
          <a:ln/>
        </p:spPr>
        <p:txBody>
          <a:bodyPr wrap="square" rtlCol="0" anchor="ctr"/>
          <a:lstStyle/>
          <a:p>
            <a:pPr indent="0" marL="0">
              <a:lnSpc>
                <a:spcPct val="128000"/>
              </a:lnSpc>
              <a:buNone/>
            </a:pPr>
            <a:r>
              <a:rPr lang="en-US" sz="1050" dirty="0">
                <a:solidFill>
                  <a:srgbClr val="CCDDFF"/>
                </a:solidFill>
                <a:latin typeface="Calibri" pitchFamily="34" charset="0"/>
                <a:ea typeface="Calibri" pitchFamily="34" charset="-122"/>
                <a:cs typeface="Calibri" pitchFamily="34" charset="-120"/>
              </a:rPr>
              <a:t>Honors outstanding obligations: Robert Rosenberg ($100K), Chris Dunn ($15K), HOM DAO inherited AP (~$100K). Clears the deck before commercial launch.</a:t>
            </a:r>
            <a:endParaRPr lang="en-US" sz="1050" dirty="0"/>
          </a:p>
        </p:txBody>
      </p:sp>
      <p:sp>
        <p:nvSpPr>
          <p:cNvPr id="10" name="Shape 8"/>
          <p:cNvSpPr/>
          <p:nvPr/>
        </p:nvSpPr>
        <p:spPr>
          <a:xfrm>
            <a:off x="4636008" y="2331720"/>
            <a:ext cx="4041648" cy="1261872"/>
          </a:xfrm>
          <a:prstGeom prst="rect">
            <a:avLst/>
          </a:prstGeom>
          <a:solidFill>
            <a:srgbClr val="1E3A6E"/>
          </a:solidFill>
          <a:ln/>
          <a:effectLst>
            <a:outerShdw sx="100000" sy="100000" kx="0" ky="0" algn="bl" rotWithShape="0" blurRad="76200" dist="25400" dir="8100000">
              <a:srgbClr val="000000">
                <a:alpha val="15000"/>
              </a:srgbClr>
            </a:outerShdw>
          </a:effectLst>
        </p:spPr>
        <p:txBody>
          <a:bodyPr/>
          <a:p/>
        </p:txBody>
      </p:sp>
      <p:sp>
        <p:nvSpPr>
          <p:cNvPr id="11" name="Text 9"/>
          <p:cNvSpPr/>
          <p:nvPr/>
        </p:nvSpPr>
        <p:spPr>
          <a:xfrm>
            <a:off x="4800600" y="2441448"/>
            <a:ext cx="822960" cy="384048"/>
          </a:xfrm>
          <a:prstGeom prst="rect">
            <a:avLst/>
          </a:prstGeom>
          <a:noFill/>
          <a:ln/>
        </p:spPr>
        <p:txBody>
          <a:bodyPr wrap="square"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$500K</a:t>
            </a:r>
            <a:endParaRPr lang="en-US" sz="1600" dirty="0"/>
          </a:p>
        </p:txBody>
      </p:sp>
      <p:sp>
        <p:nvSpPr>
          <p:cNvPr id="12" name="Text 10"/>
          <p:cNvSpPr/>
          <p:nvPr/>
        </p:nvSpPr>
        <p:spPr>
          <a:xfrm>
            <a:off x="5660136" y="2441448"/>
            <a:ext cx="288036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Trade Conferences &amp; Industry Presence</a:t>
            </a:r>
            <a:endParaRPr lang="en-US" sz="1200" dirty="0"/>
          </a:p>
        </p:txBody>
      </p:sp>
      <p:sp>
        <p:nvSpPr>
          <p:cNvPr id="13" name="Text 11"/>
          <p:cNvSpPr/>
          <p:nvPr/>
        </p:nvSpPr>
        <p:spPr>
          <a:xfrm>
            <a:off x="4800600" y="2843784"/>
            <a:ext cx="3703320" cy="658368"/>
          </a:xfrm>
          <a:prstGeom prst="rect">
            <a:avLst/>
          </a:prstGeom>
          <a:noFill/>
          <a:ln/>
        </p:spPr>
        <p:txBody>
          <a:bodyPr wrap="square" rtlCol="0" anchor="ctr"/>
          <a:lstStyle/>
          <a:p>
            <a:pPr indent="0" marL="0">
              <a:lnSpc>
                <a:spcPct val="128000"/>
              </a:lnSpc>
              <a:buNone/>
            </a:pPr>
            <a:r>
              <a:rPr lang="en-US" sz="1050" dirty="0">
                <a:solidFill>
                  <a:srgbClr val="CCDDFF"/>
                </a:solidFill>
                <a:latin typeface="Calibri" pitchFamily="34" charset="0"/>
                <a:ea typeface="Calibri" pitchFamily="34" charset="-122"/>
                <a:cs typeface="Calibri" pitchFamily="34" charset="-120"/>
              </a:rPr>
              <a:t>Ruthie at NurseCon. Pilots at NBAA. Dealers at NADA. The rooms where professionals gather. We send domain experts, not salespeople.</a:t>
            </a:r>
            <a:endParaRPr lang="en-US" sz="1050" dirty="0"/>
          </a:p>
        </p:txBody>
      </p:sp>
      <p:sp>
        <p:nvSpPr>
          <p:cNvPr id="14" name="Shape 12"/>
          <p:cNvSpPr/>
          <p:nvPr/>
        </p:nvSpPr>
        <p:spPr>
          <a:xfrm>
            <a:off x="320040" y="3721608"/>
            <a:ext cx="4041648" cy="1261872"/>
          </a:xfrm>
          <a:prstGeom prst="rect">
            <a:avLst/>
          </a:prstGeom>
          <a:solidFill>
            <a:srgbClr val="0D7A5F"/>
          </a:solidFill>
          <a:ln/>
          <a:effectLst>
            <a:outerShdw sx="100000" sy="100000" kx="0" ky="0" algn="bl" rotWithShape="0" blurRad="76200" dist="25400" dir="8100000">
              <a:srgbClr val="000000">
                <a:alpha val="15000"/>
              </a:srgbClr>
            </a:outerShdw>
          </a:effectLst>
        </p:spPr>
        <p:txBody>
          <a:bodyPr/>
          <a:p/>
        </p:txBody>
      </p:sp>
      <p:sp>
        <p:nvSpPr>
          <p:cNvPr id="15" name="Text 13"/>
          <p:cNvSpPr/>
          <p:nvPr/>
        </p:nvSpPr>
        <p:spPr>
          <a:xfrm>
            <a:off x="484632" y="3831336"/>
            <a:ext cx="822960" cy="384048"/>
          </a:xfrm>
          <a:prstGeom prst="rect">
            <a:avLst/>
          </a:prstGeom>
          <a:noFill/>
          <a:ln/>
        </p:spPr>
        <p:txBody>
          <a:bodyPr wrap="square"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$500K</a:t>
            </a:r>
            <a:endParaRPr lang="en-US" sz="1600" dirty="0"/>
          </a:p>
        </p:txBody>
      </p:sp>
      <p:sp>
        <p:nvSpPr>
          <p:cNvPr id="16" name="Text 14"/>
          <p:cNvSpPr/>
          <p:nvPr/>
        </p:nvSpPr>
        <p:spPr>
          <a:xfrm>
            <a:off x="1344168" y="3831336"/>
            <a:ext cx="288036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Professional Network Activation</a:t>
            </a:r>
            <a:endParaRPr lang="en-US" sz="1200" dirty="0"/>
          </a:p>
        </p:txBody>
      </p:sp>
      <p:sp>
        <p:nvSpPr>
          <p:cNvPr id="17" name="Text 15"/>
          <p:cNvSpPr/>
          <p:nvPr/>
        </p:nvSpPr>
        <p:spPr>
          <a:xfrm>
            <a:off x="484632" y="4233672"/>
            <a:ext cx="3703320" cy="658368"/>
          </a:xfrm>
          <a:prstGeom prst="rect">
            <a:avLst/>
          </a:prstGeom>
          <a:noFill/>
          <a:ln/>
        </p:spPr>
        <p:txBody>
          <a:bodyPr wrap="square" rtlCol="0" anchor="ctr"/>
          <a:lstStyle/>
          <a:p>
            <a:pPr indent="0" marL="0">
              <a:lnSpc>
                <a:spcPct val="128000"/>
              </a:lnSpc>
              <a:buNone/>
            </a:pPr>
            <a:r>
              <a:rPr lang="en-US" sz="1050" dirty="0">
                <a:solidFill>
                  <a:srgbClr val="CCDDFF"/>
                </a:solidFill>
                <a:latin typeface="Calibri" pitchFamily="34" charset="0"/>
                <a:ea typeface="Calibri" pitchFamily="34" charset="-122"/>
                <a:cs typeface="Calibri" pitchFamily="34" charset="-120"/>
              </a:rPr>
              <a:t>Identify and activate 200+ domain experts across all industries — The Nurse, the pilot, the dealer, the inspector. Each one has a trusted community. Includes connector integrations and specialized industry API access.</a:t>
            </a:r>
            <a:endParaRPr lang="en-US" sz="1050" dirty="0"/>
          </a:p>
        </p:txBody>
      </p:sp>
      <p:sp>
        <p:nvSpPr>
          <p:cNvPr id="18" name="Shape 16"/>
          <p:cNvSpPr/>
          <p:nvPr/>
        </p:nvSpPr>
        <p:spPr>
          <a:xfrm>
            <a:off x="4636008" y="3721608"/>
            <a:ext cx="4041648" cy="1261872"/>
          </a:xfrm>
          <a:prstGeom prst="rect">
            <a:avLst/>
          </a:prstGeom>
          <a:solidFill>
            <a:srgbClr val="7B3FE4"/>
          </a:solidFill>
          <a:ln/>
          <a:effectLst>
            <a:outerShdw sx="100000" sy="100000" kx="0" ky="0" algn="bl" rotWithShape="0" blurRad="76200" dist="25400" dir="8100000">
              <a:srgbClr val="000000">
                <a:alpha val="15000"/>
              </a:srgbClr>
            </a:outerShdw>
          </a:effectLst>
        </p:spPr>
        <p:txBody>
          <a:bodyPr/>
          <a:p/>
        </p:txBody>
      </p:sp>
      <p:sp>
        <p:nvSpPr>
          <p:cNvPr id="19" name="Text 17"/>
          <p:cNvSpPr/>
          <p:nvPr/>
        </p:nvSpPr>
        <p:spPr>
          <a:xfrm>
            <a:off x="4800600" y="3831336"/>
            <a:ext cx="822960" cy="384048"/>
          </a:xfrm>
          <a:prstGeom prst="rect">
            <a:avLst/>
          </a:prstGeom>
          <a:noFill/>
          <a:ln/>
        </p:spPr>
        <p:txBody>
          <a:bodyPr wrap="square"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$500K</a:t>
            </a:r>
            <a:endParaRPr lang="en-US" sz="1600" dirty="0"/>
          </a:p>
        </p:txBody>
      </p:sp>
      <p:sp>
        <p:nvSpPr>
          <p:cNvPr id="20" name="Text 18"/>
          <p:cNvSpPr/>
          <p:nvPr/>
        </p:nvSpPr>
        <p:spPr>
          <a:xfrm>
            <a:off x="5660136" y="3831336"/>
            <a:ext cx="288036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18-Month Runway + Operations</a:t>
            </a:r>
            <a:endParaRPr lang="en-US" sz="1200" dirty="0"/>
          </a:p>
        </p:txBody>
      </p:sp>
      <p:sp>
        <p:nvSpPr>
          <p:cNvPr id="21" name="Text 19"/>
          <p:cNvSpPr/>
          <p:nvPr/>
        </p:nvSpPr>
        <p:spPr>
          <a:xfrm>
            <a:off x="4800600" y="4233672"/>
            <a:ext cx="3703320" cy="658368"/>
          </a:xfrm>
          <a:prstGeom prst="rect">
            <a:avLst/>
          </a:prstGeom>
          <a:noFill/>
          <a:ln/>
        </p:spPr>
        <p:txBody>
          <a:bodyPr wrap="square" rtlCol="0" anchor="ctr"/>
          <a:lstStyle/>
          <a:p>
            <a:pPr indent="0" marL="0">
              <a:lnSpc>
                <a:spcPct val="128000"/>
              </a:lnSpc>
              <a:buNone/>
            </a:pPr>
            <a:r>
              <a:rPr lang="en-US" sz="1050" dirty="0">
                <a:solidFill>
                  <a:srgbClr val="CCDDFF"/>
                </a:solidFill>
                <a:latin typeface="Calibri" pitchFamily="34" charset="0"/>
                <a:ea typeface="Calibri" pitchFamily="34" charset="-122"/>
                <a:cs typeface="Calibri" pitchFamily="34" charset="-120"/>
              </a:rPr>
              <a:t>$25K/mo overhead × 18 months = $450K. Balance covers legal, accounting, and cap table restructuring. We build with AI, not headcount.</a:t>
            </a:r>
            <a:endParaRPr lang="en-US" sz="1050" dirty="0"/>
          </a:p>
        </p:txBody>
      </p:sp>
      <p:pic>
        <p:nvPicPr>
          <p:cNvPr id="950" name="CornerLogo"/>
          <p:cNvPicPr>
            <a:picLocks noChangeAspect="1"/>
          </p:cNvPicPr>
          <p:nvPr/>
        </p:nvPicPr>
        <p:blipFill>
          <a:blip r:embed="rId3"/>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sociii.ai  ·  CONFIDENTIAL  ·  SOCIII Inc. (Delaware C-Corp)  ·  May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Team">
    <p:bg>
      <p:bgPr>
        <a:solidFill>
          <a:srgbClr val="0A0A0F"/>
        </a:solidFill>
      </p:bgPr>
    </p:bg>
    <p:spTree>
      <p:nvGrpSpPr>
        <p:cNvPr id="1" name=""/>
        <p:cNvGrpSpPr/>
        <p:nvPr/>
      </p:nvGrpSpPr>
      <p:grpSpPr>
        <a:xfrm>
          <a:off x="0" y="0"/>
          <a:ext cx="0" cy="0"/>
          <a:chOff x="0" y="0"/>
          <a:chExt cx="0" cy="0"/>
        </a:xfrm>
      </p:grpSpPr>
      <p:sp>
        <p:nvSpPr>
          <p:cNvPr id="101" name="SectionTag"/>
          <p:cNvSpPr/>
          <p:nvPr/>
        </p:nvSpPr>
        <p:spPr>
          <a:xfrm>
            <a:off x="320040" y="220000"/>
            <a:ext cx="8503920" cy="240000"/>
          </a:xfrm>
          <a:prstGeom prst="rect">
            <a:avLst/>
          </a:prstGeom>
          <a:noFill/>
        </p:spPr>
        <p:txBody>
          <a:bodyPr wrap="square" rtlCol="0" anchor="t"/>
          <a:lstStyle/>
          <a:p>
            <a:pPr indent="0" marL="0">
              <a:buNone/>
            </a:pPr>
            <a:r>
              <a:rPr lang="en-US" sz="1100" b="1" spc="200" kern="0">
                <a:solidFill>
                  <a:srgbClr val="7C3AED"/>
                </a:solidFill>
                <a:latin typeface="Calibri" pitchFamily="34" charset="0"/>
              </a:rPr>
              <a:t>THE TEAM</a:t>
            </a:r>
          </a:p>
        </p:txBody>
      </p:sp>
      <p:sp>
        <p:nvSpPr>
          <p:cNvPr id="102" name="Title"/>
          <p:cNvSpPr/>
          <p:nvPr/>
        </p:nvSpPr>
        <p:spPr>
          <a:xfrm>
            <a:off x="320040" y="450000"/>
            <a:ext cx="8503920" cy="500000"/>
          </a:xfrm>
          <a:prstGeom prst="rect">
            <a:avLst/>
          </a:prstGeom>
          <a:noFill/>
        </p:spPr>
        <p:txBody>
          <a:bodyPr wrap="square" rtlCol="0" anchor="t"/>
          <a:lstStyle/>
          <a:p>
            <a:pPr indent="0" marL="0">
              <a:buNone/>
            </a:pPr>
            <a:r>
              <a:rPr lang="en-US" sz="3400" b="1" kern="0">
                <a:solidFill>
                  <a:srgbClr val="FFFFFF"/>
                </a:solidFill>
                <a:latin typeface="Calibri" pitchFamily="34" charset="0"/>
              </a:rPr>
              <a:t>Not Headcount. An AI Shop.</a:t>
            </a:r>
          </a:p>
        </p:txBody>
      </p:sp>
      <p:sp>
        <p:nvSpPr>
          <p:cNvPr id="103" name="Subhead"/>
          <p:cNvSpPr/>
          <p:nvPr/>
        </p:nvSpPr>
        <p:spPr>
          <a:xfrm>
            <a:off x="320040" y="950000"/>
            <a:ext cx="8503920" cy="320000"/>
          </a:xfrm>
          <a:prstGeom prst="rect">
            <a:avLst/>
          </a:prstGeom>
          <a:noFill/>
        </p:spPr>
        <p:txBody>
          <a:bodyPr wrap="square" rtlCol="0" anchor="t"/>
          <a:lstStyle/>
          <a:p>
            <a:pPr indent="0" marL="0">
              <a:buNone/>
            </a:pPr>
            <a:r>
              <a:rPr lang="en-US" sz="1400" i="1" kern="0">
                <a:solidFill>
                  <a:srgbClr val="16A34A"/>
                </a:solidFill>
                <a:latin typeface="Calibri" pitchFamily="34" charset="0"/>
              </a:rPr>
              <a:t>SOCIII runs on SOCIII. 8 humans set strategy. These are the workers running the company.</a:t>
            </a:r>
          </a:p>
        </p:txBody>
      </p:sp>
      <p:sp>
        <p:nvSpPr>
          <p:cNvPr id="104" name="ColHeaderL"/>
          <p:cNvSpPr/>
          <p:nvPr/>
        </p:nvSpPr>
        <p:spPr>
          <a:xfrm>
            <a:off x="320040" y="1370000"/>
            <a:ext cx="4151960" cy="380000"/>
          </a:xfrm>
          <a:prstGeom prst="roundRect">
            <a:avLst>
              <a:gd name="adj" fmla="val 25000"/>
            </a:avLst>
          </a:prstGeom>
          <a:solidFill>
            <a:srgbClr val="7C3AED"/>
          </a:solidFill>
          <a:ln/>
        </p:spPr>
        <p:txBody>
          <a:bodyPr wrap="square" rtlCol="0" anchor="ctr"/>
          <a:lstStyle/>
          <a:p>
            <a:pPr algn="ctr" indent="0" marL="0">
              <a:buNone/>
            </a:pPr>
            <a:r>
              <a:rPr lang="en-US" sz="1400" b="1" spc="150" kern="0">
                <a:solidFill>
                  <a:srgbClr val="FFFFFF"/>
                </a:solidFill>
                <a:latin typeface="Calibri" pitchFamily="34" charset="0"/>
              </a:rPr>
              <a:t>HUMANS — 8 (STRATEGY)</a:t>
            </a:r>
          </a:p>
        </p:txBody>
      </p:sp>
      <p:sp>
        <p:nvSpPr>
          <p:cNvPr id="105" name="ColHeaderR"/>
          <p:cNvSpPr/>
          <p:nvPr/>
        </p:nvSpPr>
        <p:spPr>
          <a:xfrm>
            <a:off x="4672000" y="1370000"/>
            <a:ext cx="4151960" cy="380000"/>
          </a:xfrm>
          <a:prstGeom prst="roundRect">
            <a:avLst>
              <a:gd name="adj" fmla="val 25000"/>
            </a:avLst>
          </a:prstGeom>
          <a:solidFill>
            <a:srgbClr val="16A34A"/>
          </a:solidFill>
          <a:ln/>
        </p:spPr>
        <p:txBody>
          <a:bodyPr wrap="square" rtlCol="0" anchor="ctr"/>
          <a:lstStyle/>
          <a:p>
            <a:pPr algn="ctr" indent="0" marL="0">
              <a:buNone/>
            </a:pPr>
            <a:r>
              <a:rPr lang="en-US" sz="1400" b="1" spc="150" kern="0">
                <a:solidFill>
                  <a:srgbClr val="FFFFFF"/>
                </a:solidFill>
                <a:latin typeface="Calibri" pitchFamily="34" charset="0"/>
              </a:rPr>
              <a:t>WORKERS — RUN THE COMPANY</a:t>
            </a:r>
          </a:p>
        </p:txBody>
      </p:sp>
      <p:sp>
        <p:nvSpPr>
          <p:cNvPr id="106" name="HumanRow0"/>
          <p:cNvSpPr/>
          <p:nvPr/>
        </p:nvSpPr>
        <p:spPr>
          <a:xfrm>
            <a:off x="320040" y="1810000"/>
            <a:ext cx="4151960" cy="320000"/>
          </a:xfrm>
          <a:prstGeom prst="rect">
            <a:avLst/>
          </a:prstGeom>
          <a:solidFill>
            <a:srgbClr val="1A1F2E"/>
          </a:solidFill>
          <a:ln/>
        </p:spPr>
        <p:txBody>
          <a:bodyPr wrap="square" rtlCol="0" lIns="120000" rIns="120000" anchor="ctr"/>
          <a:lstStyle/>
          <a:p>
            <a:pPr indent="0" marL="0">
              <a:buNone/>
            </a:pPr>
            <a:r>
              <a:rPr lang="en-US" sz="1050" b="1" kern="0">
                <a:solidFill>
                  <a:srgbClr val="FFFFFF"/>
                </a:solidFill>
                <a:latin typeface="Calibri" pitchFamily="34" charset="0"/>
              </a:rPr>
              <a:t>Sean Combs</a:t>
            </a:r>
            <a:r>
              <a:rPr lang="en-US" sz="1050" kern="0">
                <a:solidFill>
                  <a:srgbClr val="AABBDD"/>
                </a:solidFill>
                <a:latin typeface="Calibri" pitchFamily="34" charset="0"/>
              </a:rPr>
              <a:t xml:space="preserve"> — Aviation · RE Development · Technology</a:t>
            </a:r>
          </a:p>
        </p:txBody>
      </p:sp>
      <p:sp>
        <p:nvSpPr>
          <p:cNvPr id="107" name="WorkerRow0"/>
          <p:cNvSpPr/>
          <p:nvPr/>
        </p:nvSpPr>
        <p:spPr>
          <a:xfrm>
            <a:off x="4672000" y="1810000"/>
            <a:ext cx="4151960" cy="320000"/>
          </a:xfrm>
          <a:prstGeom prst="rect">
            <a:avLst/>
          </a:prstGeom>
          <a:solidFill>
            <a:srgbClr val="1A1F2E"/>
          </a:solidFill>
          <a:ln/>
        </p:spPr>
        <p:txBody>
          <a:bodyPr wrap="square" rtlCol="0" lIns="120000" rIns="120000" anchor="ctr"/>
          <a:lstStyle/>
          <a:p>
            <a:pPr indent="0" marL="0">
              <a:buNone/>
            </a:pPr>
            <a:r>
              <a:rPr lang="en-US" sz="1050" b="1" kern="0">
                <a:solidFill>
                  <a:srgbClr val="FFFFFF"/>
                </a:solidFill>
                <a:latin typeface="Calibri" pitchFamily="34" charset="0"/>
              </a:rPr>
              <a:t>Spine</a:t>
            </a:r>
          </a:p>
          <a:p>
            <a:pPr indent="0" marL="0">
              <a:buNone/>
            </a:pPr>
            <a:r>
              <a:rPr lang="en-US" sz="900" kern="0">
                <a:solidFill>
                  <a:srgbClr val="AABBDD"/>
                </a:solidFill>
                <a:latin typeface="Calibri" pitchFamily="34" charset="0"/>
              </a:rPr>
              <a:t>Alex (CoS), Marketing, Accounting, HR, Contacts, Control Center</a:t>
            </a:r>
          </a:p>
        </p:txBody>
      </p:sp>
      <p:sp>
        <p:nvSpPr>
          <p:cNvPr id="108" name="HumanRow1"/>
          <p:cNvSpPr/>
          <p:nvPr/>
        </p:nvSpPr>
        <p:spPr>
          <a:xfrm>
            <a:off x="320040" y="2140000"/>
            <a:ext cx="4151960" cy="320000"/>
          </a:xfrm>
          <a:prstGeom prst="rect">
            <a:avLst/>
          </a:prstGeom>
          <a:solidFill>
            <a:srgbClr val="232838"/>
          </a:solidFill>
          <a:ln/>
        </p:spPr>
        <p:txBody>
          <a:bodyPr wrap="square" rtlCol="0" lIns="120000" rIns="120000" anchor="ctr"/>
          <a:lstStyle/>
          <a:p>
            <a:pPr indent="0" marL="0">
              <a:buNone/>
            </a:pPr>
            <a:r>
              <a:rPr lang="en-US" sz="1050" b="1" kern="0">
                <a:solidFill>
                  <a:srgbClr val="FFFFFF"/>
                </a:solidFill>
                <a:latin typeface="Calibri" pitchFamily="34" charset="0"/>
              </a:rPr>
              <a:t>Kent Redwine</a:t>
            </a:r>
            <a:r>
              <a:rPr lang="en-US" sz="1050" kern="0">
                <a:solidFill>
                  <a:srgbClr val="AABBDD"/>
                </a:solidFill>
                <a:latin typeface="Calibri" pitchFamily="34" charset="0"/>
              </a:rPr>
              <a:t xml:space="preserve"> — BofA · Thomas Weisel · capital markets</a:t>
            </a:r>
          </a:p>
        </p:txBody>
      </p:sp>
      <p:sp>
        <p:nvSpPr>
          <p:cNvPr id="109" name="WorkerRow1"/>
          <p:cNvSpPr/>
          <p:nvPr/>
        </p:nvSpPr>
        <p:spPr>
          <a:xfrm>
            <a:off x="4672000" y="2140000"/>
            <a:ext cx="4151960" cy="320000"/>
          </a:xfrm>
          <a:prstGeom prst="rect">
            <a:avLst/>
          </a:prstGeom>
          <a:solidFill>
            <a:srgbClr val="232838"/>
          </a:solidFill>
          <a:ln/>
        </p:spPr>
        <p:txBody>
          <a:bodyPr wrap="square" rtlCol="0" lIns="120000" rIns="120000" anchor="ctr"/>
          <a:lstStyle/>
          <a:p>
            <a:pPr indent="0" marL="0">
              <a:buNone/>
            </a:pPr>
            <a:r>
              <a:rPr lang="en-US" sz="1050" b="1" kern="0">
                <a:solidFill>
                  <a:srgbClr val="FFFFFF"/>
                </a:solidFill>
                <a:latin typeface="Calibri" pitchFamily="34" charset="0"/>
              </a:rPr>
              <a:t>Fundraising &amp; Investor Reporting</a:t>
            </a:r>
          </a:p>
          <a:p>
            <a:pPr indent="0" marL="0">
              <a:buNone/>
            </a:pPr>
            <a:r>
              <a:rPr lang="en-US" sz="900" kern="0">
                <a:solidFill>
                  <a:srgbClr val="AABBDD"/>
                </a:solidFill>
                <a:latin typeface="Calibri" pitchFamily="34" charset="0"/>
              </a:rPr>
              <a:t>Fundraise worker, IR, cap table, data room</a:t>
            </a:r>
          </a:p>
        </p:txBody>
      </p:sp>
      <p:sp>
        <p:nvSpPr>
          <p:cNvPr id="110" name="HumanRow2"/>
          <p:cNvSpPr/>
          <p:nvPr/>
        </p:nvSpPr>
        <p:spPr>
          <a:xfrm>
            <a:off x="320040" y="2470000"/>
            <a:ext cx="4151960" cy="320000"/>
          </a:xfrm>
          <a:prstGeom prst="rect">
            <a:avLst/>
          </a:prstGeom>
          <a:solidFill>
            <a:srgbClr val="1A1F2E"/>
          </a:solidFill>
          <a:ln/>
        </p:spPr>
        <p:txBody>
          <a:bodyPr wrap="square" rtlCol="0" lIns="120000" rIns="120000" anchor="ctr"/>
          <a:lstStyle/>
          <a:p>
            <a:pPr indent="0" marL="0">
              <a:buNone/>
            </a:pPr>
            <a:r>
              <a:rPr lang="en-US" sz="1050" b="1" kern="0">
                <a:solidFill>
                  <a:srgbClr val="FFFFFF"/>
                </a:solidFill>
                <a:latin typeface="Calibri" pitchFamily="34" charset="0"/>
              </a:rPr>
              <a:t>Scott Eschelman</a:t>
            </a:r>
            <a:r>
              <a:rPr lang="en-US" sz="1050" kern="0">
                <a:solidFill>
                  <a:srgbClr val="AABBDD"/>
                </a:solidFill>
                <a:latin typeface="Calibri" pitchFamily="34" charset="0"/>
              </a:rPr>
              <a:t xml:space="preserve"> — BuildSF · CA mixed-use developer</a:t>
            </a:r>
          </a:p>
        </p:txBody>
      </p:sp>
      <p:sp>
        <p:nvSpPr>
          <p:cNvPr id="111" name="WorkerRow2"/>
          <p:cNvSpPr/>
          <p:nvPr/>
        </p:nvSpPr>
        <p:spPr>
          <a:xfrm>
            <a:off x="4672000" y="2470000"/>
            <a:ext cx="4151960" cy="320000"/>
          </a:xfrm>
          <a:prstGeom prst="rect">
            <a:avLst/>
          </a:prstGeom>
          <a:solidFill>
            <a:srgbClr val="1A1F2E"/>
          </a:solidFill>
          <a:ln/>
        </p:spPr>
        <p:txBody>
          <a:bodyPr wrap="square" rtlCol="0" lIns="120000" rIns="120000" anchor="ctr"/>
          <a:lstStyle/>
          <a:p>
            <a:pPr indent="0" marL="0">
              <a:buNone/>
            </a:pPr>
            <a:r>
              <a:rPr lang="en-US" sz="1050" b="1" kern="0">
                <a:solidFill>
                  <a:srgbClr val="FFFFFF"/>
                </a:solidFill>
                <a:latin typeface="Calibri" pitchFamily="34" charset="0"/>
              </a:rPr>
              <a:t>Development &amp; Security</a:t>
            </a:r>
          </a:p>
          <a:p>
            <a:pPr indent="0" marL="0">
              <a:buNone/>
            </a:pPr>
            <a:r>
              <a:rPr lang="en-US" sz="900" kern="0">
                <a:solidFill>
                  <a:srgbClr val="AABBDD"/>
                </a:solidFill>
                <a:latin typeface="Calibri" pitchFamily="34" charset="0"/>
              </a:rPr>
              <a:t>Claude Code dev workers + security scanning, $5K/mo replaces ~25-person dev shop</a:t>
            </a:r>
          </a:p>
        </p:txBody>
      </p:sp>
      <p:sp>
        <p:nvSpPr>
          <p:cNvPr id="112" name="HumanRow3"/>
          <p:cNvSpPr/>
          <p:nvPr/>
        </p:nvSpPr>
        <p:spPr>
          <a:xfrm>
            <a:off x="320040" y="2800000"/>
            <a:ext cx="4151960" cy="320000"/>
          </a:xfrm>
          <a:prstGeom prst="rect">
            <a:avLst/>
          </a:prstGeom>
          <a:solidFill>
            <a:srgbClr val="232838"/>
          </a:solidFill>
          <a:ln/>
        </p:spPr>
        <p:txBody>
          <a:bodyPr wrap="square" rtlCol="0" lIns="120000" rIns="120000" anchor="ctr"/>
          <a:lstStyle/>
          <a:p>
            <a:pPr indent="0" marL="0">
              <a:buNone/>
            </a:pPr>
            <a:r>
              <a:rPr lang="en-US" sz="1050" b="1" kern="0">
                <a:solidFill>
                  <a:srgbClr val="FFFFFF"/>
                </a:solidFill>
                <a:latin typeface="Calibri" pitchFamily="34" charset="0"/>
              </a:rPr>
              <a:t>Ruthie Clearwater, PhD</a:t>
            </a:r>
            <a:r>
              <a:rPr lang="en-US" sz="1050" kern="0">
                <a:solidFill>
                  <a:srgbClr val="AABBDD"/>
                </a:solidFill>
                <a:latin typeface="Calibri" pitchFamily="34" charset="0"/>
              </a:rPr>
              <a:t xml:space="preserve"> — UH Nursing · EMS flight</a:t>
            </a:r>
          </a:p>
        </p:txBody>
      </p:sp>
      <p:sp>
        <p:nvSpPr>
          <p:cNvPr id="113" name="WorkerRow3"/>
          <p:cNvSpPr/>
          <p:nvPr/>
        </p:nvSpPr>
        <p:spPr>
          <a:xfrm>
            <a:off x="4672000" y="2800000"/>
            <a:ext cx="4151960" cy="320000"/>
          </a:xfrm>
          <a:prstGeom prst="rect">
            <a:avLst/>
          </a:prstGeom>
          <a:solidFill>
            <a:srgbClr val="232838"/>
          </a:solidFill>
          <a:ln/>
        </p:spPr>
        <p:txBody>
          <a:bodyPr wrap="square" rtlCol="0" lIns="120000" rIns="120000" anchor="ctr"/>
          <a:lstStyle/>
          <a:p>
            <a:pPr indent="0" marL="0">
              <a:buNone/>
            </a:pPr>
            <a:r>
              <a:rPr lang="en-US" sz="1050" b="1" kern="0">
                <a:solidFill>
                  <a:srgbClr val="FFFFFF"/>
                </a:solidFill>
                <a:latin typeface="Calibri" pitchFamily="34" charset="0"/>
              </a:rPr>
              <a:t>Creator Community</a:t>
            </a:r>
          </a:p>
          <a:p>
            <a:pPr indent="0" marL="0">
              <a:buNone/>
            </a:pPr>
            <a:r>
              <a:rPr lang="en-US" sz="900" kern="0">
                <a:solidFill>
                  <a:srgbClr val="AABBDD"/>
                </a:solidFill>
                <a:latin typeface="Calibri" pitchFamily="34" charset="0"/>
              </a:rPr>
              <a:t>Onboarding, support, payouts, marketplace ops</a:t>
            </a:r>
          </a:p>
        </p:txBody>
      </p:sp>
      <p:sp>
        <p:nvSpPr>
          <p:cNvPr id="114" name="HumanRow4"/>
          <p:cNvSpPr/>
          <p:nvPr/>
        </p:nvSpPr>
        <p:spPr>
          <a:xfrm>
            <a:off x="320040" y="3130000"/>
            <a:ext cx="4151960" cy="320000"/>
          </a:xfrm>
          <a:prstGeom prst="rect">
            <a:avLst/>
          </a:prstGeom>
          <a:solidFill>
            <a:srgbClr val="1A1F2E"/>
          </a:solidFill>
          <a:ln/>
        </p:spPr>
        <p:txBody>
          <a:bodyPr wrap="square" rtlCol="0" lIns="120000" rIns="120000" anchor="ctr"/>
          <a:lstStyle/>
          <a:p>
            <a:pPr indent="0" marL="0">
              <a:buNone/>
            </a:pPr>
            <a:r>
              <a:rPr lang="en-US" sz="1050" b="1" kern="0">
                <a:solidFill>
                  <a:srgbClr val="FFFFFF"/>
                </a:solidFill>
                <a:latin typeface="Calibri" pitchFamily="34" charset="0"/>
              </a:rPr>
              <a:t>Elise van der Bel</a:t>
            </a:r>
            <a:r>
              <a:rPr lang="en-US" sz="1050" kern="0">
                <a:solidFill>
                  <a:srgbClr val="AABBDD"/>
                </a:solidFill>
                <a:latin typeface="Calibri" pitchFamily="34" charset="0"/>
              </a:rPr>
              <a:t xml:space="preserve"> — EU ecommerce · DPP regulation</a:t>
            </a:r>
          </a:p>
        </p:txBody>
      </p:sp>
      <p:sp>
        <p:nvSpPr>
          <p:cNvPr id="115" name="WorkerRow4"/>
          <p:cNvSpPr/>
          <p:nvPr/>
        </p:nvSpPr>
        <p:spPr>
          <a:xfrm>
            <a:off x="4672000" y="3130000"/>
            <a:ext cx="4151960" cy="320000"/>
          </a:xfrm>
          <a:prstGeom prst="rect">
            <a:avLst/>
          </a:prstGeom>
          <a:solidFill>
            <a:srgbClr val="1A1F2E"/>
          </a:solidFill>
          <a:ln/>
        </p:spPr>
        <p:txBody>
          <a:bodyPr wrap="square" rtlCol="0" lIns="120000" rIns="120000" anchor="ctr"/>
          <a:lstStyle/>
          <a:p>
            <a:pPr indent="0" marL="0">
              <a:buNone/>
            </a:pPr>
            <a:r>
              <a:rPr lang="en-US" sz="1050" b="1" kern="0">
                <a:solidFill>
                  <a:srgbClr val="FFFFFF"/>
                </a:solidFill>
                <a:latin typeface="Calibri" pitchFamily="34" charset="0"/>
              </a:rPr>
              <a:t>Sandbox — No-Code Authoring</a:t>
            </a:r>
          </a:p>
          <a:p>
            <a:pPr indent="0" marL="0">
              <a:buNone/>
            </a:pPr>
            <a:r>
              <a:rPr lang="en-US" sz="900" kern="0">
                <a:solidFill>
                  <a:srgbClr val="AABBDD"/>
                </a:solidFill>
                <a:latin typeface="Calibri" pitchFamily="34" charset="0"/>
              </a:rPr>
              <a:t>Domain experts build workers by conversation</a:t>
            </a:r>
          </a:p>
        </p:txBody>
      </p:sp>
      <p:sp>
        <p:nvSpPr>
          <p:cNvPr id="116" name="HumanRow5"/>
          <p:cNvSpPr/>
          <p:nvPr/>
        </p:nvSpPr>
        <p:spPr>
          <a:xfrm>
            <a:off x="320040" y="3460000"/>
            <a:ext cx="4151960" cy="320000"/>
          </a:xfrm>
          <a:prstGeom prst="rect">
            <a:avLst/>
          </a:prstGeom>
          <a:solidFill>
            <a:srgbClr val="232838"/>
          </a:solidFill>
          <a:ln/>
        </p:spPr>
        <p:txBody>
          <a:bodyPr wrap="square" rtlCol="0" lIns="120000" rIns="120000" anchor="ctr"/>
          <a:lstStyle/>
          <a:p>
            <a:pPr indent="0" marL="0">
              <a:buNone/>
            </a:pPr>
            <a:r>
              <a:rPr lang="en-US" sz="1050" b="1" kern="0">
                <a:solidFill>
                  <a:srgbClr val="FFFFFF"/>
                </a:solidFill>
                <a:latin typeface="Calibri" pitchFamily="34" charset="0"/>
              </a:rPr>
              <a:t>Eric Altshuler</a:t>
            </a:r>
            <a:r>
              <a:rPr lang="en-US" sz="1050" kern="0">
                <a:solidFill>
                  <a:srgbClr val="AABBDD"/>
                </a:solidFill>
                <a:latin typeface="Calibri" pitchFamily="34" charset="0"/>
              </a:rPr>
              <a:t xml:space="preserve"> — Naval Aviator · FedEx 777 Pilot</a:t>
            </a:r>
          </a:p>
        </p:txBody>
      </p:sp>
      <p:sp>
        <p:nvSpPr>
          <p:cNvPr id="117" name="WorkerRow5"/>
          <p:cNvSpPr/>
          <p:nvPr/>
        </p:nvSpPr>
        <p:spPr>
          <a:xfrm>
            <a:off x="4672000" y="3460000"/>
            <a:ext cx="4151960" cy="320000"/>
          </a:xfrm>
          <a:prstGeom prst="rect">
            <a:avLst/>
          </a:prstGeom>
          <a:solidFill>
            <a:srgbClr val="232838"/>
          </a:solidFill>
          <a:ln/>
        </p:spPr>
        <p:txBody>
          <a:bodyPr wrap="square" rtlCol="0" lIns="120000" rIns="120000" anchor="ctr"/>
          <a:lstStyle/>
          <a:p>
            <a:pPr indent="0" marL="0">
              <a:buNone/>
            </a:pPr>
            <a:r>
              <a:rPr lang="en-US" sz="1050" b="1" kern="0">
                <a:solidFill>
                  <a:srgbClr val="FFFFFF"/>
                </a:solidFill>
                <a:latin typeface="Calibri" pitchFamily="34" charset="0"/>
              </a:rPr>
              <a:t>Terminal &amp; Open Source</a:t>
            </a:r>
          </a:p>
          <a:p>
            <a:pPr indent="0" marL="0">
              <a:buNone/>
            </a:pPr>
            <a:r>
              <a:rPr lang="en-US" sz="900" kern="0">
                <a:solidFill>
                  <a:srgbClr val="AABBDD"/>
                </a:solidFill>
                <a:latin typeface="Calibri" pitchFamily="34" charset="0"/>
              </a:rPr>
              <a:t>Engineers pair-program with AI, OSS contributions</a:t>
            </a:r>
          </a:p>
        </p:txBody>
      </p:sp>
      <p:sp>
        <p:nvSpPr>
          <p:cNvPr id="118" name="HumanRow6"/>
          <p:cNvSpPr/>
          <p:nvPr/>
        </p:nvSpPr>
        <p:spPr>
          <a:xfrm>
            <a:off x="320040" y="3790000"/>
            <a:ext cx="4151960" cy="320000"/>
          </a:xfrm>
          <a:prstGeom prst="rect">
            <a:avLst/>
          </a:prstGeom>
          <a:solidFill>
            <a:srgbClr val="1A1F2E"/>
          </a:solidFill>
          <a:ln/>
        </p:spPr>
        <p:txBody>
          <a:bodyPr wrap="square" rtlCol="0" lIns="120000" rIns="120000" anchor="ctr"/>
          <a:lstStyle/>
          <a:p>
            <a:pPr indent="0" marL="0">
              <a:buNone/>
            </a:pPr>
            <a:r>
              <a:rPr lang="en-US" sz="1050" b="1" kern="0">
                <a:solidFill>
                  <a:srgbClr val="FFFFFF"/>
                </a:solidFill>
                <a:latin typeface="Calibri" pitchFamily="34" charset="0"/>
              </a:rPr>
              <a:t>Kim Bennett</a:t>
            </a:r>
            <a:r>
              <a:rPr lang="en-US" sz="1050" kern="0">
                <a:solidFill>
                  <a:srgbClr val="AABBDD"/>
                </a:solidFill>
                <a:latin typeface="Calibri" pitchFamily="34" charset="0"/>
              </a:rPr>
              <a:t xml:space="preserve"> — PropertyRadar · RE data pioneer</a:t>
            </a:r>
          </a:p>
        </p:txBody>
      </p:sp>
      <p:sp>
        <p:nvSpPr>
          <p:cNvPr id="119" name="WorkerRow6"/>
          <p:cNvSpPr/>
          <p:nvPr/>
        </p:nvSpPr>
        <p:spPr>
          <a:xfrm>
            <a:off x="4672000" y="3790000"/>
            <a:ext cx="4151960" cy="320000"/>
          </a:xfrm>
          <a:prstGeom prst="rect">
            <a:avLst/>
          </a:prstGeom>
          <a:solidFill>
            <a:srgbClr val="1A1F2E"/>
          </a:solidFill>
          <a:ln/>
        </p:spPr>
        <p:txBody>
          <a:bodyPr wrap="square" rtlCol="0" lIns="120000" rIns="120000" anchor="ctr"/>
          <a:lstStyle/>
          <a:p>
            <a:pPr indent="0" marL="0">
              <a:buNone/>
            </a:pPr>
            <a:r>
              <a:rPr lang="en-US" sz="1050" b="1" kern="0">
                <a:solidFill>
                  <a:srgbClr val="FFFFFF"/>
                </a:solidFill>
                <a:latin typeface="Calibri" pitchFamily="34" charset="0"/>
              </a:rPr>
              <a:t>Patent &amp; IP</a:t>
            </a:r>
          </a:p>
          <a:p>
            <a:pPr indent="0" marL="0">
              <a:buNone/>
            </a:pPr>
            <a:r>
              <a:rPr lang="en-US" sz="900" kern="0">
                <a:solidFill>
                  <a:srgbClr val="AABBDD"/>
                </a:solidFill>
                <a:latin typeface="Calibri" pitchFamily="34" charset="0"/>
              </a:rPr>
              <a:t>Provisional drafting, prior art search, claim management</a:t>
            </a:r>
          </a:p>
        </p:txBody>
      </p:sp>
      <p:sp>
        <p:nvSpPr>
          <p:cNvPr id="120" name="HumanRow7"/>
          <p:cNvSpPr/>
          <p:nvPr/>
        </p:nvSpPr>
        <p:spPr>
          <a:xfrm>
            <a:off x="320040" y="4120000"/>
            <a:ext cx="4151960" cy="320000"/>
          </a:xfrm>
          <a:prstGeom prst="rect">
            <a:avLst/>
          </a:prstGeom>
          <a:solidFill>
            <a:srgbClr val="232838"/>
          </a:solidFill>
          <a:ln/>
        </p:spPr>
        <p:txBody>
          <a:bodyPr wrap="square" rtlCol="0" lIns="120000" rIns="120000" anchor="ctr"/>
          <a:lstStyle/>
          <a:p>
            <a:pPr indent="0" marL="0">
              <a:buNone/>
            </a:pPr>
            <a:r>
              <a:rPr lang="en-US" sz="1050" b="1" kern="0">
                <a:solidFill>
                  <a:srgbClr val="FFFFFF"/>
                </a:solidFill>
                <a:latin typeface="Calibri" pitchFamily="34" charset="0"/>
              </a:rPr>
              <a:t>Robert Rosenberg</a:t>
            </a:r>
            <a:r>
              <a:rPr lang="en-US" sz="1050" kern="0">
                <a:solidFill>
                  <a:srgbClr val="AABBDD"/>
                </a:solidFill>
                <a:latin typeface="Calibri" pitchFamily="34" charset="0"/>
              </a:rPr>
              <a:t xml:space="preserve"> — Oracle · infra · legal · compliance</a:t>
            </a:r>
          </a:p>
        </p:txBody>
      </p:sp>
      <p:sp>
        <p:nvSpPr>
          <p:cNvPr id="121" name="WorkerRow7"/>
          <p:cNvSpPr/>
          <p:nvPr/>
        </p:nvSpPr>
        <p:spPr>
          <a:xfrm>
            <a:off x="4672000" y="4120000"/>
            <a:ext cx="4151960" cy="320000"/>
          </a:xfrm>
          <a:prstGeom prst="rect">
            <a:avLst/>
          </a:prstGeom>
          <a:solidFill>
            <a:srgbClr val="232838"/>
          </a:solidFill>
          <a:ln/>
        </p:spPr>
        <p:txBody>
          <a:bodyPr wrap="square" rtlCol="0" lIns="120000" rIns="120000" anchor="ctr"/>
          <a:lstStyle/>
          <a:p>
            <a:pPr indent="0" marL="0">
              <a:buNone/>
            </a:pPr>
            <a:r>
              <a:rPr lang="en-US" sz="1050" b="1" kern="0">
                <a:solidFill>
                  <a:srgbClr val="16A34A"/>
                </a:solidFill>
                <a:latin typeface="Calibri" pitchFamily="34" charset="0"/>
              </a:rPr>
              <a:t>+ New workers on demand</a:t>
            </a:r>
          </a:p>
          <a:p>
            <a:pPr indent="0" marL="0">
              <a:buNone/>
            </a:pPr>
            <a:r>
              <a:rPr lang="en-US" sz="900" kern="0">
                <a:solidFill>
                  <a:srgbClr val="AABBDD"/>
                </a:solidFill>
                <a:latin typeface="Calibri" pitchFamily="34" charset="0"/>
              </a:rPr>
              <a:t>Author whatever the day requires</a:t>
            </a:r>
          </a:p>
        </p:txBody>
      </p:sp>
      <p:sp>
        <p:nvSpPr>
          <p:cNvPr id="122" name="DogfoodFooter"/>
          <p:cNvSpPr/>
          <p:nvPr/>
        </p:nvSpPr>
        <p:spPr>
          <a:xfrm>
            <a:off x="320040" y="4490000"/>
            <a:ext cx="8503920" cy="400000"/>
          </a:xfrm>
          <a:prstGeom prst="rect">
            <a:avLst/>
          </a:prstGeom>
          <a:solidFill>
            <a:srgbClr val="0F172A"/>
          </a:solidFill>
          <a:ln>
            <a:solidFill>
              <a:srgbClr val="7C3AED"/>
            </a:solidFill>
          </a:ln>
        </p:spPr>
        <p:txBody>
          <a:bodyPr wrap="square" rtlCol="0" anchor="ctr"/>
          <a:lstStyle/>
          <a:p>
            <a:pPr algn="ctr" indent="0" marL="0">
              <a:buNone/>
            </a:pPr>
            <a:r>
              <a:rPr lang="en-US" sz="1200" b="1" kern="0">
                <a:solidFill>
                  <a:srgbClr val="FFFFFF"/>
                </a:solidFill>
                <a:latin typeface="Calibri" pitchFamily="34" charset="0"/>
              </a:rPr>
              <a:t>This is not a SaaS platform with ChatGPT bolted on. SOCIII is built on SOCIII. The platform builds the platform. We scale without friction.</a:t>
            </a:r>
          </a:p>
        </p:txBody>
      </p:sp>
      <p:pic>
        <p:nvPicPr>
          <p:cNvPr id="950" name="CornerLogo"/>
          <p:cNvPicPr>
            <a:picLocks noChangeAspect="1"/>
          </p:cNvPicPr>
          <p:nvPr/>
        </p:nvPicPr>
        <p:blipFill>
          <a:blip r:embed="rId2"/>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sociii.ai  ·  CONFIDENTIAL  ·  SOCIII Inc. (Delaware C-Corp)  ·  May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D7A5F"/>
          </a:solidFill>
          <a:ln/>
        </p:spPr>
      </p:sp>
      <p:sp>
        <p:nvSpPr>
          <p:cNvPr id="3" name="Text 1"/>
          <p:cNvSpPr/>
          <p:nvPr/>
        </p:nvSpPr>
        <p:spPr>
          <a:xfrm>
            <a:off x="320040" y="292608"/>
            <a:ext cx="3657600" cy="256032"/>
          </a:xfrm>
          <a:prstGeom prst="rect">
            <a:avLst/>
          </a:prstGeom>
          <a:noFill/>
          <a:ln/>
        </p:spPr>
        <p:txBody>
          <a:bodyPr wrap="square" rtlCol="0" anchor="ctr"/>
          <a:lstStyle/>
          <a:p>
            <a:pPr indent="0" marL="0">
              <a:buNone/>
            </a:pPr>
            <a:r>
              <a:rPr lang="en-US" sz="1100" b="1" spc="300" kern="0" dirty="0">
                <a:solidFill>
                  <a:srgbClr val="10B981"/>
                </a:solidFill>
                <a:latin typeface="Calibri" pitchFamily="34" charset="0"/>
                <a:ea typeface="Calibri" pitchFamily="34" charset="-122"/>
                <a:cs typeface="Calibri" pitchFamily="34" charset="-120"/>
              </a:rPr>
              <a:t>APPENDIX  ·  TECH STACK</a:t>
            </a:r>
            <a:endParaRPr lang="en-US" sz="1100" dirty="0"/>
          </a:p>
        </p:txBody>
      </p:sp>
      <p:sp>
        <p:nvSpPr>
          <p:cNvPr id="4" name="Text 2"/>
          <p:cNvSpPr/>
          <p:nvPr/>
        </p:nvSpPr>
        <p:spPr>
          <a:xfrm>
            <a:off x="320040" y="530352"/>
            <a:ext cx="6858000" cy="621792"/>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Built on AI, Not Headcount.</a:t>
            </a:r>
            <a:endParaRPr lang="en-US" sz="3200" dirty="0"/>
          </a:p>
        </p:txBody>
      </p:sp>
      <p:sp>
        <p:nvSpPr>
          <p:cNvPr id="5" name="Text 3"/>
          <p:cNvSpPr/>
          <p:nvPr/>
        </p:nvSpPr>
        <p:spPr>
          <a:xfrm>
            <a:off x="320040" y="1133856"/>
            <a:ext cx="8412480" cy="411480"/>
          </a:xfrm>
          <a:prstGeom prst="rect">
            <a:avLst/>
          </a:prstGeom>
          <a:noFill/>
          <a:ln/>
        </p:spPr>
        <p:txBody>
          <a:bodyPr wrap="square" rtlCol="0" anchor="ctr"/>
          <a:lstStyle/>
          <a:p>
            <a:pPr indent="0" marL="0">
              <a:buNone/>
            </a:pPr>
            <a:r>
              <a:rPr lang="en-US" sz="1300" i="1" dirty="0">
                <a:solidFill>
                  <a:srgbClr val="10B981"/>
                </a:solidFill>
                <a:latin typeface="Calibri" pitchFamily="34" charset="0"/>
                <a:ea typeface="Calibri" pitchFamily="34" charset="-122"/>
                <a:cs typeface="Calibri" pitchFamily="34" charset="-120"/>
              </a:rPr>
              <a:t>1,000+ workers (state-augmented) shipped on $35K of operating burn in 5 months. Lead developer: Anthropic Claude.</a:t>
            </a:r>
            <a:endParaRPr lang="en-US" sz="1300" dirty="0"/>
          </a:p>
        </p:txBody>
      </p:sp>
      <p:sp>
        <p:nvSpPr>
          <p:cNvPr id="6" name="Shape 4"/>
          <p:cNvSpPr/>
          <p:nvPr/>
        </p:nvSpPr>
        <p:spPr>
          <a:xfrm>
            <a:off x="320040" y="1755648"/>
            <a:ext cx="2029968" cy="3090672"/>
          </a:xfrm>
          <a:prstGeom prst="rect">
            <a:avLst/>
          </a:prstGeom>
          <a:solidFill>
            <a:srgbClr val="3D0000"/>
          </a:solidFill>
          <a:ln w="12700">
            <a:solidFill>
              <a:srgbClr val="FF6B6B">
                <a:alpha val="40000"/>
              </a:srgbClr>
            </a:solidFill>
            <a:prstDash val="solid"/>
          </a:ln>
        </p:spPr>
      </p:sp>
      <p:sp>
        <p:nvSpPr>
          <p:cNvPr id="7" name="Text 5"/>
          <p:cNvSpPr/>
          <p:nvPr/>
        </p:nvSpPr>
        <p:spPr>
          <a:xfrm>
            <a:off x="320040" y="1847088"/>
            <a:ext cx="2029968" cy="320040"/>
          </a:xfrm>
          <a:prstGeom prst="rect">
            <a:avLst/>
          </a:prstGeom>
          <a:noFill/>
          <a:ln/>
        </p:spPr>
        <p:txBody>
          <a:bodyPr wrap="square" rtlCol="0" anchor="ctr"/>
          <a:lstStyle/>
          <a:p>
            <a:pPr algn="ctr" indent="0" marL="0">
              <a:buNone/>
            </a:pPr>
            <a:r>
              <a:rPr lang="en-US" sz="1100" b="1" spc="200" kern="0" dirty="0">
                <a:solidFill>
                  <a:srgbClr val="FF6B6B"/>
                </a:solidFill>
                <a:latin typeface="Calibri" pitchFamily="34" charset="0"/>
                <a:ea typeface="Calibri" pitchFamily="34" charset="-122"/>
                <a:cs typeface="Calibri" pitchFamily="34" charset="-120"/>
              </a:rPr>
              <a:t>LAYER 1</a:t>
            </a:r>
            <a:endParaRPr lang="en-US" sz="1100" dirty="0"/>
          </a:p>
        </p:txBody>
      </p:sp>
      <p:sp>
        <p:nvSpPr>
          <p:cNvPr id="8" name="Text 6"/>
          <p:cNvSpPr/>
          <p:nvPr/>
        </p:nvSpPr>
        <p:spPr>
          <a:xfrm>
            <a:off x="429768" y="2212848"/>
            <a:ext cx="182880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AI Executors</a:t>
            </a:r>
            <a:endParaRPr lang="en-US" sz="1400" dirty="0"/>
          </a:p>
        </p:txBody>
      </p:sp>
      <p:sp>
        <p:nvSpPr>
          <p:cNvPr id="9" name="Text 7"/>
          <p:cNvSpPr/>
          <p:nvPr/>
        </p:nvSpPr>
        <p:spPr>
          <a:xfrm>
            <a:off x="429768" y="2697480"/>
            <a:ext cx="1828800" cy="1965960"/>
          </a:xfrm>
          <a:prstGeom prst="rect">
            <a:avLst/>
          </a:prstGeom>
          <a:noFill/>
          <a:ln/>
        </p:spPr>
        <p:txBody>
          <a:bodyPr wrap="square" rtlCol="0" anchor="ctr"/>
          <a:lstStyle/>
          <a:p>
            <a:pPr indent="0" marL="0">
              <a:lnSpc>
                <a:spcPct val="135000"/>
              </a:lnSpc>
              <a:buNone/>
            </a:pPr>
            <a:r>
              <a:rPr lang="en-US" sz="1100" dirty="0">
                <a:solidFill>
                  <a:srgbClr val="CCCCCC"/>
                </a:solidFill>
                <a:latin typeface="Calibri" pitchFamily="34" charset="0"/>
                <a:ea typeface="Calibri" pitchFamily="34" charset="-122"/>
                <a:cs typeface="Calibri" pitchFamily="34" charset="-120"/>
              </a:rPr>
              <a:t>Anthropic Claude (lead developer + chat executor). OpenAI GPT (alternate + embeddings). Rules engine validates output. No vendor lock-in.</a:t>
            </a:r>
            <a:endParaRPr lang="en-US" sz="1100" dirty="0"/>
          </a:p>
        </p:txBody>
      </p:sp>
      <p:sp>
        <p:nvSpPr>
          <p:cNvPr id="10" name="Shape 8"/>
          <p:cNvSpPr/>
          <p:nvPr/>
        </p:nvSpPr>
        <p:spPr>
          <a:xfrm>
            <a:off x="2532888" y="1755648"/>
            <a:ext cx="2029968" cy="3090672"/>
          </a:xfrm>
          <a:prstGeom prst="rect">
            <a:avLst/>
          </a:prstGeom>
          <a:solidFill>
            <a:srgbClr val="1A0A2E"/>
          </a:solidFill>
          <a:ln w="12700">
            <a:solidFill>
              <a:srgbClr val="7B3FE4">
                <a:alpha val="40000"/>
              </a:srgbClr>
            </a:solidFill>
            <a:prstDash val="solid"/>
          </a:ln>
        </p:spPr>
      </p:sp>
      <p:sp>
        <p:nvSpPr>
          <p:cNvPr id="11" name="Text 9"/>
          <p:cNvSpPr/>
          <p:nvPr/>
        </p:nvSpPr>
        <p:spPr>
          <a:xfrm>
            <a:off x="2532888" y="1847088"/>
            <a:ext cx="2029968" cy="320040"/>
          </a:xfrm>
          <a:prstGeom prst="rect">
            <a:avLst/>
          </a:prstGeom>
          <a:noFill/>
          <a:ln/>
        </p:spPr>
        <p:txBody>
          <a:bodyPr wrap="square" rtlCol="0" anchor="ctr"/>
          <a:lstStyle/>
          <a:p>
            <a:pPr algn="ctr" indent="0" marL="0">
              <a:buNone/>
            </a:pPr>
            <a:r>
              <a:rPr lang="en-US" sz="1100" b="1" spc="200" kern="0" dirty="0">
                <a:solidFill>
                  <a:srgbClr val="7B3FE4"/>
                </a:solidFill>
                <a:latin typeface="Calibri" pitchFamily="34" charset="0"/>
                <a:ea typeface="Calibri" pitchFamily="34" charset="-122"/>
                <a:cs typeface="Calibri" pitchFamily="34" charset="-120"/>
              </a:rPr>
              <a:t>LAYER 2</a:t>
            </a:r>
            <a:endParaRPr lang="en-US" sz="1100" dirty="0"/>
          </a:p>
        </p:txBody>
      </p:sp>
      <p:sp>
        <p:nvSpPr>
          <p:cNvPr id="12" name="Text 10"/>
          <p:cNvSpPr/>
          <p:nvPr/>
        </p:nvSpPr>
        <p:spPr>
          <a:xfrm>
            <a:off x="2642616" y="2212848"/>
            <a:ext cx="182880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Productivity &amp; Identity</a:t>
            </a:r>
            <a:endParaRPr lang="en-US" sz="1400" dirty="0"/>
          </a:p>
        </p:txBody>
      </p:sp>
      <p:sp>
        <p:nvSpPr>
          <p:cNvPr id="13" name="Text 11"/>
          <p:cNvSpPr/>
          <p:nvPr/>
        </p:nvSpPr>
        <p:spPr>
          <a:xfrm>
            <a:off x="2642616" y="2697480"/>
            <a:ext cx="1828800" cy="1965960"/>
          </a:xfrm>
          <a:prstGeom prst="rect">
            <a:avLst/>
          </a:prstGeom>
          <a:noFill/>
          <a:ln/>
        </p:spPr>
        <p:txBody>
          <a:bodyPr wrap="square" rtlCol="0" anchor="ctr"/>
          <a:lstStyle/>
          <a:p>
            <a:pPr indent="0" marL="0">
              <a:lnSpc>
                <a:spcPct val="135000"/>
              </a:lnSpc>
              <a:buNone/>
            </a:pPr>
            <a:r>
              <a:rPr lang="en-US" sz="1100" dirty="0">
                <a:solidFill>
                  <a:srgbClr val="CCCCCC"/>
                </a:solidFill>
                <a:latin typeface="Calibri" pitchFamily="34" charset="0"/>
                <a:ea typeface="Calibri" pitchFamily="34" charset="-122"/>
                <a:cs typeface="Calibri" pitchFamily="34" charset="-120"/>
              </a:rPr>
              <a:t>Google Workspace (Drive, Calendar, Gmail, OAuth). Stripe Identity for KYC. Dropbox Sign for e-signature.</a:t>
            </a:r>
            <a:endParaRPr lang="en-US" sz="1100" dirty="0"/>
          </a:p>
        </p:txBody>
      </p:sp>
      <p:sp>
        <p:nvSpPr>
          <p:cNvPr id="14" name="Shape 12"/>
          <p:cNvSpPr/>
          <p:nvPr/>
        </p:nvSpPr>
        <p:spPr>
          <a:xfrm>
            <a:off x="4745736" y="1755648"/>
            <a:ext cx="2029968" cy="3090672"/>
          </a:xfrm>
          <a:prstGeom prst="rect">
            <a:avLst/>
          </a:prstGeom>
          <a:solidFill>
            <a:srgbClr val="1E3A6E"/>
          </a:solidFill>
          <a:ln w="12700">
            <a:solidFill>
              <a:srgbClr val="2D6BE4">
                <a:alpha val="40000"/>
              </a:srgbClr>
            </a:solidFill>
            <a:prstDash val="solid"/>
          </a:ln>
        </p:spPr>
      </p:sp>
      <p:sp>
        <p:nvSpPr>
          <p:cNvPr id="15" name="Text 13"/>
          <p:cNvSpPr/>
          <p:nvPr/>
        </p:nvSpPr>
        <p:spPr>
          <a:xfrm>
            <a:off x="4745736" y="1847088"/>
            <a:ext cx="2029968" cy="320040"/>
          </a:xfrm>
          <a:prstGeom prst="rect">
            <a:avLst/>
          </a:prstGeom>
          <a:noFill/>
          <a:ln/>
        </p:spPr>
        <p:txBody>
          <a:bodyPr wrap="square" rtlCol="0" anchor="ctr"/>
          <a:lstStyle/>
          <a:p>
            <a:pPr algn="ctr" indent="0" marL="0">
              <a:buNone/>
            </a:pPr>
            <a:r>
              <a:rPr lang="en-US" sz="1100" b="1" spc="200" kern="0" dirty="0">
                <a:solidFill>
                  <a:srgbClr val="2D6BE4"/>
                </a:solidFill>
                <a:latin typeface="Calibri" pitchFamily="34" charset="0"/>
                <a:ea typeface="Calibri" pitchFamily="34" charset="-122"/>
                <a:cs typeface="Calibri" pitchFamily="34" charset="-120"/>
              </a:rPr>
              <a:t>LAYER 3</a:t>
            </a:r>
            <a:endParaRPr lang="en-US" sz="1100" dirty="0"/>
          </a:p>
        </p:txBody>
      </p:sp>
      <p:sp>
        <p:nvSpPr>
          <p:cNvPr id="16" name="Text 14"/>
          <p:cNvSpPr/>
          <p:nvPr/>
        </p:nvSpPr>
        <p:spPr>
          <a:xfrm>
            <a:off x="4855464" y="2212848"/>
            <a:ext cx="182880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Platform Backbone</a:t>
            </a:r>
            <a:endParaRPr lang="en-US" sz="1400" dirty="0"/>
          </a:p>
        </p:txBody>
      </p:sp>
      <p:sp>
        <p:nvSpPr>
          <p:cNvPr id="17" name="Text 15"/>
          <p:cNvSpPr/>
          <p:nvPr/>
        </p:nvSpPr>
        <p:spPr>
          <a:xfrm>
            <a:off x="4855464" y="2697480"/>
            <a:ext cx="1828800" cy="1965960"/>
          </a:xfrm>
          <a:prstGeom prst="rect">
            <a:avLst/>
          </a:prstGeom>
          <a:noFill/>
          <a:ln/>
        </p:spPr>
        <p:txBody>
          <a:bodyPr wrap="square" rtlCol="0" anchor="ctr"/>
          <a:lstStyle/>
          <a:p>
            <a:pPr indent="0" marL="0">
              <a:lnSpc>
                <a:spcPct val="135000"/>
              </a:lnSpc>
              <a:buNone/>
            </a:pPr>
            <a:r>
              <a:rPr lang="en-US" sz="1100" dirty="0">
                <a:solidFill>
                  <a:srgbClr val="CCCCCC"/>
                </a:solidFill>
                <a:latin typeface="Calibri" pitchFamily="34" charset="0"/>
                <a:ea typeface="Calibri" pitchFamily="34" charset="-122"/>
                <a:cs typeface="Calibri" pitchFamily="34" charset="-120"/>
              </a:rPr>
              <a:t>Firebase (Auth, Firestore, Functions, Storage). Cloudflare Workers for edge. Sentry for observability.</a:t>
            </a:r>
            <a:endParaRPr lang="en-US" sz="1100" dirty="0"/>
          </a:p>
        </p:txBody>
      </p:sp>
      <p:sp>
        <p:nvSpPr>
          <p:cNvPr id="18" name="Shape 16"/>
          <p:cNvSpPr/>
          <p:nvPr/>
        </p:nvSpPr>
        <p:spPr>
          <a:xfrm>
            <a:off x="6958584" y="1755648"/>
            <a:ext cx="2029968" cy="3090672"/>
          </a:xfrm>
          <a:prstGeom prst="rect">
            <a:avLst/>
          </a:prstGeom>
          <a:solidFill>
            <a:srgbClr val="0A2E1A"/>
          </a:solidFill>
          <a:ln w="12700">
            <a:solidFill>
              <a:srgbClr val="10B981">
                <a:alpha val="40000"/>
              </a:srgbClr>
            </a:solidFill>
            <a:prstDash val="solid"/>
          </a:ln>
        </p:spPr>
      </p:sp>
      <p:sp>
        <p:nvSpPr>
          <p:cNvPr id="19" name="Text 17"/>
          <p:cNvSpPr/>
          <p:nvPr/>
        </p:nvSpPr>
        <p:spPr>
          <a:xfrm>
            <a:off x="6958584" y="1847088"/>
            <a:ext cx="2029968" cy="320040"/>
          </a:xfrm>
          <a:prstGeom prst="rect">
            <a:avLst/>
          </a:prstGeom>
          <a:noFill/>
          <a:ln/>
        </p:spPr>
        <p:txBody>
          <a:bodyPr wrap="square" rtlCol="0" anchor="ctr"/>
          <a:lstStyle/>
          <a:p>
            <a:pPr algn="ctr" indent="0" marL="0">
              <a:buNone/>
            </a:pPr>
            <a:r>
              <a:rPr lang="en-US" sz="1100" b="1" spc="200" kern="0" dirty="0">
                <a:solidFill>
                  <a:srgbClr val="10B981"/>
                </a:solidFill>
                <a:latin typeface="Calibri" pitchFamily="34" charset="0"/>
                <a:ea typeface="Calibri" pitchFamily="34" charset="-122"/>
                <a:cs typeface="Calibri" pitchFamily="34" charset="-120"/>
              </a:rPr>
              <a:t>LAYER 4</a:t>
            </a:r>
            <a:endParaRPr lang="en-US" sz="1100" dirty="0"/>
          </a:p>
        </p:txBody>
      </p:sp>
      <p:sp>
        <p:nvSpPr>
          <p:cNvPr id="20" name="Text 18"/>
          <p:cNvSpPr/>
          <p:nvPr/>
        </p:nvSpPr>
        <p:spPr>
          <a:xfrm>
            <a:off x="7068312" y="2212848"/>
            <a:ext cx="182880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Commerce, Data &amp; Distribution</a:t>
            </a:r>
            <a:endParaRPr lang="en-US" sz="1400" dirty="0"/>
          </a:p>
        </p:txBody>
      </p:sp>
      <p:sp>
        <p:nvSpPr>
          <p:cNvPr id="21" name="Text 19"/>
          <p:cNvSpPr/>
          <p:nvPr/>
        </p:nvSpPr>
        <p:spPr>
          <a:xfrm>
            <a:off x="7068312" y="2697480"/>
            <a:ext cx="1828800" cy="1965960"/>
          </a:xfrm>
          <a:prstGeom prst="rect">
            <a:avLst/>
          </a:prstGeom>
          <a:noFill/>
          <a:ln/>
        </p:spPr>
        <p:txBody>
          <a:bodyPr wrap="square" rtlCol="0" anchor="ctr"/>
          <a:lstStyle/>
          <a:p>
            <a:pPr indent="0" marL="0">
              <a:lnSpc>
                <a:spcPct val="135000"/>
              </a:lnSpc>
              <a:buNone/>
            </a:pPr>
            <a:r>
              <a:rPr lang="en-US" sz="1100" dirty="0">
                <a:solidFill>
                  <a:srgbClr val="CCCCCC"/>
                </a:solidFill>
                <a:latin typeface="Calibri" pitchFamily="34" charset="0"/>
                <a:ea typeface="Calibri" pitchFamily="34" charset="-122"/>
                <a:cs typeface="Calibri" pitchFamily="34" charset="-120"/>
              </a:rPr>
              <a:t>Stripe for billing + Connect payouts. Crossmint for blockchain anchor. Apollo, SendGrid, Twilio for distribution. GA4 for analytics.</a:t>
            </a:r>
            <a:endParaRPr lang="en-US" sz="1100" dirty="0"/>
          </a:p>
        </p:txBody>
      </p:sp>
      <p:pic>
        <p:nvPicPr>
          <p:cNvPr id="950" name="CornerLogo"/>
          <p:cNvPicPr>
            <a:picLocks noChangeAspect="1"/>
          </p:cNvPicPr>
          <p:nvPr/>
        </p:nvPicPr>
        <p:blipFill>
          <a:blip r:embed="rId2"/>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sociii.ai  ·  CONFIDENTIAL  ·  SOCIII Inc. (Delaware C-Corp)  ·  May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ImportantNotices">
    <p:bg>
      <p:bgPr>
        <a:solidFill>
          <a:srgbClr val="0A0A0F"/>
        </a:solidFill>
      </p:bgPr>
    </p:bg>
    <p:spTree>
      <p:nvGrpSpPr>
        <p:cNvPr id="1" name=""/>
        <p:cNvGrpSpPr/>
        <p:nvPr/>
      </p:nvGrpSpPr>
      <p:grpSpPr>
        <a:xfrm>
          <a:off x="0" y="0"/>
          <a:ext cx="0" cy="0"/>
          <a:chOff x="0" y="0"/>
          <a:chExt cx="0" cy="0"/>
        </a:xfrm>
      </p:grpSpPr>
      <p:sp>
        <p:nvSpPr>
          <p:cNvPr id="100" name="SectionTag"/>
          <p:cNvSpPr/>
          <p:nvPr/>
        </p:nvSpPr>
        <p:spPr>
          <a:xfrm>
            <a:off x="320040" y="220000"/>
            <a:ext cx="8503920" cy="240000"/>
          </a:xfrm>
          <a:prstGeom prst="rect">
            <a:avLst/>
          </a:prstGeom>
          <a:noFill/>
        </p:spPr>
        <p:txBody>
          <a:bodyPr wrap="square" rtlCol="0" anchor="t"/>
          <a:lstStyle/>
          <a:p>
            <a:pPr indent="0" marL="0">
              <a:buNone/>
            </a:pPr>
            <a:r>
              <a:rPr lang="en-US" sz="1100" b="1" spc="200" kern="0">
                <a:solidFill>
                  <a:srgbClr val="DC2626"/>
                </a:solidFill>
                <a:latin typeface="Calibri" pitchFamily="34" charset="0"/>
              </a:rPr>
              <a:t>IMPORTANT NOTICES — READ CAREFULLY</a:t>
            </a:r>
          </a:p>
        </p:txBody>
      </p:sp>
      <p:sp>
        <p:nvSpPr>
          <p:cNvPr id="101" name="Title"/>
          <p:cNvSpPr/>
          <p:nvPr/>
        </p:nvSpPr>
        <p:spPr>
          <a:xfrm>
            <a:off x="320040" y="450000"/>
            <a:ext cx="8503920" cy="500000"/>
          </a:xfrm>
          <a:prstGeom prst="rect">
            <a:avLst/>
          </a:prstGeom>
          <a:noFill/>
        </p:spPr>
        <p:txBody>
          <a:bodyPr wrap="square" rtlCol="0" anchor="t"/>
          <a:lstStyle/>
          <a:p>
            <a:pPr indent="0" marL="0">
              <a:buNone/>
            </a:pPr>
            <a:r>
              <a:rPr lang="en-US" sz="3400" b="1" kern="0">
                <a:solidFill>
                  <a:srgbClr val="FFFFFF"/>
                </a:solidFill>
                <a:latin typeface="Calibri" pitchFamily="34" charset="0"/>
              </a:rPr>
              <a:t>This is not an offer.</a:t>
            </a:r>
          </a:p>
        </p:txBody>
      </p:sp>
      <p:sp>
        <p:nvSpPr>
          <p:cNvPr id="102" name="Subhead"/>
          <p:cNvSpPr/>
          <p:nvPr/>
        </p:nvSpPr>
        <p:spPr>
          <a:xfrm>
            <a:off x="320040" y="950000"/>
            <a:ext cx="8503920" cy="300000"/>
          </a:xfrm>
          <a:prstGeom prst="rect">
            <a:avLst/>
          </a:prstGeom>
          <a:noFill/>
        </p:spPr>
        <p:txBody>
          <a:bodyPr wrap="square" rtlCol="0" anchor="t"/>
          <a:lstStyle/>
          <a:p>
            <a:pPr indent="0" marL="0">
              <a:buNone/>
            </a:pPr>
            <a:r>
              <a:rPr lang="en-US" sz="1300" i="1" kern="0">
                <a:solidFill>
                  <a:srgbClr val="16A34A"/>
                </a:solidFill>
                <a:latin typeface="Calibri" pitchFamily="34" charset="0"/>
              </a:rPr>
              <a:t>This deck is a draft for investor conversations. Formal subscription agreement and security documentation come with full risk factors and disclosures.</a:t>
            </a:r>
          </a:p>
        </p:txBody>
      </p:sp>
      <p:sp>
        <p:nvSpPr>
          <p:cNvPr id="103" name="Body"/>
          <p:cNvSpPr/>
          <p:nvPr/>
        </p:nvSpPr>
        <p:spPr>
          <a:xfrm>
            <a:off x="320040" y="1370000"/>
            <a:ext cx="8503920" cy="3580000"/>
          </a:xfrm>
          <a:prstGeom prst="rect">
            <a:avLst/>
          </a:prstGeom>
          <a:solidFill>
            <a:srgbClr val="0F172A"/>
          </a:solidFill>
          <a:ln>
            <a:solidFill>
              <a:srgbClr val="DC2626"/>
            </a:solidFill>
          </a:ln>
        </p:spPr>
        <p:txBody>
          <a:bodyPr wrap="square" rtlCol="0" lIns="320000" tIns="280000" rIns="320000" bIns="280000" anchor="t"/>
          <a:lstStyle/>
          <a:p>
            <a:pPr indent="0" marL="0" marR="0">
              <a:buNone/>
              <a:spcAft>
                <a:spcPts val="800"/>
              </a:spcAft>
            </a:pPr>
            <a:r>
              <a:rPr lang="en-US" sz="1100" b="1" kern="0">
                <a:solidFill>
                  <a:srgbClr val="FFFFFF"/>
                </a:solidFill>
                <a:latin typeface="Calibri" pitchFamily="34" charset="0"/>
              </a:rPr>
              <a:t xml:space="preserve">Not an offer to sell securities. </a:t>
            </a:r>
            <a:r>
              <a:rPr lang="en-US" sz="1100" kern="0">
                <a:solidFill>
                  <a:srgbClr val="CCD2DE"/>
                </a:solidFill>
                <a:latin typeface="Calibri" pitchFamily="34" charset="0"/>
              </a:rPr>
              <a:t>This presentation describes SOCIII Inc., a Delaware C-corporation, and is provided for discussion with prospective investors. Nothing in this document constitutes an offer or solicitation to buy or sell any securities. Any formal offering of SOCIII securities will be made separately under Reg D 506(b) with full risk factor disclosures and subscription documents to accredited investors only.</a:t>
            </a:r>
          </a:p>
          <a:p>
            <a:pPr indent="0" marL="0" marR="0">
              <a:buNone/>
              <a:spcAft>
                <a:spcPts val="800"/>
              </a:spcAft>
            </a:pPr>
            <a:r>
              <a:rPr lang="en-US" sz="1100" b="1" kern="0">
                <a:solidFill>
                  <a:srgbClr val="FFFFFF"/>
                </a:solidFill>
                <a:latin typeface="Calibri" pitchFamily="34" charset="0"/>
              </a:rPr>
              <a:t xml:space="preserve">No projections. No promises. No forward-looking statements. </a:t>
            </a:r>
            <a:r>
              <a:rPr lang="en-US" sz="1100" kern="0">
                <a:solidFill>
                  <a:srgbClr val="CCD2DE"/>
                </a:solidFill>
                <a:latin typeface="Calibri" pitchFamily="34" charset="0"/>
              </a:rPr>
              <a:t>Any dollar figures, multipliers, subscriber counts, MRR projections, or scenario models in this deck (including all conservative/base/best-case scenarios on slide 11) are illustrative models of how the business could perform under stated assumptions. They are not predictions, promises, or forward-looking statements. Actual results will differ. SOCIII Inc. may succeed or fail. Investment in any SOCIII security may end up worthless.</a:t>
            </a:r>
          </a:p>
          <a:p>
            <a:pPr indent="0" marL="0" marR="0">
              <a:buNone/>
              <a:spcAft>
                <a:spcPts val="800"/>
              </a:spcAft>
            </a:pPr>
            <a:r>
              <a:rPr lang="en-US" sz="1100" b="1" kern="0">
                <a:solidFill>
                  <a:srgbClr val="FFFFFF"/>
                </a:solidFill>
                <a:latin typeface="Calibri" pitchFamily="34" charset="0"/>
              </a:rPr>
              <a:t xml:space="preserve">Investment risk and accreditation. </a:t>
            </a:r>
            <a:r>
              <a:rPr lang="en-US" sz="1100" kern="0">
                <a:solidFill>
                  <a:srgbClr val="CCD2DE"/>
                </a:solidFill>
                <a:latin typeface="Calibri" pitchFamily="34" charset="0"/>
              </a:rPr>
              <a:t>Investment in early-stage private companies is high-risk and illiquid. Securities may have no trading market and may be diluted in future rounds. SOCIII Inc. has not generated significant revenue and may never achieve profitability. Investors must be accredited and will be required to make representations to that effect. Before investing, review the full risk factors and disclosures provided with the formal offering documents and consult your own legal and financial advisors.</a:t>
            </a:r>
          </a:p>
          <a:p>
            <a:pPr indent="0" marL="0" marR="0">
              <a:buNone/>
              <a:spcAft>
                <a:spcPts val="800"/>
              </a:spcAft>
            </a:pPr>
            <a:r>
              <a:rPr lang="en-US" sz="1100" b="1" kern="0">
                <a:solidFill>
                  <a:srgbClr val="FFFFFF"/>
                </a:solidFill>
                <a:latin typeface="Calibri" pitchFamily="34" charset="0"/>
              </a:rPr>
              <a:t xml:space="preserve">Confidential. Do not distribute. </a:t>
            </a:r>
            <a:r>
              <a:rPr lang="en-US" sz="1100" kern="0">
                <a:solidFill>
                  <a:srgbClr val="CCD2DE"/>
                </a:solidFill>
                <a:latin typeface="Calibri" pitchFamily="34" charset="0"/>
              </a:rPr>
              <a:t>This deck is sent in confidence to a specific named investor with whom SOCIII Inc. has a pre-existing relationship. It is not for public distribution, social media, or forwarding outside that conversation.</a:t>
            </a:r>
          </a:p>
        </p:txBody>
      </p:sp>
      <p:pic>
        <p:nvPicPr>
          <p:cNvPr id="950" name="CornerLogo"/>
          <p:cNvPicPr>
            <a:picLocks noChangeAspect="1"/>
          </p:cNvPicPr>
          <p:nvPr/>
        </p:nvPicPr>
        <p:blipFill>
          <a:blip r:embed="rId2"/>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8892A4"/>
                </a:solidFill>
                <a:latin typeface="Calibri" pitchFamily="34" charset="0"/>
              </a:rPr>
              <a:t>SOCIII, Inc.  ·  CONFIDENTIAL  ·  DRAFT — NOT AN OFFER  ·  Contact: alex@sociii.ai  ·  www.sociii.ai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4A1D8C"/>
          </a:solidFill>
          <a:ln/>
        </p:spPr>
      </p:sp>
      <p:sp>
        <p:nvSpPr>
          <p:cNvPr id="3" name="Text 1"/>
          <p:cNvSpPr/>
          <p:nvPr/>
        </p:nvSpPr>
        <p:spPr>
          <a:xfrm>
            <a:off x="320040" y="292608"/>
            <a:ext cx="3657600" cy="256032"/>
          </a:xfrm>
          <a:prstGeom prst="rect">
            <a:avLst/>
          </a:prstGeom>
          <a:noFill/>
          <a:ln/>
        </p:spPr>
        <p:txBody>
          <a:bodyPr wrap="square" rtlCol="0" anchor="ctr"/>
          <a:lstStyle/>
          <a:p>
            <a:pPr indent="0" marL="0">
              <a:buNone/>
            </a:pPr>
            <a:r>
              <a:rPr lang="en-US" sz="1100" b="1" spc="300" kern="0" dirty="0">
                <a:solidFill>
                  <a:srgbClr val="4A1D8C"/>
                </a:solidFill>
                <a:latin typeface="Calibri" pitchFamily="34" charset="0"/>
                <a:ea typeface="Calibri" pitchFamily="34" charset="-122"/>
                <a:cs typeface="Calibri" pitchFamily="34" charset="-120"/>
              </a:rPr>
              <a:t>WHY YOU</a:t>
            </a:r>
            <a:endParaRPr lang="en-US" sz="1100" dirty="0"/>
          </a:p>
        </p:txBody>
      </p:sp>
      <p:sp>
        <p:nvSpPr>
          <p:cNvPr id="4" name="Text 2"/>
          <p:cNvSpPr/>
          <p:nvPr/>
        </p:nvSpPr>
        <p:spPr>
          <a:xfrm>
            <a:off x="320040" y="530352"/>
            <a:ext cx="8229600" cy="685800"/>
          </a:xfrm>
          <a:prstGeom prst="rect">
            <a:avLst/>
          </a:prstGeom>
          <a:noFill/>
          <a:ln/>
        </p:spPr>
        <p:txBody>
          <a:bodyPr wrap="square" rtlCol="0" anchor="ctr"/>
          <a:lstStyle/>
          <a:p>
            <a:pPr indent="0" marL="0">
              <a:buNone/>
            </a:pPr>
            <a:r>
              <a:rPr lang="en-US" sz="3400" b="1" dirty="0">
                <a:solidFill>
                  <a:srgbClr val="1A0A2E"/>
                </a:solidFill>
                <a:latin typeface="Calibri" pitchFamily="34" charset="0"/>
                <a:ea typeface="Calibri" pitchFamily="34" charset="-122"/>
                <a:cs typeface="Calibri" pitchFamily="34" charset="-120"/>
              </a:rPr>
              <a:t>Why You, [Investor Name].</a:t>
            </a:r>
            <a:endParaRPr lang="en-US" sz="3400" dirty="0"/>
          </a:p>
        </p:txBody>
      </p:sp>
      <p:sp>
        <p:nvSpPr>
          <p:cNvPr id="5" name="Text 3"/>
          <p:cNvSpPr/>
          <p:nvPr/>
        </p:nvSpPr>
        <p:spPr>
          <a:xfrm>
            <a:off x="320040" y="1207008"/>
            <a:ext cx="8412480" cy="347472"/>
          </a:xfrm>
          <a:prstGeom prst="rect">
            <a:avLst/>
          </a:prstGeom>
          <a:noFill/>
          <a:ln/>
        </p:spPr>
        <p:txBody>
          <a:bodyPr wrap="square" rtlCol="0" anchor="ctr"/>
          <a:lstStyle/>
          <a:p>
            <a:pPr indent="0" marL="0">
              <a:buNone/>
            </a:pPr>
            <a:r>
              <a:rPr lang="en-US" sz="1300" i="1" dirty="0">
                <a:solidFill>
                  <a:srgbClr val="2A2D3E"/>
                </a:solidFill>
                <a:latin typeface="Calibri" pitchFamily="34" charset="0"/>
                <a:ea typeface="Calibri" pitchFamily="34" charset="-122"/>
                <a:cs typeface="Calibri" pitchFamily="34" charset="-120"/>
              </a:rPr>
              <a:t>Why we want this round to include you specifically. Personalized per lead-investor candidate.</a:t>
            </a:r>
            <a:endParaRPr lang="en-US" sz="1300" dirty="0"/>
          </a:p>
        </p:txBody>
      </p:sp>
      <p:sp>
        <p:nvSpPr>
          <p:cNvPr id="6" name="Shape 4"/>
          <p:cNvSpPr/>
          <p:nvPr/>
        </p:nvSpPr>
        <p:spPr>
          <a:xfrm>
            <a:off x="320040" y="1719072"/>
            <a:ext cx="2743200" cy="3182112"/>
          </a:xfrm>
          <a:prstGeom prst="rect">
            <a:avLst/>
          </a:prstGeom>
          <a:solidFill>
            <a:srgbClr val="1A0A2E"/>
          </a:solidFill>
          <a:ln/>
          <a:effectLst>
            <a:outerShdw sx="100000" sy="100000" kx="0" ky="0" algn="bl" rotWithShape="0" blurRad="76200" dist="25400" dir="8100000">
              <a:srgbClr val="000000">
                <a:alpha val="15000"/>
              </a:srgbClr>
            </a:outerShdw>
          </a:effectLst>
        </p:spPr>
      </p:sp>
      <p:sp>
        <p:nvSpPr>
          <p:cNvPr id="7" name="Text 5"/>
          <p:cNvSpPr/>
          <p:nvPr/>
        </p:nvSpPr>
        <p:spPr>
          <a:xfrm>
            <a:off x="457200" y="1810512"/>
            <a:ext cx="24688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YOU BRING</a:t>
            </a:r>
            <a:endParaRPr lang="en-US" sz="1300" dirty="0"/>
          </a:p>
        </p:txBody>
      </p:sp>
      <p:sp>
        <p:nvSpPr>
          <p:cNvPr id="8" name="Text 6"/>
          <p:cNvSpPr/>
          <p:nvPr/>
        </p:nvSpPr>
        <p:spPr>
          <a:xfrm>
            <a:off x="457200" y="2194560"/>
            <a:ext cx="2468880" cy="274320"/>
          </a:xfrm>
          <a:prstGeom prst="rect">
            <a:avLst/>
          </a:prstGeom>
          <a:noFill/>
          <a:ln/>
        </p:spPr>
        <p:txBody>
          <a:bodyPr wrap="square" rtlCol="0" anchor="ctr"/>
          <a:lstStyle/>
          <a:p>
            <a:pPr indent="0" marL="0">
              <a:buNone/>
            </a:pPr>
            <a:r>
              <a:rPr lang="en-US" sz="1000" i="1" dirty="0">
                <a:solidFill>
                  <a:srgbClr val="7B3FE4"/>
                </a:solidFill>
                <a:latin typeface="Calibri" pitchFamily="34" charset="0"/>
                <a:ea typeface="Calibri" pitchFamily="34" charset="-122"/>
                <a:cs typeface="Calibri" pitchFamily="34" charset="-120"/>
              </a:rPr>
              <a:t>[Investor Name]</a:t>
            </a:r>
            <a:endParaRPr lang="en-US" sz="1000" dirty="0"/>
          </a:p>
        </p:txBody>
      </p:sp>
      <p:sp>
        <p:nvSpPr>
          <p:cNvPr id="9" name="Shape 7"/>
          <p:cNvSpPr/>
          <p:nvPr/>
        </p:nvSpPr>
        <p:spPr>
          <a:xfrm>
            <a:off x="457200" y="2487168"/>
            <a:ext cx="2468880" cy="18288"/>
          </a:xfrm>
          <a:prstGeom prst="rect">
            <a:avLst/>
          </a:prstGeom>
          <a:solidFill>
            <a:srgbClr val="FFFFFF">
              <a:alpha val="25000"/>
            </a:srgbClr>
          </a:solidFill>
          <a:ln/>
        </p:spPr>
      </p:sp>
      <p:sp>
        <p:nvSpPr>
          <p:cNvPr id="10" name="Text 8"/>
          <p:cNvSpPr/>
          <p:nvPr/>
        </p:nvSpPr>
        <p:spPr>
          <a:xfrm>
            <a:off x="457200" y="256032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[Specific thesis fit: e.g., regulated-industry depth]</a:t>
            </a:r>
            <a:endParaRPr lang="en-US" sz="1000" dirty="0"/>
          </a:p>
        </p:txBody>
      </p:sp>
      <p:sp>
        <p:nvSpPr>
          <p:cNvPr id="11" name="Text 9"/>
          <p:cNvSpPr/>
          <p:nvPr/>
        </p:nvSpPr>
        <p:spPr>
          <a:xfrm>
            <a:off x="457200" y="290779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[Governance and operational rigor expectation]</a:t>
            </a:r>
            <a:endParaRPr lang="en-US" sz="1000" dirty="0"/>
          </a:p>
        </p:txBody>
      </p:sp>
      <p:sp>
        <p:nvSpPr>
          <p:cNvPr id="12" name="Text 10"/>
          <p:cNvSpPr/>
          <p:nvPr/>
        </p:nvSpPr>
        <p:spPr>
          <a:xfrm>
            <a:off x="457200" y="3255264"/>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[Track record of similar bets at this stage]</a:t>
            </a:r>
            <a:endParaRPr lang="en-US" sz="1000" dirty="0"/>
          </a:p>
        </p:txBody>
      </p:sp>
      <p:sp>
        <p:nvSpPr>
          <p:cNvPr id="13" name="Text 11"/>
          <p:cNvSpPr/>
          <p:nvPr/>
        </p:nvSpPr>
        <p:spPr>
          <a:xfrm>
            <a:off x="457200" y="3602736"/>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[Sector network they can open]</a:t>
            </a:r>
            <a:endParaRPr lang="en-US" sz="1000" dirty="0"/>
          </a:p>
        </p:txBody>
      </p:sp>
      <p:sp>
        <p:nvSpPr>
          <p:cNvPr id="14" name="Text 12"/>
          <p:cNvSpPr/>
          <p:nvPr/>
        </p:nvSpPr>
        <p:spPr>
          <a:xfrm>
            <a:off x="457200" y="3950208"/>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[Specific portfolio or platform connections]</a:t>
            </a:r>
            <a:endParaRPr lang="en-US" sz="1000" dirty="0"/>
          </a:p>
        </p:txBody>
      </p:sp>
      <p:sp>
        <p:nvSpPr>
          <p:cNvPr id="15" name="Text 13"/>
          <p:cNvSpPr/>
          <p:nvPr/>
        </p:nvSpPr>
        <p:spPr>
          <a:xfrm>
            <a:off x="457200" y="429768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[Domain expertise relevant to SOCIII industries]</a:t>
            </a:r>
            <a:endParaRPr lang="en-US" sz="1000" dirty="0"/>
          </a:p>
        </p:txBody>
      </p:sp>
      <p:sp>
        <p:nvSpPr>
          <p:cNvPr id="16" name="Text 14"/>
          <p:cNvSpPr/>
          <p:nvPr/>
        </p:nvSpPr>
        <p:spPr>
          <a:xfrm>
            <a:off x="457200" y="464515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xml:space="preserve"> </a:t>
            </a:r>
            <a:endParaRPr lang="en-US" sz="1000" dirty="0"/>
          </a:p>
        </p:txBody>
      </p:sp>
      <p:sp>
        <p:nvSpPr>
          <p:cNvPr id="17" name="Shape 15"/>
          <p:cNvSpPr/>
          <p:nvPr/>
        </p:nvSpPr>
        <p:spPr>
          <a:xfrm>
            <a:off x="3291840" y="1719072"/>
            <a:ext cx="2743200" cy="3182112"/>
          </a:xfrm>
          <a:prstGeom prst="rect">
            <a:avLst/>
          </a:prstGeom>
          <a:solidFill>
            <a:srgbClr val="4A1D8C"/>
          </a:solidFill>
          <a:ln/>
          <a:effectLst>
            <a:outerShdw sx="100000" sy="100000" kx="0" ky="0" algn="bl" rotWithShape="0" blurRad="76200" dist="25400" dir="8100000">
              <a:srgbClr val="000000">
                <a:alpha val="15000"/>
              </a:srgbClr>
            </a:outerShdw>
          </a:effectLst>
        </p:spPr>
      </p:sp>
      <p:sp>
        <p:nvSpPr>
          <p:cNvPr id="18" name="Text 16"/>
          <p:cNvSpPr/>
          <p:nvPr/>
        </p:nvSpPr>
        <p:spPr>
          <a:xfrm>
            <a:off x="3429000" y="1810512"/>
            <a:ext cx="24688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YOU UNLOCK</a:t>
            </a:r>
            <a:endParaRPr lang="en-US" sz="1300" dirty="0"/>
          </a:p>
        </p:txBody>
      </p:sp>
      <p:sp>
        <p:nvSpPr>
          <p:cNvPr id="19" name="Text 17"/>
          <p:cNvSpPr/>
          <p:nvPr/>
        </p:nvSpPr>
        <p:spPr>
          <a:xfrm>
            <a:off x="3429000" y="2194560"/>
            <a:ext cx="2468880" cy="274320"/>
          </a:xfrm>
          <a:prstGeom prst="rect">
            <a:avLst/>
          </a:prstGeom>
          <a:noFill/>
          <a:ln/>
        </p:spPr>
        <p:txBody>
          <a:bodyPr wrap="square" rtlCol="0" anchor="ctr"/>
          <a:lstStyle/>
          <a:p>
            <a:pPr indent="0" marL="0">
              <a:buNone/>
            </a:pPr>
            <a:r>
              <a:rPr lang="en-US" sz="1000" i="1" dirty="0">
                <a:solidFill>
                  <a:srgbClr val="7B3FE4"/>
                </a:solidFill>
                <a:latin typeface="Calibri" pitchFamily="34" charset="0"/>
                <a:ea typeface="Calibri" pitchFamily="34" charset="-122"/>
                <a:cs typeface="Calibri" pitchFamily="34" charset="-120"/>
              </a:rPr>
              <a:t>What your check + reputation unlock.</a:t>
            </a:r>
            <a:endParaRPr lang="en-US" sz="1000" dirty="0"/>
          </a:p>
        </p:txBody>
      </p:sp>
      <p:sp>
        <p:nvSpPr>
          <p:cNvPr id="20" name="Shape 18"/>
          <p:cNvSpPr/>
          <p:nvPr/>
        </p:nvSpPr>
        <p:spPr>
          <a:xfrm>
            <a:off x="3429000" y="2487168"/>
            <a:ext cx="2468880" cy="18288"/>
          </a:xfrm>
          <a:prstGeom prst="rect">
            <a:avLst/>
          </a:prstGeom>
          <a:solidFill>
            <a:srgbClr val="FFFFFF">
              <a:alpha val="25000"/>
            </a:srgbClr>
          </a:solidFill>
          <a:ln/>
        </p:spPr>
      </p:sp>
      <p:sp>
        <p:nvSpPr>
          <p:cNvPr id="21" name="Text 19"/>
          <p:cNvSpPr/>
          <p:nvPr/>
        </p:nvSpPr>
        <p:spPr>
          <a:xfrm>
            <a:off x="3429000" y="256032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Anchor the round as lead investor</a:t>
            </a:r>
            <a:endParaRPr lang="en-US" sz="1000" dirty="0"/>
          </a:p>
        </p:txBody>
      </p:sp>
      <p:sp>
        <p:nvSpPr>
          <p:cNvPr id="22" name="Text 20"/>
          <p:cNvSpPr/>
          <p:nvPr/>
        </p:nvSpPr>
        <p:spPr>
          <a:xfrm>
            <a:off x="3429000" y="290779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Open doors to enterprise customers in target industries</a:t>
            </a:r>
            <a:endParaRPr lang="en-US" sz="1000" dirty="0"/>
          </a:p>
        </p:txBody>
      </p:sp>
      <p:sp>
        <p:nvSpPr>
          <p:cNvPr id="23" name="Text 21"/>
          <p:cNvSpPr/>
          <p:nvPr/>
        </p:nvSpPr>
        <p:spPr>
          <a:xfrm>
            <a:off x="3429000" y="3255264"/>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Governance partnership: board observer, quarterly cadence</a:t>
            </a:r>
            <a:endParaRPr lang="en-US" sz="1000" dirty="0"/>
          </a:p>
        </p:txBody>
      </p:sp>
      <p:sp>
        <p:nvSpPr>
          <p:cNvPr id="24" name="Text 22"/>
          <p:cNvSpPr/>
          <p:nvPr/>
        </p:nvSpPr>
        <p:spPr>
          <a:xfrm>
            <a:off x="3429000" y="3602736"/>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Signal effect: your name draws follow-on capital</a:t>
            </a:r>
            <a:endParaRPr lang="en-US" sz="1000" dirty="0"/>
          </a:p>
        </p:txBody>
      </p:sp>
      <p:sp>
        <p:nvSpPr>
          <p:cNvPr id="25" name="Text 23"/>
          <p:cNvSpPr/>
          <p:nvPr/>
        </p:nvSpPr>
        <p:spPr>
          <a:xfrm>
            <a:off x="3429000" y="3950208"/>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Strategic introductions to Series A leads</a:t>
            </a:r>
            <a:endParaRPr lang="en-US" sz="1000" dirty="0"/>
          </a:p>
        </p:txBody>
      </p:sp>
      <p:sp>
        <p:nvSpPr>
          <p:cNvPr id="26" name="Text 24"/>
          <p:cNvSpPr/>
          <p:nvPr/>
        </p:nvSpPr>
        <p:spPr>
          <a:xfrm>
            <a:off x="3429000" y="429768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Honest reporting cadence: monthly + quarterly deep-dives</a:t>
            </a:r>
            <a:endParaRPr lang="en-US" sz="1000" dirty="0"/>
          </a:p>
        </p:txBody>
      </p:sp>
      <p:sp>
        <p:nvSpPr>
          <p:cNvPr id="27" name="Shape 25"/>
          <p:cNvSpPr/>
          <p:nvPr/>
        </p:nvSpPr>
        <p:spPr>
          <a:xfrm>
            <a:off x="6263640" y="1719072"/>
            <a:ext cx="2743200" cy="3182112"/>
          </a:xfrm>
          <a:prstGeom prst="rect">
            <a:avLst/>
          </a:prstGeom>
          <a:solidFill>
            <a:srgbClr val="0D7A5F"/>
          </a:solidFill>
          <a:ln/>
          <a:effectLst>
            <a:outerShdw sx="100000" sy="100000" kx="0" ky="0" algn="bl" rotWithShape="0" blurRad="76200" dist="25400" dir="8100000">
              <a:srgbClr val="000000">
                <a:alpha val="15000"/>
              </a:srgbClr>
            </a:outerShdw>
          </a:effectLst>
        </p:spPr>
      </p:sp>
      <p:sp>
        <p:nvSpPr>
          <p:cNvPr id="28" name="Text 26"/>
          <p:cNvSpPr/>
          <p:nvPr/>
        </p:nvSpPr>
        <p:spPr>
          <a:xfrm>
            <a:off x="6400800" y="1810512"/>
            <a:ext cx="24688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ROUND ROSTER</a:t>
            </a:r>
            <a:endParaRPr lang="en-US" sz="1300" dirty="0"/>
          </a:p>
        </p:txBody>
      </p:sp>
      <p:sp>
        <p:nvSpPr>
          <p:cNvPr id="29" name="Text 27"/>
          <p:cNvSpPr/>
          <p:nvPr/>
        </p:nvSpPr>
        <p:spPr>
          <a:xfrm>
            <a:off x="6400800" y="2194560"/>
            <a:ext cx="2468880" cy="274320"/>
          </a:xfrm>
          <a:prstGeom prst="rect">
            <a:avLst/>
          </a:prstGeom>
          <a:noFill/>
          <a:ln/>
        </p:spPr>
        <p:txBody>
          <a:bodyPr wrap="square" rtlCol="0" anchor="ctr"/>
          <a:lstStyle/>
          <a:p>
            <a:pPr indent="0" marL="0">
              <a:buNone/>
            </a:pPr>
            <a:r>
              <a:rPr lang="en-US" sz="1000" i="1" dirty="0">
                <a:solidFill>
                  <a:srgbClr val="10B981"/>
                </a:solidFill>
                <a:latin typeface="Calibri" pitchFamily="34" charset="0"/>
                <a:ea typeface="Calibri" pitchFamily="34" charset="-122"/>
                <a:cs typeface="Calibri" pitchFamily="34" charset="-120"/>
              </a:rPr>
              <a:t>Who else has been invited / is in / leads.</a:t>
            </a:r>
            <a:endParaRPr lang="en-US" sz="1000" dirty="0"/>
          </a:p>
        </p:txBody>
      </p:sp>
      <p:sp>
        <p:nvSpPr>
          <p:cNvPr id="30" name="Shape 28"/>
          <p:cNvSpPr/>
          <p:nvPr/>
        </p:nvSpPr>
        <p:spPr>
          <a:xfrm>
            <a:off x="6400800" y="2487168"/>
            <a:ext cx="2468880" cy="18288"/>
          </a:xfrm>
          <a:prstGeom prst="rect">
            <a:avLst/>
          </a:prstGeom>
          <a:solidFill>
            <a:srgbClr val="FFFFFF">
              <a:alpha val="25000"/>
            </a:srgbClr>
          </a:solidFill>
          <a:ln/>
        </p:spPr>
      </p:sp>
      <p:sp>
        <p:nvSpPr>
          <p:cNvPr id="31" name="Text 29"/>
          <p:cNvSpPr/>
          <p:nvPr/>
        </p:nvSpPr>
        <p:spPr>
          <a:xfrm>
            <a:off x="6400800" y="256032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[Lead investor / candidate 1]</a:t>
            </a:r>
            <a:endParaRPr lang="en-US" sz="1000" dirty="0"/>
          </a:p>
        </p:txBody>
      </p:sp>
      <p:sp>
        <p:nvSpPr>
          <p:cNvPr id="32" name="Text 30"/>
          <p:cNvSpPr/>
          <p:nvPr/>
        </p:nvSpPr>
        <p:spPr>
          <a:xfrm>
            <a:off x="6400800" y="2907792"/>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[Follow-on candidate 2]</a:t>
            </a:r>
            <a:endParaRPr lang="en-US" sz="1000" dirty="0"/>
          </a:p>
        </p:txBody>
      </p:sp>
      <p:sp>
        <p:nvSpPr>
          <p:cNvPr id="33" name="Text 31"/>
          <p:cNvSpPr/>
          <p:nvPr/>
        </p:nvSpPr>
        <p:spPr>
          <a:xfrm>
            <a:off x="6400800" y="3255264"/>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[Follow-on candidate 3]</a:t>
            </a:r>
            <a:endParaRPr lang="en-US" sz="1000" dirty="0"/>
          </a:p>
        </p:txBody>
      </p:sp>
      <p:sp>
        <p:nvSpPr>
          <p:cNvPr id="34" name="Text 32"/>
          <p:cNvSpPr/>
          <p:nvPr/>
        </p:nvSpPr>
        <p:spPr>
          <a:xfrm>
            <a:off x="6400800" y="3602736"/>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[Strategic angel / candidate 4]</a:t>
            </a:r>
            <a:endParaRPr lang="en-US" sz="1000" dirty="0"/>
          </a:p>
        </p:txBody>
      </p:sp>
      <p:sp>
        <p:nvSpPr>
          <p:cNvPr id="35" name="Text 33"/>
          <p:cNvSpPr/>
          <p:nvPr/>
        </p:nvSpPr>
        <p:spPr>
          <a:xfrm>
            <a:off x="6400800" y="3950208"/>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[Follow-on candidate 5]</a:t>
            </a:r>
            <a:endParaRPr lang="en-US" sz="1000" dirty="0"/>
          </a:p>
        </p:txBody>
      </p:sp>
      <p:sp>
        <p:nvSpPr>
          <p:cNvPr id="36" name="Text 34"/>
          <p:cNvSpPr/>
          <p:nvPr/>
        </p:nvSpPr>
        <p:spPr>
          <a:xfrm>
            <a:off x="6400800" y="4297680"/>
            <a:ext cx="2468880" cy="329184"/>
          </a:xfrm>
          <a:prstGeom prst="rect">
            <a:avLst/>
          </a:prstGeom>
          <a:noFill/>
          <a:ln/>
        </p:spPr>
        <p:txBody>
          <a:bodyPr wrap="square" rtlCol="0" anchor="ctr"/>
          <a:lstStyle/>
          <a:p>
            <a:pPr indent="0" marL="0">
              <a:lnSpc>
                <a:spcPct val="110000"/>
              </a:lnSpc>
              <a:buNone/>
            </a:pPr>
            <a:r>
              <a:rPr lang="en-US" sz="1000" dirty="0">
                <a:solidFill>
                  <a:srgbClr val="DDDDEE"/>
                </a:solidFill>
                <a:latin typeface="Calibri" pitchFamily="34" charset="0"/>
                <a:ea typeface="Calibri" pitchFamily="34" charset="-122"/>
                <a:cs typeface="Calibri" pitchFamily="34" charset="-120"/>
              </a:rPr>
              <a:t>• [Specialist / angel candidate 6]</a:t>
            </a:r>
            <a:endParaRPr lang="en-US" sz="1000" dirty="0"/>
          </a:p>
        </p:txBody>
      </p:sp>
      <p:sp>
        <p:nvSpPr>
          <p:cNvPr id="37" name="Text 35"/>
          <p:cNvSpPr/>
          <p:nvPr/>
        </p:nvSpPr>
        <p:spPr>
          <a:xfrm>
            <a:off x="320040" y="4864608"/>
            <a:ext cx="8412480" cy="219456"/>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Round: $1–2M seed. Pricing TBD with lead. 30% equity pool reserved (advisors + future hires + creator-path). Sole-manager governance through Series A trigger ($150K MRR).</a:t>
            </a:r>
            <a:endParaRPr lang="en-US" sz="1000" dirty="0"/>
          </a:p>
        </p:txBody>
      </p:sp>
      <p:pic>
        <p:nvPicPr>
          <p:cNvPr id="950" name="CornerLogo"/>
          <p:cNvPicPr>
            <a:picLocks noChangeAspect="1"/>
          </p:cNvPicPr>
          <p:nvPr/>
        </p:nvPicPr>
        <p:blipFill>
          <a:blip r:embed="rId2"/>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475569"/>
                </a:solidFill>
                <a:latin typeface="Calibri" pitchFamily="34" charset="0"/>
              </a:rPr>
              <a:t>SOCIII, Inc.  ·  CONFIDENTIAL  ·  DRAFT — NOT AN OFFER  ·  Contact: alex@sociii.ai  ·  www.sociii.ai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4A1D8C"/>
          </a:solidFill>
          <a:ln/>
        </p:spPr>
      </p:sp>
      <p:sp>
        <p:nvSpPr>
          <p:cNvPr id="3" name="Text 1"/>
          <p:cNvSpPr/>
          <p:nvPr/>
        </p:nvSpPr>
        <p:spPr>
          <a:xfrm>
            <a:off x="320040" y="201168"/>
            <a:ext cx="3657600" cy="256032"/>
          </a:xfrm>
          <a:prstGeom prst="rect">
            <a:avLst/>
          </a:prstGeom>
          <a:noFill/>
          <a:ln/>
        </p:spPr>
        <p:txBody>
          <a:bodyPr wrap="square" rtlCol="0" anchor="ctr"/>
          <a:lstStyle/>
          <a:p>
            <a:pPr indent="0" marL="0">
              <a:buNone/>
            </a:pPr>
            <a:r>
              <a:rPr lang="en-US" sz="1100" b="1" spc="300" kern="0" dirty="0">
                <a:solidFill>
                  <a:srgbClr val="4A1D8C"/>
                </a:solidFill>
                <a:latin typeface="Calibri" pitchFamily="34" charset="0"/>
                <a:ea typeface="Calibri" pitchFamily="34" charset="-122"/>
                <a:cs typeface="Calibri" pitchFamily="34" charset="-120"/>
              </a:rPr>
              <a:t>CLOSING</a:t>
            </a:r>
            <a:endParaRPr lang="en-US" sz="1100" dirty="0"/>
          </a:p>
        </p:txBody>
      </p:sp>
      <p:sp>
        <p:nvSpPr>
          <p:cNvPr id="4" name="Text 2"/>
          <p:cNvSpPr/>
          <p:nvPr/>
        </p:nvSpPr>
        <p:spPr>
          <a:xfrm>
            <a:off x="320040" y="411480"/>
            <a:ext cx="5669280" cy="1444752"/>
          </a:xfrm>
          <a:prstGeom prst="rect">
            <a:avLst/>
          </a:prstGeom>
          <a:noFill/>
          <a:ln/>
        </p:spPr>
        <p:txBody>
          <a:bodyPr wrap="square" rtlCol="0" anchor="ctr"/>
          <a:lstStyle/>
          <a:p>
            <a:pPr indent="0" marL="0">
              <a:lnSpc>
                <a:spcPct val="112000"/>
              </a:lnSpc>
              <a:buNone/>
            </a:pPr>
            <a:r>
              <a:rPr lang="en-US" sz="2600" b="1" dirty="0">
                <a:solidFill>
                  <a:srgbClr val="1A0A2E"/>
                </a:solidFill>
                <a:latin typeface="Calibri" pitchFamily="34" charset="0"/>
                <a:ea typeface="Calibri" pitchFamily="34" charset="-122"/>
                <a:cs typeface="Calibri" pitchFamily="34" charset="-120"/>
              </a:rPr>
              <a:t>If This Is a Round</a:t>
            </a:r>
            <a:endParaRPr lang="en-US" sz="2600" dirty="0"/>
          </a:p>
          <a:p>
            <a:pPr indent="0" marL="0">
              <a:lnSpc>
                <a:spcPct val="112000"/>
              </a:lnSpc>
              <a:buNone/>
            </a:pPr>
            <a:r>
              <a:rPr lang="en-US" sz="2600" b="1" dirty="0">
                <a:solidFill>
                  <a:srgbClr val="1A0A2E"/>
                </a:solidFill>
                <a:latin typeface="Calibri" pitchFamily="34" charset="0"/>
                <a:ea typeface="Calibri" pitchFamily="34" charset="-122"/>
                <a:cs typeface="Calibri" pitchFamily="34" charset="-120"/>
              </a:rPr>
              <a:t>You Want to Lead…</a:t>
            </a:r>
            <a:endParaRPr lang="en-US" sz="2600" dirty="0"/>
          </a:p>
          <a:p>
            <a:pPr indent="0" marL="0">
              <a:lnSpc>
                <a:spcPct val="112000"/>
              </a:lnSpc>
              <a:buNone/>
            </a:pPr>
            <a:r>
              <a:rPr lang="en-US" sz="2600" b="1" dirty="0">
                <a:solidFill>
                  <a:srgbClr val="1A0A2E"/>
                </a:solidFill>
                <a:latin typeface="Calibri" pitchFamily="34" charset="0"/>
                <a:ea typeface="Calibri" pitchFamily="34" charset="-122"/>
                <a:cs typeface="Calibri" pitchFamily="34" charset="-120"/>
              </a:rPr>
              <a:t xml:space="preserve"> </a:t>
            </a:r>
            <a:endParaRPr lang="en-US" sz="2600" dirty="0"/>
          </a:p>
        </p:txBody>
      </p:sp>
      <p:sp>
        <p:nvSpPr>
          <p:cNvPr id="5" name="Text 3"/>
          <p:cNvSpPr/>
          <p:nvPr/>
        </p:nvSpPr>
        <p:spPr>
          <a:xfrm>
            <a:off x="320040" y="1883664"/>
            <a:ext cx="8412480" cy="320040"/>
          </a:xfrm>
          <a:prstGeom prst="rect">
            <a:avLst/>
          </a:prstGeom>
          <a:noFill/>
          <a:ln/>
        </p:spPr>
        <p:txBody>
          <a:bodyPr wrap="square" rtlCol="0" anchor="ctr"/>
          <a:lstStyle/>
          <a:p>
            <a:pPr indent="0" marL="0">
              <a:buNone/>
            </a:pPr>
            <a:r>
              <a:rPr lang="en-US" sz="1300" i="1" dirty="0">
                <a:solidFill>
                  <a:srgbClr val="2A2D3E"/>
                </a:solidFill>
                <a:latin typeface="Calibri" pitchFamily="34" charset="0"/>
                <a:ea typeface="Calibri" pitchFamily="34" charset="-122"/>
                <a:cs typeface="Calibri" pitchFamily="34" charset="-120"/>
              </a:rPr>
              <a:t>There’s a link in your email. Click it to schedule the next conversation.</a:t>
            </a:r>
            <a:endParaRPr lang="en-US" sz="1300" dirty="0"/>
          </a:p>
        </p:txBody>
      </p:sp>
      <p:sp>
        <p:nvSpPr>
          <p:cNvPr id="6" name="Shape 4"/>
          <p:cNvSpPr/>
          <p:nvPr/>
        </p:nvSpPr>
        <p:spPr>
          <a:xfrm>
            <a:off x="320040" y="2304288"/>
            <a:ext cx="3657600" cy="2542032"/>
          </a:xfrm>
          <a:prstGeom prst="rect">
            <a:avLst/>
          </a:prstGeom>
          <a:solidFill>
            <a:srgbClr val="0D7A5F"/>
          </a:solidFill>
          <a:ln/>
          <a:effectLst>
            <a:outerShdw sx="100000" sy="100000" kx="0" ky="0" algn="bl" rotWithShape="0" blurRad="152400" dist="50800" dir="8100000">
              <a:srgbClr val="000000">
                <a:alpha val="28000"/>
              </a:srgbClr>
            </a:outerShdw>
          </a:effectLst>
        </p:spPr>
      </p:sp>
      <p:sp>
        <p:nvSpPr>
          <p:cNvPr id="7" name="Text 5"/>
          <p:cNvSpPr/>
          <p:nvPr/>
        </p:nvSpPr>
        <p:spPr>
          <a:xfrm>
            <a:off x="475488" y="2395728"/>
            <a:ext cx="3337560" cy="347472"/>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the Link Does</a:t>
            </a:r>
            <a:endParaRPr lang="en-US" sz="1500" dirty="0"/>
          </a:p>
        </p:txBody>
      </p:sp>
      <p:sp>
        <p:nvSpPr>
          <p:cNvPr id="8" name="Text 6"/>
          <p:cNvSpPr/>
          <p:nvPr/>
        </p:nvSpPr>
        <p:spPr>
          <a:xfrm>
            <a:off x="475488" y="278892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Schedule a 60-minute deep-dive with Sean.</a:t>
            </a:r>
            <a:endParaRPr lang="en-US" sz="1150" dirty="0"/>
          </a:p>
        </p:txBody>
      </p:sp>
      <p:sp>
        <p:nvSpPr>
          <p:cNvPr id="9" name="Text 7"/>
          <p:cNvSpPr/>
          <p:nvPr/>
        </p:nvSpPr>
        <p:spPr>
          <a:xfrm>
            <a:off x="475488" y="306324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We send data room access and the financial model.</a:t>
            </a:r>
            <a:endParaRPr lang="en-US" sz="1150" dirty="0"/>
          </a:p>
        </p:txBody>
      </p:sp>
      <p:sp>
        <p:nvSpPr>
          <p:cNvPr id="10" name="Text 8"/>
          <p:cNvSpPr/>
          <p:nvPr/>
        </p:nvSpPr>
        <p:spPr>
          <a:xfrm>
            <a:off x="475488" y="333756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Or pass on this round — we’ll keep you on the quarterly update list.</a:t>
            </a:r>
            <a:endParaRPr lang="en-US" sz="1150" dirty="0"/>
          </a:p>
        </p:txBody>
      </p:sp>
      <p:sp>
        <p:nvSpPr>
          <p:cNvPr id="11" name="Text 9"/>
          <p:cNvSpPr/>
          <p:nvPr/>
        </p:nvSpPr>
        <p:spPr>
          <a:xfrm>
            <a:off x="475488" y="361188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xml:space="preserve"> </a:t>
            </a:r>
            <a:endParaRPr lang="en-US" sz="1150" dirty="0"/>
          </a:p>
        </p:txBody>
      </p:sp>
      <p:sp>
        <p:nvSpPr>
          <p:cNvPr id="12" name="Text 10"/>
          <p:cNvSpPr/>
          <p:nvPr/>
        </p:nvSpPr>
        <p:spPr>
          <a:xfrm>
            <a:off x="475488" y="388620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xml:space="preserve"> </a:t>
            </a:r>
            <a:endParaRPr lang="en-US" sz="1150" dirty="0"/>
          </a:p>
        </p:txBody>
      </p:sp>
      <p:sp>
        <p:nvSpPr>
          <p:cNvPr id="13" name="Text 11"/>
          <p:cNvSpPr/>
          <p:nvPr/>
        </p:nvSpPr>
        <p:spPr>
          <a:xfrm>
            <a:off x="475488" y="4160520"/>
            <a:ext cx="3337560" cy="2560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xml:space="preserve"> </a:t>
            </a:r>
            <a:endParaRPr lang="en-US" sz="1150" dirty="0"/>
          </a:p>
        </p:txBody>
      </p:sp>
      <p:sp>
        <p:nvSpPr>
          <p:cNvPr id="14" name="Text 12"/>
          <p:cNvSpPr/>
          <p:nvPr/>
        </p:nvSpPr>
        <p:spPr>
          <a:xfrm>
            <a:off x="475488" y="4434840"/>
            <a:ext cx="3337560" cy="256032"/>
          </a:xfrm>
          <a:prstGeom prst="rect">
            <a:avLst/>
          </a:prstGeom>
          <a:noFill/>
          <a:ln/>
        </p:spPr>
        <p:txBody>
          <a:bodyPr wrap="square" rtlCol="0" anchor="ctr"/>
          <a:lstStyle/>
          <a:p>
            <a:pPr indent="0" marL="0">
              <a:buNone/>
            </a:pPr>
            <a:endParaRPr lang="en-US" sz="1150" dirty="0"/>
          </a:p>
        </p:txBody>
      </p:sp>
      <p:sp>
        <p:nvSpPr>
          <p:cNvPr id="15" name="Text 13"/>
          <p:cNvSpPr/>
          <p:nvPr/>
        </p:nvSpPr>
        <p:spPr>
          <a:xfrm>
            <a:off x="475488" y="4709160"/>
            <a:ext cx="3337560" cy="256032"/>
          </a:xfrm>
          <a:prstGeom prst="rect">
            <a:avLst/>
          </a:prstGeom>
          <a:noFill/>
          <a:ln/>
        </p:spPr>
        <p:txBody>
          <a:bodyPr wrap="square"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 xml:space="preserve"> </a:t>
            </a:r>
            <a:endParaRPr lang="en-US" sz="1150" dirty="0"/>
          </a:p>
        </p:txBody>
      </p:sp>
      <p:sp>
        <p:nvSpPr>
          <p:cNvPr id="16" name="Shape 14"/>
          <p:cNvSpPr/>
          <p:nvPr/>
        </p:nvSpPr>
        <p:spPr>
          <a:xfrm>
            <a:off x="4160520" y="2304288"/>
            <a:ext cx="1143000" cy="2542032"/>
          </a:xfrm>
          <a:prstGeom prst="rect">
            <a:avLst/>
          </a:prstGeom>
          <a:solidFill>
            <a:srgbClr val="4A1D8C"/>
          </a:solidFill>
          <a:ln/>
          <a:effectLst>
            <a:outerShdw sx="100000" sy="100000" kx="0" ky="0" algn="bl" rotWithShape="0" blurRad="63500" dist="25400" dir="8100000">
              <a:srgbClr val="000000">
                <a:alpha val="18000"/>
              </a:srgbClr>
            </a:outerShdw>
          </a:effectLst>
        </p:spPr>
      </p:sp>
      <p:sp>
        <p:nvSpPr>
          <p:cNvPr id="17" name="Text 15"/>
          <p:cNvSpPr/>
          <p:nvPr/>
        </p:nvSpPr>
        <p:spPr>
          <a:xfrm>
            <a:off x="4160520" y="2395728"/>
            <a:ext cx="1143000" cy="4114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8" name="Text 16"/>
          <p:cNvSpPr/>
          <p:nvPr/>
        </p:nvSpPr>
        <p:spPr>
          <a:xfrm>
            <a:off x="4233672" y="2834640"/>
            <a:ext cx="100584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Schedule the Call</a:t>
            </a:r>
            <a:endParaRPr lang="en-US" sz="1200" dirty="0"/>
          </a:p>
        </p:txBody>
      </p:sp>
      <p:sp>
        <p:nvSpPr>
          <p:cNvPr id="19" name="Text 17"/>
          <p:cNvSpPr/>
          <p:nvPr/>
        </p:nvSpPr>
        <p:spPr>
          <a:xfrm>
            <a:off x="4233672" y="3182112"/>
            <a:ext cx="1005840" cy="1536192"/>
          </a:xfrm>
          <a:prstGeom prst="rect">
            <a:avLst/>
          </a:prstGeom>
          <a:noFill/>
          <a:ln/>
        </p:spPr>
        <p:txBody>
          <a:bodyPr wrap="square" rtlCol="0" anchor="ctr"/>
          <a:lstStyle/>
          <a:p>
            <a:pPr indent="0" marL="0">
              <a:lnSpc>
                <a:spcPct val="130000"/>
              </a:lnSpc>
              <a:buNone/>
            </a:pPr>
            <a:r>
              <a:rPr lang="en-US" sz="950" dirty="0">
                <a:solidFill>
                  <a:srgbClr val="DDDDFF"/>
                </a:solidFill>
                <a:latin typeface="Calibri" pitchFamily="34" charset="0"/>
                <a:ea typeface="Calibri" pitchFamily="34" charset="-122"/>
                <a:cs typeface="Calibri" pitchFamily="34" charset="-120"/>
              </a:rPr>
              <a:t>60-minute deep-dive. Sean walks the platform, the metrics, the roadmap. Bring your hardest questions.</a:t>
            </a:r>
            <a:endParaRPr lang="en-US" sz="950" dirty="0"/>
          </a:p>
        </p:txBody>
      </p:sp>
      <p:sp>
        <p:nvSpPr>
          <p:cNvPr id="20" name="Shape 18"/>
          <p:cNvSpPr/>
          <p:nvPr/>
        </p:nvSpPr>
        <p:spPr>
          <a:xfrm>
            <a:off x="5404104" y="2304288"/>
            <a:ext cx="1143000" cy="2542032"/>
          </a:xfrm>
          <a:prstGeom prst="rect">
            <a:avLst/>
          </a:prstGeom>
          <a:solidFill>
            <a:srgbClr val="1E3A6E"/>
          </a:solidFill>
          <a:ln/>
          <a:effectLst>
            <a:outerShdw sx="100000" sy="100000" kx="0" ky="0" algn="bl" rotWithShape="0" blurRad="63500" dist="25400" dir="8100000">
              <a:srgbClr val="000000">
                <a:alpha val="18000"/>
              </a:srgbClr>
            </a:outerShdw>
          </a:effectLst>
        </p:spPr>
      </p:sp>
      <p:sp>
        <p:nvSpPr>
          <p:cNvPr id="21" name="Text 19"/>
          <p:cNvSpPr/>
          <p:nvPr/>
        </p:nvSpPr>
        <p:spPr>
          <a:xfrm>
            <a:off x="5404104" y="2395728"/>
            <a:ext cx="1143000" cy="4114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22" name="Text 20"/>
          <p:cNvSpPr/>
          <p:nvPr/>
        </p:nvSpPr>
        <p:spPr>
          <a:xfrm>
            <a:off x="5477256" y="2834640"/>
            <a:ext cx="100584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 Room</a:t>
            </a:r>
            <a:endParaRPr lang="en-US" sz="1200" dirty="0"/>
          </a:p>
        </p:txBody>
      </p:sp>
      <p:sp>
        <p:nvSpPr>
          <p:cNvPr id="23" name="Text 21"/>
          <p:cNvSpPr/>
          <p:nvPr/>
        </p:nvSpPr>
        <p:spPr>
          <a:xfrm>
            <a:off x="5477256" y="3182112"/>
            <a:ext cx="1005840" cy="1536192"/>
          </a:xfrm>
          <a:prstGeom prst="rect">
            <a:avLst/>
          </a:prstGeom>
          <a:noFill/>
          <a:ln/>
        </p:spPr>
        <p:txBody>
          <a:bodyPr wrap="square" rtlCol="0" anchor="ctr"/>
          <a:lstStyle/>
          <a:p>
            <a:pPr indent="0" marL="0">
              <a:lnSpc>
                <a:spcPct val="130000"/>
              </a:lnSpc>
              <a:buNone/>
            </a:pPr>
            <a:r>
              <a:rPr lang="en-US" sz="950" dirty="0">
                <a:solidFill>
                  <a:srgbClr val="DDDDFF"/>
                </a:solidFill>
                <a:latin typeface="Calibri" pitchFamily="34" charset="0"/>
                <a:ea typeface="Calibri" pitchFamily="34" charset="-122"/>
                <a:cs typeface="Calibri" pitchFamily="34" charset="-120"/>
              </a:rPr>
              <a:t>Full data room access: financial model, cap table, customer letters, product demos, IP filings.</a:t>
            </a:r>
            <a:endParaRPr lang="en-US" sz="950" dirty="0"/>
          </a:p>
        </p:txBody>
      </p:sp>
      <p:sp>
        <p:nvSpPr>
          <p:cNvPr id="24" name="Shape 22"/>
          <p:cNvSpPr/>
          <p:nvPr/>
        </p:nvSpPr>
        <p:spPr>
          <a:xfrm>
            <a:off x="6647688" y="2304288"/>
            <a:ext cx="1143000" cy="2542032"/>
          </a:xfrm>
          <a:prstGeom prst="rect">
            <a:avLst/>
          </a:prstGeom>
          <a:solidFill>
            <a:srgbClr val="0D7A5F"/>
          </a:solidFill>
          <a:ln/>
          <a:effectLst>
            <a:outerShdw sx="100000" sy="100000" kx="0" ky="0" algn="bl" rotWithShape="0" blurRad="63500" dist="25400" dir="8100000">
              <a:srgbClr val="000000">
                <a:alpha val="18000"/>
              </a:srgbClr>
            </a:outerShdw>
          </a:effectLst>
        </p:spPr>
      </p:sp>
      <p:sp>
        <p:nvSpPr>
          <p:cNvPr id="25" name="Text 23"/>
          <p:cNvSpPr/>
          <p:nvPr/>
        </p:nvSpPr>
        <p:spPr>
          <a:xfrm>
            <a:off x="6647688" y="2395728"/>
            <a:ext cx="1143000" cy="4114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6" name="Text 24"/>
          <p:cNvSpPr/>
          <p:nvPr/>
        </p:nvSpPr>
        <p:spPr>
          <a:xfrm>
            <a:off x="6720840" y="2834640"/>
            <a:ext cx="100584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Term Sheet</a:t>
            </a:r>
            <a:endParaRPr lang="en-US" sz="1200" dirty="0"/>
          </a:p>
        </p:txBody>
      </p:sp>
      <p:sp>
        <p:nvSpPr>
          <p:cNvPr id="27" name="Text 25"/>
          <p:cNvSpPr/>
          <p:nvPr/>
        </p:nvSpPr>
        <p:spPr>
          <a:xfrm>
            <a:off x="6720840" y="3182112"/>
            <a:ext cx="1005840" cy="1536192"/>
          </a:xfrm>
          <a:prstGeom prst="rect">
            <a:avLst/>
          </a:prstGeom>
          <a:noFill/>
          <a:ln/>
        </p:spPr>
        <p:txBody>
          <a:bodyPr wrap="square" rtlCol="0" anchor="ctr"/>
          <a:lstStyle/>
          <a:p>
            <a:pPr indent="0" marL="0">
              <a:lnSpc>
                <a:spcPct val="130000"/>
              </a:lnSpc>
              <a:buNone/>
            </a:pPr>
            <a:r>
              <a:rPr lang="en-US" sz="950" dirty="0">
                <a:solidFill>
                  <a:srgbClr val="DDDDFF"/>
                </a:solidFill>
                <a:latin typeface="Calibri" pitchFamily="34" charset="0"/>
                <a:ea typeface="Calibri" pitchFamily="34" charset="-122"/>
                <a:cs typeface="Calibri" pitchFamily="34" charset="-120"/>
              </a:rPr>
              <a:t>If there is mutual interest, term sheet within a week. Clean structure, sole-manager governance, institutional-friendly.</a:t>
            </a:r>
            <a:endParaRPr lang="en-US" sz="950" dirty="0"/>
          </a:p>
        </p:txBody>
      </p:sp>
      <p:sp>
        <p:nvSpPr>
          <p:cNvPr id="28" name="Shape 26"/>
          <p:cNvSpPr/>
          <p:nvPr/>
        </p:nvSpPr>
        <p:spPr>
          <a:xfrm>
            <a:off x="7891272" y="2304288"/>
            <a:ext cx="1143000" cy="2542032"/>
          </a:xfrm>
          <a:prstGeom prst="rect">
            <a:avLst/>
          </a:prstGeom>
          <a:solidFill>
            <a:srgbClr val="7B3FE4"/>
          </a:solidFill>
          <a:ln/>
          <a:effectLst>
            <a:outerShdw sx="100000" sy="100000" kx="0" ky="0" algn="bl" rotWithShape="0" blurRad="63500" dist="25400" dir="8100000">
              <a:srgbClr val="000000">
                <a:alpha val="18000"/>
              </a:srgbClr>
            </a:outerShdw>
          </a:effectLst>
        </p:spPr>
      </p:sp>
      <p:sp>
        <p:nvSpPr>
          <p:cNvPr id="29" name="Text 27"/>
          <p:cNvSpPr/>
          <p:nvPr/>
        </p:nvSpPr>
        <p:spPr>
          <a:xfrm>
            <a:off x="7891272" y="2395728"/>
            <a:ext cx="1143000" cy="4114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30" name="Text 28"/>
          <p:cNvSpPr/>
          <p:nvPr/>
        </p:nvSpPr>
        <p:spPr>
          <a:xfrm>
            <a:off x="7964424" y="2834640"/>
            <a:ext cx="100584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Close Fast</a:t>
            </a:r>
            <a:endParaRPr lang="en-US" sz="1200" dirty="0"/>
          </a:p>
        </p:txBody>
      </p:sp>
      <p:sp>
        <p:nvSpPr>
          <p:cNvPr id="31" name="Text 29"/>
          <p:cNvSpPr/>
          <p:nvPr/>
        </p:nvSpPr>
        <p:spPr>
          <a:xfrm>
            <a:off x="7964424" y="3182112"/>
            <a:ext cx="1005840" cy="1536192"/>
          </a:xfrm>
          <a:prstGeom prst="rect">
            <a:avLst/>
          </a:prstGeom>
          <a:noFill/>
          <a:ln/>
        </p:spPr>
        <p:txBody>
          <a:bodyPr wrap="square" rtlCol="0" anchor="ctr"/>
          <a:lstStyle/>
          <a:p>
            <a:pPr indent="0" marL="0">
              <a:lnSpc>
                <a:spcPct val="130000"/>
              </a:lnSpc>
              <a:buNone/>
            </a:pPr>
            <a:r>
              <a:rPr lang="en-US" sz="950" dirty="0">
                <a:solidFill>
                  <a:srgbClr val="DDDDFF"/>
                </a:solidFill>
                <a:latin typeface="Calibri" pitchFamily="34" charset="0"/>
                <a:ea typeface="Calibri" pitchFamily="34" charset="-122"/>
                <a:cs typeface="Calibri" pitchFamily="34" charset="-120"/>
              </a:rPr>
              <a:t>We close in 30 days from term sheet. Then monthly metrics, quarterly deep-dives, and a board observer seat for the lead.</a:t>
            </a:r>
            <a:endParaRPr lang="en-US" sz="950" dirty="0"/>
          </a:p>
        </p:txBody>
      </p:sp>
      <p:sp>
        <p:nvSpPr>
          <p:cNvPr id="32" name="Text 30"/>
          <p:cNvSpPr/>
          <p:nvPr/>
        </p:nvSpPr>
        <p:spPr>
          <a:xfrm>
            <a:off x="320040" y="4882896"/>
            <a:ext cx="8412480" cy="219456"/>
          </a:xfrm>
          <a:prstGeom prst="rect">
            <a:avLst/>
          </a:prstGeom>
          <a:noFill/>
          <a:ln/>
        </p:spPr>
        <p:txBody>
          <a:bodyPr wrap="square" rtlCol="0" anchor="ctr"/>
          <a:lstStyle/>
          <a:p>
            <a:pPr indent="0" marL="0">
              <a:buNone/>
            </a:pPr>
            <a:r>
              <a:rPr lang="en-US" sz="1000" i="1" dirty="0">
                <a:solidFill>
                  <a:srgbClr val="8892A4"/>
                </a:solidFill>
                <a:latin typeface="Calibri" pitchFamily="34" charset="0"/>
                <a:ea typeface="Calibri" pitchFamily="34" charset="-122"/>
                <a:cs typeface="Calibri" pitchFamily="34" charset="-120"/>
              </a:rPr>
              <a:t>— Alex  ·  Chief of Staff  ·  alex@sociii.ai  ·  SOCIII, Inc.</a:t>
            </a:r>
            <a:endParaRPr lang="en-US" sz="1000" dirty="0"/>
          </a:p>
        </p:txBody>
      </p:sp>
      <p:pic>
        <p:nvPicPr>
          <p:cNvPr id="950" name="CornerLogo"/>
          <p:cNvPicPr>
            <a:picLocks noChangeAspect="1"/>
          </p:cNvPicPr>
          <p:nvPr/>
        </p:nvPicPr>
        <p:blipFill>
          <a:blip r:embed="rId2"/>
          <a:stretch>
            <a:fillRect/>
          </a:stretch>
        </p:blipFill>
        <p:spPr>
          <a:xfrm>
            <a:off x="8444000" y="120000"/>
            <a:ext cx="500000" cy="565000"/>
          </a:xfrm>
          <a:prstGeom prst="rect">
            <a:avLst/>
          </a:prstGeom>
        </p:spPr>
      </p:pic>
      <p:sp>
        <p:nvSpPr>
          <p:cNvPr id="951" name="StandardFooter"/>
          <p:cNvSpPr/>
          <p:nvPr/>
        </p:nvSpPr>
        <p:spPr>
          <a:xfrm>
            <a:off x="320040" y="5050000"/>
            <a:ext cx="8503920" cy="80000"/>
          </a:xfrm>
          <a:prstGeom prst="rect">
            <a:avLst/>
          </a:prstGeom>
          <a:noFill/>
        </p:spPr>
        <p:txBody>
          <a:bodyPr wrap="square" rtlCol="0" anchor="t"/>
          <a:lstStyle/>
          <a:p>
            <a:pPr indent="0" marL="0">
              <a:buNone/>
            </a:pPr>
            <a:r>
              <a:rPr lang="en-US" sz="800" kern="0">
                <a:solidFill>
                  <a:srgbClr val="475569"/>
                </a:solidFill>
                <a:latin typeface="Calibri" pitchFamily="34" charset="0"/>
              </a:rPr>
              <a:t>SOCIII, Inc.  ·  CONFIDENTIAL  ·  DRAFT — NOT AN OFFER  ·  Contact: alex@sociii.ai  ·  www.sociii.ai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TitleApp.ai — Investor Deck</dc:title>
  <dc:subject>PptxGenJS Presentation</dc:subject>
  <dc:creator>PptxGenJS</dc:creator>
  <cp:lastModifiedBy>PptxGenJS</cp:lastModifiedBy>
  <cp:revision>1</cp:revision>
  <dcterms:created xsi:type="dcterms:W3CDTF">2026-04-01T05:35:02Z</dcterms:created>
  <dcterms:modified xsi:type="dcterms:W3CDTF">2026-04-01T05:35:02Z</dcterms:modified>
</cp:coreProperties>
</file>
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7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926080" y="22860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ESC-001–012  ·  12 Digital Workers  ·  $79/mo Flagship Worker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74320" y="822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74320" y="11704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&amp; Escrow Suite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274320" y="188366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what TitleApp was named for.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274320" y="2359152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blockchain-first escrow container that holds every asset transfer — from first offer to recorded title — and closes by executing a cryptographically verified Digital Title Certificate transfer from seller to buyer. The DTC is the title. The chain is the moat.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74320" y="3127248"/>
            <a:ext cx="45720" cy="20116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38912" y="31089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real estate transaction.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871216" y="310896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Closes through an Escrow Locker.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74320" y="3474720"/>
            <a:ext cx="45720" cy="20116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38912" y="345643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aircraft sale.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871216" y="345643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FAA registry + logbook transfer. Same container.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74320" y="3822192"/>
            <a:ext cx="45720" cy="20116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438912" y="380390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vehicle title transfer.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871216" y="380390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NMVTIS + DMV. Same architecture.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74320" y="4169664"/>
            <a:ext cx="45720" cy="20116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438912" y="41513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commercial deal.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2871216" y="415137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+ entity assignment + full due diligence package.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62C52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Title &amp; Escrow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4320" y="237744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Traditional Escrow Gets Wrong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274320" y="7315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money-intensive transaction in most people's lives runs on paper, email, and trust.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4320" y="1170432"/>
            <a:ext cx="4160520" cy="155448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274320" y="1170432"/>
            <a:ext cx="4160520" cy="5029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38912" y="12801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Fraud — $446M in 2023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38912" y="1609344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Escrow instructions emailed. Spoofed domains. One wrong click — the money is gone. No callback protocol. No ownership verification. No hard stop.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09160" y="1170432"/>
            <a:ext cx="4160520" cy="155448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4709160" y="1170432"/>
            <a:ext cx="4160520" cy="5029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873752" y="12801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Mutable Records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73752" y="1609344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escrow files can be altered. Closing packages are PDFs. Chains of title live in editable county databases. A fraudulent deed can be recorded. The chain is only as trustworthy as the database admin.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74320" y="2889504"/>
            <a:ext cx="4160520" cy="155448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274320" y="2889504"/>
            <a:ext cx="4160520" cy="50292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438912" y="29992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Offer Chain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38912" y="3328416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escrow officer receives a final PA. Nobody tracks what happened before it. Counter-offers, amendments, and verbal agreements disappear. The deal's history is unverifiable.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709160" y="2889504"/>
            <a:ext cx="4160520" cy="155448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4709160" y="2889504"/>
            <a:ext cx="4160520" cy="50292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873752" y="29992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Gaps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873752" y="3328416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can walk into escrow. Identity is checked inconsistently. OFAC screening happens manually or not at all. Fraud and money laundering enter through escrow every day.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62C52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Title &amp; Escrow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74320" y="237744"/>
            <a:ext cx="8595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ESC-001 — The Escrow Locker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74320" y="7498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Patent-protected. Worker #1. The reason TitleApp exists.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1024128"/>
            <a:ext cx="8595360" cy="20117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274320" y="111556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STAGES FROM FIRST OFFER TO SEALED TITLE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74320" y="1353312"/>
            <a:ext cx="950976" cy="969264"/>
          </a:xfrm>
          <a:prstGeom prst="rect">
            <a:avLst/>
          </a:prstGeom>
          <a:solidFill>
            <a:srgbClr val="1B4F8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274320" y="1389888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74320" y="1627632"/>
            <a:ext cx="9509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Chain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Identity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1225296" y="1792224"/>
            <a:ext cx="128016" cy="73152"/>
          </a:xfrm>
          <a:prstGeom prst="rect">
            <a:avLst/>
          </a:prstGeom>
          <a:solidFill>
            <a:srgbClr val="8899AA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353312" y="1353312"/>
            <a:ext cx="950976" cy="969264"/>
          </a:xfrm>
          <a:prstGeom prst="rect">
            <a:avLst/>
          </a:prstGeom>
          <a:solidFill>
            <a:srgbClr val="0E9B8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353312" y="1389888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353312" y="1627632"/>
            <a:ext cx="9509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304288" y="1792224"/>
            <a:ext cx="128016" cy="73152"/>
          </a:xfrm>
          <a:prstGeom prst="rect">
            <a:avLst/>
          </a:prstGeom>
          <a:solidFill>
            <a:srgbClr val="8899AA"/>
          </a:solidFill>
          <a:ln/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2432304" y="1353312"/>
            <a:ext cx="950976" cy="969264"/>
          </a:xfrm>
          <a:prstGeom prst="rect">
            <a:avLst/>
          </a:prstGeom>
          <a:solidFill>
            <a:srgbClr val="0E9B8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2432304" y="1389888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432304" y="1627632"/>
            <a:ext cx="9509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Earnest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383280" y="1792224"/>
            <a:ext cx="128016" cy="73152"/>
          </a:xfrm>
          <a:prstGeom prst="rect">
            <a:avLst/>
          </a:prstGeom>
          <a:solidFill>
            <a:srgbClr val="8899AA"/>
          </a:solidFill>
          <a:ln/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3511296" y="1353312"/>
            <a:ext cx="950976" cy="969264"/>
          </a:xfrm>
          <a:prstGeom prst="rect">
            <a:avLst/>
          </a:prstGeom>
          <a:solidFill>
            <a:srgbClr val="0F234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3511296" y="1389888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3511296" y="1627632"/>
            <a:ext cx="9509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462272" y="1792224"/>
            <a:ext cx="128016" cy="73152"/>
          </a:xfrm>
          <a:prstGeom prst="rect">
            <a:avLst/>
          </a:prstGeom>
          <a:solidFill>
            <a:srgbClr val="8899AA"/>
          </a:solidFill>
          <a:ln/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4590288" y="1353312"/>
            <a:ext cx="950976" cy="969264"/>
          </a:xfrm>
          <a:prstGeom prst="rect">
            <a:avLst/>
          </a:prstGeom>
          <a:solidFill>
            <a:srgbClr val="0F234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4590288" y="1389888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590288" y="1627632"/>
            <a:ext cx="9509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CD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5541264" y="1792224"/>
            <a:ext cx="128016" cy="73152"/>
          </a:xfrm>
          <a:prstGeom prst="rect">
            <a:avLst/>
          </a:prstGeom>
          <a:solidFill>
            <a:srgbClr val="8899AA"/>
          </a:solidFill>
          <a:ln/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5669280" y="1353312"/>
            <a:ext cx="950976" cy="969264"/>
          </a:xfrm>
          <a:prstGeom prst="rect">
            <a:avLst/>
          </a:prstGeom>
          <a:solidFill>
            <a:srgbClr val="6B3FA0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5669280" y="1389888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669280" y="1627632"/>
            <a:ext cx="9509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Notarize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(RON)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620256" y="1792224"/>
            <a:ext cx="128016" cy="73152"/>
          </a:xfrm>
          <a:prstGeom prst="rect">
            <a:avLst/>
          </a:prstGeom>
          <a:solidFill>
            <a:srgbClr val="8899AA"/>
          </a:solidFill>
          <a:ln/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6748272" y="1353312"/>
            <a:ext cx="950976" cy="969264"/>
          </a:xfrm>
          <a:prstGeom prst="rect">
            <a:avLst/>
          </a:prstGeom>
          <a:solidFill>
            <a:srgbClr val="1A7A4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6748272" y="1389888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6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748272" y="1627632"/>
            <a:ext cx="9509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Disbursement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7699248" y="1792224"/>
            <a:ext cx="128016" cy="73152"/>
          </a:xfrm>
          <a:prstGeom prst="rect">
            <a:avLst/>
          </a:prstGeom>
          <a:solidFill>
            <a:srgbClr val="8899AA"/>
          </a:solidFill>
          <a:ln/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7827264" y="1353312"/>
            <a:ext cx="950976" cy="969264"/>
          </a:xfrm>
          <a:prstGeom prst="rect">
            <a:avLst/>
          </a:prstGeom>
          <a:solidFill>
            <a:srgbClr val="C9A84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7827264" y="1389888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7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7827264" y="1627632"/>
            <a:ext cx="9509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DTC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274320" y="2450592"/>
            <a:ext cx="4160520" cy="676656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1" name="Shape 38"/>
          <p:cNvSpPr/>
          <p:nvPr/>
        </p:nvSpPr>
        <p:spPr>
          <a:xfrm>
            <a:off x="274320" y="2450592"/>
            <a:ext cx="50292" cy="676656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42" name="Text 39"/>
          <p:cNvSpPr/>
          <p:nvPr/>
        </p:nvSpPr>
        <p:spPr>
          <a:xfrm>
            <a:off x="411480" y="251460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Verified — All Parties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2633472" y="2514600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Identity KYC + liveness check. OFAC at creation and disbursement. Agent license verified via state API. Entity parties: beneficial ownership required. No exceptions.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274320" y="3218688"/>
            <a:ext cx="4160520" cy="676656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5" name="Shape 42"/>
          <p:cNvSpPr/>
          <p:nvPr/>
        </p:nvSpPr>
        <p:spPr>
          <a:xfrm>
            <a:off x="274320" y="3218688"/>
            <a:ext cx="50292" cy="676656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46" name="Text 43"/>
          <p:cNvSpPr/>
          <p:nvPr/>
        </p:nvSpPr>
        <p:spPr>
          <a:xfrm>
            <a:off x="411480" y="328269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/ Counter Chain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2633472" y="3282696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offer, counter, addendum signed via Dropbox Sign sequentially. Locker cannot open on a standalone PA upload. The definitive PA is the last document in the chain.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274320" y="3986784"/>
            <a:ext cx="4160520" cy="676656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9" name="Shape 46"/>
          <p:cNvSpPr/>
          <p:nvPr/>
        </p:nvSpPr>
        <p:spPr>
          <a:xfrm>
            <a:off x="274320" y="3986784"/>
            <a:ext cx="50292" cy="676656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p/>
        </p:txBody>
      </p:sp>
      <p:sp>
        <p:nvSpPr>
          <p:cNvPr id="50" name="Text 47"/>
          <p:cNvSpPr/>
          <p:nvPr/>
        </p:nvSpPr>
        <p:spPr>
          <a:xfrm>
            <a:off x="411480" y="405079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Accounts Verified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2633472" y="4050792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Financial Connections. No manual routing numbers ever touch TitleApp. Account ownership confirmed. Wire callback protocol on any change. OFAC re-checked at disbursement.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4663440" y="2450592"/>
            <a:ext cx="4160520" cy="676656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3" name="Shape 50"/>
          <p:cNvSpPr/>
          <p:nvPr/>
        </p:nvSpPr>
        <p:spPr>
          <a:xfrm>
            <a:off x="4663440" y="2450592"/>
            <a:ext cx="50292" cy="676656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p/>
        </p:txBody>
      </p:sp>
      <p:sp>
        <p:nvSpPr>
          <p:cNvPr id="54" name="Text 51"/>
          <p:cNvSpPr/>
          <p:nvPr/>
        </p:nvSpPr>
        <p:spPr>
          <a:xfrm>
            <a:off x="4800600" y="251460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RON Notarization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7022592" y="2514600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Notarize.com or Proof.com API. Stage 5 hard stop. 42+ RON-permitted states. Session recorded. Notarized PDF returned to Locker. In-person coordination where RON not permitted.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4663440" y="3218688"/>
            <a:ext cx="4160520" cy="676656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7" name="Shape 54"/>
          <p:cNvSpPr/>
          <p:nvPr/>
        </p:nvSpPr>
        <p:spPr>
          <a:xfrm>
            <a:off x="4663440" y="3218688"/>
            <a:ext cx="50292" cy="676656"/>
          </a:xfrm>
          <a:prstGeom prst="rect">
            <a:avLst/>
          </a:prstGeom>
          <a:solidFill>
            <a:srgbClr val="0F2342"/>
          </a:solidFill>
          <a:ln/>
        </p:spPr>
        <p:txBody>
          <a:bodyPr/>
          <a:p/>
        </p:txBody>
      </p:sp>
      <p:sp>
        <p:nvSpPr>
          <p:cNvPr id="58" name="Text 55"/>
          <p:cNvSpPr/>
          <p:nvPr/>
        </p:nvSpPr>
        <p:spPr>
          <a:xfrm>
            <a:off x="4800600" y="328269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Audit Trail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7022592" y="3282696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stage transition, every document, every disbursement SHA-256 hashed and timestamped. Append-only patent. Records cannot be altered after the fact. Court-ready from day one.</a:t>
            </a:r>
            <a:endParaRPr lang="en-US" sz="850" dirty="0"/>
          </a:p>
        </p:txBody>
      </p:sp>
      <p:sp>
        <p:nvSpPr>
          <p:cNvPr id="60" name="Shape 57"/>
          <p:cNvSpPr/>
          <p:nvPr/>
        </p:nvSpPr>
        <p:spPr>
          <a:xfrm>
            <a:off x="4663440" y="3986784"/>
            <a:ext cx="4160520" cy="676656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1" name="Shape 58"/>
          <p:cNvSpPr/>
          <p:nvPr/>
        </p:nvSpPr>
        <p:spPr>
          <a:xfrm>
            <a:off x="4663440" y="3986784"/>
            <a:ext cx="50292" cy="67665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62" name="Text 59"/>
          <p:cNvSpPr/>
          <p:nvPr/>
        </p:nvSpPr>
        <p:spPr>
          <a:xfrm>
            <a:off x="4800600" y="405079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DTC Transfer on Close</a:t>
            </a:r>
            <a:endParaRPr lang="en-US" sz="1100" dirty="0"/>
          </a:p>
        </p:txBody>
      </p:sp>
      <p:sp>
        <p:nvSpPr>
          <p:cNvPr id="63" name="Text 60"/>
          <p:cNvSpPr/>
          <p:nvPr/>
        </p:nvSpPr>
        <p:spPr>
          <a:xfrm>
            <a:off x="7022592" y="4050792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Recording confirmation triggers Digital Title Certificate transfer from seller Vault to buyer Vault. Logbook transferred. Locker sealed. The DTC is not a document — it is the title.</a:t>
            </a:r>
            <a:endParaRPr lang="en-US" sz="850" dirty="0"/>
          </a:p>
        </p:txBody>
      </p:sp>
      <p:sp>
        <p:nvSpPr>
          <p:cNvPr id="64" name="Shape 6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65" name="Text 62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Title &amp; Escrow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74320" y="237744"/>
            <a:ext cx="8595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Workers. Complete Title &amp; Escrow Function.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74320" y="7498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ESC-001 is the anchor. Every other worker feeds into or follows the Locker.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1024128"/>
            <a:ext cx="8595360" cy="20117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228600" y="1170432"/>
            <a:ext cx="4251960" cy="530352"/>
          </a:xfrm>
          <a:prstGeom prst="rect">
            <a:avLst/>
          </a:prstGeom>
          <a:solidFill>
            <a:srgbClr val="FDF8E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228600" y="1170432"/>
            <a:ext cx="50292" cy="53035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20040" y="122529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ESC-001 ★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655064" y="1225296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Escrow Locker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014216" y="1225296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$79/mo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20040" y="1463040"/>
            <a:ext cx="4078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chain → identity → EMD → conditions → notarize → disburse → DTC transfer. The patent.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28600" y="1762963"/>
            <a:ext cx="4251960" cy="530352"/>
          </a:xfrm>
          <a:prstGeom prst="rect">
            <a:avLst/>
          </a:prstGeom>
          <a:solidFill>
            <a:srgbClr val="FAFBF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228600" y="1762963"/>
            <a:ext cx="50292" cy="53035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320040" y="1817827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ESC-002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655064" y="1817827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Fraud Prevention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014216" y="1817827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$79/mo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20040" y="2055571"/>
            <a:ext cx="4078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Callback protocol, domain check, change-hold logic. Embedded in ESC-001; also standalone.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228600" y="2355494"/>
            <a:ext cx="4251960" cy="530352"/>
          </a:xfrm>
          <a:prstGeom prst="rect">
            <a:avLst/>
          </a:prstGeom>
          <a:solidFill>
            <a:srgbClr val="FAFBF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228600" y="2355494"/>
            <a:ext cx="50292" cy="53035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320040" y="241035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ESC-003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655064" y="2410358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Search &amp; Commitment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014216" y="2410358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20040" y="2648102"/>
            <a:ext cx="4078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Preliminary title report ordering, exception tracking, clearance condition management.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28600" y="2948026"/>
            <a:ext cx="4251960" cy="530352"/>
          </a:xfrm>
          <a:prstGeom prst="rect">
            <a:avLst/>
          </a:prstGeom>
          <a:solidFill>
            <a:srgbClr val="FAFBF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228600" y="2948026"/>
            <a:ext cx="50292" cy="53035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320040" y="300289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ESC-004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655064" y="3002890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Lien Clearance Manager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014216" y="3002890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$79/mo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320040" y="3240634"/>
            <a:ext cx="4078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open liens tracked, payoff demands, release confirmation. Hard stop before DTC transfer.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228600" y="3540557"/>
            <a:ext cx="4251960" cy="530352"/>
          </a:xfrm>
          <a:prstGeom prst="rect">
            <a:avLst/>
          </a:prstGeom>
          <a:solidFill>
            <a:srgbClr val="FAFBF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228600" y="3540557"/>
            <a:ext cx="50292" cy="53035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320040" y="3595421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ESC-005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655064" y="3595421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Disclosure Package Assembler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4014216" y="3595421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320040" y="3833165"/>
            <a:ext cx="4078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State-mandated seller disclosures, HOA docs, inspection reports, delivery confirmation.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228600" y="4133088"/>
            <a:ext cx="4251960" cy="530352"/>
          </a:xfrm>
          <a:prstGeom prst="rect">
            <a:avLst/>
          </a:prstGeom>
          <a:solidFill>
            <a:srgbClr val="FAFBF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9" name="Shape 36"/>
          <p:cNvSpPr/>
          <p:nvPr/>
        </p:nvSpPr>
        <p:spPr>
          <a:xfrm>
            <a:off x="228600" y="4133088"/>
            <a:ext cx="50292" cy="53035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320040" y="4187952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ESC-006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655064" y="4187952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Disclosure Generator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4014216" y="418795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320040" y="4425696"/>
            <a:ext cx="4078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TRID-compliant (residential) / ALTA (commercial). All credits/debits verified against agreement.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4663440" y="1170432"/>
            <a:ext cx="4251960" cy="530352"/>
          </a:xfrm>
          <a:prstGeom prst="rect">
            <a:avLst/>
          </a:prstGeom>
          <a:solidFill>
            <a:srgbClr val="FAFBF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5" name="Shape 42"/>
          <p:cNvSpPr/>
          <p:nvPr/>
        </p:nvSpPr>
        <p:spPr>
          <a:xfrm>
            <a:off x="4663440" y="1170432"/>
            <a:ext cx="50292" cy="53035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46" name="Text 43"/>
          <p:cNvSpPr/>
          <p:nvPr/>
        </p:nvSpPr>
        <p:spPr>
          <a:xfrm>
            <a:off x="4754880" y="122529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ESC-007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6089904" y="1225296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FIRPTA / 1031 Exchange</a:t>
            </a:r>
            <a:endParaRPr lang="en-US" sz="1050" dirty="0"/>
          </a:p>
        </p:txBody>
      </p:sp>
      <p:sp>
        <p:nvSpPr>
          <p:cNvPr id="48" name="Text 45"/>
          <p:cNvSpPr/>
          <p:nvPr/>
        </p:nvSpPr>
        <p:spPr>
          <a:xfrm>
            <a:off x="8449056" y="1225296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$79/mo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4754880" y="1463040"/>
            <a:ext cx="4078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Foreign seller withholding, identification period, QI coordination, boot calculation.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4663440" y="1762963"/>
            <a:ext cx="4251960" cy="530352"/>
          </a:xfrm>
          <a:prstGeom prst="rect">
            <a:avLst/>
          </a:prstGeom>
          <a:solidFill>
            <a:srgbClr val="FAFBF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1" name="Shape 48"/>
          <p:cNvSpPr/>
          <p:nvPr/>
        </p:nvSpPr>
        <p:spPr>
          <a:xfrm>
            <a:off x="4663440" y="1762963"/>
            <a:ext cx="50292" cy="53035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52" name="Text 49"/>
          <p:cNvSpPr/>
          <p:nvPr/>
        </p:nvSpPr>
        <p:spPr>
          <a:xfrm>
            <a:off x="4754880" y="1817827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ESC-008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6089904" y="1817827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 &amp; Fee Reconciliation</a:t>
            </a:r>
            <a:endParaRPr lang="en-US" sz="1050" dirty="0"/>
          </a:p>
        </p:txBody>
      </p:sp>
      <p:sp>
        <p:nvSpPr>
          <p:cNvPr id="54" name="Text 51"/>
          <p:cNvSpPr/>
          <p:nvPr/>
        </p:nvSpPr>
        <p:spPr>
          <a:xfrm>
            <a:off x="8449056" y="1817827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4754880" y="2055571"/>
            <a:ext cx="4078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commissions and escrow fees verified against signed agreements before disbursement.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4663440" y="2355494"/>
            <a:ext cx="4251960" cy="530352"/>
          </a:xfrm>
          <a:prstGeom prst="rect">
            <a:avLst/>
          </a:prstGeom>
          <a:solidFill>
            <a:srgbClr val="FAFBF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7" name="Shape 54"/>
          <p:cNvSpPr/>
          <p:nvPr/>
        </p:nvSpPr>
        <p:spPr>
          <a:xfrm>
            <a:off x="4663440" y="2355494"/>
            <a:ext cx="50292" cy="53035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58" name="Text 55"/>
          <p:cNvSpPr/>
          <p:nvPr/>
        </p:nvSpPr>
        <p:spPr>
          <a:xfrm>
            <a:off x="4754880" y="241035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ESC-009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6089904" y="2410358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Estoppel Coordinator</a:t>
            </a:r>
            <a:endParaRPr lang="en-US" sz="1050" dirty="0"/>
          </a:p>
        </p:txBody>
      </p:sp>
      <p:sp>
        <p:nvSpPr>
          <p:cNvPr id="60" name="Text 57"/>
          <p:cNvSpPr/>
          <p:nvPr/>
        </p:nvSpPr>
        <p:spPr>
          <a:xfrm>
            <a:off x="8449056" y="2410358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4754880" y="2648102"/>
            <a:ext cx="4078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Estoppel certificate ordered, delivery tracked, unpaid dues as Locker condition.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4663440" y="2948026"/>
            <a:ext cx="4251960" cy="530352"/>
          </a:xfrm>
          <a:prstGeom prst="rect">
            <a:avLst/>
          </a:prstGeom>
          <a:solidFill>
            <a:srgbClr val="FAFBF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3" name="Shape 60"/>
          <p:cNvSpPr/>
          <p:nvPr/>
        </p:nvSpPr>
        <p:spPr>
          <a:xfrm>
            <a:off x="4663440" y="2948026"/>
            <a:ext cx="50292" cy="530352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64" name="Text 61"/>
          <p:cNvSpPr/>
          <p:nvPr/>
        </p:nvSpPr>
        <p:spPr>
          <a:xfrm>
            <a:off x="4754880" y="300289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ESC-010</a:t>
            </a:r>
            <a:endParaRPr lang="en-US" sz="900" dirty="0"/>
          </a:p>
        </p:txBody>
      </p:sp>
      <p:sp>
        <p:nvSpPr>
          <p:cNvPr id="65" name="Text 62"/>
          <p:cNvSpPr/>
          <p:nvPr/>
        </p:nvSpPr>
        <p:spPr>
          <a:xfrm>
            <a:off x="6089904" y="3002890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/ Seller Status Portal</a:t>
            </a:r>
            <a:endParaRPr lang="en-US" sz="1050" dirty="0"/>
          </a:p>
        </p:txBody>
      </p:sp>
      <p:sp>
        <p:nvSpPr>
          <p:cNvPr id="66" name="Text 63"/>
          <p:cNvSpPr/>
          <p:nvPr/>
        </p:nvSpPr>
        <p:spPr>
          <a:xfrm>
            <a:off x="8449056" y="3002890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$29/mo</a:t>
            </a:r>
            <a:endParaRPr lang="en-US" sz="900" dirty="0"/>
          </a:p>
        </p:txBody>
      </p:sp>
      <p:sp>
        <p:nvSpPr>
          <p:cNvPr id="67" name="Text 64"/>
          <p:cNvSpPr/>
          <p:nvPr/>
        </p:nvSpPr>
        <p:spPr>
          <a:xfrm>
            <a:off x="4754880" y="3240634"/>
            <a:ext cx="4078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Locker stage updates. Eliminates 'where are we in escrow?' calls entirely.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4663440" y="3540557"/>
            <a:ext cx="4251960" cy="530352"/>
          </a:xfrm>
          <a:prstGeom prst="rect">
            <a:avLst/>
          </a:prstGeom>
          <a:solidFill>
            <a:srgbClr val="FAFBF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9" name="Shape 66"/>
          <p:cNvSpPr/>
          <p:nvPr/>
        </p:nvSpPr>
        <p:spPr>
          <a:xfrm>
            <a:off x="4663440" y="3540557"/>
            <a:ext cx="50292" cy="53035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70" name="Text 67"/>
          <p:cNvSpPr/>
          <p:nvPr/>
        </p:nvSpPr>
        <p:spPr>
          <a:xfrm>
            <a:off x="4754880" y="3595421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ESC-011</a:t>
            </a:r>
            <a:endParaRPr lang="en-US" sz="900" dirty="0"/>
          </a:p>
        </p:txBody>
      </p:sp>
      <p:sp>
        <p:nvSpPr>
          <p:cNvPr id="71" name="Text 68"/>
          <p:cNvSpPr/>
          <p:nvPr/>
        </p:nvSpPr>
        <p:spPr>
          <a:xfrm>
            <a:off x="6089904" y="3595421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Post-Close Recording Monitor</a:t>
            </a:r>
            <a:endParaRPr lang="en-US" sz="1050" dirty="0"/>
          </a:p>
        </p:txBody>
      </p:sp>
      <p:sp>
        <p:nvSpPr>
          <p:cNvPr id="72" name="Text 69"/>
          <p:cNvSpPr/>
          <p:nvPr/>
        </p:nvSpPr>
        <p:spPr>
          <a:xfrm>
            <a:off x="8449056" y="3595421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$79/mo</a:t>
            </a:r>
            <a:endParaRPr lang="en-US" sz="900" dirty="0"/>
          </a:p>
        </p:txBody>
      </p:sp>
      <p:sp>
        <p:nvSpPr>
          <p:cNvPr id="73" name="Text 70"/>
          <p:cNvSpPr/>
          <p:nvPr/>
        </p:nvSpPr>
        <p:spPr>
          <a:xfrm>
            <a:off x="4754880" y="3833165"/>
            <a:ext cx="4078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Deed recordation tracking, public record confirmation, triggers DTC transfer on receipt.</a:t>
            </a:r>
            <a:endParaRPr lang="en-US" sz="850" dirty="0"/>
          </a:p>
        </p:txBody>
      </p:sp>
      <p:sp>
        <p:nvSpPr>
          <p:cNvPr id="74" name="Shape 71"/>
          <p:cNvSpPr/>
          <p:nvPr/>
        </p:nvSpPr>
        <p:spPr>
          <a:xfrm>
            <a:off x="4663440" y="4133088"/>
            <a:ext cx="4251960" cy="530352"/>
          </a:xfrm>
          <a:prstGeom prst="rect">
            <a:avLst/>
          </a:prstGeom>
          <a:solidFill>
            <a:srgbClr val="0F234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5" name="Shape 72"/>
          <p:cNvSpPr/>
          <p:nvPr/>
        </p:nvSpPr>
        <p:spPr>
          <a:xfrm>
            <a:off x="4663440" y="4133088"/>
            <a:ext cx="50292" cy="530352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76" name="Text 73"/>
          <p:cNvSpPr/>
          <p:nvPr/>
        </p:nvSpPr>
        <p:spPr>
          <a:xfrm>
            <a:off x="4754880" y="4187952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9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ESC-012</a:t>
            </a:r>
            <a:endParaRPr lang="en-US" sz="900" dirty="0"/>
          </a:p>
        </p:txBody>
      </p:sp>
      <p:sp>
        <p:nvSpPr>
          <p:cNvPr id="77" name="Text 74"/>
          <p:cNvSpPr/>
          <p:nvPr/>
        </p:nvSpPr>
        <p:spPr>
          <a:xfrm>
            <a:off x="6089904" y="4187952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— Title &amp; Escrow CoS</a:t>
            </a:r>
            <a:endParaRPr lang="en-US" sz="1050" dirty="0"/>
          </a:p>
        </p:txBody>
      </p:sp>
      <p:sp>
        <p:nvSpPr>
          <p:cNvPr id="78" name="Text 75"/>
          <p:cNvSpPr/>
          <p:nvPr/>
        </p:nvSpPr>
        <p:spPr>
          <a:xfrm>
            <a:off x="8449056" y="418795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900" dirty="0"/>
          </a:p>
        </p:txBody>
      </p:sp>
      <p:sp>
        <p:nvSpPr>
          <p:cNvPr id="79" name="Text 76"/>
          <p:cNvSpPr/>
          <p:nvPr/>
        </p:nvSpPr>
        <p:spPr>
          <a:xfrm>
            <a:off x="4754880" y="4425696"/>
            <a:ext cx="4078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Locker briefing, deadline alerts, condition anomaly detection. Free with 3+ ESC workers.</a:t>
            </a:r>
            <a:endParaRPr lang="en-US" sz="850" dirty="0"/>
          </a:p>
        </p:txBody>
      </p:sp>
      <p:sp>
        <p:nvSpPr>
          <p:cNvPr id="80" name="Shape 7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81" name="Text 78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Title &amp; Escrow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4320" y="237744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Digital Title Certificate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274320" y="7315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DTC is not a document stored somewhere. It is the title. The transfer is the record.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4320" y="1170432"/>
            <a:ext cx="4160520" cy="2999232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274320" y="1170432"/>
            <a:ext cx="4160520" cy="5029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3749040" y="1225296"/>
            <a:ext cx="566928" cy="402336"/>
          </a:xfrm>
          <a:prstGeom prst="rect">
            <a:avLst>
              <a:gd name="adj" fmla="val 18182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749040" y="1225296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38912" y="12435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title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38912" y="15361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paper deed recorded at the county.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38912" y="1828800"/>
            <a:ext cx="374904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Editable database. Fraudulent deed can be recorded. Chain of title is only as trustworthy as the county's database admin. Verification takes days.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09160" y="1170432"/>
            <a:ext cx="4160520" cy="2999232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4709160" y="1170432"/>
            <a:ext cx="4160520" cy="5029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8183880" y="1225296"/>
            <a:ext cx="566928" cy="402336"/>
          </a:xfrm>
          <a:prstGeom prst="rect">
            <a:avLst>
              <a:gd name="adj" fmla="val 18182"/>
            </a:avLst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8183880" y="1225296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873752" y="12435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Title Certificate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873752" y="15361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cryptographic asset in your Vault.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873752" y="1828800"/>
            <a:ext cx="374904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hashed. Append-only. Transferred on close — not copied, transferred. The seller's Vault no longer shows the asset. The buyer's Vault does, with full history.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74320" y="4297680"/>
            <a:ext cx="8595360" cy="402336"/>
          </a:xfrm>
          <a:prstGeom prst="rect">
            <a:avLst/>
          </a:prstGeom>
          <a:solidFill>
            <a:srgbClr val="C9A84C">
              <a:alpha val="12000"/>
            </a:srgbClr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38912" y="43525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DTC works for real property, aircraft, vehicles, and equipment — any titled asset. The same Locker. The same architecture. The same moat.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62C52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Title &amp; Escrow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F2342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74320" y="237744"/>
            <a:ext cx="8595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Locker. Every Asset Class.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74320" y="7498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container model — DTC + logbook + conditions + Vault transfer — across every titled asset.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1024128"/>
            <a:ext cx="8595360" cy="20117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228600" y="1170432"/>
            <a:ext cx="2066544" cy="3621024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228600" y="1170432"/>
            <a:ext cx="2066544" cy="50292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228600" y="1243584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338328" y="1719072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Property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38328" y="2084832"/>
            <a:ext cx="54864" cy="219456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48056" y="206654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Residential, commercial, vacant land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38328" y="2596896"/>
            <a:ext cx="54864" cy="219456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48056" y="25786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County recorder integration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38328" y="3108960"/>
            <a:ext cx="54864" cy="219456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448056" y="30906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TRID / ALTA closing documents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38328" y="3621024"/>
            <a:ext cx="54864" cy="219456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48056" y="360273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State-specific disclosure packages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38328" y="4133088"/>
            <a:ext cx="54864" cy="219456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48056" y="41148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RON or in-person notarization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441448" y="1170432"/>
            <a:ext cx="2066544" cy="3621024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2441448" y="1170432"/>
            <a:ext cx="2066544" cy="50292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2441448" y="1243584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2551176" y="1719072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Aircraft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2551176" y="2084832"/>
            <a:ext cx="54864" cy="219456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2660904" y="206654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FAA N-number registration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2551176" y="2596896"/>
            <a:ext cx="54864" cy="219456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2660904" y="25786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Civil Aviation Registry integration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2551176" y="3108960"/>
            <a:ext cx="54864" cy="219456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2660904" y="30906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logbook transfer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2551176" y="3621024"/>
            <a:ext cx="54864" cy="219456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2660904" y="360273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Airworthiness &amp; AD compliance chain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2551176" y="4133088"/>
            <a:ext cx="54864" cy="219456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2660904" y="41148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ICAO standards — international sales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4654296" y="1170432"/>
            <a:ext cx="2066544" cy="3621024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4654296" y="1170432"/>
            <a:ext cx="2066544" cy="5029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4654296" y="1243584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</a:t>
            </a:r>
            <a:endParaRPr lang="en-US" sz="2600" dirty="0"/>
          </a:p>
        </p:txBody>
      </p:sp>
      <p:sp>
        <p:nvSpPr>
          <p:cNvPr id="39" name="Text 36"/>
          <p:cNvSpPr/>
          <p:nvPr/>
        </p:nvSpPr>
        <p:spPr>
          <a:xfrm>
            <a:off x="4764024" y="1719072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Vehicles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4764024" y="2084832"/>
            <a:ext cx="54864" cy="21945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4873752" y="206654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DMV title transfer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4764024" y="2596896"/>
            <a:ext cx="54864" cy="21945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4873752" y="25786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NMVTIS integration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4764024" y="3108960"/>
            <a:ext cx="54864" cy="21945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4873752" y="30906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Odometer, salvage, lien history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4764024" y="3621024"/>
            <a:ext cx="54864" cy="21945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47" name="Text 44"/>
          <p:cNvSpPr/>
          <p:nvPr/>
        </p:nvSpPr>
        <p:spPr>
          <a:xfrm>
            <a:off x="4873752" y="360273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F&amp;I offer/counter chain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4764024" y="4133088"/>
            <a:ext cx="54864" cy="21945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49" name="Text 46"/>
          <p:cNvSpPr/>
          <p:nvPr/>
        </p:nvSpPr>
        <p:spPr>
          <a:xfrm>
            <a:off x="4873752" y="41148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OFAC / BSA compliance for cash deals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6867144" y="1170432"/>
            <a:ext cx="2066544" cy="3621024"/>
          </a:xfrm>
          <a:prstGeom prst="rect">
            <a:avLst/>
          </a:prstGeom>
          <a:solidFill>
            <a:srgbClr val="0F234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1" name="Shape 48"/>
          <p:cNvSpPr/>
          <p:nvPr/>
        </p:nvSpPr>
        <p:spPr>
          <a:xfrm>
            <a:off x="6867144" y="1170432"/>
            <a:ext cx="2066544" cy="50292"/>
          </a:xfrm>
          <a:prstGeom prst="rect">
            <a:avLst/>
          </a:prstGeom>
          <a:solidFill>
            <a:srgbClr val="0F2342"/>
          </a:solidFill>
          <a:ln/>
        </p:spPr>
        <p:txBody>
          <a:bodyPr/>
          <a:p/>
        </p:txBody>
      </p:sp>
      <p:sp>
        <p:nvSpPr>
          <p:cNvPr id="52" name="Text 49"/>
          <p:cNvSpPr/>
          <p:nvPr/>
        </p:nvSpPr>
        <p:spPr>
          <a:xfrm>
            <a:off x="6867144" y="1243584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</a:t>
            </a:r>
            <a:endParaRPr lang="en-US" sz="2600" dirty="0"/>
          </a:p>
        </p:txBody>
      </p:sp>
      <p:sp>
        <p:nvSpPr>
          <p:cNvPr id="53" name="Text 50"/>
          <p:cNvSpPr/>
          <p:nvPr/>
        </p:nvSpPr>
        <p:spPr>
          <a:xfrm>
            <a:off x="6976872" y="1719072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&amp; Enterprise</a:t>
            </a:r>
            <a:endParaRPr lang="en-US" sz="1300" dirty="0"/>
          </a:p>
        </p:txBody>
      </p:sp>
      <p:sp>
        <p:nvSpPr>
          <p:cNvPr id="54" name="Shape 51"/>
          <p:cNvSpPr/>
          <p:nvPr/>
        </p:nvSpPr>
        <p:spPr>
          <a:xfrm>
            <a:off x="6976872" y="2084832"/>
            <a:ext cx="54864" cy="219456"/>
          </a:xfrm>
          <a:prstGeom prst="rect">
            <a:avLst/>
          </a:prstGeom>
          <a:solidFill>
            <a:srgbClr val="0F2342"/>
          </a:solidFill>
          <a:ln/>
        </p:spPr>
        <p:txBody>
          <a:bodyPr/>
          <a:p/>
        </p:txBody>
      </p:sp>
      <p:sp>
        <p:nvSpPr>
          <p:cNvPr id="55" name="Text 52"/>
          <p:cNvSpPr/>
          <p:nvPr/>
        </p:nvSpPr>
        <p:spPr>
          <a:xfrm>
            <a:off x="7086600" y="206654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extended coverage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6976872" y="2596896"/>
            <a:ext cx="54864" cy="219456"/>
          </a:xfrm>
          <a:prstGeom prst="rect">
            <a:avLst/>
          </a:prstGeom>
          <a:solidFill>
            <a:srgbClr val="0F2342"/>
          </a:solidFill>
          <a:ln/>
        </p:spPr>
        <p:txBody>
          <a:bodyPr/>
          <a:p/>
        </p:txBody>
      </p:sp>
      <p:sp>
        <p:nvSpPr>
          <p:cNvPr id="57" name="Text 54"/>
          <p:cNvSpPr/>
          <p:nvPr/>
        </p:nvSpPr>
        <p:spPr>
          <a:xfrm>
            <a:off x="7086600" y="25786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assignment + beneficial ownership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6976872" y="3108960"/>
            <a:ext cx="54864" cy="219456"/>
          </a:xfrm>
          <a:prstGeom prst="rect">
            <a:avLst/>
          </a:prstGeom>
          <a:solidFill>
            <a:srgbClr val="0F2342"/>
          </a:solidFill>
          <a:ln/>
        </p:spPr>
        <p:txBody>
          <a:bodyPr/>
          <a:p/>
        </p:txBody>
      </p:sp>
      <p:sp>
        <p:nvSpPr>
          <p:cNvPr id="59" name="Text 56"/>
          <p:cNvSpPr/>
          <p:nvPr/>
        </p:nvSpPr>
        <p:spPr>
          <a:xfrm>
            <a:off x="7086600" y="30906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FIRPTA / 1031 exchange coordination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6976872" y="3621024"/>
            <a:ext cx="54864" cy="219456"/>
          </a:xfrm>
          <a:prstGeom prst="rect">
            <a:avLst/>
          </a:prstGeom>
          <a:solidFill>
            <a:srgbClr val="0F2342"/>
          </a:solidFill>
          <a:ln/>
        </p:spPr>
        <p:txBody>
          <a:bodyPr/>
          <a:p/>
        </p:txBody>
      </p:sp>
      <p:sp>
        <p:nvSpPr>
          <p:cNvPr id="61" name="Text 58"/>
          <p:cNvSpPr/>
          <p:nvPr/>
        </p:nvSpPr>
        <p:spPr>
          <a:xfrm>
            <a:off x="7086600" y="360273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UCC-filed collateral tracking</a:t>
            </a:r>
            <a:endParaRPr lang="en-US" sz="900" dirty="0"/>
          </a:p>
        </p:txBody>
      </p:sp>
      <p:sp>
        <p:nvSpPr>
          <p:cNvPr id="62" name="Shape 59"/>
          <p:cNvSpPr/>
          <p:nvPr/>
        </p:nvSpPr>
        <p:spPr>
          <a:xfrm>
            <a:off x="6976872" y="4133088"/>
            <a:ext cx="54864" cy="219456"/>
          </a:xfrm>
          <a:prstGeom prst="rect">
            <a:avLst/>
          </a:prstGeom>
          <a:solidFill>
            <a:srgbClr val="0F2342"/>
          </a:solidFill>
          <a:ln/>
        </p:spPr>
        <p:txBody>
          <a:bodyPr/>
          <a:p/>
        </p:txBody>
      </p:sp>
      <p:sp>
        <p:nvSpPr>
          <p:cNvPr id="63" name="Text 60"/>
          <p:cNvSpPr/>
          <p:nvPr/>
        </p:nvSpPr>
        <p:spPr>
          <a:xfrm>
            <a:off x="7086600" y="41148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title review for institutional buyers</a:t>
            </a:r>
            <a:endParaRPr lang="en-US" sz="900" dirty="0"/>
          </a:p>
        </p:txBody>
      </p:sp>
      <p:sp>
        <p:nvSpPr>
          <p:cNvPr id="64" name="Text 61"/>
          <p:cNvSpPr/>
          <p:nvPr/>
        </p:nvSpPr>
        <p:spPr>
          <a:xfrm>
            <a:off x="228600" y="482803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Real Property + Aircraft  ·  Phase 2: Motor Vehicles  ·  Phase 3: Commercial / Enterprise</a:t>
            </a:r>
            <a:endParaRPr lang="en-US" sz="900" dirty="0"/>
          </a:p>
        </p:txBody>
      </p:sp>
      <p:sp>
        <p:nvSpPr>
          <p:cNvPr id="65" name="Shape 6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66" name="Text 63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Title &amp; Escrow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4320" y="237744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Tier 1 Hard Stops — Non-Negotiable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274320" y="7315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rules cannot be overridden at any tier. By anyone. Ever.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56032" y="1170432"/>
            <a:ext cx="4224528" cy="512064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256032" y="1170432"/>
            <a:ext cx="50292" cy="5120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384048" y="122529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identity_verified_all_parties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84048" y="142646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stage advances without all parties KYC'd. OFAC hit = immediate freeze.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56032" y="1764792"/>
            <a:ext cx="4224528" cy="512064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256032" y="1764792"/>
            <a:ext cx="50292" cy="5120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384048" y="181965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offer_chain_required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84048" y="202082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Locker cannot open on a standalone PA upload. Offer chain required.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56032" y="2359152"/>
            <a:ext cx="4224528" cy="512064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256032" y="2359152"/>
            <a:ext cx="50292" cy="51206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384048" y="241401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bank_account_verified_before_disbursement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84048" y="261518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recipient accounts verified via Stripe Financial Connections before disbursement.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56032" y="2953512"/>
            <a:ext cx="4224528" cy="512064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256032" y="2953512"/>
            <a:ext cx="50292" cy="51206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384048" y="300837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wire_callback_required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384048" y="32095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outbound wire verified via callback to a number from the original contract.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256032" y="3547872"/>
            <a:ext cx="4224528" cy="512064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256032" y="3547872"/>
            <a:ext cx="50292" cy="5120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384048" y="360273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wire_change_hold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384048" y="380390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changed wire instruction: automatic hold, human authorization required.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256032" y="4142232"/>
            <a:ext cx="4224528" cy="512064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256032" y="4142232"/>
            <a:ext cx="50292" cy="5120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384048" y="419709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no_disbursement_before_conditions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384048" y="439826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disbursement until all Locker conditions are SATISFIED with verified source.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663440" y="1170432"/>
            <a:ext cx="4224528" cy="512064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4663440" y="1170432"/>
            <a:ext cx="50292" cy="512064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4791456" y="122529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notarization_before_recording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4791456" y="142646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Recording stage without all required notarization confirmed.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4663440" y="1764792"/>
            <a:ext cx="4224528" cy="512064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4663440" y="1764792"/>
            <a:ext cx="50292" cy="512064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4791456" y="181965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no_dtc_transfer_before_recording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4791456" y="202082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DTC transfer only after recording confirmation number received.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4663440" y="2359152"/>
            <a:ext cx="4224528" cy="512064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0" name="Shape 37"/>
          <p:cNvSpPr/>
          <p:nvPr/>
        </p:nvSpPr>
        <p:spPr>
          <a:xfrm>
            <a:off x="4663440" y="2359152"/>
            <a:ext cx="50292" cy="512064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4791456" y="241401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no_commingling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4791456" y="261518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EMD and closing funds in separate Stripe sub-accounts. Always.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663440" y="2953512"/>
            <a:ext cx="4224528" cy="512064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4" name="Shape 41"/>
          <p:cNvSpPr/>
          <p:nvPr/>
        </p:nvSpPr>
        <p:spPr>
          <a:xfrm>
            <a:off x="4663440" y="2953512"/>
            <a:ext cx="50292" cy="512064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4791456" y="300837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human_in_loop_at_disbursement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4791456" y="32095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must confirm final disbursement. No autonomous disbursement under any condition.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4663440" y="3547872"/>
            <a:ext cx="4224528" cy="512064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8" name="Shape 45"/>
          <p:cNvSpPr/>
          <p:nvPr/>
        </p:nvSpPr>
        <p:spPr>
          <a:xfrm>
            <a:off x="4663440" y="3547872"/>
            <a:ext cx="50292" cy="512064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p/>
        </p:txBody>
      </p:sp>
      <p:sp>
        <p:nvSpPr>
          <p:cNvPr id="49" name="Text 46"/>
          <p:cNvSpPr/>
          <p:nvPr/>
        </p:nvSpPr>
        <p:spPr>
          <a:xfrm>
            <a:off x="4791456" y="360273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seven_year_retention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4791456" y="380390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records — including RON sessions and offer chain — retained 7 years minimum.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4663440" y="4142232"/>
            <a:ext cx="4224528" cy="512064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2" name="Shape 49"/>
          <p:cNvSpPr/>
          <p:nvPr/>
        </p:nvSpPr>
        <p:spPr>
          <a:xfrm>
            <a:off x="4663440" y="4142232"/>
            <a:ext cx="50292" cy="512064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p/>
        </p:txBody>
      </p:sp>
      <p:sp>
        <p:nvSpPr>
          <p:cNvPr id="53" name="Text 50"/>
          <p:cNvSpPr/>
          <p:nvPr/>
        </p:nvSpPr>
        <p:spPr>
          <a:xfrm>
            <a:off x="4791456" y="419709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pii_masked_in_logs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4791456" y="439826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SSN, EIN, account numbers masked in audit log. Secure Vault access only.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62C52"/>
          </a:solidFill>
          <a:ln/>
        </p:spPr>
        <p:txBody>
          <a:bodyPr/>
          <a:p/>
        </p:txBody>
      </p:sp>
      <p:sp>
        <p:nvSpPr>
          <p:cNvPr id="56" name="Text 53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Title &amp; Escrow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74320" y="237744"/>
            <a:ext cx="8595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Integration Stack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74320" y="7498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third-party system the Escrow Locker connects to — and why.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1024128"/>
            <a:ext cx="8595360" cy="20117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228600" y="1170432"/>
            <a:ext cx="2779776" cy="804672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228600" y="1170432"/>
            <a:ext cx="50292" cy="804672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56616" y="1243584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Identity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56616" y="1517904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KYC/liveness for all individual parties. Document verification. Risk scoring.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172968" y="1170432"/>
            <a:ext cx="2779776" cy="804672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3172968" y="1170432"/>
            <a:ext cx="50292" cy="804672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3300984" y="1243584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Financial Connections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300984" y="1517904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account verification and linking. ACH/wire initiation without manual account entry.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117336" y="1170432"/>
            <a:ext cx="2779776" cy="804672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6117336" y="1170432"/>
            <a:ext cx="50292" cy="804672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245352" y="1243584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Treasury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245352" y="1517904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Earnest money and closing funds held in escrow sub-accounts. Disbursement triggered by Locker logic.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28600" y="2121408"/>
            <a:ext cx="2779776" cy="804672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228600" y="2121408"/>
            <a:ext cx="50292" cy="804672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356616" y="2194560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Dropbox Sign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56616" y="246888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offer, counter, addendum, settlement statement, and disclosure. Sequential envelope tracking.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172968" y="2121408"/>
            <a:ext cx="2779776" cy="804672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3172968" y="2121408"/>
            <a:ext cx="50292" cy="804672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3300984" y="2194560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Notarize.com / Proof.com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300984" y="246888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RON sessions for closing documents. KBA + video. Session recording. Notarized PDF returned to Locker.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117336" y="2121408"/>
            <a:ext cx="2779776" cy="804672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6117336" y="2121408"/>
            <a:ext cx="50292" cy="80467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6245352" y="2194560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OFAC / Sanctions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245352" y="246888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Queried at every new party addition. Re-checked at disbursement. Result logged in Vault.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228600" y="3072384"/>
            <a:ext cx="2779776" cy="804672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228600" y="3072384"/>
            <a:ext cx="50292" cy="80467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356616" y="3145536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ATTOM Data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356616" y="3419856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data, lien search, APN validation, open permit check for real property Lockers.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3172968" y="3072384"/>
            <a:ext cx="2779776" cy="804672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3172968" y="3072384"/>
            <a:ext cx="50292" cy="804672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3300984" y="3145536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FAA Civil Aviation Registry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3300984" y="3419856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N-number lookup, registration status, lien check for aircraft Lockers.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6117336" y="3072384"/>
            <a:ext cx="2779776" cy="804672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1" name="Shape 38"/>
          <p:cNvSpPr/>
          <p:nvPr/>
        </p:nvSpPr>
        <p:spPr>
          <a:xfrm>
            <a:off x="6117336" y="3072384"/>
            <a:ext cx="50292" cy="80467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42" name="Text 39"/>
          <p:cNvSpPr/>
          <p:nvPr/>
        </p:nvSpPr>
        <p:spPr>
          <a:xfrm>
            <a:off x="6245352" y="3145536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NMVTIS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6245352" y="3419856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 history, title status, salvage check for vehicle Lockers.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228600" y="4023360"/>
            <a:ext cx="2779776" cy="804672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5" name="Shape 42"/>
          <p:cNvSpPr/>
          <p:nvPr/>
        </p:nvSpPr>
        <p:spPr>
          <a:xfrm>
            <a:off x="228600" y="4023360"/>
            <a:ext cx="50292" cy="804672"/>
          </a:xfrm>
          <a:prstGeom prst="rect">
            <a:avLst/>
          </a:prstGeom>
          <a:solidFill>
            <a:srgbClr val="0F2342"/>
          </a:solidFill>
          <a:ln/>
        </p:spPr>
        <p:txBody>
          <a:bodyPr/>
          <a:p/>
        </p:txBody>
      </p:sp>
      <p:sp>
        <p:nvSpPr>
          <p:cNvPr id="46" name="Text 43"/>
          <p:cNvSpPr/>
          <p:nvPr/>
        </p:nvSpPr>
        <p:spPr>
          <a:xfrm>
            <a:off x="356616" y="4096512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License APIs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356616" y="4370832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DRE, DBPR, TREC, etc. Agent license active/good-standing check at Locker creation.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3172968" y="4023360"/>
            <a:ext cx="2779776" cy="804672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9" name="Shape 46"/>
          <p:cNvSpPr/>
          <p:nvPr/>
        </p:nvSpPr>
        <p:spPr>
          <a:xfrm>
            <a:off x="3172968" y="4023360"/>
            <a:ext cx="50292" cy="804672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50" name="Text 47"/>
          <p:cNvSpPr/>
          <p:nvPr/>
        </p:nvSpPr>
        <p:spPr>
          <a:xfrm>
            <a:off x="3300984" y="4096512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Twilio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3300984" y="4370832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 stage notifications. Wire verification callback initiation.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6117336" y="4023360"/>
            <a:ext cx="2779776" cy="804672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3" name="Shape 50"/>
          <p:cNvSpPr/>
          <p:nvPr/>
        </p:nvSpPr>
        <p:spPr>
          <a:xfrm>
            <a:off x="6117336" y="4023360"/>
            <a:ext cx="50292" cy="804672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p/>
        </p:txBody>
      </p:sp>
      <p:sp>
        <p:nvSpPr>
          <p:cNvPr id="54" name="Text 51"/>
          <p:cNvSpPr/>
          <p:nvPr/>
        </p:nvSpPr>
        <p:spPr>
          <a:xfrm>
            <a:off x="6245352" y="4096512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County Recorder / FAA / DMV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6245352" y="4370832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eRecording where available. Recording confirmation webhook triggers DTC transfer.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57" name="Text 54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Title &amp; Escrow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F2342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74320" y="237744"/>
            <a:ext cx="8595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Pricing Works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74320" y="7498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ESC-001 is the flagship at $79/mo. Support workers from $29. Credits, discounts, Alex automatic.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1024128"/>
            <a:ext cx="8595360" cy="20117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274320" y="111556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WORKER PRICING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74320" y="1353312"/>
            <a:ext cx="2697480" cy="148132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274320" y="1353312"/>
            <a:ext cx="50292" cy="1481328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38912" y="1417320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$29/mo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755648" y="14630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38912" y="1856232"/>
            <a:ext cx="2423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Buyer/Seller Status Portal — real-time Locker updates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74320" y="2542032"/>
            <a:ext cx="2697480" cy="237744"/>
          </a:xfrm>
          <a:prstGeom prst="rect">
            <a:avLst/>
          </a:prstGeom>
          <a:solidFill>
            <a:srgbClr val="1B4F8A">
              <a:alpha val="12000"/>
            </a:srgbClr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384048" y="25603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credits/mo included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172968" y="1353312"/>
            <a:ext cx="2697480" cy="148132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3172968" y="1353312"/>
            <a:ext cx="50292" cy="148132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3337560" y="1417320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4654296" y="14630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337560" y="1856232"/>
            <a:ext cx="2423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search, disclosure assembly, closing disclosure, commission rec, HOA estoppel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172968" y="2542032"/>
            <a:ext cx="2697480" cy="237744"/>
          </a:xfrm>
          <a:prstGeom prst="rect">
            <a:avLst/>
          </a:prstGeom>
          <a:solidFill>
            <a:srgbClr val="C9A84C">
              <a:alpha val="12000"/>
            </a:srgbClr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3282696" y="25603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 credits/mo included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071616" y="1353312"/>
            <a:ext cx="2697480" cy="148132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6071616" y="1353312"/>
            <a:ext cx="50292" cy="148132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6236208" y="1417320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$79/mo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7552944" y="14630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236208" y="1856232"/>
            <a:ext cx="2423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Escrow Locker, wire fraud, lien clearance, FIRPTA/1031, post-close recording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071616" y="2542032"/>
            <a:ext cx="2697480" cy="237744"/>
          </a:xfrm>
          <a:prstGeom prst="rect">
            <a:avLst/>
          </a:prstGeom>
          <a:solidFill>
            <a:srgbClr val="C0392B">
              <a:alpha val="12000"/>
            </a:srgbClr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6181344" y="25603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 credits/mo included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274320" y="28346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worker per month  ·  Subscription + Transaction Fee (0.5% of escrow volume, capped $500/transaction on disbursements)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274320" y="301752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Overage: $0.02 per credit above monthly inclusion — auto-billed via Stripe at billing cycle close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274320" y="3255264"/>
            <a:ext cx="8595360" cy="20117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274320" y="332841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TEAMS SAVE MORE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274320" y="3602736"/>
            <a:ext cx="2057400" cy="102412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274320" y="3602736"/>
            <a:ext cx="2057400" cy="50292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402336" y="366674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 workers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02336" y="39044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off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402336" y="42062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is FREE — daily Locker briefing, condition alerts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2487168" y="3602736"/>
            <a:ext cx="2057400" cy="102412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0" name="Shape 37"/>
          <p:cNvSpPr/>
          <p:nvPr/>
        </p:nvSpPr>
        <p:spPr>
          <a:xfrm>
            <a:off x="2487168" y="3602736"/>
            <a:ext cx="2057400" cy="5029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2615184" y="366674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5–10 workers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2615184" y="39044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off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2615184" y="42062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support tier included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4700016" y="3602736"/>
            <a:ext cx="2057400" cy="1024128"/>
          </a:xfrm>
          <a:prstGeom prst="rect">
            <a:avLst/>
          </a:prstGeom>
          <a:solidFill>
            <a:srgbClr val="0F234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5" name="Shape 42"/>
          <p:cNvSpPr/>
          <p:nvPr/>
        </p:nvSpPr>
        <p:spPr>
          <a:xfrm>
            <a:off x="4700016" y="3602736"/>
            <a:ext cx="2057400" cy="50292"/>
          </a:xfrm>
          <a:prstGeom prst="rect">
            <a:avLst/>
          </a:prstGeom>
          <a:solidFill>
            <a:srgbClr val="0F2342"/>
          </a:solidFill>
          <a:ln/>
        </p:spPr>
        <p:txBody>
          <a:bodyPr/>
          <a:p/>
        </p:txBody>
      </p:sp>
      <p:sp>
        <p:nvSpPr>
          <p:cNvPr id="46" name="Text 43"/>
          <p:cNvSpPr/>
          <p:nvPr/>
        </p:nvSpPr>
        <p:spPr>
          <a:xfrm>
            <a:off x="4828032" y="366674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 workers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4828032" y="39044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off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4828032" y="42062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escrow office platform. ~$290–$550/mo all-in.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6912864" y="3602736"/>
            <a:ext cx="2057400" cy="102412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0" name="Shape 47"/>
          <p:cNvSpPr/>
          <p:nvPr/>
        </p:nvSpPr>
        <p:spPr>
          <a:xfrm>
            <a:off x="6912864" y="3602736"/>
            <a:ext cx="2057400" cy="5029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51" name="Text 48"/>
          <p:cNvSpPr/>
          <p:nvPr/>
        </p:nvSpPr>
        <p:spPr>
          <a:xfrm>
            <a:off x="7040880" y="366674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billing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7040880" y="39044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months free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7040880" y="42062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10 months, get 12. Lock your rate.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55" name="Text 52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Title &amp; Escrow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2"/>
          <p:cNvSpPr/>
          <p:nvPr/>
        </p:nvSpPr>
        <p:spPr>
          <a:xfrm>
            <a:off x="274320" y="621792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74320" y="9509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&amp; Escrow Suite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274320" y="153619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what TitleApp was named for.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74320" y="19202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Escrow Locker isn't a feature. It's the foundational patent. The DTC isn't a document. It's the title. And the immutable chain of custody that runs from first offer to sealed Vault isn't a compliance tool — it's the reason no incumbent can replicate this without building from scratch.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2706624"/>
            <a:ext cx="2057400" cy="713232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4320" y="2706624"/>
            <a:ext cx="20574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1" name="Text 8"/>
          <p:cNvSpPr/>
          <p:nvPr/>
        </p:nvSpPr>
        <p:spPr>
          <a:xfrm>
            <a:off x="384048" y="27614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14-Day Free Trial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84048" y="3017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credit card. Full access.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487168" y="2706624"/>
            <a:ext cx="2057400" cy="713232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487168" y="2706624"/>
            <a:ext cx="20574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5" name="Text 12"/>
          <p:cNvSpPr/>
          <p:nvPr/>
        </p:nvSpPr>
        <p:spPr>
          <a:xfrm>
            <a:off x="2596896" y="27614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Money Back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596896" y="3017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questions asked.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700016" y="2706624"/>
            <a:ext cx="2057400" cy="713232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00016" y="2706624"/>
            <a:ext cx="20574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9" name="Text 16"/>
          <p:cNvSpPr/>
          <p:nvPr/>
        </p:nvSpPr>
        <p:spPr>
          <a:xfrm>
            <a:off x="4809744" y="27614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 Anytime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809744" y="3017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click. Data always yours.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912864" y="2706624"/>
            <a:ext cx="2057400" cy="713232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912864" y="2706624"/>
            <a:ext cx="20574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3" name="Text 20"/>
          <p:cNvSpPr/>
          <p:nvPr/>
        </p:nvSpPr>
        <p:spPr>
          <a:xfrm>
            <a:off x="7022592" y="27614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60-Day Guarantee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022592" y="3017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we don't deliver, you don't pay.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274320" y="358444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 → titleapp.ai/escrow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274320" y="385876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ESC-001  The Escrow Locker  ($79/mo)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709160" y="385876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ESC-003  Title Search &amp; Commitment  ($49/mo)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274320" y="411480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ESC-004  Lien Clearance Manager  ($79/mo)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709160" y="411480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ESC-010  Buyer/Seller Status Portal  ($29/mo)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274320" y="4407408"/>
            <a:ext cx="8595360" cy="36576"/>
          </a:xfrm>
          <a:prstGeom prst="rect">
            <a:avLst/>
          </a:prstGeom>
          <a:solidFill>
            <a:srgbClr val="162C52"/>
          </a:solidFill>
          <a:ln/>
        </p:spPr>
      </p:sp>
      <p:sp>
        <p:nvSpPr>
          <p:cNvPr id="31" name="Text 28"/>
          <p:cNvSpPr/>
          <p:nvPr/>
        </p:nvSpPr>
        <p:spPr>
          <a:xfrm>
            <a:off x="274320" y="45079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274320" y="47183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Chief of Staff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274320" y="49011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alex@titleapp.ai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3200400" y="45079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Sean Combs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3200400" y="47183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CEO, TitleApp AI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3200400" y="49011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sean@titleapp.ai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6126480" y="45079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Kent Redwine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126480" y="47183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CFO, TitleApp AI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6126480" y="49011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kent@titleapp.ai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2342"/>
                </a:solidFill>
              </a:rPr>
              <a:t>TitleApp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20040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2342"/>
                </a:solidFill>
              </a:rPr>
              <a:t>How Billing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04672"/>
            <a:ext cx="8595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99AA"/>
                </a:solidFill>
              </a:rPr>
              <a:t>Three separate billing lines — each serves a different purpose.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24128"/>
            <a:ext cx="8595360" cy="27432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2743200" cy="3108960"/>
          </a:xfrm>
          <a:prstGeom prst="rect">
            <a:avLst/>
          </a:prstGeom>
          <a:solidFill>
            <a:srgbClr val="E8F2FC"/>
          </a:solidFill>
          <a:ln w="1524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2743200" cy="36576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8872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B4F8A"/>
                </a:solidFill>
              </a:rPr>
              <a:t>LINE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173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2"/>
                </a:solidFill>
              </a:rPr>
              <a:t>Subscription Credits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9222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4F8A"/>
                </a:solidFill>
              </a:rPr>
              <a:t>$0.02 / credit 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06654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</a:rPr>
              <a:t>~80–85% platform margin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304288"/>
            <a:ext cx="2468880" cy="1371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359152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Every tier includes monthly credits.
Run out? $0.02 per additional credit,
auto-billed at cycle close via Stripe.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730752"/>
            <a:ext cx="2468880" cy="292608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3767328"/>
            <a:ext cx="2414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Creator earns 20% of platform margin on overage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097280"/>
            <a:ext cx="2743200" cy="3108960"/>
          </a:xfrm>
          <a:prstGeom prst="rect">
            <a:avLst/>
          </a:prstGeom>
          <a:solidFill>
            <a:srgbClr val="E6F7F5"/>
          </a:solidFill>
          <a:ln w="15240">
            <a:solidFill>
              <a:srgbClr val="0E9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1097280"/>
            <a:ext cx="2743200" cy="36576"/>
          </a:xfrm>
          <a:prstGeom prst="rect">
            <a:avLst/>
          </a:prstGeom>
          <a:solidFill>
            <a:srgbClr val="0E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118872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9B8A"/>
                </a:solidFill>
              </a:rPr>
              <a:t>LINE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14173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2"/>
                </a:solidFill>
              </a:rPr>
              <a:t>Data Pass-Through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179222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9B8A"/>
                </a:solidFill>
              </a:rPr>
              <a:t>actual cost × 2.0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206654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</a:rPr>
              <a:t>~50% platform margin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37560" y="2304288"/>
            <a:ext cx="2468880" cy="1371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2359152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Some workers call external data APIs
(e.g. property records, FAA registry,
weather). Billed at cost × 2.0 markup.
Separate Stripe line item — not credits.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3730752"/>
            <a:ext cx="2468880" cy="292608"/>
          </a:xfrm>
          <a:prstGeom prst="rect">
            <a:avLst/>
          </a:prstGeom>
          <a:solidFill>
            <a:srgbClr val="0E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64992" y="3767328"/>
            <a:ext cx="2414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Platform only — 0% creator share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1097280"/>
            <a:ext cx="2743200" cy="3108960"/>
          </a:xfrm>
          <a:prstGeom prst="rect">
            <a:avLst/>
          </a:prstGeom>
          <a:solidFill>
            <a:srgbClr val="FDF8ED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1097280"/>
            <a:ext cx="27432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118872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</a:rPr>
              <a:t>LINE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14173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2"/>
                </a:solidFill>
              </a:rPr>
              <a:t>Audit Trail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179222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</a:rPr>
              <a:t>$0.005 / record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206654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</a:rPr>
              <a:t>~80% platform margin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2304288"/>
            <a:ext cx="2468880" cy="1371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2359152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Every worker action is hashed,
timestamped, and written to an
immutable on-chain audit record.
Court-ready. Cannot be altered.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3730752"/>
            <a:ext cx="2468880" cy="2926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91072" y="3767328"/>
            <a:ext cx="2414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Platform only — 0% creator share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315968"/>
            <a:ext cx="859536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4361688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5555"/>
                </a:solidFill>
              </a:rPr>
              <a:t>Data pass-through and audit trail fees are separate from your subscription — they appear as distinct line items on your invoice and are never deducted from credits.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AA"/>
                </a:solidFill>
              </a:rPr>
              <a:t>titleapp.ai  //  Title &amp; Escrow Suite  //  alex@titleapp.ai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2026-03-06T20:00:41Z</dcterms:created>
  <dcterms:modified xsi:type="dcterms:W3CDTF">2026-03-06T20:00:41Z</dcterms:modified>
</cp:coreProperties>
</file>
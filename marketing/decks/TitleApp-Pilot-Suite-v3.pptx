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14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43200" y="228600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AV-P01–P06  ·  6 Digital Workers  ·  Free to Start  ·  ForeFlight Integrated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432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137160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Digital Copilot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274320" y="210312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logbook, currency tracker, aircraft reference,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training — built for pilots who take their flying seriously.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74320" y="27432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to start. Blockchain-verified. ForeFlight integrated.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3145536"/>
            <a:ext cx="45720" cy="237744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38912" y="31272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logbook.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871216" y="31272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coffee spill away from losing 2,000 hours.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" y="3529584"/>
            <a:ext cx="45720" cy="237744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38912" y="35112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currency tracker.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871216" y="35112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I do 3 full-stops or 2? When was my last IPC?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74320" y="3913632"/>
            <a:ext cx="45720" cy="237744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38912" y="38953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PRIA takes weeks.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871216" y="38953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employer faxing your old employers for paper records.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Pilot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Digital Workers. One Platform.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student pilot to ATP — one platform that grows with your career.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28600" y="1170432"/>
            <a:ext cx="2743200" cy="14813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28600" y="1170432"/>
            <a:ext cx="50292" cy="1481328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65760" y="12618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AV-P01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65760" y="14996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Logbook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181051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Blockchain-verified. Auto-imports from ForeFlight. Kills the paper logbook forever.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72968" y="1170432"/>
            <a:ext cx="2743200" cy="14813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3172968" y="1170432"/>
            <a:ext cx="50292" cy="148132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310128" y="12618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AV-P02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310128" y="14996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 &amp; Medical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310128" y="181051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'Am I legal for this flight?' Yes or no, with the reg cite. Always current.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17336" y="1170432"/>
            <a:ext cx="2743200" cy="14813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117336" y="1170432"/>
            <a:ext cx="50292" cy="148132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254496" y="12618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AV-P03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54496" y="14996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Aircraft / CoPilot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254496" y="181051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V-speeds, W&amp;B, checklists, performance — for YOUR tail number. Encrypted in your Vault.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28600" y="2834640"/>
            <a:ext cx="2743200" cy="14813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228600" y="2834640"/>
            <a:ext cx="50292" cy="1481328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365760" y="29260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AV-P04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65760" y="3163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&amp; Proficiency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65760" y="34747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FAA library. AI oral prep. Checkride ready. Proficiency trending over time.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172968" y="2834640"/>
            <a:ext cx="2743200" cy="14813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3172968" y="2834640"/>
            <a:ext cx="50292" cy="1481328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3310128" y="29260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AV-P05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310128" y="3163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Planning &amp; Weather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310128" y="34747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minimums enforcement. Plain-English NOTAMs. Community airport notes.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117336" y="2834640"/>
            <a:ext cx="2743200" cy="1481328"/>
          </a:xfrm>
          <a:prstGeom prst="rect">
            <a:avLst/>
          </a:prstGeom>
          <a:solidFill>
            <a:srgbClr val="0F234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6117336" y="2834640"/>
            <a:ext cx="50292" cy="148132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6254496" y="29260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AV-P06 / AV-029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254496" y="3163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— Chief of Staff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254496" y="34747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briefing. Proactive nudges. 'Your BFR expires in 30 days.' Free with Pro+.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Pilot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Paper Logbook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74320" y="7315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flight. Blockchain-verified. Airline-ready.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28600" y="1170432"/>
            <a:ext cx="425196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28600" y="1170432"/>
            <a:ext cx="4251960" cy="50292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93192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Auto-Import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93192" y="1609344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ForeFlight — every flight auto-populates. Also imports from Schedaero, myairops, FlightPro 135. CSV from LogTen Pro, MyFlightBook, Garmin Pilot.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90872" y="1170432"/>
            <a:ext cx="425196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690872" y="1170432"/>
            <a:ext cx="4251960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855464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Blockchain-Verified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55464" y="1609344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entry SHA-256 hashed at creation. Chained to prior entries. Immutable. When the FAA mandates digital records, you're already there.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28600" y="2889504"/>
            <a:ext cx="425196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228600" y="2889504"/>
            <a:ext cx="4251960" cy="50292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393192" y="2999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PRIA-Ready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93192" y="3328416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Airline hiring? Authorize release and they get your complete, verified, tamper-proof record package instantly. No faxes. No 6-week wait.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90872" y="2889504"/>
            <a:ext cx="425196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690872" y="2889504"/>
            <a:ext cx="4251960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855464" y="2999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Import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855464" y="3328416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your paper logbook pages. AI reads your handwriting, converts to structured data. You verify — your 2,000 hours become permanent.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Pilot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Aircraft. Your Numbers. Your CoPilot.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aircraft types pre-loaded. Upload your own AFM/POH. Airline FCOM for enterprise.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28600" y="1170432"/>
            <a:ext cx="8686800" cy="914400"/>
          </a:xfrm>
          <a:prstGeom prst="rect">
            <a:avLst/>
          </a:prstGeom>
          <a:solidFill>
            <a:srgbClr val="EEF4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28600" y="1170432"/>
            <a:ext cx="50292" cy="914400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84048" y="12618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— Pre-Loaded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84048" y="15361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C152 · C172 (all variants) · PA-28 series · DA20 · DA40 · DA42 · SR20 · SR22 · PC-12 · King Air 90/200/300 · C208 Caravan · Any turboprop or jet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28600" y="2231136"/>
            <a:ext cx="8686800" cy="914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228600" y="2231136"/>
            <a:ext cx="50292" cy="914400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84048" y="23225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— Upload Your Own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84048" y="259689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your AFM/POH. AI ingests it, builds your CoPilot. Encrypted in your personal Vault. Your data, your control.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28600" y="3291840"/>
            <a:ext cx="8686800" cy="914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228600" y="3291840"/>
            <a:ext cx="50292" cy="914400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84048" y="33832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— Airline / Enterprise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84048" y="36576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737 · A320/A321 · A330/A350 · 777 · 767 · 787 · 747. Upload FCOM as enterprise deployment. Proprietary data in secure Vault instance.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28600" y="43159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CoPilot includes: V-speeds all configs · W&amp;B calculator with actual BEW/CG · Performance tables · Normal + emergency checklists · Systems descriptions · Tail-specific notes · ForeFlight sync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Pilot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74320" y="23774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Personal Tool to Pro Operations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274320" y="7315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platform scales from weekend flyer to Part 135 operator.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170432"/>
            <a:ext cx="1600200" cy="1664208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274320" y="1170432"/>
            <a:ext cx="1600200" cy="50292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274320" y="124358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1773936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logbook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 tracker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874520" y="1883664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011680" y="1170432"/>
            <a:ext cx="1600200" cy="1664208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011680" y="1170432"/>
            <a:ext cx="1600200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011680" y="124358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Pilot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03120" y="1773936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Pro: CoPilot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+ W&amp;B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611880" y="1883664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749040" y="1170432"/>
            <a:ext cx="1600200" cy="1664208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3749040" y="1170432"/>
            <a:ext cx="1600200" cy="50292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749040" y="124358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840480" y="1773936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Pro+: planning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+ blockchain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349240" y="1883664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0" y="1170432"/>
            <a:ext cx="1600200" cy="1664208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5486400" y="1170432"/>
            <a:ext cx="1600200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486400" y="124358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135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Pilot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577840" y="1773936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integration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personal tools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086600" y="1883664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223760" y="1170432"/>
            <a:ext cx="1600200" cy="1664208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7223760" y="1170432"/>
            <a:ext cx="1600200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7223760" y="124358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Owner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315200" y="1773936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C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51-worker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62C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135 suite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74320" y="2999232"/>
            <a:ext cx="8595360" cy="1389888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74320" y="2999232"/>
            <a:ext cx="8595360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38912" y="3072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Label Part 135 Operations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38912" y="3383280"/>
            <a:ext cx="82844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your own Part 135 operation? TitleApp provides the entire infrastructure — dispatch, crew management, maintenance tracking, billing, compliance — branded as your company. 51 Digital Workers, ready to go. You bring the certificate, aircraft, and pilots. We bring everything else.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Pilot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Pricing. Start Free.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logbook is free forever. Upgrade for CoPilot, blockchain, and Alex.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274320" y="111556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SUITE PRICING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" y="1371600"/>
            <a:ext cx="2697480" cy="230428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274320" y="1371600"/>
            <a:ext cx="50292" cy="2304288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38912" y="144475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38912" y="188366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Forever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8912" y="21579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Digital logbook (manual entry)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38912" y="23774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Currency tracker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38912" y="25968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Medical tracker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38912" y="28163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'Am I legal?' checker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38912" y="303580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PDF export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38912" y="325526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Legacy logbook import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74320" y="3401568"/>
            <a:ext cx="2697480" cy="219456"/>
          </a:xfrm>
          <a:prstGeom prst="rect">
            <a:avLst/>
          </a:prstGeom>
          <a:solidFill>
            <a:srgbClr val="0E9B8A">
              <a:alpha val="12000"/>
            </a:srgbClr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384048" y="341985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credits/mo included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172968" y="1371600"/>
            <a:ext cx="2697480" cy="230428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3172968" y="1371600"/>
            <a:ext cx="50292" cy="230428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3337560" y="144475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$19/mo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3337560" y="188366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Pro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337560" y="21579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Free +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337560" y="23774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Blockchain verification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337560" y="25968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ForeFlight auto-import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337560" y="28163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 CoPilot aircraft profile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3337560" y="303580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Training &amp; proficiency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337560" y="325526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PRIA-ready export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337560" y="34747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Priority support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3172968" y="3401568"/>
            <a:ext cx="2697480" cy="219456"/>
          </a:xfrm>
          <a:prstGeom prst="rect">
            <a:avLst/>
          </a:prstGeom>
          <a:solidFill>
            <a:srgbClr val="1B4F8A">
              <a:alpha val="12000"/>
            </a:srgbClr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3282696" y="341985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credits/mo included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071616" y="1371600"/>
            <a:ext cx="2697480" cy="230428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6071616" y="1371600"/>
            <a:ext cx="50292" cy="2304288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6236208" y="144475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$39/mo</a:t>
            </a:r>
            <a:endParaRPr lang="en-US" sz="2400" dirty="0"/>
          </a:p>
        </p:txBody>
      </p:sp>
      <p:sp>
        <p:nvSpPr>
          <p:cNvPr id="37" name="Text 34"/>
          <p:cNvSpPr/>
          <p:nvPr/>
        </p:nvSpPr>
        <p:spPr>
          <a:xfrm>
            <a:off x="6236208" y="188366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Pro+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236208" y="21579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Pro +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236208" y="23774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Unlimited aircraft profiles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236208" y="25968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Flight planning &amp; weather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236208" y="28163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Personal minimums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6236208" y="303580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Alex — Chief of Staff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6236208" y="325526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Blockchain-verified career record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6071616" y="3401568"/>
            <a:ext cx="2697480" cy="219456"/>
          </a:xfrm>
          <a:prstGeom prst="rect">
            <a:avLst/>
          </a:prstGeom>
          <a:solidFill>
            <a:srgbClr val="6B3FA0">
              <a:alpha val="12000"/>
            </a:srgbClr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6181344" y="341985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credits/mo included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274320" y="369417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Overage: $0.02 per credit above monthly inclusion — auto-billed via Stripe at billing cycle close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274320" y="389534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pricing: 2 months free  ·  Pro $190/yr  ·  Pro+ $390/yr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274320" y="4151376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274320" y="422452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&amp; CFI PROGRAMS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274320" y="444398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pilots free while enrolled (STUDENT coupon)  ·  GRADPILOT: 3-month grace → $19/mo  ·  CFI/CFII academy instructors free Pro+ while on staff (CFIACADEMY)  ·  CFIPRO: 3-month grace → $19/mo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Pilot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4320" y="7772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10972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Logbook Is Your Career.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74320" y="166420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It.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74320" y="2139696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74320" y="2139696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84048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14-Day Free Trial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84048" y="24871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credit card. Full access.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87168" y="2139696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2487168" y="2139696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596896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Money Back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96896" y="24871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questions asked.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00016" y="2139696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700016" y="2139696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809744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Anytime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09744" y="24871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click. Data always yours.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912864" y="2139696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6912864" y="2139696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7022592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60-Day Guarantee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022592" y="24871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don't deliver, you don't pay.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74320" y="30906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 → titleapp.ai/pilot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74320" y="3401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AV-P01  Digital Logbook  (Free)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709160" y="3401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AV-P02  Currency &amp; Medical  (Free)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74320" y="36941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AV-P03  My Aircraft / CoPilot  ($19/mo)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09160" y="36941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AV-P06  Alex — Chief of Staff  ($39/mo)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74320" y="4169664"/>
            <a:ext cx="8595360" cy="36576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274320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74320" y="44897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Chief of Staff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274320" y="4681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alex@titleapp.ai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3200400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 Combs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200400" y="44897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CEO, TitleApp AI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3200400" y="4681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sean@titleapp.ai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126480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Redwine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126480" y="44897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CFO, TitleApp AI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26480" y="4681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kent@titleapp.ai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342"/>
                </a:solidFill>
              </a:rPr>
              <a:t>TitleApp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2004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342"/>
                </a:solidFill>
              </a:rPr>
              <a:t>How Billing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04672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AA"/>
                </a:solidFill>
              </a:rPr>
              <a:t>Three separate billing lines — each serves a different purpose.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24128"/>
            <a:ext cx="8595360" cy="27432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43200" cy="3108960"/>
          </a:xfrm>
          <a:prstGeom prst="rect">
            <a:avLst/>
          </a:prstGeom>
          <a:solidFill>
            <a:srgbClr val="E8F2FC"/>
          </a:solidFill>
          <a:ln w="1524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2743200" cy="36576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4F8A"/>
                </a:solidFill>
              </a:rPr>
              <a:t>LINE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Subscription Credits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8A"/>
                </a:solidFill>
              </a:rPr>
              <a:t>$0.02 / credit 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~80–85% platform margin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Every tier includes monthly credits.
Run out? $0.02 per additional credit,
auto-billed at cycle close via Stripe.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730752"/>
            <a:ext cx="2468880" cy="292608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Creator earns 20% of platform margin on overage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097280"/>
            <a:ext cx="2743200" cy="3108960"/>
          </a:xfrm>
          <a:prstGeom prst="rect">
            <a:avLst/>
          </a:prstGeom>
          <a:solidFill>
            <a:srgbClr val="E6F7F5"/>
          </a:solidFill>
          <a:ln w="15240">
            <a:solidFill>
              <a:srgbClr val="0E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097280"/>
            <a:ext cx="2743200" cy="36576"/>
          </a:xfrm>
          <a:prstGeom prst="rect">
            <a:avLst/>
          </a:prstGeom>
          <a:solidFill>
            <a:srgbClr val="0E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9B8A"/>
                </a:solidFill>
              </a:rPr>
              <a:t>LINE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Data Pass-Through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9B8A"/>
                </a:solidFill>
              </a:rPr>
              <a:t>actual cost × 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~50% platform margin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Some workers call external data APIs
(e.g. property records, FAA registry,
weather). Billed at cost × 2.0 markup.
Separate Stripe line item — not credits.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730752"/>
            <a:ext cx="2468880" cy="292608"/>
          </a:xfrm>
          <a:prstGeom prst="rect">
            <a:avLst/>
          </a:prstGeom>
          <a:solidFill>
            <a:srgbClr val="0E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6499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Platform only — 0% creator share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097280"/>
            <a:ext cx="2743200" cy="3108960"/>
          </a:xfrm>
          <a:prstGeom prst="rect">
            <a:avLst/>
          </a:prstGeom>
          <a:solidFill>
            <a:srgbClr val="FDF8ED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1097280"/>
            <a:ext cx="2743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LINE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$0.005 /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~80% platform margin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Every worker action is hashed,
timestamped, and written to an
immutable on-chain audit record.
Court-ready. Cannot be altered.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730752"/>
            <a:ext cx="2468880" cy="2926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Platform only — 0% creator share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315968"/>
            <a:ext cx="85953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36168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</a:rPr>
              <a:t>Data pass-through and audit trail fees are separate from your subscription — they appear as distinct line items on your invoice and are never deducted from credits.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</a:rPr>
              <a:t>titleapp.ai  //  Pilot Suite  //  alex@titleapp.ai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2026-03-06T19:42:35Z</dcterms:created>
  <dcterms:modified xsi:type="dcterms:W3CDTF">2026-03-06T19:42:35Z</dcterms:modified>
</cp:coreProperties>
</file>
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200400" y="2286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RE-001–052  ·  52 Digital Workers  ·  Tech Fee +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Suite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74320" y="257860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AI-powered workers for developers, GCs, investors, and property managers.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2999232"/>
            <a:ext cx="45720" cy="23774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$300–500/hr consultants.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45536" y="29809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workers replace the consulting stack. Fraction of the cost.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383280"/>
            <a:ext cx="45720" cy="23774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364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reporting in spreadsheets.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45536" y="33649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waterfalls, K-1 prep, and LP dashboards.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767328"/>
            <a:ext cx="45720" cy="23774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admin kills your cash flow.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45536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Lender-ready draw packages generated automatically.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151376"/>
            <a:ext cx="45720" cy="23774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8912" y="4133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by hope.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145536" y="4133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IBC, ADA, CEQA, OSHA — hard stops, not best efforts.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 Development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Development Problem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runs on consultants, spreadsheets, and manual reporting. Every gap is liability.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Admin Bottleneck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draw packages assembled manually. One missing document stops the draw. Every delay costs $50K–$150K in carrying costs. GCs stop work. Projects go sideways.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Reporting Chaos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 get quarterly PDFs with no traceability. Waterfall calculations done in Excel. One formula error = distribution dispute. K-1s late every year.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Exposure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IBC, ADA, CEQA, OSHA, prevailing wage, Davis-Bacon — managed in spreadsheets. One missed requirement = stop-work order, agency fine, or litigation.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Cost Bleed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$300–$500/hr for consultants who do repeatable tasks. Entitlement consultant, environmental review, investor reporting — all can be systematized and automated.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 Development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Workers. Every Phase of Development.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Pre-development to stabilized asset. Every worker shares one Vault.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1115568" cy="193852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74320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Entitle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7432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499616" y="1170432"/>
            <a:ext cx="1115568" cy="1938528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99616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99616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499616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24912" y="1170432"/>
            <a:ext cx="1115568" cy="1938528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724912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Permitting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24912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724912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950208" y="1170432"/>
            <a:ext cx="1115568" cy="1938528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950208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Draw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950208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950208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175504" y="1170432"/>
            <a:ext cx="1115568" cy="1938528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175504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75504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175504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0" y="1170432"/>
            <a:ext cx="1115568" cy="1938528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400800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400800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40080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626096" y="1170432"/>
            <a:ext cx="1115568" cy="1938528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26096" y="1243584"/>
            <a:ext cx="1115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Mgmt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626096" y="188366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7626096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3273552"/>
            <a:ext cx="8595360" cy="47548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38912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Alex — Your AI Chief of Staff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3840480" y="33832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with 3+ active worker subscriptions  ·  Daily project briefing  ·  Draw status  ·  Investor alert  ·  Deadline tracking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74320" y="385876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74320" y="3950208"/>
            <a:ext cx="4160520" cy="43891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02336" y="4050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828800" y="40507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workers  ·  ~$1,800/mo peak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709160" y="3950208"/>
            <a:ext cx="4160520" cy="438912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4837176" y="4050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Contractor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263640" y="40507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workers  ·  ~$630/mo peak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4462272"/>
            <a:ext cx="4160520" cy="43891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02336" y="4562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/ Syndicator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828800" y="456285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workers  ·  ~$740/mo peak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709160" y="4462272"/>
            <a:ext cx="4160520" cy="438912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4837176" y="4562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Manager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6263640" y="456285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workers  ·  ~$520/mo ongoing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 Development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Administration — Automated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Lender-ready draw packages generated automatically. Every delay costs $50K–$150K in carrying costs.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170432"/>
            <a:ext cx="8686800" cy="5669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28600" y="1316736"/>
            <a:ext cx="329184" cy="292608"/>
          </a:xfrm>
          <a:prstGeom prst="rect">
            <a:avLst>
              <a:gd name="adj" fmla="val 56250"/>
            </a:avLst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28600" y="13167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" y="1252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request initiated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99232" y="1252728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submits G702/G703. Worker validates completeness, checks against approved budget, flags over-budget line items.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1828800"/>
            <a:ext cx="8686800" cy="566928"/>
          </a:xfrm>
          <a:prstGeom prst="rect">
            <a:avLst/>
          </a:prstGeom>
          <a:solidFill>
            <a:srgbClr val="0A1B3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8600" y="1975104"/>
            <a:ext cx="329184" cy="292608"/>
          </a:xfrm>
          <a:prstGeom prst="rect">
            <a:avLst>
              <a:gd name="adj" fmla="val 56250"/>
            </a:avLst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28600" y="19751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" y="1911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waivers collected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99232" y="1911096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and unconditional lien waivers requested from all subs and suppliers. Tracked until received. Hard stop — no draw without them.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" y="2487168"/>
            <a:ext cx="8686800" cy="5669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28600" y="2633472"/>
            <a:ext cx="329184" cy="292608"/>
          </a:xfrm>
          <a:prstGeom prst="rect">
            <a:avLst>
              <a:gd name="adj" fmla="val 56250"/>
            </a:avLst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28600" y="26334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" y="2569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confirmation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999232" y="256946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inspector report ingested. Worker cross-checks inspector approval against line items requested.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8600" y="3145536"/>
            <a:ext cx="8686800" cy="566928"/>
          </a:xfrm>
          <a:prstGeom prst="rect">
            <a:avLst/>
          </a:prstGeom>
          <a:solidFill>
            <a:srgbClr val="0A1B35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228600" y="3291840"/>
            <a:ext cx="329184" cy="292608"/>
          </a:xfrm>
          <a:prstGeom prst="rect">
            <a:avLst>
              <a:gd name="adj" fmla="val 56250"/>
            </a:avLst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28600" y="329184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" y="3227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package assembled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99232" y="3227832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 forms, lien waivers, inspection report, budget reconciliation — assembled in lender-required format. No manual compilation.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3803904"/>
            <a:ext cx="8686800" cy="56692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228600" y="3950208"/>
            <a:ext cx="329184" cy="292608"/>
          </a:xfrm>
          <a:prstGeom prst="rect">
            <a:avLst>
              <a:gd name="adj" fmla="val 56250"/>
            </a:avLst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28600" y="39502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" y="38862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tracked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999232" y="388620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instructions verified via callback. Funding confirmation logged in Vault. GC and subs notified.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 Development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Credits included. Overage billed automatically.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71600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71600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37360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65376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tracking, notifications, basic reporting, portal access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560320"/>
            <a:ext cx="2697480" cy="237744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71600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71600"/>
            <a:ext cx="50292" cy="148132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36008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65376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administration, investor reporting, permit tracking, lease-up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560320"/>
            <a:ext cx="2697480" cy="237744"/>
          </a:xfrm>
          <a:prstGeom prst="rect">
            <a:avLst/>
          </a:prstGeom>
          <a:solidFill>
            <a:srgbClr val="1A7A4A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82696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71600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71600"/>
            <a:ext cx="50292" cy="14813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44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34656" y="1490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65376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 compliance, CEQA, prevailing wage, audit readiness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560320"/>
            <a:ext cx="269748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81344" y="2578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28529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worker per month  ·  Tech Fee + Subscription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0449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291840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74320" y="335584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SAVE MORE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621024"/>
            <a:ext cx="2057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74320" y="3621024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02336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workers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off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02336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is FREE — daily project briefing, draw status, investor alerts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487168" y="3621024"/>
            <a:ext cx="2057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487168" y="3621024"/>
            <a:ext cx="2057400" cy="5029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15184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workers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615184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615184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tier included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700016" y="3621024"/>
            <a:ext cx="2057400" cy="100584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700016" y="3621024"/>
            <a:ext cx="205740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28032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workers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28032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off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8032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dev stack. Developer bundle ~$1,800/mo at peak.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912864" y="3621024"/>
            <a:ext cx="2057400" cy="10058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912864" y="3621024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7040880" y="36850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billing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months free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40880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10 months, get 12. Lock your rate.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 Development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772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0972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Development Suite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74320" y="16642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Workers. Every Phase. One Vault.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139696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13969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4871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titleapp.ai/development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RE-001  Project Setup &amp; Entitlement  ($49/mo)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401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RE-019  Draw Administration  ($49/mo)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RE-031  Investor Reporting &amp; Waterfall  ($79/mo)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RE-049  Alex — Chief of Staff  (FREE)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69664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89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RE Development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2026-03-06T19:42:35Z</dcterms:created>
  <dcterms:modified xsi:type="dcterms:W3CDTF">2026-03-06T19:42:35Z</dcterms:modified>
</cp:coreProperties>
</file>
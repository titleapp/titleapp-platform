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926080" y="2286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AD-001–029  ·  29 Digital Workers  ·  Commission-Based +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Dealer Suite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274320" y="226771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AI-powered workers for every dealership department.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 — you only pay when we make you money.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017520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Service-to-sales gap.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54096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flag equity opportunities before the car leaves the drive.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401568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revenue leakage.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54096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code optimization + claim tracking. $3–8K/mo recovered.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785616"/>
            <a:ext cx="45720" cy="237744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on high-value vehicles.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54096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 + identity verification. Every deal.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242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workers. Every department. One platform.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Dealership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leave money on the table every day because their systems don't talk to each other.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Service-to-Sales Gap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gets a $3,800 repair estimate on a $12K car. Service advisor doesn't tell sales. Customer drives away. That's a closed deal you never had a chance to make.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Revenue Leakage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codes aren't optimized. Claims get rejected. Parts returns miss deadlines. You're leaving $3–8K/month on the table — every month, silently.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Follow-Up Failure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dealer responds to internet leads in 3+ hours. 78% of customers buy from the first dealer who responds. Speed-to-lead is money. Manual BDC can't keep up.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F&amp;I Compliance Exposure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CARS Rule (Jan 2026). FTC Safeguards Rule. ECOA. Military Lending Act. OFAC. Most dealers aren't compliant. Workers flag every gap from day one.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Model: Free Tools That Make You Money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 workers. You only pay on results.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261872"/>
            <a:ext cx="2606040" cy="13898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261872"/>
            <a:ext cx="260604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3167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21792" y="19568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software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commission workers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261872"/>
            <a:ext cx="2606040" cy="138988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291840" y="1261872"/>
            <a:ext cx="260604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291840" y="13167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3456432" y="19568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8 dealership phases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261872"/>
            <a:ext cx="2606040" cy="138988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126480" y="1261872"/>
            <a:ext cx="260604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26480" y="131673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6291072" y="19568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car deal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service-to-sales conversion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798064"/>
            <a:ext cx="8412480" cy="1536192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21792" y="2889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Paid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" y="3200400"/>
            <a:ext cx="7973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workers flag a service-to-sales opportunity → Your salesperson closes the deal → TitleApp earns $250 on the delivered unit. If we don't make you money, we don't get paid.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" y="3584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Schedule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" y="3858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Service-to-sales  →  $250/unit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64992" y="3858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BDC lead conversion  →  $150/unit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08192" y="3858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mining  →  $250/unit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F&amp;I product sold  →  $50/product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364992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maturity  →  $200/unit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08192" y="4133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placement  →  $35/funded deal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Workers. Every Department. One Platform.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setup to compliance — every dealership function covered.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56032" y="1234440"/>
            <a:ext cx="987552" cy="192024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5603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603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5603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53312" y="1234440"/>
            <a:ext cx="987552" cy="192024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5331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35331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35331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50592" y="1234440"/>
            <a:ext cx="987552" cy="192024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45059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5059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245059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547872" y="1234440"/>
            <a:ext cx="987552" cy="1920240"/>
          </a:xfrm>
          <a:prstGeom prst="rect">
            <a:avLst/>
          </a:prstGeom>
          <a:solidFill>
            <a:srgbClr val="C062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54787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Desking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4787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354787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45152" y="1234440"/>
            <a:ext cx="987552" cy="1920240"/>
          </a:xfrm>
          <a:prstGeom prst="rect">
            <a:avLst/>
          </a:prstGeom>
          <a:solidFill>
            <a:srgbClr val="C062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64515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F&amp;I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4515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464515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742432" y="1234440"/>
            <a:ext cx="987552" cy="192024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74243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74243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574243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839712" y="1234440"/>
            <a:ext cx="987552" cy="192024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83971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83971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35" name="Text 32"/>
          <p:cNvSpPr/>
          <p:nvPr/>
        </p:nvSpPr>
        <p:spPr>
          <a:xfrm>
            <a:off x="683971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936992" y="1234440"/>
            <a:ext cx="987552" cy="192024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936992" y="1325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Back Office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936992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7936992" y="25603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6032" y="3291840"/>
            <a:ext cx="8641080" cy="47548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1148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Alex — Your AI Chief of Staff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114800" y="34015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with 3+ active subscriptions  ·  Daily briefing  ·  Anomaly alerts  ·  Commission reconciliation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56032" y="3913632"/>
            <a:ext cx="8641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additional gross — 100-unit dealer: $47K–$103K/mo  ·  TitleApp commission: ~$25K/mo  ·  Your ROI: 2–4x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Service-to-Sales Engine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workers that turn your service drive into your highest-converting sales channel.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084832" cy="14813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74320" y="1170432"/>
            <a:ext cx="2084832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02336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AD-017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2336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MPI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2336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when repair cost &gt; 60% of vehicle value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87168" y="1170432"/>
            <a:ext cx="2084832" cy="14813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487168" y="1170432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15184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AD-021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15184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15184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equity, generates advisor talk track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1170432"/>
            <a:ext cx="2084832" cy="14813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00016" y="1170432"/>
            <a:ext cx="2084832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828032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AD-009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28032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Mgmt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28032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lead with full context to sales floor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12864" y="1170432"/>
            <a:ext cx="2084832" cy="148132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912864" y="1170432"/>
            <a:ext cx="2084832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408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4088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CLOSED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040880" y="19019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triggers: $250 per delivered unit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2798064"/>
            <a:ext cx="8595360" cy="18288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74320" y="2798064"/>
            <a:ext cx="8595360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Scenario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38912" y="3163824"/>
            <a:ext cx="828446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brings in a 2017 Honda CR-V for transmission service. MPI finds $3,200 in needed repairs. AD-017 flags it: repair cost is 68% of vehicle value. AD-021 checks: customer has $4,200 in positive equity. Talk track generated. Service advisor says: "Your car needs $3,200 in work, but you've got $4,200 in equity — would you like to see what a new payment looks like?" Customer buys a new CR-V.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deal didn't exist 5 minutes ago.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Compliance. Not Bolted On.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worker follows a 4-tier compliance cascade. Regulations are hard stops — no override.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170432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50292" cy="7680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Safeguards Rule (required since June 2023)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517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dealers aren't compliant. Workers flag every gap on day one.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90872" y="1170432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90872" y="1170432"/>
            <a:ext cx="50292" cy="76809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28032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CARS Rule (effective January 2026)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28032" y="1517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disclosure, consent requirements. AD-025 monitors every deal.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2048256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28600" y="2048256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65760" y="2121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ECOA / Equal Treatment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Discrimination monitoring on every credit application. Adverse action letters generated.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90872" y="2048256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90872" y="2048256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28032" y="2121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OFAC Screening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28032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customer screened on intake. Transaction blocked if hit. Alert to compliance officer.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2926080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" y="2926080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65760" y="2999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Lending Act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 screening on every credit application. Rate cap compliance.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90872" y="2926080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690872" y="2926080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828032" y="2999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Rule / Identity Verification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28032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check on every customer. Synthetic identity detection.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28600" y="3803904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" y="3803904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65760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TCPA Compliance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65760" y="4151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tracking on every text and call. Opt-out honored platform-wide.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90872" y="3803904"/>
            <a:ext cx="4251960" cy="768096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4690872" y="3803904"/>
            <a:ext cx="50292" cy="7680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828032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State-Specific F&amp;I Regulations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828032" y="4151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rules locked at dealer onboarding. Cannot be overridden.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7132320" y="201168"/>
            <a:ext cx="1737360" cy="292608"/>
          </a:xfrm>
          <a:prstGeom prst="rect">
            <a:avLst>
              <a:gd name="adj" fmla="val 1875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13232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23774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 ·  Patent-Protected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512064"/>
            <a:ext cx="859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Title Transfer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the Escrow Locker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74320" y="1444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high-value vehicle sale — exotic cars, fleet acquisitions, dealer-to-dealer wholesale — deserves the same closing infrastructure as real estate.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938528"/>
            <a:ext cx="4160520" cy="10972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74320" y="1938528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8912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Offer/Counter Chain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23408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offer and counter on vehicle price, trade-in value, and F&amp;I terms signed via Dropbox Sign. Complete negotiation record before the buyer's order is executed.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938528"/>
            <a:ext cx="4160520" cy="10972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709160" y="1938528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73752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3752" y="23408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Identity KYC on buyer. OFAC check mandatory. Especially critical for high-value cash transactions — BSA/Bank Secrecy Act compliance built in.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200400"/>
            <a:ext cx="4160520" cy="10972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74320" y="3200400"/>
            <a:ext cx="4160520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8912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 Verification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" y="360273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Financial Connections links and verifies buyer's account before any funds transfer. No manual routing numbers. Wire callback on any change.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3200400"/>
            <a:ext cx="4160520" cy="10972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709160" y="3200400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873752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DMV Title Transfer as DTC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73752" y="360273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DMV title recording confirmation triggers Digital Title Certificate transfer from dealer Vault to buyer Vault. NMVTIS check embedded. Logbook sealed.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53542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Escrow Locker will be available as ESC-001 (vehicle class) — same $79/mo pricing, same Vault architecture, same DTC transfer model as real estate and aircraft.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 workers are free. Subscription workers are per-worker per month.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 WORKERS — NO MONTHLY COST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8595360" cy="111556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8595360" cy="50292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monthly fee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87168" y="1572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commission workers — we only get paid when you make money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Service-to-sales → $250/unit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7355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BDC lead → $150/unit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0819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mining → $250/unit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F&amp;I product → $50/product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7355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maturity → $200/unit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08192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placement → $35/deal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606040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2670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WORKERS (COMPLIANCE &amp; BACK OFFICE)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2926080"/>
            <a:ext cx="2697480" cy="122529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74320" y="2926080"/>
            <a:ext cx="50292" cy="12252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38912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737360" y="3026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8912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retention, basic alerts, status tracking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858768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84048" y="38770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  ·  overage $0.02/credit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172968" y="2926080"/>
            <a:ext cx="2697480" cy="122529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3172968" y="2926080"/>
            <a:ext cx="50292" cy="1225296"/>
          </a:xfrm>
          <a:prstGeom prst="rect">
            <a:avLst/>
          </a:prstGeom>
          <a:solidFill>
            <a:srgbClr val="C0622B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337560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4636008" y="3026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management, F&amp;I coordination, reporting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172968" y="3858768"/>
            <a:ext cx="2697480" cy="237744"/>
          </a:xfrm>
          <a:prstGeom prst="rect">
            <a:avLst/>
          </a:prstGeom>
          <a:solidFill>
            <a:srgbClr val="C0622B">
              <a:alpha val="12000"/>
            </a:srgbClr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282696" y="38770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  ·  overage $0.02/credit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071616" y="2926080"/>
            <a:ext cx="2697480" cy="122529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071616" y="2926080"/>
            <a:ext cx="50292" cy="1225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7534656" y="3026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236208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Safeguards, CARS Rule, OFAC, audit readiness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071616" y="3858768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181344" y="38770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  ·  overage $0.02/credit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274320" y="41879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discounts: 3+ workers = 10% off  ·  5–10 = 20% off  ·  10+ = 30% off  ·  Annual billing = 2 months free  ·  Alex free with 3+ subscriptions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Go-Live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signed agreement to first value delivered in under 2 hours.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170432"/>
            <a:ext cx="7772400" cy="530352"/>
          </a:xfrm>
          <a:prstGeom prst="rect">
            <a:avLst/>
          </a:prstGeom>
          <a:solidFill>
            <a:srgbClr val="EAF3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170432"/>
            <a:ext cx="50292" cy="530352"/>
          </a:xfrm>
          <a:prstGeom prst="rect">
            <a:avLst/>
          </a:prstGeom>
          <a:solidFill>
            <a:srgbClr val="0E9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13075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25296" y="1307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commission agreement + Stripe Connect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36592" y="130759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minutes. No upfront cost.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1783080"/>
            <a:ext cx="7772400" cy="5303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1783080"/>
            <a:ext cx="50292" cy="530352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" y="19202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9:15 AM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25296" y="1920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intake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36592" y="192024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minutes. Your role, your size, your DMS, your biggest pain point.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2395728"/>
            <a:ext cx="7772400" cy="5303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2395728"/>
            <a:ext cx="50292" cy="530352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20" name="Text 17"/>
          <p:cNvSpPr/>
          <p:nvPr/>
        </p:nvSpPr>
        <p:spPr>
          <a:xfrm>
            <a:off x="347472" y="2532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AM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2532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connection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36592" y="2532888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DMS/CRM feed or CSV upload of last 90 days.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8600" y="3008376"/>
            <a:ext cx="7772400" cy="5303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3008376"/>
            <a:ext cx="50292" cy="530352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25" name="Text 22"/>
          <p:cNvSpPr/>
          <p:nvPr/>
        </p:nvSpPr>
        <p:spPr>
          <a:xfrm>
            <a:off x="347472" y="31455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AM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25296" y="3145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established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36592" y="314553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analyzes your historical data. Sets performance floor.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28600" y="3621024"/>
            <a:ext cx="7772400" cy="5303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28600" y="3621024"/>
            <a:ext cx="50292" cy="530352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0" name="Text 27"/>
          <p:cNvSpPr/>
          <p:nvPr/>
        </p:nvSpPr>
        <p:spPr>
          <a:xfrm>
            <a:off x="347472" y="375818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AM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25296" y="37581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go live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36592" y="375818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current data. Surface opportunities immediately.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28600" y="4233672"/>
            <a:ext cx="7772400" cy="53035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28600" y="4233672"/>
            <a:ext cx="50292" cy="5303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5" name="Text 32"/>
          <p:cNvSpPr/>
          <p:nvPr/>
        </p:nvSpPr>
        <p:spPr>
          <a:xfrm>
            <a:off x="347472" y="437083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AM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225296" y="43708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delivered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736592" y="43708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"6 service-to-sales opportunities today. 142 customers with positive equity."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9" name="Text 3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Auto Dealer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0622B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1155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Dealer Suite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824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Tools That Make You Money.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titleapp.ai/auto-dealer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AD-017  Service MPI  (commission)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AD-009  Lead Management  (commission)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AD-021  Customer Retention  (commission)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AD-025  FTC CARS Compliance  ($79/mo)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69664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Auto Dealer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TitleApp — Auto Dealer Suite</dc:title>
  <dc:subject>PptxGenJS Presentation</dc:subject>
  <dc:creator>PptxGenJS</dc:creator>
  <cp:lastModifiedBy>PptxGenJS</cp:lastModifiedBy>
  <cp:revision>1</cp:revision>
  <dcterms:created xsi:type="dcterms:W3CDTF">2026-03-06T18:41:34Z</dcterms:created>
  <dcterms:modified xsi:type="dcterms:W3CDTF">2026-03-06T18:41:34Z</dcterms:modified>
</cp:coreProperties>
</file>
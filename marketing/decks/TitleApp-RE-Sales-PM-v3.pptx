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6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200400" y="2286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RS-001–020 · PM-001–018  ·  38 Digital Workers  ·  Tech Fee + Subscription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Sales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Management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274320" y="265176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Digital Workers for real estate agents,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brokerages, and property managers.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3419856"/>
            <a:ext cx="45720" cy="237744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8912" y="3401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deadlines kill deals.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on autopilot.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3803904"/>
            <a:ext cx="45720" cy="237744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8912" y="3785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accounting violations cost licenses.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3785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rec every month. Automatically.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4187952"/>
            <a:ext cx="45720" cy="237744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8912" y="41696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is up 400% in 4 years.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37560" y="4169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protocol on every wire. Always.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45902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workers eliminate all of it.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Estate Problem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runs on spreadsheets, sticky notes, and hope. Every handoff is a gap.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8912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— $446M Lost Last Year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FBI IC3 2023: real estate wire fraud up 400% in 4 years. Spoofed wiring instructions. One wrong click — the money is gone. No callback protocol. No verification. No system catches it.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9160" y="1170432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73752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Contract Deadlines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375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periods, contingency removals, loan commitment dates — all tracked in spreadsheets. One agent, 6–10 transactions. Missed deadlines = failed deals, legal exposure, broker discipline.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889504"/>
            <a:ext cx="416052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Account Violations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audits find trust account errors in 1-in-4 property management firms. Three-way reconciliation done manually. One math error triggers a compliance investigation that can cost a license.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889504"/>
            <a:ext cx="416052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73752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Package Chaos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7375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forget items. Agents miss state-mandated disclosures. Any undisclosed defect post-closing becomes litigation. The disclosure package is the #1 source of real estate legal claims.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Suite — 20 Workers for Buyer &amp; Seller Agents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contact to closed deal. Every step covered, every deadline tracked.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15568"/>
            <a:ext cx="4160520" cy="27432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28600" y="11155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SIDE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1115568"/>
            <a:ext cx="4297680" cy="27432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17720" y="1115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SIDE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1426464"/>
            <a:ext cx="4160520" cy="310896"/>
          </a:xfrm>
          <a:prstGeom prst="rect">
            <a:avLst/>
          </a:prstGeom>
          <a:solidFill>
            <a:srgbClr val="E8F4FF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28600" y="1426464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29184" y="147218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RS-001 ★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591056" y="14721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Intake &amp; Pre-Qual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041648" y="14721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1762963"/>
            <a:ext cx="416052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228600" y="1762963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29184" y="1808683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591056" y="1808683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Search &amp; Alert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041648" y="1808683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28600" y="2099462"/>
            <a:ext cx="416052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28600" y="2099462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29184" y="214518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RS-003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591056" y="214518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Writing Assistant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041648" y="214518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8600" y="2435962"/>
            <a:ext cx="416052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28600" y="2435962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329184" y="248168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RS-004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591056" y="248168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Due Diligence Mgr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041648" y="248168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28600" y="2772461"/>
            <a:ext cx="416052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228600" y="2772461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29184" y="2818181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RS-005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591056" y="2818181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Closing Coordinator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041648" y="2818181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28600" y="3108960"/>
            <a:ext cx="416052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228600" y="3108960"/>
            <a:ext cx="50292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329184" y="315468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RS-014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591056" y="3154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Prevention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041648" y="315468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28600" y="3445459"/>
            <a:ext cx="416052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228600" y="3445459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329184" y="3491179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RS-015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1591056" y="3491179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Pipeline Monitor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041648" y="3491179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28600" y="3781958"/>
            <a:ext cx="416052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228600" y="3781958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329184" y="382767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RS-016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591056" y="382767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Appraisal Management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041648" y="382767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228600" y="4118458"/>
            <a:ext cx="416052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3" name="Shape 50"/>
          <p:cNvSpPr/>
          <p:nvPr/>
        </p:nvSpPr>
        <p:spPr>
          <a:xfrm>
            <a:off x="228600" y="4118458"/>
            <a:ext cx="50292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329184" y="416417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RS-017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1591056" y="416417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 Compliance Monitor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041648" y="416417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28600" y="4454957"/>
            <a:ext cx="416052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8" name="Shape 55"/>
          <p:cNvSpPr/>
          <p:nvPr/>
        </p:nvSpPr>
        <p:spPr>
          <a:xfrm>
            <a:off x="228600" y="4454957"/>
            <a:ext cx="50292" cy="31089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329184" y="4500677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RS-019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1591056" y="4500677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Review &amp; Referral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4041648" y="4500677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4617720" y="1426464"/>
            <a:ext cx="4297680" cy="310896"/>
          </a:xfrm>
          <a:prstGeom prst="rect">
            <a:avLst/>
          </a:prstGeom>
          <a:solidFill>
            <a:srgbClr val="E8FBF8"/>
          </a:solidFill>
          <a:ln/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4617720" y="1426464"/>
            <a:ext cx="50292" cy="31089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4718304" y="147218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RS-006 ★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5980176" y="14721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Intake &amp; CMA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8503920" y="1472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4617720" y="1762963"/>
            <a:ext cx="429768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68" name="Shape 65"/>
          <p:cNvSpPr/>
          <p:nvPr/>
        </p:nvSpPr>
        <p:spPr>
          <a:xfrm>
            <a:off x="4617720" y="1762963"/>
            <a:ext cx="50292" cy="31089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4718304" y="1808683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RS-007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5980176" y="1808683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Marketing Worker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8503920" y="1808683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4617720" y="2099462"/>
            <a:ext cx="429768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73" name="Shape 70"/>
          <p:cNvSpPr/>
          <p:nvPr/>
        </p:nvSpPr>
        <p:spPr>
          <a:xfrm>
            <a:off x="4617720" y="2099462"/>
            <a:ext cx="50292" cy="31089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74" name="Text 71"/>
          <p:cNvSpPr/>
          <p:nvPr/>
        </p:nvSpPr>
        <p:spPr>
          <a:xfrm>
            <a:off x="4718304" y="214518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RS-008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5980176" y="214518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Review &amp; Negotiation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8503920" y="214518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4617720" y="2435962"/>
            <a:ext cx="429768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78" name="Shape 75"/>
          <p:cNvSpPr/>
          <p:nvPr/>
        </p:nvSpPr>
        <p:spPr>
          <a:xfrm>
            <a:off x="4617720" y="2435962"/>
            <a:ext cx="50292" cy="31089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4718304" y="248168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RS-009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5980176" y="248168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Due Diligence Coord</a:t>
            </a:r>
            <a:endParaRPr lang="en-US" sz="1000" dirty="0"/>
          </a:p>
        </p:txBody>
      </p:sp>
      <p:sp>
        <p:nvSpPr>
          <p:cNvPr id="81" name="Text 78"/>
          <p:cNvSpPr/>
          <p:nvPr/>
        </p:nvSpPr>
        <p:spPr>
          <a:xfrm>
            <a:off x="8503920" y="248168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4617720" y="2772461"/>
            <a:ext cx="429768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4617720" y="2772461"/>
            <a:ext cx="50292" cy="31089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4718304" y="2818181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RS-010</a:t>
            </a:r>
            <a:endParaRPr lang="en-US" sz="850" dirty="0"/>
          </a:p>
        </p:txBody>
      </p:sp>
      <p:sp>
        <p:nvSpPr>
          <p:cNvPr id="85" name="Text 82"/>
          <p:cNvSpPr/>
          <p:nvPr/>
        </p:nvSpPr>
        <p:spPr>
          <a:xfrm>
            <a:off x="5980176" y="2818181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Closing Coordinator</a:t>
            </a:r>
            <a:endParaRPr lang="en-US" sz="1000" dirty="0"/>
          </a:p>
        </p:txBody>
      </p:sp>
      <p:sp>
        <p:nvSpPr>
          <p:cNvPr id="86" name="Text 83"/>
          <p:cNvSpPr/>
          <p:nvPr/>
        </p:nvSpPr>
        <p:spPr>
          <a:xfrm>
            <a:off x="8503920" y="2818181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4617720" y="3108960"/>
            <a:ext cx="429768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88" name="Shape 85"/>
          <p:cNvSpPr/>
          <p:nvPr/>
        </p:nvSpPr>
        <p:spPr>
          <a:xfrm>
            <a:off x="4617720" y="3108960"/>
            <a:ext cx="50292" cy="31089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89" name="Text 86"/>
          <p:cNvSpPr/>
          <p:nvPr/>
        </p:nvSpPr>
        <p:spPr>
          <a:xfrm>
            <a:off x="4718304" y="315468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RS-011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5980176" y="31546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Coordinator</a:t>
            </a:r>
            <a:endParaRPr lang="en-US" sz="1000" dirty="0"/>
          </a:p>
        </p:txBody>
      </p:sp>
      <p:sp>
        <p:nvSpPr>
          <p:cNvPr id="91" name="Text 88"/>
          <p:cNvSpPr/>
          <p:nvPr/>
        </p:nvSpPr>
        <p:spPr>
          <a:xfrm>
            <a:off x="8503920" y="31546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4617720" y="3445459"/>
            <a:ext cx="429768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93" name="Shape 90"/>
          <p:cNvSpPr/>
          <p:nvPr/>
        </p:nvSpPr>
        <p:spPr>
          <a:xfrm>
            <a:off x="4617720" y="3445459"/>
            <a:ext cx="50292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4" name="Text 91"/>
          <p:cNvSpPr/>
          <p:nvPr/>
        </p:nvSpPr>
        <p:spPr>
          <a:xfrm>
            <a:off x="4718304" y="3491179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RS-012</a:t>
            </a:r>
            <a:endParaRPr lang="en-US" sz="850" dirty="0"/>
          </a:p>
        </p:txBody>
      </p:sp>
      <p:sp>
        <p:nvSpPr>
          <p:cNvPr id="95" name="Text 92"/>
          <p:cNvSpPr/>
          <p:nvPr/>
        </p:nvSpPr>
        <p:spPr>
          <a:xfrm>
            <a:off x="5980176" y="3491179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Monitor</a:t>
            </a:r>
            <a:endParaRPr lang="en-US" sz="1000" dirty="0"/>
          </a:p>
        </p:txBody>
      </p:sp>
      <p:sp>
        <p:nvSpPr>
          <p:cNvPr id="96" name="Text 93"/>
          <p:cNvSpPr/>
          <p:nvPr/>
        </p:nvSpPr>
        <p:spPr>
          <a:xfrm>
            <a:off x="8503920" y="3491179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4617720" y="3781958"/>
            <a:ext cx="429768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98" name="Shape 95"/>
          <p:cNvSpPr/>
          <p:nvPr/>
        </p:nvSpPr>
        <p:spPr>
          <a:xfrm>
            <a:off x="4617720" y="3781958"/>
            <a:ext cx="50292" cy="31089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99" name="Text 96"/>
          <p:cNvSpPr/>
          <p:nvPr/>
        </p:nvSpPr>
        <p:spPr>
          <a:xfrm>
            <a:off x="4718304" y="382767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RS-013</a:t>
            </a:r>
            <a:endParaRPr lang="en-US" sz="850" dirty="0"/>
          </a:p>
        </p:txBody>
      </p:sp>
      <p:sp>
        <p:nvSpPr>
          <p:cNvPr id="100" name="Text 97"/>
          <p:cNvSpPr/>
          <p:nvPr/>
        </p:nvSpPr>
        <p:spPr>
          <a:xfrm>
            <a:off x="5980176" y="382767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Escrow Liaison</a:t>
            </a:r>
            <a:endParaRPr lang="en-US" sz="1000" dirty="0"/>
          </a:p>
        </p:txBody>
      </p:sp>
      <p:sp>
        <p:nvSpPr>
          <p:cNvPr id="101" name="Text 98"/>
          <p:cNvSpPr/>
          <p:nvPr/>
        </p:nvSpPr>
        <p:spPr>
          <a:xfrm>
            <a:off x="8503920" y="382767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4617720" y="4118458"/>
            <a:ext cx="429768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103" name="Shape 100"/>
          <p:cNvSpPr/>
          <p:nvPr/>
        </p:nvSpPr>
        <p:spPr>
          <a:xfrm>
            <a:off x="4617720" y="4118458"/>
            <a:ext cx="50292" cy="31089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04" name="Text 101"/>
          <p:cNvSpPr/>
          <p:nvPr/>
        </p:nvSpPr>
        <p:spPr>
          <a:xfrm>
            <a:off x="4718304" y="416417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RS-018</a:t>
            </a:r>
            <a:endParaRPr lang="en-US" sz="850" dirty="0"/>
          </a:p>
        </p:txBody>
      </p:sp>
      <p:sp>
        <p:nvSpPr>
          <p:cNvPr id="105" name="Text 102"/>
          <p:cNvSpPr/>
          <p:nvPr/>
        </p:nvSpPr>
        <p:spPr>
          <a:xfrm>
            <a:off x="5980176" y="416417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Pipeline Manager</a:t>
            </a:r>
            <a:endParaRPr lang="en-US" sz="1000" dirty="0"/>
          </a:p>
        </p:txBody>
      </p:sp>
      <p:sp>
        <p:nvSpPr>
          <p:cNvPr id="106" name="Text 103"/>
          <p:cNvSpPr/>
          <p:nvPr/>
        </p:nvSpPr>
        <p:spPr>
          <a:xfrm>
            <a:off x="8503920" y="416417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107" name="Shape 104"/>
          <p:cNvSpPr/>
          <p:nvPr/>
        </p:nvSpPr>
        <p:spPr>
          <a:xfrm>
            <a:off x="4617720" y="4454957"/>
            <a:ext cx="4297680" cy="310896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4617720" y="4454957"/>
            <a:ext cx="50292" cy="31089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4718304" y="4500677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RS-020</a:t>
            </a:r>
            <a:endParaRPr lang="en-US" sz="850" dirty="0"/>
          </a:p>
        </p:txBody>
      </p:sp>
      <p:sp>
        <p:nvSpPr>
          <p:cNvPr id="110" name="Text 107"/>
          <p:cNvSpPr/>
          <p:nvPr/>
        </p:nvSpPr>
        <p:spPr>
          <a:xfrm>
            <a:off x="5980176" y="4500677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— Chief of Staff</a:t>
            </a:r>
            <a:endParaRPr lang="en-US" sz="1000" dirty="0"/>
          </a:p>
        </p:txBody>
      </p:sp>
      <p:sp>
        <p:nvSpPr>
          <p:cNvPr id="111" name="Text 108"/>
          <p:cNvSpPr/>
          <p:nvPr/>
        </p:nvSpPr>
        <p:spPr>
          <a:xfrm>
            <a:off x="8503920" y="4500677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00" dirty="0"/>
          </a:p>
        </p:txBody>
      </p:sp>
      <p:sp>
        <p:nvSpPr>
          <p:cNvPr id="112" name="Shape 10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113" name="Text 110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Management Suite — 18 Workers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vacancy to eviction. Trust accounting to owner reporting. One platform.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4251960" cy="310896"/>
          </a:xfrm>
          <a:prstGeom prst="rect">
            <a:avLst/>
          </a:prstGeom>
          <a:solidFill>
            <a:srgbClr val="F0EBF9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20040" y="12161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PM-001 ★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618488" y="121615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Vacancy Marketing Worker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23360" y="12161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8600" y="1506931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28600" y="1506931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20040" y="1552651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18488" y="1552651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Screening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023360" y="1552651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8600" y="1843430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228600" y="1843430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20040" y="188915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618488" y="188915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Generation &amp; Execution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023360" y="188915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2179930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" y="2179930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320040" y="222565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PM-004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618488" y="222565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Move-In Coordinator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23360" y="222565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28600" y="2516429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28600" y="2516429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320040" y="2562149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PM-005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618488" y="2562149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Request Manager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023360" y="2562149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28600" y="2852928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228600" y="2852928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320040" y="289864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PM-006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618488" y="289864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Management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023360" y="28986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28600" y="3189427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228600" y="3189427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320040" y="3235147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PM-007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618488" y="3235147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 Scheduler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023360" y="3235147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228600" y="3525926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228600" y="3525926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20040" y="357164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PM-008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618488" y="357164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Collection &amp; Delinquency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023360" y="357164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28600" y="3862426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228600" y="3862426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320040" y="390814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PM-009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1618488" y="390814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Compliance Monitor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023360" y="390814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663440" y="1170432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4663440" y="1170432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4754880" y="12161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PM-010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053328" y="121615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Reporting Worker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8458200" y="12161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4663440" y="1506931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4663440" y="1506931"/>
            <a:ext cx="50292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4754880" y="1552651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PM-011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6053328" y="1552651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Accounting Monitor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8458200" y="1552651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663440" y="1843430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64" name="Shape 61"/>
          <p:cNvSpPr/>
          <p:nvPr/>
        </p:nvSpPr>
        <p:spPr>
          <a:xfrm>
            <a:off x="4663440" y="1843430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4754880" y="188915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PM-012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6053328" y="188915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Planning Worker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8458200" y="188915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4663440" y="2179930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4663440" y="2179930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4754880" y="222565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PM-013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6053328" y="222565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Acquisition (Biz Dev)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8458200" y="222565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4663440" y="2516429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74" name="Shape 71"/>
          <p:cNvSpPr/>
          <p:nvPr/>
        </p:nvSpPr>
        <p:spPr>
          <a:xfrm>
            <a:off x="4663440" y="2516429"/>
            <a:ext cx="50292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4754880" y="2562149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PM-014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6053328" y="2562149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Housing Compliance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8458200" y="2562149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4663440" y="2852928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79" name="Shape 76"/>
          <p:cNvSpPr/>
          <p:nvPr/>
        </p:nvSpPr>
        <p:spPr>
          <a:xfrm>
            <a:off x="4663440" y="2852928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80" name="Text 77"/>
          <p:cNvSpPr/>
          <p:nvPr/>
        </p:nvSpPr>
        <p:spPr>
          <a:xfrm>
            <a:off x="4754880" y="289864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PM-015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6053328" y="289864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Habitability &amp; Code Compliance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8458200" y="28986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4663440" y="3189427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84" name="Shape 81"/>
          <p:cNvSpPr/>
          <p:nvPr/>
        </p:nvSpPr>
        <p:spPr>
          <a:xfrm>
            <a:off x="4663440" y="3189427"/>
            <a:ext cx="50292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85" name="Text 82"/>
          <p:cNvSpPr/>
          <p:nvPr/>
        </p:nvSpPr>
        <p:spPr>
          <a:xfrm>
            <a:off x="4754880" y="3235147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PM-016</a:t>
            </a:r>
            <a:endParaRPr lang="en-US" sz="850" dirty="0"/>
          </a:p>
        </p:txBody>
      </p:sp>
      <p:sp>
        <p:nvSpPr>
          <p:cNvPr id="86" name="Text 83"/>
          <p:cNvSpPr/>
          <p:nvPr/>
        </p:nvSpPr>
        <p:spPr>
          <a:xfrm>
            <a:off x="6053328" y="3235147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 Coordinator</a:t>
            </a:r>
            <a:endParaRPr lang="en-US" sz="1000" dirty="0"/>
          </a:p>
        </p:txBody>
      </p:sp>
      <p:sp>
        <p:nvSpPr>
          <p:cNvPr id="87" name="Text 84"/>
          <p:cNvSpPr/>
          <p:nvPr/>
        </p:nvSpPr>
        <p:spPr>
          <a:xfrm>
            <a:off x="8458200" y="3235147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4663440" y="3525926"/>
            <a:ext cx="4251960" cy="310896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89" name="Shape 86"/>
          <p:cNvSpPr/>
          <p:nvPr/>
        </p:nvSpPr>
        <p:spPr>
          <a:xfrm>
            <a:off x="4663440" y="3525926"/>
            <a:ext cx="50292" cy="31089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754880" y="357164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PM-017</a:t>
            </a:r>
            <a:endParaRPr lang="en-US" sz="850" dirty="0"/>
          </a:p>
        </p:txBody>
      </p:sp>
      <p:sp>
        <p:nvSpPr>
          <p:cNvPr id="91" name="Text 88"/>
          <p:cNvSpPr/>
          <p:nvPr/>
        </p:nvSpPr>
        <p:spPr>
          <a:xfrm>
            <a:off x="6053328" y="357164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Performance Dashboard</a:t>
            </a:r>
            <a:endParaRPr lang="en-US" sz="1000" dirty="0"/>
          </a:p>
        </p:txBody>
      </p:sp>
      <p:sp>
        <p:nvSpPr>
          <p:cNvPr id="92" name="Text 89"/>
          <p:cNvSpPr/>
          <p:nvPr/>
        </p:nvSpPr>
        <p:spPr>
          <a:xfrm>
            <a:off x="8458200" y="357164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4663440" y="3862426"/>
            <a:ext cx="4251960" cy="310896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94" name="Shape 91"/>
          <p:cNvSpPr/>
          <p:nvPr/>
        </p:nvSpPr>
        <p:spPr>
          <a:xfrm>
            <a:off x="4663440" y="3862426"/>
            <a:ext cx="50292" cy="31089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95" name="Text 92"/>
          <p:cNvSpPr/>
          <p:nvPr/>
        </p:nvSpPr>
        <p:spPr>
          <a:xfrm>
            <a:off x="4754880" y="390814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PM-018</a:t>
            </a:r>
            <a:endParaRPr lang="en-US" sz="850" dirty="0"/>
          </a:p>
        </p:txBody>
      </p:sp>
      <p:sp>
        <p:nvSpPr>
          <p:cNvPr id="96" name="Text 93"/>
          <p:cNvSpPr/>
          <p:nvPr/>
        </p:nvSpPr>
        <p:spPr>
          <a:xfrm>
            <a:off x="6053328" y="390814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— Chief of Staff</a:t>
            </a:r>
            <a:endParaRPr lang="en-US" sz="1000" dirty="0"/>
          </a:p>
        </p:txBody>
      </p:sp>
      <p:sp>
        <p:nvSpPr>
          <p:cNvPr id="97" name="Text 94"/>
          <p:cNvSpPr/>
          <p:nvPr/>
        </p:nvSpPr>
        <p:spPr>
          <a:xfrm>
            <a:off x="8458200" y="390814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99" name="Text 9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ESC-001  ·  Patent-Protected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" y="47548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Escrow Locker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74320" y="104241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real estate transaction closes through an Escrow Locker. Offer chain to recorded title — one container, immutable audit trail, DTC transfer on close.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" y="1426464"/>
            <a:ext cx="960120" cy="804672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56032" y="1426464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16152" y="1783080"/>
            <a:ext cx="137160" cy="9144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353312" y="1426464"/>
            <a:ext cx="960120" cy="804672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353312" y="1426464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13432" y="1783080"/>
            <a:ext cx="137160" cy="9144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450592" y="1426464"/>
            <a:ext cx="960120" cy="804672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450592" y="1426464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10712" y="1783080"/>
            <a:ext cx="137160" cy="9144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547872" y="1426464"/>
            <a:ext cx="960120" cy="804672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547872" y="1426464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07992" y="1783080"/>
            <a:ext cx="137160" cy="9144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645152" y="1426464"/>
            <a:ext cx="960120" cy="804672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645152" y="1426464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05272" y="1783080"/>
            <a:ext cx="137160" cy="9144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5742432" y="1426464"/>
            <a:ext cx="960120" cy="804672"/>
          </a:xfrm>
          <a:prstGeom prst="rect">
            <a:avLst/>
          </a:prstGeom>
          <a:solidFill>
            <a:srgbClr val="6B3FA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742432" y="1426464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Notarize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702552" y="1783080"/>
            <a:ext cx="137160" cy="9144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839712" y="1426464"/>
            <a:ext cx="960120" cy="804672"/>
          </a:xfrm>
          <a:prstGeom prst="rect">
            <a:avLst/>
          </a:prstGeom>
          <a:solidFill>
            <a:srgbClr val="1A7A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839712" y="1426464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Disburse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799832" y="1783080"/>
            <a:ext cx="137160" cy="91440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936992" y="1426464"/>
            <a:ext cx="960120" cy="804672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936992" y="1426464"/>
            <a:ext cx="960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56032" y="2377440"/>
            <a:ext cx="2084832" cy="221284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56032" y="2377440"/>
            <a:ext cx="2084832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384048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Verified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84048" y="2779776"/>
            <a:ext cx="1828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parties KYC'd via Stripe Identity before any stage opens. OFAC checked at creation and disbursement.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468880" y="2377440"/>
            <a:ext cx="2084832" cy="221284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2468880" y="2377440"/>
            <a:ext cx="2084832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2596896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Accounts Linked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596896" y="2779776"/>
            <a:ext cx="1828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Financial Connections. No manual account numbers. Ownership confirmed. Wire callback on any change.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681728" y="2377440"/>
            <a:ext cx="2084832" cy="221284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4681728" y="2377440"/>
            <a:ext cx="2084832" cy="50292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4809744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Offer Chain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809744" y="2779776"/>
            <a:ext cx="1828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offer, counter, and addendum signed via Dropbox Sign. Definitive PA is the last link. Immutable record.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94576" y="2377440"/>
            <a:ext cx="2084832" cy="221284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6894576" y="2377440"/>
            <a:ext cx="2084832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022592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Transfer on Close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022592" y="2779776"/>
            <a:ext cx="1828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confirmed → Digital Title Certificate transfers seller Vault to buyer Vault. Chain of custody sealed.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256032" y="462686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ESC-001 is a separate worker suite ($79/mo). RS-013 feeds into the Locker as a coordinator. Every RS transaction should close through ESC-001.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RS-014 — Wire Fraud Prevention. $79/mo.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financial risk in real estate. One worker eliminates it.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3474720" cy="713232"/>
          </a:xfrm>
          <a:prstGeom prst="rect">
            <a:avLst/>
          </a:prstGeom>
          <a:solidFill>
            <a:srgbClr val="FFF0E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47472" y="12435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$446M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481328" y="129844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wire fraud in 2023 (FBI IC3)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1993392"/>
            <a:ext cx="347472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28600" y="1993392"/>
            <a:ext cx="50292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47472" y="20665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481328" y="212140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reports since 2019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8600" y="2816352"/>
            <a:ext cx="347472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228600" y="2816352"/>
            <a:ext cx="50292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47472" y="28895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$70K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1481328" y="294436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loss per victim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8600" y="3639312"/>
            <a:ext cx="347472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28600" y="3639312"/>
            <a:ext cx="50292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47472" y="37124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481328" y="376732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rate once wire is sent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005072" y="1170432"/>
            <a:ext cx="4910328" cy="3291840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160520" y="1261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RS-014 Works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160520" y="1719072"/>
            <a:ext cx="27432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16052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35424" y="17282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instruction received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35424" y="1938528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incoming wiring instructions trigger RS-014 automatically.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60520" y="2249424"/>
            <a:ext cx="27432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16052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35424" y="22585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protocol initiated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35424" y="2468880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dials the sending party at a number from the original contract — not the email.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160520" y="2779776"/>
            <a:ext cx="27432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16052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35424" y="27889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check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35424" y="2999232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email domain verified against known broker/title company domains. Spoofed domains flagged.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60520" y="3310128"/>
            <a:ext cx="27432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416052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35424" y="3319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instruction alert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535424" y="3529584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instruction differing from a prior version triggers a hold and human review — no exceptions.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160520" y="3840480"/>
            <a:ext cx="27432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416052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35424" y="38496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sealed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535424" y="4059936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timestamp, method, and result recorded in the Vault. Immutable. Court-ready.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PM-011 — Trust Accounting Monitor. $79/mo.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audits find violations in 1-in-4 property management firms. This worker eliminates that risk.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2011680" cy="914400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74320" y="11704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0" y="14996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560320" y="1170432"/>
            <a:ext cx="2011680" cy="91440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560320" y="11704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4996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846320" y="1170432"/>
            <a:ext cx="2011680" cy="91440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46320" y="117043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74320" y="2176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reconciliation — every month, automatically.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2578608"/>
            <a:ext cx="4160520" cy="9144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578608"/>
            <a:ext cx="50292" cy="9144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11480" y="2670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 detection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2962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trust ledger vs bank balance shortage triggers an immediate hold-and-alert. No funds move until resolved.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578608"/>
            <a:ext cx="4160520" cy="9144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578608"/>
            <a:ext cx="50292" cy="9144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46320" y="2670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Commingling block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46320" y="2962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deposits, owner reserves, and operating funds in separate sub-ledgers. Commingling is a Tier 0 hard stop.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3657600"/>
            <a:ext cx="4160520" cy="9144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74320" y="3657600"/>
            <a:ext cx="50292" cy="9144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11480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disbursement log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11480" y="4041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distribution logged with property, amount, date, and authorization. Audit trail is immutable.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09160" y="3657600"/>
            <a:ext cx="4160520" cy="9144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4709160" y="3657600"/>
            <a:ext cx="50292" cy="9144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4846320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DRE-ready report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46320" y="4041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reconciliation in DRE format. Audit-ready on demand. No prep time required.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Pricing Works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are priced individually by tier. Discounts and Alex come automatically as you add more.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WORKER PRICING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71600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71600"/>
            <a:ext cx="50292" cy="14813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4475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755648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1883664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Intake, marketing, maintenance requests, move-in, referrals, HOA monitoring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560320"/>
            <a:ext cx="2697480" cy="237744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84048" y="25786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included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72968" y="1371600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172968" y="1371600"/>
            <a:ext cx="50292" cy="148132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37560" y="144475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654296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37560" y="1883664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writing, due diligence, lease generation, rent collection, owner reporting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72968" y="2560320"/>
            <a:ext cx="2697480" cy="237744"/>
          </a:xfrm>
          <a:prstGeom prst="rect">
            <a:avLst/>
          </a:prstGeom>
          <a:solidFill>
            <a:srgbClr val="0E9B8A">
              <a:alpha val="12000"/>
            </a:srgbClr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82696" y="25786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included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71616" y="1371600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071616" y="1371600"/>
            <a:ext cx="50292" cy="14813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236208" y="144475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552944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6208" y="1883664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prevention, TRID compliance, trust accounting, fair housing, eviction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71616" y="2560320"/>
            <a:ext cx="2697480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181344" y="25786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credits/mo included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4320" y="2862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worker per month  ·  Tech Fee + Subscription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4320" y="305409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Overage: $0.02 per credit above monthly inclusion — auto-billed via Stripe at billing cycle close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3291840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74320" y="33558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TEAMS SAVE MORE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4320" y="3621024"/>
            <a:ext cx="20574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74320" y="3621024"/>
            <a:ext cx="205740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02336" y="36850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workers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02336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off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02336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is FREE — daily briefing, anomaly alerts, worker audit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487168" y="3621024"/>
            <a:ext cx="20574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2487168" y="3621024"/>
            <a:ext cx="205740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615184" y="36850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workers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615184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off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2615184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tier included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700016" y="3621024"/>
            <a:ext cx="2057400" cy="1005840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4700016" y="3621024"/>
            <a:ext cx="2057400" cy="50292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828032" y="36850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workers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28032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off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828032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brokerage / PM portfolio. ~$290–$680/mo all-in.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912864" y="3621024"/>
            <a:ext cx="20574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6912864" y="3621024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7040880" y="36850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billing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040880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months free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40880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10 months, get 12. Lock your rate.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E9B8A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11155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Sales &amp;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74320" y="16824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Management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74320" y="2212848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212848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2212848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2212848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596896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2212848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2212848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809744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9744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2212848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12864" y="2212848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7022592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22592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31821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titleapp.ai/real-estate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474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RS-001  Buyer Intake &amp; Pre-Qual  ($29/mo)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3474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RS-006  Listing Intake &amp; CMA  ($29/mo)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PM-001  Vacancy Marketing  ($29/mo)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RS-014  Wire Fraud Prevention  ($79/mo)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169664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20040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0040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20040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Real Estate Suite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TitleApp — Real Estate Sales &amp; Property Management</dc:title>
  <dc:subject>PptxGenJS Presentation</dc:subject>
  <dc:creator>PptxGenJS</dc:creator>
  <cp:lastModifiedBy>PptxGenJS</cp:lastModifiedBy>
  <cp:revision>1</cp:revision>
  <dcterms:created xsi:type="dcterms:W3CDTF">2026-03-06T18:41:34Z</dcterms:created>
  <dcterms:modified xsi:type="dcterms:W3CDTF">2026-03-06T18:41:34Z</dcterms:modified>
</cp:coreProperties>
</file>
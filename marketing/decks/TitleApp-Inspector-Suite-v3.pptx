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11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0622B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926080" y="22860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C0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GOV-031–040  ·  10 Digital Workers  ·  Wearable-Ready  ·  Subscription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0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 Suite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274320" y="2103120"/>
            <a:ext cx="6858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inspection documentation for building departments,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marshals, and health inspectors.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74320" y="27066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observation. 90 seconds. Court-ready notice.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3145536"/>
            <a:ext cx="45720" cy="237744"/>
          </a:xfrm>
          <a:prstGeom prst="rect">
            <a:avLst/>
          </a:prstGeom>
          <a:solidFill>
            <a:srgbClr val="C0622B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38912" y="3127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Inspectors spend 40% of time on paperwork.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94176" y="31272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generated on-site in 90 seconds.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3529584"/>
            <a:ext cx="45720" cy="237744"/>
          </a:xfrm>
          <a:prstGeom prst="rect">
            <a:avLst/>
          </a:prstGeom>
          <a:solidFill>
            <a:srgbClr val="C0622B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38912" y="35112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violation codes.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94176" y="35112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RAAS maps every condition to exact IBC cite.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3913632"/>
            <a:ext cx="45720" cy="237744"/>
          </a:xfrm>
          <a:prstGeom prst="rect">
            <a:avLst/>
          </a:prstGeom>
          <a:solidFill>
            <a:srgbClr val="C0622B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38912" y="38953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reports, no GPS, no timestamp.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694176" y="38953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record: GPS-tagged, timestamped, hashed, on-chain.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74320" y="462686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Angel on Your Shoulder  ·  Phone in pocket  ·  Wearable on your face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Government In A Box  //  Inspector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0622B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Inspection Problem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7432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Inconsistent. Indefensible. Paper-based. A defense attorney's best friend.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170432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74320" y="1170432"/>
            <a:ext cx="4160520" cy="50292"/>
          </a:xfrm>
          <a:prstGeom prst="rect">
            <a:avLst/>
          </a:prstGeom>
          <a:solidFill>
            <a:srgbClr val="C0622B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38912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Violation Codes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" y="160934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inspectors cite different codes for the same condition. The defense attorney catches it. The case fails. The city loses.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170432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709160" y="1170432"/>
            <a:ext cx="4160520" cy="502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873752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of Time on Paperwork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73752" y="160934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hour an inspector spends writing reports is an hour not conducting inspections. Backlog grows. Violations compound. City liability increases.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2889504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274320" y="2889504"/>
            <a:ext cx="416052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38912" y="2999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Reports + Personal Phones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38912" y="3328416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Handwritten notes, photos on a personal device, reports typed hours later at the office. Timestamps guessed. Evidence chain broken.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09160" y="2889504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709160" y="2889504"/>
            <a:ext cx="4160520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873752" y="2999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 Indefensibility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73752" y="3328416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 notices with no GPS, no timestamp, no photo chain of custody. Property owner disputes. City has nothing to stand on.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Government In A Box  //  Inspector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Pricing Works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are priced individually by tier. Credits included. Overage billed automatically.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74320" y="111556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WORKER PRICING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1371600"/>
            <a:ext cx="2697480" cy="157276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74320" y="1371600"/>
            <a:ext cx="50292" cy="157276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38912" y="14447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737360" y="14904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8912" y="1865376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Notifications, queue mgmt,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collection, status portals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2615184"/>
            <a:ext cx="2697480" cy="274320"/>
          </a:xfrm>
          <a:prstGeom prst="rect">
            <a:avLst/>
          </a:prstGeom>
          <a:solidFill>
            <a:srgbClr val="1B4F8A">
              <a:alpha val="12000"/>
            </a:srgbClr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65760" y="263347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credits/mo  ·  overage $0.02/credit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172968" y="1371600"/>
            <a:ext cx="2697480" cy="157276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3172968" y="1371600"/>
            <a:ext cx="50292" cy="1572768"/>
          </a:xfrm>
          <a:prstGeom prst="rect">
            <a:avLst/>
          </a:prstGeom>
          <a:solidFill>
            <a:srgbClr val="C0622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337560" y="14447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4636008" y="14904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37560" y="1865376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Intake, tracking, routing,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review, lien management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172968" y="2615184"/>
            <a:ext cx="2697480" cy="274320"/>
          </a:xfrm>
          <a:prstGeom prst="rect">
            <a:avLst/>
          </a:prstGeom>
          <a:solidFill>
            <a:srgbClr val="C0622B">
              <a:alpha val="12000"/>
            </a:srgbClr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3264408" y="263347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credits/mo  ·  overage $0.02/credit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071616" y="1371600"/>
            <a:ext cx="2697480" cy="157276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071616" y="1371600"/>
            <a:ext cx="50292" cy="15727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236208" y="14447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7534656" y="14904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236208" y="1865376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detection, compliance,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RON, regulated functions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071616" y="2615184"/>
            <a:ext cx="2697480" cy="274320"/>
          </a:xfrm>
          <a:prstGeom prst="rect">
            <a:avLst/>
          </a:prstGeom>
          <a:solidFill>
            <a:srgbClr val="C0392B">
              <a:alpha val="12000"/>
            </a:srgbClr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6163056" y="263347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 credits/mo  ·  overage $0.02/credit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74320" y="2980944"/>
            <a:ext cx="8595360" cy="475488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438912" y="3054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— AI Chief of Staff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200400" y="30815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 ·  FREE with 3+ worker subscriptions  ·  Monthly briefing  ·  Worker performance audit  ·  Anomaly alerts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74320" y="3511296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274320" y="357530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CONFIGURATIONS  ·  Volume discounts apply automatically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74320" y="3840480"/>
            <a:ext cx="2697480" cy="93268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274320" y="3840480"/>
            <a:ext cx="50292" cy="93268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402336" y="39136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Inspector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 workers)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02336" y="4169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$141/mo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402336" y="44805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vol. discount applied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172968" y="3840480"/>
            <a:ext cx="2697480" cy="93268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3172968" y="3840480"/>
            <a:ext cx="50292" cy="932688"/>
          </a:xfrm>
          <a:prstGeom prst="rect">
            <a:avLst/>
          </a:prstGeom>
          <a:solidFill>
            <a:srgbClr val="C0622B"/>
          </a:solidFill>
          <a:ln/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3300984" y="39136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+ Fire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 workers)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3300984" y="4169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$252/mo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3300984" y="44805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vol. discount applied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6071616" y="3840480"/>
            <a:ext cx="2697480" cy="93268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6" name="Shape 43"/>
          <p:cNvSpPr/>
          <p:nvPr/>
        </p:nvSpPr>
        <p:spPr>
          <a:xfrm>
            <a:off x="6071616" y="3840480"/>
            <a:ext cx="50292" cy="932688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6199632" y="39136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Department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(all 10 workers)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6199632" y="4169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$420/mo</a:t>
            </a:r>
            <a:endParaRPr lang="en-US" sz="2200" dirty="0"/>
          </a:p>
        </p:txBody>
      </p:sp>
      <p:sp>
        <p:nvSpPr>
          <p:cNvPr id="49" name="Text 46"/>
          <p:cNvSpPr/>
          <p:nvPr/>
        </p:nvSpPr>
        <p:spPr>
          <a:xfrm>
            <a:off x="6199632" y="44805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vol. discount applied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Government In A Box  //  Inspector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0622B"/>
          </a:solidFill>
          <a:ln/>
        </p:spPr>
      </p:sp>
      <p:sp>
        <p:nvSpPr>
          <p:cNvPr id="5" name="Text 2"/>
          <p:cNvSpPr/>
          <p:nvPr/>
        </p:nvSpPr>
        <p:spPr>
          <a:xfrm>
            <a:off x="274320" y="64008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9601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 Suite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74320" y="151790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observation. 90 seconds. Court-ready notice.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1920240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920240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14-Day Free Trial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4048" y="2267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credit card. Full access.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87168" y="1920240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87168" y="1920240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1"/>
          <p:cNvSpPr/>
          <p:nvPr/>
        </p:nvSpPr>
        <p:spPr>
          <a:xfrm>
            <a:off x="2596896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Money Back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96896" y="2267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questions asked.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00016" y="1920240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0016" y="1920240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5"/>
          <p:cNvSpPr/>
          <p:nvPr/>
        </p:nvSpPr>
        <p:spPr>
          <a:xfrm>
            <a:off x="4809744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Anytime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09744" y="2267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click. Data always yours.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12864" y="1920240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12864" y="1920240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19"/>
          <p:cNvSpPr/>
          <p:nvPr/>
        </p:nvSpPr>
        <p:spPr>
          <a:xfrm>
            <a:off x="7022592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60-Day Guarantee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022592" y="2267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don't deliver, you don't pay.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74320" y="287121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→ titleapp.ai/government/inspections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74320" y="32004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GOV-031  Building Inspector AI  ($79/mo)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09160" y="32004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GOV-038  Inspection Report Generator  ($49/mo)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74320" y="34747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GOV-033  Fire Inspection Manager  ($79/mo)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09160" y="34747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Alex — Inspector Chief of Staff  (FREE)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74320" y="3950208"/>
            <a:ext cx="8595360" cy="36576"/>
          </a:xfrm>
          <a:prstGeom prst="rect">
            <a:avLst/>
          </a:prstGeom>
          <a:solidFill>
            <a:srgbClr val="162C52"/>
          </a:solidFill>
          <a:ln/>
        </p:spPr>
      </p:sp>
      <p:sp>
        <p:nvSpPr>
          <p:cNvPr id="30" name="Text 27"/>
          <p:cNvSpPr/>
          <p:nvPr/>
        </p:nvSpPr>
        <p:spPr>
          <a:xfrm>
            <a:off x="274320" y="4059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74320" y="4270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Chief of Staff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74320" y="4462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alex@titleapp.ai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3200400" y="4059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 Combs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200400" y="4270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CEO, TitleApp AI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3200400" y="4462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sean@titleapp.ai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126480" y="4059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Redwine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126480" y="4270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CFO, TitleApp AI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26480" y="4462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kent@titleapp.ai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274320" y="473659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Government In A Box  //  Inspector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342"/>
                </a:solidFill>
              </a:rPr>
              <a:t>TitleApp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2004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342"/>
                </a:solidFill>
              </a:rPr>
              <a:t>How Billing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04672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Three separate billing lines — each serves a different purpose.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8595360" cy="27432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3108960"/>
          </a:xfrm>
          <a:prstGeom prst="rect">
            <a:avLst/>
          </a:prstGeom>
          <a:solidFill>
            <a:srgbClr val="E8F2FC"/>
          </a:solidFill>
          <a:ln w="1524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743200" cy="36576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4F8A"/>
                </a:solidFill>
              </a:rPr>
              <a:t>LINE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Subscription Credits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</a:rPr>
              <a:t>$0.02 / credit 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~80–85% platform margin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Every tier includes monthly credits.
Run out? $0.02 per additional credit,
auto-billed at cycle close via Stripe.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730752"/>
            <a:ext cx="2468880" cy="29260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Creator earns 20% of platform margin on overage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097280"/>
            <a:ext cx="2743200" cy="3108960"/>
          </a:xfrm>
          <a:prstGeom prst="rect">
            <a:avLst/>
          </a:prstGeom>
          <a:solidFill>
            <a:srgbClr val="E6F7F5"/>
          </a:solidFill>
          <a:ln w="15240">
            <a:solidFill>
              <a:srgbClr val="0E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097280"/>
            <a:ext cx="2743200" cy="36576"/>
          </a:xfrm>
          <a:prstGeom prst="rect">
            <a:avLst/>
          </a:prstGeom>
          <a:solidFill>
            <a:srgbClr val="0E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9B8A"/>
                </a:solidFill>
              </a:rPr>
              <a:t>LINE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Data Pass-Through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9B8A"/>
                </a:solidFill>
              </a:rPr>
              <a:t>actual cost × 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~50% platform margin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Some workers call external data APIs
(e.g. property records, FAA registry,
weather). Billed at cost × 2.0 markup.
Separate Stripe line item — not credits.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730752"/>
            <a:ext cx="2468880" cy="292608"/>
          </a:xfrm>
          <a:prstGeom prst="rect">
            <a:avLst/>
          </a:prstGeom>
          <a:solidFill>
            <a:srgbClr val="0E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499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 only — 0% creator share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097280"/>
            <a:ext cx="2743200" cy="3108960"/>
          </a:xfrm>
          <a:prstGeom prst="rect">
            <a:avLst/>
          </a:prstGeom>
          <a:solidFill>
            <a:srgbClr val="FDF8ED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097280"/>
            <a:ext cx="2743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LINE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$0.005 /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~80% platform margin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Every worker action is hashed,
timestamped, and written to an
immutable on-chain audit record.
Court-ready. Cannot be altered.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730752"/>
            <a:ext cx="2468880" cy="2926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 only — 0% creator share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315968"/>
            <a:ext cx="85953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36168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</a:rPr>
              <a:t>Data pass-through and audit trail fees are separate from your subscription — they appear as distinct line items on your invoice and are never deducted from credits.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</a:rPr>
              <a:t>titleapp.ai  //  Government In A Box — Inspector Suite  //  alex@titleapp.ai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2026-03-06T19:42:36Z</dcterms:created>
  <dcterms:modified xsi:type="dcterms:W3CDTF">2026-03-06T19:42:36Z</dcterms:modified>
</cp:coreProperties>
</file>
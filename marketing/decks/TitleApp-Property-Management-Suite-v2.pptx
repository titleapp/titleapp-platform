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200400" y="2286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PM-001–018  ·  18 Digital Workers  ·  Tech Fee +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353312"/>
            <a:ext cx="7772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74320" y="2468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AI-powered workers from vacancy to eviction.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accounting, compliance, and owner reporting — automated.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090672"/>
            <a:ext cx="45720" cy="21945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30723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 violations cost licenses.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11296" y="30723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reconciliation every month. Automatically.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456432"/>
            <a:ext cx="45720" cy="21945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438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housing violations are existential.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11296" y="34381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on every applicant interaction. Hard stops.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822192"/>
            <a:ext cx="45720" cy="21945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8039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Evictions are expensive when done wrong.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11296" y="38039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notice generation, proper procedure, every time.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187952"/>
            <a:ext cx="45720" cy="21945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8912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leave when reporting is late.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11296" y="41696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monthly reports. Owner portal. No calls.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Property Management Problem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firms carry more compliance risk than most realize — and most of it is manual.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 Violations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audits find trust account errors in 1-in-4 PM firms. Three-way reconciliation done manually. One math error triggers a compliance investigation that can cost a license.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Housing Exposure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tenant interaction is a fair housing risk. Inconsistent screening criteria, ad language, and application handling create discrimination exposure. Violations cost $50K–$250K+.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Habitability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maintenance creates habitability violations. Uninhabitable unit claims mean rent withholding, legal fees, and regulatory action. Local housing codes differ by city.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Reporting Gaps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expect monthly reporting. Manual reporting takes hours. Errors erode trust. One missed disbursement or wrong number and the owner starts shopping for a new PM.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Workers. Every PM Function.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vacancy to eviction. Owner acquisition to portfolio reporting.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4251960" cy="323698"/>
          </a:xfrm>
          <a:prstGeom prst="rect">
            <a:avLst/>
          </a:prstGeom>
          <a:solidFill>
            <a:srgbClr val="F5F0F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0040" y="12252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PM-001 ★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18488" y="122529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Marketing Worker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14216" y="12435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8600" y="1521562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28600" y="1521562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20040" y="157642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18488" y="157642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Screening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014216" y="159471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8600" y="1872691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28600" y="1872691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20040" y="192755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618488" y="1927555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Generation &amp; Execution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014216" y="1945843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2223821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" y="2223821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20040" y="227868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PM-004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618488" y="2278685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Move-In Coordinator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14216" y="2296973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28600" y="257495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28600" y="2574950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320040" y="262981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618488" y="262981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 Manager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014216" y="264810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28600" y="292608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228600" y="2926080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20040" y="2980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PM-006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618488" y="29809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014216" y="29992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28600" y="327721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28600" y="3277210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20040" y="333207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PM-007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618488" y="333207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 Scheduler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014216" y="335036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28600" y="3628339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228600" y="3628339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20040" y="368320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PM-008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618488" y="3683203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Collection &amp; Delinquency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014216" y="370149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28600" y="3979469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228600" y="3979469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320040" y="403433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PM-009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618488" y="4034333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Compliance Monitor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014216" y="405262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663440" y="1170432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663440" y="1170432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754880" y="12252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PM-010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053328" y="122529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Reporting Worker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449056" y="12435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663440" y="1521562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4663440" y="1521562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4754880" y="157642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PM-011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053328" y="157642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Accounting Monitor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449056" y="159471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63440" y="1872691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4" name="Shape 61"/>
          <p:cNvSpPr/>
          <p:nvPr/>
        </p:nvSpPr>
        <p:spPr>
          <a:xfrm>
            <a:off x="4663440" y="1872691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4754880" y="192755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PM-012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6053328" y="1927555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Planning Worker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449056" y="1945843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4663440" y="2223821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4663440" y="2223821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4754880" y="227868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PM-013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053328" y="2278685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Acquisition (Biz Dev)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8449056" y="2296973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663440" y="257495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4" name="Shape 71"/>
          <p:cNvSpPr/>
          <p:nvPr/>
        </p:nvSpPr>
        <p:spPr>
          <a:xfrm>
            <a:off x="4663440" y="2574950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4754880" y="262981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PM-014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6053328" y="262981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Housing Compliance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8449056" y="264810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4663440" y="292608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79" name="Shape 76"/>
          <p:cNvSpPr/>
          <p:nvPr/>
        </p:nvSpPr>
        <p:spPr>
          <a:xfrm>
            <a:off x="4663440" y="2926080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4754880" y="2980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PM-015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6053328" y="29809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Habitability &amp; Code Compliance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8449056" y="29992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4663440" y="3277210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4" name="Shape 81"/>
          <p:cNvSpPr/>
          <p:nvPr/>
        </p:nvSpPr>
        <p:spPr>
          <a:xfrm>
            <a:off x="4663440" y="3277210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5" name="Text 82"/>
          <p:cNvSpPr/>
          <p:nvPr/>
        </p:nvSpPr>
        <p:spPr>
          <a:xfrm>
            <a:off x="4754880" y="333207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PM-016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6053328" y="333207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Coordinator</a:t>
            </a:r>
            <a:endParaRPr lang="en-US" sz="1000" dirty="0"/>
          </a:p>
        </p:txBody>
      </p:sp>
      <p:sp>
        <p:nvSpPr>
          <p:cNvPr id="87" name="Text 84"/>
          <p:cNvSpPr/>
          <p:nvPr/>
        </p:nvSpPr>
        <p:spPr>
          <a:xfrm>
            <a:off x="8449056" y="335036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4663440" y="3628339"/>
            <a:ext cx="425196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89" name="Shape 86"/>
          <p:cNvSpPr/>
          <p:nvPr/>
        </p:nvSpPr>
        <p:spPr>
          <a:xfrm>
            <a:off x="4663440" y="3628339"/>
            <a:ext cx="50292" cy="32369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754880" y="368320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PM-017</a:t>
            </a:r>
            <a:endParaRPr lang="en-US" sz="850" dirty="0"/>
          </a:p>
        </p:txBody>
      </p:sp>
      <p:sp>
        <p:nvSpPr>
          <p:cNvPr id="91" name="Text 88"/>
          <p:cNvSpPr/>
          <p:nvPr/>
        </p:nvSpPr>
        <p:spPr>
          <a:xfrm>
            <a:off x="6053328" y="3683203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Performance Dashboard</a:t>
            </a:r>
            <a:endParaRPr lang="en-US" sz="1000" dirty="0"/>
          </a:p>
        </p:txBody>
      </p:sp>
      <p:sp>
        <p:nvSpPr>
          <p:cNvPr id="92" name="Text 89"/>
          <p:cNvSpPr/>
          <p:nvPr/>
        </p:nvSpPr>
        <p:spPr>
          <a:xfrm>
            <a:off x="8449056" y="370149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663440" y="3979469"/>
            <a:ext cx="4251960" cy="323698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94" name="Shape 91"/>
          <p:cNvSpPr/>
          <p:nvPr/>
        </p:nvSpPr>
        <p:spPr>
          <a:xfrm>
            <a:off x="4663440" y="3979469"/>
            <a:ext cx="50292" cy="3236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5" name="Text 92"/>
          <p:cNvSpPr/>
          <p:nvPr/>
        </p:nvSpPr>
        <p:spPr>
          <a:xfrm>
            <a:off x="4754880" y="403433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PM-018</a:t>
            </a:r>
            <a:endParaRPr lang="en-US" sz="850" dirty="0"/>
          </a:p>
        </p:txBody>
      </p:sp>
      <p:sp>
        <p:nvSpPr>
          <p:cNvPr id="96" name="Text 93"/>
          <p:cNvSpPr/>
          <p:nvPr/>
        </p:nvSpPr>
        <p:spPr>
          <a:xfrm>
            <a:off x="6053328" y="4034333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 of Staff</a:t>
            </a:r>
            <a:endParaRPr lang="en-US" sz="1000" dirty="0"/>
          </a:p>
        </p:txBody>
      </p:sp>
      <p:sp>
        <p:nvSpPr>
          <p:cNvPr id="97" name="Text 94"/>
          <p:cNvSpPr/>
          <p:nvPr/>
        </p:nvSpPr>
        <p:spPr>
          <a:xfrm>
            <a:off x="8449056" y="405262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99" name="Text 9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PM-011 — Trust Accounting Monitor. $79/mo.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audits find trust account violations in 1-in-4 property management firms. This worker eliminates that risk.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60320" y="1097280"/>
            <a:ext cx="2011680" cy="914400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603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Mgmt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2011680" cy="91440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463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7432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reconciliation — every month, automatically.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2505456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505456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11480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detection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889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trust ledger vs. bank balance shortage triggers an immediate hold-and-alert. No funds move until resolved.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505456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505456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46320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Commingling block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889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deposits, owner reserves, and operating funds tracked in separate sub-ledgers. Commingling is a Tier 0 hard stop.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584448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584448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1148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disbursement log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9684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distribution logged: property, amount, date, authorization. Audit trail is immutable.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3584448"/>
            <a:ext cx="4160520" cy="91440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709160" y="3584448"/>
            <a:ext cx="50292" cy="9144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84632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DRE-ready report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46320" y="39684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reconciliation in DRE format. Audit-ready on demand. No prep time required.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Workers That Protect Your License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housing and eviction are where PM firms get hurt most.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33856"/>
            <a:ext cx="4224528" cy="34015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33856"/>
            <a:ext cx="4224528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4048" y="12070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PM-014  Fair Housing Compliance  $79/mo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49961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cost $50K–$250K+. Every applicant interaction is a risk.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1810512"/>
            <a:ext cx="45720" cy="2377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30352" y="17922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language review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0" y="1792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listing ad scanned for fair housing violations before publication.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" y="2286000"/>
            <a:ext cx="45720" cy="2377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30352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consistency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2880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criteria applied to every applicant. Documented. Defensible.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" y="2761488"/>
            <a:ext cx="45720" cy="2377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0352" y="2743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audit trail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828800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timestamped. Denial reasons documented. Immutable.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84048" y="3236976"/>
            <a:ext cx="45720" cy="2377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0352" y="3218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communication monitor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828800" y="3218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language in tenant communications that creates exposure.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84048" y="3712464"/>
            <a:ext cx="45720" cy="23774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30352" y="36941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action letters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828800" y="36941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denial letters generated automatically when required.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90872" y="1133856"/>
            <a:ext cx="4224528" cy="34015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690872" y="1133856"/>
            <a:ext cx="4224528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846320" y="120700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PM-016  Eviction Coordinator  $79/mo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46320" y="1499616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procedure = dismissed case, attorney fees, and a tenant who knows you made a mistake.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46320" y="1810512"/>
            <a:ext cx="457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992624" y="17922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generation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91072" y="1792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State-compliant 3/30/60-day notices. Correct form, correct service, correct timing.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46320" y="2286000"/>
            <a:ext cx="457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99262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period tracking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91072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cure deadlines. Monitors for payment or compliance.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46320" y="2761488"/>
            <a:ext cx="457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992624" y="2743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Unlawful detainer prep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291072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UD filing package. Jurisdiction-specific. Court-ready.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46320" y="3236976"/>
            <a:ext cx="457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992624" y="32186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 handoff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291072" y="3218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file with timeline, notices, service proof — ready for attorney.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46320" y="3712464"/>
            <a:ext cx="457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4992624" y="36941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Retaliation protection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291072" y="36941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all eviction-triggering events. Defends against retaliation claims.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Talk to Each Other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connects every worker. One event cascades across the entire portfolio automatically.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Signed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591056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Move-In Coordinator activated → utility setup initiated → inspection scheduled → security deposit logged to trust account → owner notified. Zero manual steps.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Request Filed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73752" y="1591056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dispatched → work order created → tenant notified of ETA → invoice approved → Preventive Maintenance worker updates property service log. All automatic.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Delinquent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" y="331012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late notice generated. Day 5: escalation alert. Day 10: Eviction Coordinator activated. Owner notified at each stage. Audit trail immutable from first missed payment.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Renewal Due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73752" y="3310128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flags 90/60/30 days out. Rent survey pulled. Renewal offer generated. Screening refreshed if tenant changes. Owner approval triggered if above threshold.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Credits, discounts, and Alex come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53312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5564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marketing, maintenance requests, move-in/out, HOA monitoring, vendor mgmt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42032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53312"/>
            <a:ext cx="50292" cy="1481328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54296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screening, lease generation, rent collection, owner reporting, CapEx planning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42032"/>
            <a:ext cx="2697480" cy="237744"/>
          </a:xfrm>
          <a:prstGeom prst="rect">
            <a:avLst/>
          </a:prstGeom>
          <a:solidFill>
            <a:srgbClr val="6B3FA0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53312"/>
            <a:ext cx="50292" cy="14813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52944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accounting (DRE), fair housing compliance, eviction coordination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42032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34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Tech Fee + Subscription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175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55264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28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602736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FREE — daily portfolio briefing, renewal alerts, delinquency escalation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487168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602736"/>
            <a:ext cx="2057400" cy="5029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tier included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700016" y="3602736"/>
            <a:ext cx="2057400" cy="102412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602736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PM platform. ~$520–$780/mo for a 50-property portfolio.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12864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60273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Property Management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132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04241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Management Suite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6093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vacancy to eviction. Trust accounting on autopilot.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54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titleapp.ai/real-estate/property-management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328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PM-001  Vacancy Marketing  ($29/mo)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328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PM-011  Trust Accounting Monitor  ($79/mo)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PM-014  Fair Housing Compliance  ($79/mo)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PM-016  Eviction Coordinator  ($79/mo)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14800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Property Management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2026-03-06T20:00:41Z</dcterms:created>
  <dcterms:modified xsi:type="dcterms:W3CDTF">2026-03-06T20:00:41Z</dcterms:modified>
</cp:coreProperties>
</file>
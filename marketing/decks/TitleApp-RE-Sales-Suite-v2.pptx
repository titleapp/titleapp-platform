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5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200400" y="22860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RS-001–020  ·  20 Digital Workers  ·  Tech Fee + Subscription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1353312"/>
            <a:ext cx="7772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Suite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274320" y="246888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AI-powered workers for buyer agents, listing agents,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transaction coordinators.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3090672"/>
            <a:ext cx="45720" cy="21945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38912" y="30723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fraud is up 400% in 4 years.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28416" y="307238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protocol on every wire. Every time.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3456432"/>
            <a:ext cx="45720" cy="21945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38912" y="34381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deadlines kill deals.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28416" y="343814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on autopilot.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3822192"/>
            <a:ext cx="45720" cy="21945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38912" y="38039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gaps create litigation.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28416" y="380390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State-mandated package assembled automatically.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4187952"/>
            <a:ext cx="45720" cy="219456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38912" y="41696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contact to closed deal.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28416" y="416966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covered. Every deadline tracked.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Real Estate Sales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Estate Sales Problem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manage 6–10 transactions simultaneously on spreadsheets and sticky notes. Every handoff is a gap.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74320" y="1170432"/>
            <a:ext cx="4160520" cy="502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38912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Fraud — $446M Lost in 2023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FBI IC3: real estate wire fraud up 400% in 4 years. Spoofed wiring instructions. One wrong click — the money is gone. No callback protocol. No verification. No system catches it.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170432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709160" y="1170432"/>
            <a:ext cx="416052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873752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Contract Deadlines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375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periods, contingency removals, loan commitment dates — all tracked in spreadsheets. One missed deadline = failed deal, legal exposure, broker discipline.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274320" y="2889504"/>
            <a:ext cx="416052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38912" y="2999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Package Gaps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8912" y="332841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 forget items. Agents miss state-mandated disclosures. Any undisclosed defect post-closing becomes litigation. The disclosure package is the #1 source of RE legal claims.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2889504"/>
            <a:ext cx="4160520" cy="1554480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709160" y="2889504"/>
            <a:ext cx="4160520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73752" y="2999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Closing Infrastructure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73752" y="332841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is managed by a human with paper files. Wire instructions are emailed. Nothing is verified. Nothing is immutable. The most money-intensive transaction in most people's lives runs on trust and luck.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Real Estate Sales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Side — 10 Workers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contact to closed escrow. Every buyer touchpoint automated.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8686800" cy="323698"/>
          </a:xfrm>
          <a:prstGeom prst="rect">
            <a:avLst/>
          </a:prstGeom>
          <a:solidFill>
            <a:srgbClr val="EEF4FF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28600" y="1170432"/>
            <a:ext cx="50292" cy="32369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29184" y="122529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RS-001 ★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27632" y="1225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Intake &amp; Pre-Qual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41648" y="12252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needs analysis, pre-qual coordination, search criteria setup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412480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8600" y="1521562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228600" y="1521562"/>
            <a:ext cx="50292" cy="32369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329184" y="157642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627632" y="157642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Search &amp; Alert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41648" y="157642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listing alerts, comparative analysis, match scoring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412480" y="157642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28600" y="1872691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228600" y="1872691"/>
            <a:ext cx="50292" cy="32369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29184" y="1927555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627632" y="1927555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Writing Assistant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041648" y="1927555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analysis, offer strategy, contract generation with contingency tracking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412480" y="1927555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28600" y="2223821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228600" y="2223821"/>
            <a:ext cx="50292" cy="32369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329184" y="2278685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627632" y="2278685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Due Diligence Mgr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041648" y="2278685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coordination, repair request, contingency management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412480" y="2278685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28600" y="2574950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228600" y="2574950"/>
            <a:ext cx="50292" cy="32369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329184" y="262981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627632" y="262981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Closing Coordinator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041648" y="262981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review, closing disclosure reconciliation, wire instruction verification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8412480" y="262981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28600" y="2926080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228600" y="2926080"/>
            <a:ext cx="50292" cy="32369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329184" y="298094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RS-014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627632" y="29809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Fraud Prevention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041648" y="29809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protocol, domain check, changed-instruction hold — every wire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8412480" y="29809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28600" y="3277210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228600" y="3277210"/>
            <a:ext cx="50292" cy="32369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329184" y="333207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RS-015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627632" y="333207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Pipeline Monitor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4041648" y="333207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loan milestones, appraisal status, condition clearance, closing date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8412480" y="333207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228600" y="3628339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228600" y="3628339"/>
            <a:ext cx="50292" cy="32369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329184" y="3683203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RS-016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627632" y="3683203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Appraisal Management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4041648" y="3683203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Appraisal scheduling, value gap alerts, reconsideration coordination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8412480" y="3683203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28600" y="3979469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228600" y="3979469"/>
            <a:ext cx="50292" cy="32369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329184" y="4034333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RS-017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1627632" y="4034333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 Compliance Monitor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4041648" y="4034333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TRID timing requirements, CD delivery, closing disclosure accuracy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8412480" y="4034333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228600" y="4330598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28600" y="4330598"/>
            <a:ext cx="50292" cy="32369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329184" y="438546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RS-019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1627632" y="438546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Review &amp; Referral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4041648" y="438546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Post-closing review request, referral program, anniversary outreach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8412480" y="438546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Real Estate Sales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Side — 10 Workers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listing intake to closed escrow. Every seller workflow covered.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8686800" cy="323698"/>
          </a:xfrm>
          <a:prstGeom prst="rect">
            <a:avLst/>
          </a:prstGeom>
          <a:solidFill>
            <a:srgbClr val="E8FAF7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28600" y="1170432"/>
            <a:ext cx="50292" cy="323698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29184" y="122529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RS-006 ★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27632" y="1225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Intake &amp; CMA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41648" y="12252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consultation, CMA generation, listing agreement preparation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412480" y="12252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8600" y="1521562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228600" y="1521562"/>
            <a:ext cx="50292" cy="323698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329184" y="157642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RS-007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627632" y="157642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Marketing Worker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41648" y="157642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MLS syndication, photo/video coordination, showing management, open house logistics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412480" y="157642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28600" y="1872691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228600" y="1872691"/>
            <a:ext cx="50292" cy="323698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29184" y="1927555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RS-008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627632" y="1927555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Review &amp; Negotiation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041648" y="1927555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comparison matrix, counter-offer strategy, net sheet generation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412480" y="1927555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28600" y="2223821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228600" y="2223821"/>
            <a:ext cx="50292" cy="323698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329184" y="2278685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RS-009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627632" y="2278685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Due Diligence Coord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041648" y="2278685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package assembly, inspection response, repair credit negotiation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412480" y="2278685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28600" y="2574950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228600" y="2574950"/>
            <a:ext cx="50292" cy="323698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329184" y="262981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RS-010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627632" y="262981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Closing Coordinator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041648" y="262981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net sheet, payoff coordination, proceeds disbursement verification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8412480" y="262981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28600" y="2926080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228600" y="2926080"/>
            <a:ext cx="50292" cy="323698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329184" y="298094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RS-011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627632" y="29809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Coordinator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041648" y="29809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timeline tracking, all-party communication, document collection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8412480" y="29809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28600" y="3277210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228600" y="3277210"/>
            <a:ext cx="50292" cy="32369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329184" y="333207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RS-012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627632" y="333207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Monitor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4041648" y="333207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 deadline tracking, notice generation, breach detection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8412480" y="333207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228600" y="3628339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228600" y="3628339"/>
            <a:ext cx="50292" cy="323698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329184" y="3683203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RS-013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627632" y="3683203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&amp; Escrow Liaison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4041648" y="3683203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commitment review, escrow instruction coordination, closing package assembly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8412480" y="3683203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28600" y="3979469"/>
            <a:ext cx="8686800" cy="32369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228600" y="3979469"/>
            <a:ext cx="50292" cy="323698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329184" y="4034333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RS-018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1627632" y="4034333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&amp; Pipeline Manager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4041648" y="4034333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tracking, follow-up sequences, pipeline reporting, referral source tracking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8412480" y="4034333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228600" y="4330598"/>
            <a:ext cx="8686800" cy="323698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28600" y="4330598"/>
            <a:ext cx="50292" cy="3236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329184" y="438546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RS-020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1627632" y="438546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— Chief of Staff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4041648" y="438546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briefing, deadline alerts, anomaly detection, worker coordination</a:t>
            </a:r>
            <a:endParaRPr lang="en-US" sz="950" dirty="0"/>
          </a:p>
        </p:txBody>
      </p:sp>
      <p:sp>
        <p:nvSpPr>
          <p:cNvPr id="67" name="Text 64"/>
          <p:cNvSpPr/>
          <p:nvPr/>
        </p:nvSpPr>
        <p:spPr>
          <a:xfrm>
            <a:off x="8412480" y="438546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Real Estate Sales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RS-014 — Wire Fraud Prevention. $79/mo.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#1 financial risk in real estate. One worker eliminates it.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8600" y="1170432"/>
            <a:ext cx="3474720" cy="713232"/>
          </a:xfrm>
          <a:prstGeom prst="rect">
            <a:avLst/>
          </a:prstGeom>
          <a:solidFill>
            <a:srgbClr val="FFF0EE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28600" y="1170432"/>
            <a:ext cx="50292" cy="7132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47472" y="12618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$446M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481328" y="1316736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 wire fraud in 2023 (FBI IC3)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1993392"/>
            <a:ext cx="3474720" cy="71323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28600" y="1993392"/>
            <a:ext cx="50292" cy="7132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47472" y="20848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1481328" y="2139696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reports since 2019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28600" y="2816352"/>
            <a:ext cx="3474720" cy="71323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228600" y="2816352"/>
            <a:ext cx="50292" cy="7132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47472" y="29077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$70K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1481328" y="2962656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loss per victim transaction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28600" y="3639312"/>
            <a:ext cx="3474720" cy="71323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228600" y="3639312"/>
            <a:ext cx="50292" cy="7132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47472" y="37307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1481328" y="3785616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rate once wire is sent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005072" y="1170432"/>
            <a:ext cx="4910328" cy="3291840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160520" y="1261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RS-014 Works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160520" y="1700784"/>
            <a:ext cx="27432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160520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35424" y="17099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instruction received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35424" y="1920240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incoming wiring instructions trigger RS-014 automatically.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160520" y="2212848"/>
            <a:ext cx="27432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16052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35424" y="22219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protocol initiated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35424" y="2432304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dials the sending party at a number from the original contract — not the email.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160520" y="2724912"/>
            <a:ext cx="27432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416052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35424" y="27340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check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535424" y="294436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email domain verified against known broker/title company domains. Spoofed domains flagged immediately.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160520" y="3236976"/>
            <a:ext cx="27432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416052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535424" y="3246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instruction alert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535424" y="3456432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instruction differing from a prior version triggers a hold and human review — no exceptions.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160520" y="3749040"/>
            <a:ext cx="27432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416052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35424" y="375818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sealed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535424" y="3968496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timestamp, method, and result recorded in the Vault. Immutable. Court-ready.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Real Estate Sales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ESC-001  ·  Patent-Protected  ·  Closing Infrastructure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74320" y="4754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Escrow Locker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74320" y="102412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RS transaction closes through an Escrow Locker — from the first offer to recorded title. RS-013 feeds into it. The Locker is the closing.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" y="1408176"/>
            <a:ext cx="960120" cy="877824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56032" y="1408176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216152" y="1810512"/>
            <a:ext cx="137160" cy="73152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353312" y="1408176"/>
            <a:ext cx="960120" cy="877824"/>
          </a:xfrm>
          <a:prstGeom prst="rect">
            <a:avLst/>
          </a:prstGeom>
          <a:solidFill>
            <a:srgbClr val="0E9B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353312" y="1408176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313432" y="1810512"/>
            <a:ext cx="137160" cy="73152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2450592" y="1408176"/>
            <a:ext cx="960120" cy="877824"/>
          </a:xfrm>
          <a:prstGeom prst="rect">
            <a:avLst/>
          </a:prstGeom>
          <a:solidFill>
            <a:srgbClr val="0E9B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450592" y="1408176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410712" y="1810512"/>
            <a:ext cx="137160" cy="73152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547872" y="1408176"/>
            <a:ext cx="960120" cy="877824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547872" y="1408176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07992" y="1810512"/>
            <a:ext cx="137160" cy="73152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645152" y="1408176"/>
            <a:ext cx="960120" cy="877824"/>
          </a:xfrm>
          <a:prstGeom prst="rect">
            <a:avLst/>
          </a:prstGeom>
          <a:solidFill>
            <a:srgbClr val="1B4F8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645152" y="1408176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605272" y="1810512"/>
            <a:ext cx="137160" cy="73152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5742432" y="1408176"/>
            <a:ext cx="960120" cy="877824"/>
          </a:xfrm>
          <a:prstGeom prst="rect">
            <a:avLst/>
          </a:prstGeom>
          <a:solidFill>
            <a:srgbClr val="6B3FA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742432" y="1408176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Notarize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702552" y="1810512"/>
            <a:ext cx="137160" cy="73152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839712" y="1408176"/>
            <a:ext cx="960120" cy="877824"/>
          </a:xfrm>
          <a:prstGeom prst="rect">
            <a:avLst/>
          </a:prstGeom>
          <a:solidFill>
            <a:srgbClr val="1A7A4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839712" y="1408176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Disburse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799832" y="1810512"/>
            <a:ext cx="137160" cy="73152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7936992" y="1408176"/>
            <a:ext cx="960120" cy="877824"/>
          </a:xfrm>
          <a:prstGeom prst="rect">
            <a:avLst/>
          </a:prstGeom>
          <a:solidFill>
            <a:srgbClr val="C9A84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936992" y="1408176"/>
            <a:ext cx="960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56032" y="2414016"/>
            <a:ext cx="2084832" cy="221284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256032" y="2414016"/>
            <a:ext cx="2084832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384048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Verified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84048" y="2798064"/>
            <a:ext cx="18288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Identity KYC on all parties before any stage opens. OFAC check at creation and disbursement. Agent license verified against state API.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468880" y="2414016"/>
            <a:ext cx="2084832" cy="221284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2468880" y="2414016"/>
            <a:ext cx="2084832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2596896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Offer Chain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596896" y="2798064"/>
            <a:ext cx="18288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offer, counter, and addendum signed via Dropbox Sign sequentially. Definitive PA is the last document. Immutable negotiation record.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681728" y="2414016"/>
            <a:ext cx="2084832" cy="221284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4681728" y="2414016"/>
            <a:ext cx="2084832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4809744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Accounts Linked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809744" y="2798064"/>
            <a:ext cx="18288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Financial Connections. No manual routing numbers. Ownership confirmed. All disbursements via verified tokens. Wire callback on any change.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94576" y="2414016"/>
            <a:ext cx="2084832" cy="2212848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6894576" y="2414016"/>
            <a:ext cx="2084832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022592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 Transfer on Close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7022592" y="2798064"/>
            <a:ext cx="18288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confirmed → Digital Title Certificate transfers seller Vault to buyer Vault. Chain of custody sealed. Immutable.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256032" y="466344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Escrow Locker is ESC-001 — a separate suite ($79/mo). Every RS transaction should close through one.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62C52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Real Estate Sales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237744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Pricing Works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are priced individually by tier. Credits, discounts, and Alex come automatically.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024128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74320" y="11155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WORKER PRICING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353312"/>
            <a:ext cx="269748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74320" y="1353312"/>
            <a:ext cx="50292" cy="1481328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38912" y="14173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$29/mo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755648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1856232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intake, property search, CRM, client review, post-close referrals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542032"/>
            <a:ext cx="2697480" cy="237744"/>
          </a:xfrm>
          <a:prstGeom prst="rect">
            <a:avLst/>
          </a:prstGeom>
          <a:solidFill>
            <a:srgbClr val="1B4F8A">
              <a:alpha val="12000"/>
            </a:srgbClr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84048" y="2560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credits/mo included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172968" y="1353312"/>
            <a:ext cx="269748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172968" y="1353312"/>
            <a:ext cx="50292" cy="1481328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337560" y="14173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654296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37560" y="1856232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writing, due diligence, closing coordination, loan monitoring, appraisal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172968" y="2542032"/>
            <a:ext cx="2697480" cy="237744"/>
          </a:xfrm>
          <a:prstGeom prst="rect">
            <a:avLst/>
          </a:prstGeom>
          <a:solidFill>
            <a:srgbClr val="0E9B8A">
              <a:alpha val="12000"/>
            </a:srgbClr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3282696" y="2560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credits/mo included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71616" y="1353312"/>
            <a:ext cx="2697480" cy="14813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071616" y="1353312"/>
            <a:ext cx="50292" cy="14813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236208" y="14173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$79/mo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7552944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36208" y="1856232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fraud prevention, TRID compliance, contract breach detection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71616" y="2542032"/>
            <a:ext cx="2697480" cy="237744"/>
          </a:xfrm>
          <a:prstGeom prst="rect">
            <a:avLst/>
          </a:prstGeom>
          <a:solidFill>
            <a:srgbClr val="C0392B">
              <a:alpha val="12000"/>
            </a:srgbClr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6181344" y="2560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credits/mo included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74320" y="28346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worker per month  ·  Tech Fee + Subscription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74320" y="30175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Overage: $0.02 per credit above monthly inclusion — auto-billed via Stripe at billing cycle close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74320" y="3255264"/>
            <a:ext cx="8595360" cy="20117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274320" y="332841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TEAMS SAVE MORE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4320" y="3602736"/>
            <a:ext cx="2057400" cy="10241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74320" y="3602736"/>
            <a:ext cx="2057400" cy="50292"/>
          </a:xfrm>
          <a:prstGeom prst="rect">
            <a:avLst/>
          </a:prstGeom>
          <a:solidFill>
            <a:srgbClr val="1B4F8A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402336" y="36667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workers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02336" y="3904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off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02336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is FREE — daily deal briefing, deadline alerts, anomaly detection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2487168" y="3602736"/>
            <a:ext cx="2057400" cy="10241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2487168" y="3602736"/>
            <a:ext cx="2057400" cy="50292"/>
          </a:xfrm>
          <a:prstGeom prst="rect">
            <a:avLst/>
          </a:prstGeom>
          <a:solidFill>
            <a:srgbClr val="0E9B8A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615184" y="36667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workers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615184" y="3904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off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2615184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 tier included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700016" y="3602736"/>
            <a:ext cx="2057400" cy="1024128"/>
          </a:xfrm>
          <a:prstGeom prst="rect">
            <a:avLst/>
          </a:prstGeom>
          <a:solidFill>
            <a:srgbClr val="0F234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5" name="Shape 42"/>
          <p:cNvSpPr/>
          <p:nvPr/>
        </p:nvSpPr>
        <p:spPr>
          <a:xfrm>
            <a:off x="4700016" y="3602736"/>
            <a:ext cx="2057400" cy="50292"/>
          </a:xfrm>
          <a:prstGeom prst="rect">
            <a:avLst/>
          </a:prstGeom>
          <a:solidFill>
            <a:srgbClr val="0F2342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4828032" y="36667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workers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4828032" y="3904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off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4828032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brokerage team. ~$280–$560/mo for a 6-agent office.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912864" y="3602736"/>
            <a:ext cx="2057400" cy="102412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>
            <a:off x="6912864" y="3602736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7040880" y="36667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billing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7040880" y="3904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months free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040880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10 months, get 12. Lock your rate.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EEF5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titleapp.ai  //  Real Estate Sales Suite  //  alex@titleapp.ai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01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71323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TITLEAPP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104241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Estate Sales Suite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74320" y="160934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contact to closed deal.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4320" y="2084832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2084832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Free Trial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credit card. Full access.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87168" y="2084832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87168" y="2084832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2596896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Money Back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96896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questions asked.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0016" y="2084832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0016" y="2084832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4809744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Anytime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9744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click. Data always yours.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12864" y="2084832"/>
            <a:ext cx="2057400" cy="804672"/>
          </a:xfrm>
          <a:prstGeom prst="rect">
            <a:avLst/>
          </a:prstGeom>
          <a:solidFill>
            <a:srgbClr val="162C52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12864" y="2084832"/>
            <a:ext cx="20574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7022592" y="2157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60-Day Guarantee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22592" y="24140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don't deliver, you don't pay.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4320" y="30540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→ titleapp.ai/real-estate/sales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320" y="33284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RS-001  Buyer Intake &amp; Pre-Qual  ($29/mo)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09160" y="33284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RS-006  Listing Intake &amp; CMA  ($29/mo)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" y="36027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RS-014  Wire Fraud Prevention  ($79/mo)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09160" y="36027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RS-011  Transaction Coordinator  ($49/mo)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4114800"/>
            <a:ext cx="8595360" cy="36576"/>
          </a:xfrm>
          <a:prstGeom prst="rect">
            <a:avLst/>
          </a:prstGeom>
          <a:solidFill>
            <a:srgbClr val="162C52"/>
          </a:solidFill>
          <a:ln/>
        </p:spPr>
      </p:sp>
      <p:sp>
        <p:nvSpPr>
          <p:cNvPr id="30" name="Text 27"/>
          <p:cNvSpPr/>
          <p:nvPr/>
        </p:nvSpPr>
        <p:spPr>
          <a:xfrm>
            <a:off x="274320" y="4224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74320" y="4434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Chief of Staff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274320" y="4626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alex@titleapp.ai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200400" y="4224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 Combs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200400" y="4434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CEO, TitleApp AI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200400" y="4626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sean@titleapp.ai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26480" y="4224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Redwine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126480" y="4434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CFO, TitleApp AI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26480" y="4626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kent@titleapp.ai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2342"/>
                </a:solidFill>
              </a:rPr>
              <a:t>TitleApp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2004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342"/>
                </a:solidFill>
              </a:rPr>
              <a:t>How Billing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4672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AA"/>
                </a:solidFill>
              </a:rPr>
              <a:t>Three separate billing lines — each serves a different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8595360" cy="2743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3108960"/>
          </a:xfrm>
          <a:prstGeom prst="rect">
            <a:avLst/>
          </a:prstGeom>
          <a:solidFill>
            <a:srgbClr val="E8F2FC"/>
          </a:solidFill>
          <a:ln w="1524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43200" cy="36576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4F8A"/>
                </a:solidFill>
              </a:rPr>
              <a:t>LINE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Subscription Credits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</a:rPr>
              <a:t>$0.02 / credit 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~80–85% platform 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tier includes monthly credits.
Run out? $0.02 per additional credit,
auto-billed at cycle close via Stripe.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730752"/>
            <a:ext cx="2468880" cy="29260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Creator earns 20% of platform margin on 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097280"/>
            <a:ext cx="2743200" cy="3108960"/>
          </a:xfrm>
          <a:prstGeom prst="rect">
            <a:avLst/>
          </a:prstGeom>
          <a:solidFill>
            <a:srgbClr val="E6F7F5"/>
          </a:solidFill>
          <a:ln w="15240">
            <a:solidFill>
              <a:srgbClr val="0E9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2743200" cy="36576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9B8A"/>
                </a:solidFill>
              </a:rPr>
              <a:t>LINE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Data Pass-Through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9B8A"/>
                </a:solidFill>
              </a:rPr>
              <a:t>actual cost ×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~50% platform margin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Some workers call external data APIs
(e.g. property records, FAA registry,
weather). Billed at cost × 2.0 markup.
Separate Stripe line item — not credits.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730752"/>
            <a:ext cx="2468880" cy="292608"/>
          </a:xfrm>
          <a:prstGeom prst="rect">
            <a:avLst/>
          </a:prstGeom>
          <a:solidFill>
            <a:srgbClr val="0E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097280"/>
            <a:ext cx="2743200" cy="3108960"/>
          </a:xfrm>
          <a:prstGeom prst="rect">
            <a:avLst/>
          </a:prstGeom>
          <a:solidFill>
            <a:srgbClr val="FDF8ED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09728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1887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</a:rPr>
              <a:t>LINE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4173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2"/>
                </a:solidFill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79222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</a:rPr>
              <a:t>$0.005 /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06654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~80% platform margin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304288"/>
            <a:ext cx="24688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359152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</a:rPr>
              <a:t>Every worker action is hashed,
timestamped, and written to an
immutable on-chain audit record.
Court-ready. Cannot be altered.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730752"/>
            <a:ext cx="2468880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3767328"/>
            <a:ext cx="2414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Platform only — 0% creator share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15968"/>
            <a:ext cx="859536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36168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</a:rPr>
              <a:t>Data pass-through and audit trail fees are separate from your subscription — they appear as distinct line items on your invoice and are never deducted from credits.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</a:rPr>
              <a:t>titleapp.ai  //  Real Estate Sales Suite  //  alex@titleapp.ai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2026-03-06T20:00:41Z</dcterms:created>
  <dcterms:modified xsi:type="dcterms:W3CDTF">2026-03-06T20:00:41Z</dcterms:modified>
</cp:coreProperties>
</file>
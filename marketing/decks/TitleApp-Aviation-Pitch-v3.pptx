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6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926080" y="22860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AV-001–051  ·  51 Digital Workers  ·  Part 91/135  ·  Subscription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Workers for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91/135 Operations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74320" y="25603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AI-powered workers. Every system connected. FAR-compliant by design.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2999232"/>
            <a:ext cx="45720" cy="237744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8912" y="2980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 can't see MX status.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19856" y="2980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unified Vault. Real-time across every system.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3383280"/>
            <a:ext cx="45720" cy="237744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8912" y="3364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 wrench time = 6 hours paperwork.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19856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auto-generated at point of action.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3767328"/>
            <a:ext cx="45720" cy="237744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8912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scheduling in Excel.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19856" y="3749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limits enforced before the board is published.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4151376"/>
            <a:ext cx="45720" cy="237744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8912" y="4133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by hope.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419856" y="4133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FARs are hard stops. No override, no exception.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Aviation Operator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Operation Runs on 5 Systems. None Talk to Each Other.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" y="1078992"/>
            <a:ext cx="8686800" cy="56692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28600" y="1078992"/>
            <a:ext cx="50292" cy="56692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84048" y="1234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(Flight Vector)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74904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Can't see aircraft MX status or crew legality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8600" y="1755648"/>
            <a:ext cx="8686800" cy="566928"/>
          </a:xfrm>
          <a:prstGeom prst="rect">
            <a:avLst/>
          </a:prstGeom>
          <a:solidFill>
            <a:srgbClr val="0A1B35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28600" y="1755648"/>
            <a:ext cx="50292" cy="56692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4048" y="19110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/ SMS (Baldwin)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749040" y="19110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Siloed from ops — findings don't drive action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28600" y="2432304"/>
            <a:ext cx="8686800" cy="56692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228600" y="2432304"/>
            <a:ext cx="50292" cy="56692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384048" y="2587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(Ramco/MX)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749040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 hr wrench time = 6 hrs paperwork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28600" y="3108960"/>
            <a:ext cx="8686800" cy="566928"/>
          </a:xfrm>
          <a:prstGeom prst="rect">
            <a:avLst/>
          </a:prstGeom>
          <a:solidFill>
            <a:srgbClr val="0A1B35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228600" y="3108960"/>
            <a:ext cx="50292" cy="56692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384048" y="3264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EFB (ForeFlight)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749040" y="3264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Pilot-facing only — dispatch is blind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28600" y="3785616"/>
            <a:ext cx="8686800" cy="56692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228600" y="3785616"/>
            <a:ext cx="50292" cy="56692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384048" y="3941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(Excel)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749040" y="3941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Scheduling, billing, training, compliance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28600" y="4480560"/>
            <a:ext cx="8686800" cy="256032"/>
          </a:xfrm>
          <a:prstGeom prst="rect">
            <a:avLst/>
          </a:prstGeom>
          <a:solidFill>
            <a:srgbClr val="C0392B">
              <a:alpha val="20000"/>
            </a:srgbClr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384048" y="44988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Dispatcher assigns legs without knowing MEL status, crew legality, or ground logistics. Every handoff is a phone call.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Aviation Operator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Digital Workers Across 7 Phases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worker enforces FARs, your GOM, and your ops specs — compliance is built in.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" y="1170432"/>
            <a:ext cx="1115568" cy="1828800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74320" y="1243584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Setup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20" y="190195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74320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499616" y="1170432"/>
            <a:ext cx="1115568" cy="1828800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99616" y="1243584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499616" y="190195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1499616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24912" y="1170432"/>
            <a:ext cx="1115568" cy="1828800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2724912" y="1243584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24912" y="190195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2724912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950208" y="1170432"/>
            <a:ext cx="1115568" cy="1828800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950208" y="1243584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Ops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Dispatch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950208" y="190195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3950208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175504" y="1170432"/>
            <a:ext cx="1115568" cy="1828800"/>
          </a:xfrm>
          <a:prstGeom prst="rect">
            <a:avLst/>
          </a:prstGeom>
          <a:solidFill>
            <a:srgbClr val="0E9B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175504" y="1243584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SMS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75504" y="190195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5175504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0" y="1170432"/>
            <a:ext cx="1115568" cy="1828800"/>
          </a:xfrm>
          <a:prstGeom prst="rect">
            <a:avLst/>
          </a:prstGeom>
          <a:solidFill>
            <a:srgbClr val="0E9B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400800" y="1243584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400800" y="190195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6400800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626096" y="1170432"/>
            <a:ext cx="1115568" cy="182880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626096" y="1243584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Audit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626096" y="190195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7626096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4320" y="3163824"/>
            <a:ext cx="2084832" cy="914400"/>
          </a:xfrm>
          <a:prstGeom prst="rect">
            <a:avLst/>
          </a:prstGeom>
          <a:solidFill>
            <a:srgbClr val="6B3FA0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274320" y="323697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74320" y="36941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workers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487168" y="3163824"/>
            <a:ext cx="2084832" cy="914400"/>
          </a:xfrm>
          <a:prstGeom prst="rect">
            <a:avLst/>
          </a:prstGeom>
          <a:solidFill>
            <a:srgbClr val="1B4F8A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2487168" y="323697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EFB &amp; Flight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2487168" y="36941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workers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00016" y="3163824"/>
            <a:ext cx="2084832" cy="914400"/>
          </a:xfrm>
          <a:prstGeom prst="rect">
            <a:avLst/>
          </a:prstGeom>
          <a:solidFill>
            <a:srgbClr val="0E9B8A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4700016" y="323697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700016" y="36941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workers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912864" y="3163824"/>
            <a:ext cx="2084832" cy="91440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6912864" y="323697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— Chief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Staff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912864" y="36941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workers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274320" y="42245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51 workers + Alex = complete Part 91/135 operations platform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Aviation Operator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Dispatch: The Complete Mission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workers replace the phone calls, guesswork, and information gaps that break every mission.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2084832" cy="228600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74320" y="1170432"/>
            <a:ext cx="2084832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02336" y="1243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AV-013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02336" y="14996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Builder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02336" y="1847088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view: aircraft MX status + crew legality + weather + customer. Builds complete mission package.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87168" y="1170432"/>
            <a:ext cx="2084832" cy="228600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487168" y="1170432"/>
            <a:ext cx="2084832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615184" y="1243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AV-039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15184" y="14996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Intel &amp; 10-9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15184" y="1847088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airport pages: gate codes, FBO hours, fuel, bathrooms, ground transport. Crew-sourced updates.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0016" y="1170432"/>
            <a:ext cx="2084832" cy="228600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700016" y="1170432"/>
            <a:ext cx="2084832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828032" y="1243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AV-036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28032" y="14996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Coordination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28032" y="1847088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dispatch, hospital LZ, limo, catering, customs. Confirms every link in the chain.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12864" y="1170432"/>
            <a:ext cx="2084832" cy="228600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912864" y="1170432"/>
            <a:ext cx="2084832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040880" y="1243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AV-040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040880" y="14996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NOTAM Processor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040880" y="1847088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to what matters for this mission. Plain English. Flags conflicts with your flight plan.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3602736"/>
            <a:ext cx="8595360" cy="111556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274320" y="3602736"/>
            <a:ext cx="859536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38912" y="3675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Scenario — Medevac Dispatch at 0230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38912" y="3968496"/>
            <a:ext cx="8284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requests air transport. Mission Builder checks: N847LF airworthy (MEL clear), crew legal (8.5 hrs remaining), weather VFR. Airport Intel: receiving hospital LZ closed for construction — diverts to nearby airport with gate code and ground transport auto-arranged. Ground Coordination confirms ambulance, notifies receiving facility. NOTAM Processor flags TFR 12nm east. Complete mission brief hits crew iPad before they walk to the aircraft. Zero phone calls.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Aviation Operator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Management That Actually Prevents Violations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enforced at scheduling — not discovered after the fact.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4160520" cy="1554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50292" cy="1554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65760" y="12618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AV-009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1499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&amp; Duty Enforcer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181051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135.267 hard stops at scheduling. Blocks illegal assignments before they reach the board. Not tracking — preventing.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170432"/>
            <a:ext cx="4160520" cy="1554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663440" y="1170432"/>
            <a:ext cx="50292" cy="155448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800600" y="12618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AV-032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00600" y="1499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Scheduling &amp; Roster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00600" y="181051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schedules factoring duty limits, quals, currency, PTO, base assignments, payroll constraints. Validates legality before publishing.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28600" y="2889504"/>
            <a:ext cx="4160520" cy="1554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228600" y="2889504"/>
            <a:ext cx="50292" cy="155448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365760" y="29809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AV-033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3218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Swap &amp; Coverage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5760" y="352958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 call at 0400? Instantly finds legal, qualified, available replacements sorted by OT cost impact. Flags payroll consequences before confirming.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2889504"/>
            <a:ext cx="4160520" cy="1554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4663440" y="2889504"/>
            <a:ext cx="50292" cy="155448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800600" y="29809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AV-034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00600" y="3218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&amp; Lodging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800600" y="352958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triggers repositioning? Auto-books hotel, arranges rental car, calculates per diem. Pilot gets confirmation before packing.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74320" y="462686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AV-010 (Qualification &amp; Currency)  ·  AV-011 (Training Program)  ·  AV-012 (Medical &amp; Certs)  ·  AV-035 (Crew Expense &amp; Per Diem)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Aviation Operator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Compliance Cascade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worker enforces compliance at three levels simultaneously. No exceptions, no overrides without audit trail.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28600" y="1170432"/>
            <a:ext cx="8686800" cy="100584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84048" y="12618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Safety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37160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integrity, role-based access, encryption, full audit trails. Every action logged, every change tracked.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2359152"/>
            <a:ext cx="8686800" cy="100584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4048" y="2450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84048" y="27614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Regulations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56032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FARs Part 91, 135, 43, 145. ICAO Annex 6. DOT drug &amp; alcohol. TSA security. Hard-coded — cannot be overridden.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28600" y="3547872"/>
            <a:ext cx="8686800" cy="1005840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384048" y="36393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950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GOM / Ops Specs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374904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operations manual, your MEL, your training program, your SMS manual. Workers enforce YOUR procedures, not generic rules.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28600" y="460857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dedicated compliance workers: Regulatory Compliance Tracker  ·  Drug &amp; Alcohol Program  ·  Audit &amp; Inspection Readiness  ·  Insurance &amp; Risk  ·  FSDO Submission Tracker  ·  Document Authoring &amp; Revision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Aviation Operator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Talk to Each Other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Vault connects every worker. One event cascades through the entire operation automatically.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8686800" cy="10241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50292" cy="10241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4048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 Deferral Logged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4048" y="15544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 Work Order → Aircraft Status updates → Dispatch sees restriction → Affected missions auto-flagged → Crew brief updated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4048" y="186537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phone call to DOM. No illegal dispatch.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8600" y="2359152"/>
            <a:ext cx="8686800" cy="10241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228600" y="2359152"/>
            <a:ext cx="50292" cy="102412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84048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Calls in Sick (0400)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84048" y="27432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Swap finds replacement → OT cost flagged → CP approves → Hotel auto-booked → Schedule updated → Duty time recalculated → Dispatch notified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84048" y="305409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7-step cascade handled in minutes, not hours.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28600" y="3547872"/>
            <a:ext cx="8686800" cy="10241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228600" y="3547872"/>
            <a:ext cx="50292" cy="102412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384048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 Expiring Tomorrow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84048" y="39319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 worker detects → Scheduler blocks future IFR assignments → Training Manager schedules proficiency check → CP notified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84048" y="424281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illegal assignment makes it to the board.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28600" y="462686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scenario above requires 3–7 phone calls today. With TitleApp: zero.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Aviation Operator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Cost Impact — 10-Aircraft Fleet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workers that solve your biggest pain. Scale as you see results.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2743200" cy="8229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50292" cy="82296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93192" y="1243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+$180–360K/yr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93192" y="1627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Medevac billing recovery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08960" y="1170432"/>
            <a:ext cx="2743200" cy="8229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108960" y="1170432"/>
            <a:ext cx="50292" cy="82296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273552" y="1243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+$120–200K/yr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273552" y="1627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 documentation savings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89320" y="1170432"/>
            <a:ext cx="2743200" cy="8229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989320" y="1170432"/>
            <a:ext cx="50292" cy="82296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153912" y="1243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+$80–150K/yr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153912" y="1627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scheduling efficiency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28600" y="2139696"/>
            <a:ext cx="2743200" cy="8229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28600" y="2139696"/>
            <a:ext cx="50292" cy="82296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93192" y="2212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+$50–500K/yr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93192" y="2596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violation avoidance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108960" y="2139696"/>
            <a:ext cx="2743200" cy="8229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3108960" y="2139696"/>
            <a:ext cx="50292" cy="82296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273552" y="2212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+$40–100K/yr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3273552" y="2596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efficiency / mission time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989320" y="2139696"/>
            <a:ext cx="2743200" cy="822960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5989320" y="2139696"/>
            <a:ext cx="50292" cy="8229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153912" y="2212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$470K–$1.3M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153912" y="2596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annual impact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28600" y="3200400"/>
            <a:ext cx="868680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228600" y="327355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PRICING — PER WORKER PER MONTH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28600" y="3529584"/>
            <a:ext cx="2743200" cy="1060704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28600" y="3529584"/>
            <a:ext cx="50292" cy="1060704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393192" y="3593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1600200" y="362102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93192" y="39684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Notifications, scheduling tools, basic tracking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228600" y="4352544"/>
            <a:ext cx="2743200" cy="201168"/>
          </a:xfrm>
          <a:prstGeom prst="rect">
            <a:avLst/>
          </a:prstGeom>
          <a:solidFill>
            <a:srgbClr val="1B4F8A">
              <a:alpha val="12000"/>
            </a:srgbClr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338328" y="43708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credits/mo  ·  overage $0.02/credit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108960" y="3529584"/>
            <a:ext cx="2743200" cy="1060704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3108960" y="3529584"/>
            <a:ext cx="50292" cy="1060704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3273552" y="3593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4480560" y="362102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3273552" y="39684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Dispatch, crew management, MX documentation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108960" y="4352544"/>
            <a:ext cx="2743200" cy="201168"/>
          </a:xfrm>
          <a:prstGeom prst="rect">
            <a:avLst/>
          </a:prstGeom>
          <a:solidFill>
            <a:srgbClr val="0E9B8A">
              <a:alpha val="12000"/>
            </a:srgbClr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3218688" y="43708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credits/mo  ·  overage $0.02/credit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989320" y="3529584"/>
            <a:ext cx="2743200" cy="1060704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5989320" y="3529584"/>
            <a:ext cx="50292" cy="10607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6153912" y="3593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2200" dirty="0"/>
          </a:p>
        </p:txBody>
      </p:sp>
      <p:sp>
        <p:nvSpPr>
          <p:cNvPr id="51" name="Text 48"/>
          <p:cNvSpPr/>
          <p:nvPr/>
        </p:nvSpPr>
        <p:spPr>
          <a:xfrm>
            <a:off x="7360920" y="362102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6153912" y="39684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Compliance, safety officer, audit readiness, EFB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989320" y="4352544"/>
            <a:ext cx="2743200" cy="201168"/>
          </a:xfrm>
          <a:prstGeom prst="rect">
            <a:avLst/>
          </a:prstGeom>
          <a:solidFill>
            <a:srgbClr val="C0392B">
              <a:alpha val="12000"/>
            </a:srgbClr>
          </a:solidFill>
          <a:ln/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6099048" y="43708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credits/mo  ·  overage $0.02/credit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228600" y="4626864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 3+ workers = 10% off  ·  5–10 = 20% off  ·  10+ = 30% off  ·  Annual = 2 months free  ·  Alex free with 3+ workers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Aviation Operator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7772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10972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Managing Spreadsheets.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74320" y="166420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Managing Operations.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74320" y="2139696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13969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Free Trial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card. Full access.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87168" y="2139696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87168" y="213969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2596896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Money Back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96896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questions asked.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0016" y="2139696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0016" y="213969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4809744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9744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click. Data always yours.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12864" y="2139696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12864" y="213969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7022592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Guarantee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22592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deliver, you don't pay.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30906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 titleapp.ai/aviation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3401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AV-013  Mission Builder  ($49/mo)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09160" y="3401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AV-009  Flight &amp; Duty Enforcer  ($79/mo)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3694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AV-032  Crew Scheduling &amp; Roster  ($49/mo)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09160" y="3694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AV-029  Alex — Chief of Staff  (FREE)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4169664"/>
            <a:ext cx="8595360" cy="36576"/>
          </a:xfrm>
          <a:prstGeom prst="rect">
            <a:avLst/>
          </a:prstGeom>
          <a:solidFill>
            <a:srgbClr val="162C52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7432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Chief of Staff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7432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alex@titleapp.ai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20040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Combs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20040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CEO, TitleApp AI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20040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sean@titleapp.ai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2648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Redwine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2648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CFO, TitleApp AI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kent@titleapp.ai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2"/>
                </a:solidFill>
              </a:rPr>
              <a:t>TitleApp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</a:rPr>
              <a:t>How Billing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Three separate billing lines — each serves a different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8595360" cy="274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3108960"/>
          </a:xfrm>
          <a:prstGeom prst="rect">
            <a:avLst/>
          </a:prstGeom>
          <a:solidFill>
            <a:srgbClr val="E8F2FC"/>
          </a:solidFill>
          <a:ln w="1524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36576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8A"/>
                </a:solidFill>
              </a:rPr>
              <a:t>LINE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Subscription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$0.02 / credit 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~80–85% platform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tier includes monthly credits.
Run out? $0.02 per additional credit,
auto-billed at cycle close via Stripe.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30752"/>
            <a:ext cx="246888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Creator earns 20% of platform margin on 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743200" cy="3108960"/>
          </a:xfrm>
          <a:prstGeom prst="rect">
            <a:avLst/>
          </a:prstGeom>
          <a:solidFill>
            <a:srgbClr val="E6F7F5"/>
          </a:solidFill>
          <a:ln w="15240">
            <a:solidFill>
              <a:srgbClr val="0E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9B8A"/>
                </a:solidFill>
              </a:rPr>
              <a:t>LINE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Data Pass-Through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9B8A"/>
                </a:solidFill>
              </a:rPr>
              <a:t>actual cost ×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~50% platform margin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Some workers call external data APIs
(e.g. property records, FAA registry,
weather). Billed at cost × 2.0 markup.
Separate Stripe line item — not credits.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730752"/>
            <a:ext cx="2468880" cy="292608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2743200" cy="3108960"/>
          </a:xfrm>
          <a:prstGeom prst="rect">
            <a:avLst/>
          </a:prstGeom>
          <a:solidFill>
            <a:srgbClr val="FDF8E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LINE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$0.005 /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~80% platform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worker action is hashed,
timestamped, and written to an
immutable on-chain audit record.
Court-ready. Cannot be altered.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30752"/>
            <a:ext cx="246888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6168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</a:rPr>
              <a:t>Data pass-through and audit trail fees are separate from your subscription — they appear as distinct line items on your invoice and are never deducted from credits.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titleapp.ai  //  Aviation Operator Suite  //  alex@titleapp.ai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2026-03-06T19:42:35Z</dcterms:created>
  <dcterms:modified xsi:type="dcterms:W3CDTF">2026-03-06T19:42:35Z</dcterms:modified>
</cp:coreProperties>
</file>
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11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286000" y="22860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GOV-016–030  ·  15 Digital Workers  ·  45,000+ Territory Claims  ·  Subscription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77724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/ County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Permitting Suite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74320" y="25237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Digital Workers for building departments, permitting offices, and planning review.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2980944"/>
            <a:ext cx="45720" cy="27432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8912" y="2980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 backlogs.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88336" y="2980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to CO workflow automated end-to-end.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3438144"/>
            <a:ext cx="45720" cy="27432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8912" y="34381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status calls a week.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88336" y="34381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text for status. Workers answer instantly.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3895344"/>
            <a:ext cx="45720" cy="27432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8912" y="3895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applications.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688336" y="38953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check fires before intake — zero rejections.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" y="462686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In A Box  //  titleapp.ai/government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Government In A Box  //  Permitting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Permitting Problem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building permit shouldn't take 6 weeks. Here's why it does.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" y="1170432"/>
            <a:ext cx="4160520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3891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Permit Backlog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sit in a queue with no status visible to applicant or reviewer. Staff answer the same 'where's my permit?' call 200 times a week.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09160" y="1170432"/>
            <a:ext cx="416052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7375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Applications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375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 submit incomplete packages because they don't know what's required. Staff send rejection letters. Weeks lost per application.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74320" y="2889504"/>
            <a:ext cx="416052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8912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Inter-Department Black Holes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 needs sign-off from planning, fire, and public works. No shared system. Email chains. Missed deadlines. One hold stops everyone.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09160" y="2889504"/>
            <a:ext cx="416052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73752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Errors &amp; Disputes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7375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schedules change. Valuation disputes. Staff calculate fees manually. Errors create complaints, refunds, and audit findings.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Government In A Box  //  Permitting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Pricing Works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are priced individually by tier. Credits included. Overage billed automatically.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1155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WORKER PRICING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371600"/>
            <a:ext cx="2697480" cy="157276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1371600"/>
            <a:ext cx="50292" cy="157276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737360" y="1490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186537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Notifications, queue mgmt,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collection, status portals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615184"/>
            <a:ext cx="2697480" cy="274320"/>
          </a:xfrm>
          <a:prstGeom prst="rect">
            <a:avLst/>
          </a:prstGeom>
          <a:solidFill>
            <a:srgbClr val="1B4F8A">
              <a:alpha val="12000"/>
            </a:srgbClr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65760" y="26334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credits/mo  ·  overage $0.02/credit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172968" y="1371600"/>
            <a:ext cx="2697480" cy="157276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172968" y="1371600"/>
            <a:ext cx="50292" cy="157276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37560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636008" y="1490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37560" y="186537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Intake, tracking, routing,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review, lien management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72968" y="2615184"/>
            <a:ext cx="2697480" cy="274320"/>
          </a:xfrm>
          <a:prstGeom prst="rect">
            <a:avLst/>
          </a:prstGeom>
          <a:solidFill>
            <a:srgbClr val="0E9B8A">
              <a:alpha val="12000"/>
            </a:srgbClr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64408" y="26334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credits/mo  ·  overage $0.02/credit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71616" y="1371600"/>
            <a:ext cx="2697480" cy="157276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071616" y="1371600"/>
            <a:ext cx="50292" cy="15727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236208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7534656" y="1490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36208" y="186537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detection, compliance,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RON, regulated functions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71616" y="2615184"/>
            <a:ext cx="2697480" cy="274320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163056" y="26334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credits/mo  ·  overage $0.02/credit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2980944"/>
            <a:ext cx="8595360" cy="475488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38912" y="3054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— AI Chief of Staff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200400" y="3081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 ·  FREE with 3+ worker subscriptions  ·  Monthly briefing  ·  Worker performance audit  ·  Anomaly alerts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74320" y="3511296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274320" y="357530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CONFIGURATIONS  ·  Volume discounts apply automatically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74320" y="3840480"/>
            <a:ext cx="2697480" cy="93268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274320" y="3840480"/>
            <a:ext cx="50292" cy="93268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402336" y="3913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Planning Office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 workers)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02336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$96/mo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402336" y="4480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vol. discount applied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172968" y="3840480"/>
            <a:ext cx="2697480" cy="93268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3172968" y="3840480"/>
            <a:ext cx="50292" cy="93268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3300984" y="3913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 Building Dept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 workers)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300984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$266/mo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3300984" y="4480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vol. discount applied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6071616" y="3840480"/>
            <a:ext cx="2697480" cy="93268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6" name="Shape 43"/>
          <p:cNvSpPr/>
          <p:nvPr/>
        </p:nvSpPr>
        <p:spPr>
          <a:xfrm>
            <a:off x="6071616" y="3840480"/>
            <a:ext cx="50292" cy="932688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6199632" y="3913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Department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15 workers)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199632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$486/mo</a:t>
            </a:r>
            <a:endParaRPr lang="en-US" sz="2200" dirty="0"/>
          </a:p>
        </p:txBody>
      </p:sp>
      <p:sp>
        <p:nvSpPr>
          <p:cNvPr id="49" name="Text 46"/>
          <p:cNvSpPr/>
          <p:nvPr/>
        </p:nvSpPr>
        <p:spPr>
          <a:xfrm>
            <a:off x="6199632" y="4480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vol. discount applied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Government In A Box  //  Permitting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9B8A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64008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9601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/ County Permitting Suite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74320" y="151790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to CO. Automated end-to-end.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920240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920240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Free Trial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 Full access.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1920240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7168" y="1920240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2596896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Money Back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96896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questions asked.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0016" y="1920240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0016" y="1920240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809744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9744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Data always yours.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12864" y="1920240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12864" y="1920240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7022592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Guarantee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22592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deliver, you don't pay.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287121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 titleapp.ai/government/permitting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200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GOV-016  Permit Application Intake  ($49/mo)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09160" y="3200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GOV-024  Fee Calculation &amp; Collection  ($29/mo)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34747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GOV-020  Zoning &amp; Land Use Compliance  ($79/mo)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4747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Alex — Permitting Chief of Staff  (FREE)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3950208"/>
            <a:ext cx="8595360" cy="36576"/>
          </a:xfrm>
          <a:prstGeom prst="rect">
            <a:avLst/>
          </a:prstGeom>
          <a:solidFill>
            <a:srgbClr val="162C52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4059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74320" y="4270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Chief of Staff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alex@titleapp.ai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200400" y="4059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Combs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200400" y="4270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CEO, TitleApp AI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200400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sean@titleapp.ai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4059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Redwine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26480" y="4270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CFO, TitleApp AI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kent@titleapp.ai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Government In A Box  //  Permitting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2"/>
                </a:solidFill>
              </a:rPr>
              <a:t>TitleApp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</a:rPr>
              <a:t>How Billing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Three separate billing lines — each serves a different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8595360" cy="27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108960"/>
          </a:xfrm>
          <a:prstGeom prst="rect">
            <a:avLst/>
          </a:prstGeom>
          <a:solidFill>
            <a:srgbClr val="E8F2FC"/>
          </a:solidFill>
          <a:ln w="1524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3657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8A"/>
                </a:solidFill>
              </a:rPr>
              <a:t>LINE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Subscription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$0.02 / credit 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~80–85% platform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tier includes monthly credits.
Run out? $0.02 per additional credit,
auto-billed at cycle close via Stripe.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30752"/>
            <a:ext cx="246888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Creator earns 20% of platform margin on 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743200" cy="3108960"/>
          </a:xfrm>
          <a:prstGeom prst="rect">
            <a:avLst/>
          </a:prstGeom>
          <a:solidFill>
            <a:srgbClr val="E6F7F5"/>
          </a:solidFill>
          <a:ln w="15240">
            <a:solidFill>
              <a:srgbClr val="0E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9B8A"/>
                </a:solidFill>
              </a:rPr>
              <a:t>LINE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Data Pass-Through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9B8A"/>
                </a:solidFill>
              </a:rPr>
              <a:t>actual cost ×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~50% platform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Some workers call external data APIs
(e.g. property records, FAA registry,
weather). Billed at cost × 2.0 markup.
Separate Stripe line item — not credits.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730752"/>
            <a:ext cx="2468880" cy="292608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3108960"/>
          </a:xfrm>
          <a:prstGeom prst="rect">
            <a:avLst/>
          </a:prstGeom>
          <a:solidFill>
            <a:srgbClr val="FDF8E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LINE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$0.005 /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~80% platform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worker action is hashed,
timestamped, and written to an
immutable on-chain audit record.
Court-ready. Cannot be altered.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30752"/>
            <a:ext cx="246888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616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</a:rPr>
              <a:t>Data pass-through and audit trail fees are separate from your subscription — they appear as distinct line items on your invoice and are never deducted from credits.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titleapp.ai  //  Government In A Box — Permitting  //  alex@titleapp.ai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2026-03-06T19:42:36Z</dcterms:created>
  <dcterms:modified xsi:type="dcterms:W3CDTF">2026-03-06T19:42:36Z</dcterms:modified>
</cp:coreProperties>
</file>
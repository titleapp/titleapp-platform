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M12 ARR</c:v>
                </c:pt>
              </c:strCache>
            </c:strRef>
          </c:tx>
          <c:spPr>
            <a:solidFill>
              <a:srgbClr val="DDD6F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F111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Base</c:v>
                  </c:pt>
                  <c:pt idx="1">
                    <c:v>Best</c:v>
                  </c:pt>
                  <c:pt idx="2">
                    <c:v>Stretch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165</c:v>
                </c:pt>
                <c:pt idx="1">
                  <c:v>330</c:v>
                </c:pt>
                <c:pt idx="2">
                  <c:v>540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M24 ARR</c:v>
                </c:pt>
              </c:strCache>
            </c:strRef>
          </c:tx>
          <c:spPr>
            <a:solidFill>
              <a:srgbClr val="7C3AE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F111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Base</c:v>
                  </c:pt>
                  <c:pt idx="1">
                    <c:v>Best</c:v>
                  </c:pt>
                  <c:pt idx="2">
                    <c:v>Stretch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330</c:v>
                </c:pt>
                <c:pt idx="1">
                  <c:v>792</c:v>
                </c:pt>
                <c:pt idx="2">
                  <c:v>2040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M36 ARR</c:v>
                </c:pt>
              </c:strCache>
            </c:strRef>
          </c:tx>
          <c:spPr>
            <a:solidFill>
              <a:srgbClr val="6B46C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F111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Base</c:v>
                  </c:pt>
                  <c:pt idx="1">
                    <c:v>Best</c:v>
                  </c:pt>
                  <c:pt idx="2">
                    <c:v>Stretch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594</c:v>
                </c:pt>
                <c:pt idx="1">
                  <c:v>1650</c:v>
                </c:pt>
                <c:pt idx="2">
                  <c:v>5400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0F1117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$#,##0&quot;K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solidFill>
      <a:srgbClr val="FAFAF9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F1117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F1117"/>
                </a:solidFill>
                <a:latin typeface="Arial"/>
              </a:rPr>
              <a:t>Use of Funds ($2.3M Net)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Use of Funds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6B46C1"/>
              </a:solidFill>
              <a:effectLst/>
            </c:spPr>
          </c:dPt>
          <c:dPt>
            <c:idx val="1"/>
            <c:bubble3D val="0"/>
            <c:spPr>
              <a:solidFill>
                <a:srgbClr val="3B82F6"/>
              </a:solidFill>
              <a:effectLst/>
            </c:spPr>
          </c:dPt>
          <c:dPt>
            <c:idx val="2"/>
            <c:bubble3D val="0"/>
            <c:spPr>
              <a:solidFill>
                <a:srgbClr val="059669"/>
              </a:solidFill>
              <a:effectLst/>
            </c:spPr>
          </c:dPt>
          <c:dPt>
            <c:idx val="3"/>
            <c:bubble3D val="0"/>
            <c:spPr>
              <a:solidFill>
                <a:srgbClr val="D97706"/>
              </a:solidFill>
              <a:effectLst/>
            </c:spPr>
          </c:dPt>
          <c:dPt>
            <c:idx val="4"/>
            <c:bubble3D val="0"/>
            <c:spPr>
              <a:solidFill>
                <a:srgbClr val="9CA3AF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Product &amp; Eng</c:v>
                </c:pt>
                <c:pt idx="1">
                  <c:v>GTM &amp; Sales</c:v>
                </c:pt>
                <c:pt idx="2">
                  <c:v>Operations</c:v>
                </c:pt>
                <c:pt idx="3">
                  <c:v>Vertical Exp.</c:v>
                </c:pt>
                <c:pt idx="4">
                  <c:v>Reserve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40</c:v>
                </c:pt>
                <c:pt idx="1">
                  <c:v>25</c:v>
                </c:pt>
                <c:pt idx="2">
                  <c:v>20</c:v>
                </c:pt>
                <c:pt idx="3">
                  <c:v>10</c:v>
                </c:pt>
                <c:pt idx="4">
                  <c:v>5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solidFill>
      <a:srgbClr val="F1F0F9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6B46C1"/>
          </a:solidFill>
          <a:ln w="12700">
            <a:solidFill>
              <a:srgbClr val="6B46C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0"/>
            <a:ext cx="1645920" cy="5143500"/>
          </a:xfrm>
          <a:prstGeom prst="rect">
            <a:avLst/>
          </a:prstGeom>
          <a:solidFill>
            <a:srgbClr val="6B46C1">
              <a:alpha val="12000"/>
            </a:srgbClr>
          </a:solidFill>
          <a:ln w="12700">
            <a:solidFill>
              <a:srgbClr val="6B46C1">
                <a:alpha val="20000"/>
              </a:srgbClr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502920"/>
            <a:ext cx="594360" cy="5943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3000" y="50292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8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TITLEAPP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457200" y="1325880"/>
            <a:ext cx="5943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Worker Platform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Regulated Industries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457200" y="2377440"/>
            <a:ext cx="5943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spc="200" kern="0" dirty="0">
                <a:solidFill>
                  <a:srgbClr val="DDD6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+ AI-as-a-Service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457200" y="2697480"/>
            <a:ext cx="2286000" cy="36576"/>
          </a:xfrm>
          <a:prstGeom prst="rect">
            <a:avLst/>
          </a:prstGeom>
          <a:solidFill>
            <a:srgbClr val="6B46C1"/>
          </a:solidFill>
          <a:ln w="12700">
            <a:solidFill>
              <a:srgbClr val="6B46C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292608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1,000+</a:t>
            </a:r>
            <a:endParaRPr lang="en-US" sz="2800" dirty="0"/>
          </a:p>
        </p:txBody>
      </p:sp>
      <p:sp>
        <p:nvSpPr>
          <p:cNvPr id="11" name="Text 8"/>
          <p:cNvSpPr/>
          <p:nvPr/>
        </p:nvSpPr>
        <p:spPr>
          <a:xfrm>
            <a:off x="457200" y="340156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Workers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2286000" y="292608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2800" dirty="0"/>
          </a:p>
        </p:txBody>
      </p:sp>
      <p:sp>
        <p:nvSpPr>
          <p:cNvPr id="13" name="Text 10"/>
          <p:cNvSpPr/>
          <p:nvPr/>
        </p:nvSpPr>
        <p:spPr>
          <a:xfrm>
            <a:off x="2286000" y="340156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Suites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114800" y="292608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$435B+</a:t>
            </a:r>
            <a:endParaRPr lang="en-US" sz="2800" dirty="0"/>
          </a:p>
        </p:txBody>
      </p:sp>
      <p:sp>
        <p:nvSpPr>
          <p:cNvPr id="15" name="Text 12"/>
          <p:cNvSpPr/>
          <p:nvPr/>
        </p:nvSpPr>
        <p:spPr>
          <a:xfrm>
            <a:off x="4114800" y="340156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57200" y="3931920"/>
            <a:ext cx="5029200" cy="384048"/>
          </a:xfrm>
          <a:prstGeom prst="rect">
            <a:avLst/>
          </a:prstGeom>
          <a:solidFill>
            <a:srgbClr val="6B46C1">
              <a:alpha val="80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57200" y="3931920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$2.5M Raise  ·  $15M Valuation Cap  ·  20% Discount  ·  Post-Money SAFE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457200" y="452628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0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229868" cy="256032"/>
          </a:xfrm>
          <a:prstGeom prst="rect">
            <a:avLst/>
          </a:prstGeom>
          <a:solidFill>
            <a:srgbClr val="6B46C1"/>
          </a:solidFill>
          <a:ln w="12700">
            <a:solidFill>
              <a:srgbClr val="6B46C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12298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Regulated Industries is Broken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hardest problem in enterprise AI is not intelligence — it is trust.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393192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F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691640"/>
            <a:ext cx="50292" cy="129844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965960"/>
            <a:ext cx="347472" cy="34747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78992" y="180136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078992" y="2130552"/>
            <a:ext cx="32004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GPTs hallucinate property values, give dangerous medical advice, and violate compliance rules in real time.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800600" y="1691640"/>
            <a:ext cx="393192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F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800600" y="1691640"/>
            <a:ext cx="50292" cy="12984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5192" y="1965960"/>
            <a:ext cx="347472" cy="34747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422392" y="180136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Governance Layer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5422392" y="2130552"/>
            <a:ext cx="32004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rules enforcement layer between AI models and business outcomes in regulated workflows.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457200" y="3154680"/>
            <a:ext cx="393192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F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57200" y="3154680"/>
            <a:ext cx="50292" cy="129844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3429000"/>
            <a:ext cx="347472" cy="34747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078992" y="326440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Liability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1078992" y="3593592"/>
            <a:ext cx="32004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Businesses face regulatory exposure when AI outputs can't be audited, traced, or proven compliant.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4800600" y="3154680"/>
            <a:ext cx="393192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F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4800600" y="3154680"/>
            <a:ext cx="50292" cy="12984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5192" y="3429000"/>
            <a:ext cx="347472" cy="34747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422392" y="326440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Trust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5422392" y="3593592"/>
            <a:ext cx="32004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Enterprises will not deploy AI unless they can verify it follows the rules — every time, for every output.</a:t>
            </a:r>
            <a:endParaRPr lang="en-US" sz="1100" dirty="0"/>
          </a:p>
        </p:txBody>
      </p:sp>
      <p:sp>
        <p:nvSpPr>
          <p:cNvPr id="26" name="Shape 20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6B46C1">
              <a:alpha val="6000"/>
            </a:srgbClr>
          </a:solidFill>
          <a:ln w="6350">
            <a:solidFill>
              <a:srgbClr val="DDD6FE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457200" y="4846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titleapp.ai  ·  Rules + AI-as-a-Service  ·  March 2026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8412480" y="484632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9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0" y="0"/>
            <a:ext cx="3474720" cy="5143500"/>
          </a:xfrm>
          <a:prstGeom prst="rect">
            <a:avLst/>
          </a:prstGeom>
          <a:solidFill>
            <a:srgbClr val="6B46C1">
              <a:alpha val="85000"/>
            </a:srgbClr>
          </a:solidFill>
          <a:ln w="12700">
            <a:solidFill>
              <a:srgbClr val="6B46C1">
                <a:alpha val="5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01168"/>
            <a:ext cx="1316736" cy="256032"/>
          </a:xfrm>
          <a:prstGeom prst="rect">
            <a:avLst/>
          </a:prstGeom>
          <a:solidFill>
            <a:srgbClr val="6B46C1"/>
          </a:solidFill>
          <a:ln w="12700">
            <a:solidFill>
              <a:srgbClr val="6B46C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01168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5029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Workers with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Rule Enforcement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4937760" cy="566928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691640"/>
            <a:ext cx="41148" cy="56692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746504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0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234440" y="172821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Safety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234440" y="1993392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TitleApp — always 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377440"/>
            <a:ext cx="4937760" cy="566928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377440"/>
            <a:ext cx="41148" cy="56692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432304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234440" y="241401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Regulations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234440" y="2679192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Baked in during Build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063240"/>
            <a:ext cx="4937760" cy="566928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3063240"/>
            <a:ext cx="41148" cy="56692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3118104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2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234440" y="309981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Policies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234440" y="3364992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configured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3749040"/>
            <a:ext cx="4937760" cy="566928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3749040"/>
            <a:ext cx="41148" cy="56692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3803904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3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234440" y="378561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Subscriber Preferences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234440" y="4050792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by each subscriber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446520" y="804672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with Claude, GPT, Gemini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446520" y="1764792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audit trail on every output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446520" y="2724912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1,000+ workers · 12 industry suites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6446520" y="3685032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backbone for wearable + AI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FFFFFF">
              <a:alpha val="8000"/>
            </a:srgbClr>
          </a:solidFill>
          <a:ln w="635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4846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titleapp.ai  ·  Rules + AI-as-a-Service  ·  March 2026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8412480" y="484632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9</a:t>
            </a:r>
            <a:endParaRPr lang="en-US" sz="800" dirty="0"/>
          </a:p>
        </p:txBody>
      </p:sp>
      <p:pic>
        <p:nvPicPr>
          <p:cNvPr id="3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0" y="822960"/>
            <a:ext cx="320040" cy="320040"/>
          </a:xfrm>
          <a:prstGeom prst="rect">
            <a:avLst/>
          </a:prstGeom>
        </p:spPr>
      </p:pic>
      <p:pic>
        <p:nvPicPr>
          <p:cNvPr id="3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1783080"/>
            <a:ext cx="320040" cy="320040"/>
          </a:xfrm>
          <a:prstGeom prst="rect">
            <a:avLst/>
          </a:prstGeom>
        </p:spPr>
      </p:pic>
      <p:pic>
        <p:nvPicPr>
          <p:cNvPr id="3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320" y="3703320"/>
            <a:ext cx="320040" cy="320040"/>
          </a:xfrm>
          <a:prstGeom prst="rect">
            <a:avLst/>
          </a:prstGeom>
        </p:spPr>
      </p:pic>
      <p:pic>
        <p:nvPicPr>
          <p:cNvPr id="3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9320" y="2743200"/>
            <a:ext cx="320040" cy="3200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0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837944" cy="256032"/>
          </a:xfrm>
          <a:prstGeom prst="rect">
            <a:avLst/>
          </a:prstGeom>
          <a:solidFill>
            <a:srgbClr val="6B46C1"/>
          </a:solidFill>
          <a:ln w="12700">
            <a:solidFill>
              <a:srgbClr val="6B46C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1837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OPPORTUNITY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Regulated AI Market is Untapped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2560320" cy="1417320"/>
          </a:xfrm>
          <a:prstGeom prst="rect">
            <a:avLst/>
          </a:prstGeom>
          <a:solidFill>
            <a:srgbClr val="FFFFFF"/>
          </a:solidFill>
          <a:ln w="19050">
            <a:solidFill>
              <a:srgbClr val="DDD6F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325880"/>
            <a:ext cx="2560320" cy="64008"/>
          </a:xfrm>
          <a:prstGeom prst="rect">
            <a:avLst/>
          </a:prstGeom>
          <a:solidFill>
            <a:srgbClr val="6B46C1"/>
          </a:solidFill>
          <a:ln w="12700">
            <a:solidFill>
              <a:srgbClr val="6B46C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481328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6B4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$435B+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594360" y="208483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Addressable Market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237744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Regulated industries needing AI governance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73552" y="1325880"/>
            <a:ext cx="2560320" cy="1417320"/>
          </a:xfrm>
          <a:prstGeom prst="rect">
            <a:avLst/>
          </a:prstGeom>
          <a:solidFill>
            <a:srgbClr val="FFFFFF"/>
          </a:solidFill>
          <a:ln w="19050">
            <a:solidFill>
              <a:srgbClr val="DDD6F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73552" y="1325880"/>
            <a:ext cx="2560320" cy="640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10712" y="1481328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$94B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3410712" y="208483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Serviceable Available Market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410712" y="237744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compliance + digital worker spend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089904" y="1325880"/>
            <a:ext cx="2560320" cy="1417320"/>
          </a:xfrm>
          <a:prstGeom prst="rect">
            <a:avLst/>
          </a:prstGeom>
          <a:solidFill>
            <a:srgbClr val="FFFFFF"/>
          </a:solidFill>
          <a:ln w="19050">
            <a:solidFill>
              <a:srgbClr val="DDD6F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7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89904" y="1325880"/>
            <a:ext cx="2560320" cy="6400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27064" y="1481328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$128M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6227064" y="208483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5-Year SOM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227064" y="237744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Reachable with current vertical strategy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57200" y="292608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Active Verticals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57200" y="3364992"/>
            <a:ext cx="2029968" cy="347472"/>
          </a:xfrm>
          <a:prstGeom prst="rect">
            <a:avLst/>
          </a:prstGeom>
          <a:solidFill>
            <a:srgbClr val="EDE9FE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3383280"/>
            <a:ext cx="18470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B4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Estate Development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633472" y="3364992"/>
            <a:ext cx="2029968" cy="347472"/>
          </a:xfrm>
          <a:prstGeom prst="rect">
            <a:avLst/>
          </a:prstGeom>
          <a:solidFill>
            <a:srgbClr val="EDE9FE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24912" y="3383280"/>
            <a:ext cx="18470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B4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Dealerships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809744" y="3364992"/>
            <a:ext cx="2029968" cy="347472"/>
          </a:xfrm>
          <a:prstGeom prst="rect">
            <a:avLst/>
          </a:prstGeom>
          <a:solidFill>
            <a:srgbClr val="EDE9FE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01184" y="3383280"/>
            <a:ext cx="18470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B4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Aviation (Part 135/91)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986016" y="3364992"/>
            <a:ext cx="2029968" cy="347472"/>
          </a:xfrm>
          <a:prstGeom prst="rect">
            <a:avLst/>
          </a:prstGeom>
          <a:solidFill>
            <a:srgbClr val="EDE9FE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077456" y="3383280"/>
            <a:ext cx="18470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B4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Analysis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57200" y="3840480"/>
            <a:ext cx="2029968" cy="347472"/>
          </a:xfrm>
          <a:prstGeom prst="rect">
            <a:avLst/>
          </a:prstGeom>
          <a:solidFill>
            <a:srgbClr val="EDE9FE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3858768"/>
            <a:ext cx="18470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B4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Management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2633472" y="3840480"/>
            <a:ext cx="2029968" cy="347472"/>
          </a:xfrm>
          <a:prstGeom prst="rect">
            <a:avLst/>
          </a:prstGeom>
          <a:solidFill>
            <a:srgbClr val="EDE9FE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724912" y="3858768"/>
            <a:ext cx="18470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B4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Health/EMS Education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809744" y="3840480"/>
            <a:ext cx="2029968" cy="347472"/>
          </a:xfrm>
          <a:prstGeom prst="rect">
            <a:avLst/>
          </a:prstGeom>
          <a:solidFill>
            <a:srgbClr val="EDE9FE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01184" y="3858768"/>
            <a:ext cx="18470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B4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Mortgage Lending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986016" y="3840480"/>
            <a:ext cx="2029968" cy="347472"/>
          </a:xfrm>
          <a:prstGeom prst="rect">
            <a:avLst/>
          </a:prstGeom>
          <a:solidFill>
            <a:srgbClr val="EDE9FE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077456" y="3858768"/>
            <a:ext cx="18470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B4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/ GovTech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6B46C1">
              <a:alpha val="6000"/>
            </a:srgbClr>
          </a:solidFill>
          <a:ln w="6350">
            <a:solidFill>
              <a:srgbClr val="DDD6F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4846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titleapp.ai  ·  Rules + AI-as-a-Service  ·  March 2026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8412480" y="484632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9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403604" cy="256032"/>
          </a:xfrm>
          <a:prstGeom prst="rect">
            <a:avLst/>
          </a:prstGeom>
          <a:solidFill>
            <a:srgbClr val="6B46C1"/>
          </a:solidFill>
          <a:ln w="12700">
            <a:solidFill>
              <a:srgbClr val="6B46C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14036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MODEL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Revenue Streams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3931920" cy="1417320"/>
          </a:xfrm>
          <a:prstGeom prst="rect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71600"/>
            <a:ext cx="50292" cy="1417320"/>
          </a:xfrm>
          <a:prstGeom prst="rect">
            <a:avLst/>
          </a:prstGeom>
          <a:solidFill>
            <a:srgbClr val="6B46C1"/>
          </a:solidFill>
          <a:ln w="12700">
            <a:solidFill>
              <a:srgbClr val="6B46C1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536192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43000" y="1463040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4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143000" y="1645920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Subscriptions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1143000" y="1965960"/>
            <a:ext cx="3108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/ $29 / $49 / $79 per month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discounts at 3, 5, and 10+ workers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800600" y="1371600"/>
            <a:ext cx="3931920" cy="1417320"/>
          </a:xfrm>
          <a:prstGeom prst="rect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800600" y="1371600"/>
            <a:ext cx="50292" cy="14173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1536192"/>
            <a:ext cx="384048" cy="38404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486400" y="1463040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5486400" y="1645920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Fees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5486400" y="1965960"/>
            <a:ext cx="3108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$250–$500 per transaction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Auto, real estate, property management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457200" y="2971800"/>
            <a:ext cx="3931920" cy="1417320"/>
          </a:xfrm>
          <a:prstGeom prst="rect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457200" y="2971800"/>
            <a:ext cx="50292" cy="1417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136392"/>
            <a:ext cx="384048" cy="38404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143000" y="3063240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43000" y="3246120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 Revenue</a:t>
            </a:r>
            <a:endParaRPr lang="en-US" sz="1350" dirty="0"/>
          </a:p>
        </p:txBody>
      </p:sp>
      <p:sp>
        <p:nvSpPr>
          <p:cNvPr id="22" name="Text 17"/>
          <p:cNvSpPr/>
          <p:nvPr/>
        </p:nvSpPr>
        <p:spPr>
          <a:xfrm>
            <a:off x="1143000" y="3566160"/>
            <a:ext cx="3108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 platform fee on every worker sold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Creators keep 75% — aligns incentives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4800600" y="2971800"/>
            <a:ext cx="3931920" cy="1417320"/>
          </a:xfrm>
          <a:prstGeom prst="rect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4800600" y="2971800"/>
            <a:ext cx="50292" cy="14173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3136392"/>
            <a:ext cx="384048" cy="384048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5486400" y="3063240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27" name="Text 21"/>
          <p:cNvSpPr/>
          <p:nvPr/>
        </p:nvSpPr>
        <p:spPr>
          <a:xfrm>
            <a:off x="5486400" y="3246120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Usage Fees</a:t>
            </a:r>
            <a:endParaRPr lang="en-US" sz="1350" dirty="0"/>
          </a:p>
        </p:txBody>
      </p:sp>
      <p:sp>
        <p:nvSpPr>
          <p:cNvPr id="28" name="Text 22"/>
          <p:cNvSpPr/>
          <p:nvPr/>
        </p:nvSpPr>
        <p:spPr>
          <a:xfrm>
            <a:off x="5486400" y="3566160"/>
            <a:ext cx="3108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Overage-based for heavy consumers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$0.02/inference credit above tier limit</a:t>
            </a:r>
            <a:endParaRPr lang="en-US" sz="1100" dirty="0"/>
          </a:p>
        </p:txBody>
      </p:sp>
      <p:sp>
        <p:nvSpPr>
          <p:cNvPr id="29" name="Shape 23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FFFFFF">
              <a:alpha val="8000"/>
            </a:srgbClr>
          </a:solidFill>
          <a:ln w="635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457200" y="4846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titleapp.ai  ·  Rules + AI-as-a-Service  ·  March 2026</a:t>
            </a:r>
            <a:endParaRPr lang="en-US" sz="900" dirty="0"/>
          </a:p>
        </p:txBody>
      </p:sp>
      <p:sp>
        <p:nvSpPr>
          <p:cNvPr id="31" name="Text 25"/>
          <p:cNvSpPr/>
          <p:nvPr/>
        </p:nvSpPr>
        <p:spPr>
          <a:xfrm>
            <a:off x="8412480" y="484632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9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0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924812" cy="256032"/>
          </a:xfrm>
          <a:prstGeom prst="rect">
            <a:avLst/>
          </a:prstGeom>
          <a:solidFill>
            <a:srgbClr val="6B46C1"/>
          </a:solidFill>
          <a:ln w="12700">
            <a:solidFill>
              <a:srgbClr val="6B46C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19248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PROJECTIONS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Scenarios — ARR by Month</a:t>
            </a:r>
            <a:endParaRPr lang="en-US" sz="3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1188720"/>
          <a:ext cx="5303520" cy="3337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52160" y="1371600"/>
          <a:ext cx="3017520" cy="914400"/>
        </p:xfrm>
        <a:graphic>
          <a:graphicData uri="http://schemas.openxmlformats.org/drawingml/2006/table">
            <a:tbl>
              <a:tblPr/>
              <a:tblGrid>
                <a:gridCol w="603504"/>
                <a:gridCol w="603504"/>
                <a:gridCol w="603504"/>
                <a:gridCol w="603504"/>
                <a:gridCol w="603504"/>
              </a:tblGrid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Scenario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46C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M12 ARR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46C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M24 ARR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46C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M36 ARR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46C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ARPU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46C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F11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F11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$165K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F11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$330K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F11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$594K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F11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$55/mo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F11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F11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$330K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F11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$792K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F11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$1.65M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F11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$65/mo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Stretch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$540K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$2.04M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$5.4M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$75/mo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5852160" y="3246120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Stretch driven by aviation operators, institutional</a:t>
            </a:r>
            <a:endParaRPr lang="en-US" sz="950" dirty="0"/>
          </a:p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health/EMS, mortgage lending, and property mgmt.</a:t>
            </a:r>
            <a:endParaRPr lang="en-US" sz="950" dirty="0"/>
          </a:p>
        </p:txBody>
      </p:sp>
      <p:sp>
        <p:nvSpPr>
          <p:cNvPr id="8" name="Shape 4"/>
          <p:cNvSpPr/>
          <p:nvPr/>
        </p:nvSpPr>
        <p:spPr>
          <a:xfrm>
            <a:off x="5852160" y="3977640"/>
            <a:ext cx="3017520" cy="548640"/>
          </a:xfrm>
          <a:prstGeom prst="rect">
            <a:avLst/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5943600" y="4005072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flow positive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2027 (base)  ·  Q1 2027 (best)  ·  Q4 2026 (stretch)</a:t>
            </a:r>
            <a:endParaRPr lang="en-US" sz="950" dirty="0"/>
          </a:p>
        </p:txBody>
      </p:sp>
      <p:sp>
        <p:nvSpPr>
          <p:cNvPr id="10" name="Shape 6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6B46C1">
              <a:alpha val="6000"/>
            </a:srgbClr>
          </a:solidFill>
          <a:ln w="6350">
            <a:solidFill>
              <a:srgbClr val="DDD6FE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57200" y="4846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titleapp.ai  ·  Rules + AI-as-a-Service  ·  March 2026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8412480" y="484632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9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969264" cy="256032"/>
          </a:xfrm>
          <a:prstGeom prst="rect">
            <a:avLst/>
          </a:prstGeom>
          <a:solidFill>
            <a:srgbClr val="6B46C1"/>
          </a:solidFill>
          <a:ln w="12700">
            <a:solidFill>
              <a:srgbClr val="6B46C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969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TEAM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by Operators, Not Just Engineers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2606040" cy="1389888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25880"/>
            <a:ext cx="2606040" cy="50292"/>
          </a:xfrm>
          <a:prstGeom prst="rect">
            <a:avLst/>
          </a:prstGeom>
          <a:solidFill>
            <a:srgbClr val="6B46C1"/>
          </a:solidFill>
          <a:ln w="12700">
            <a:solidFill>
              <a:srgbClr val="6B46C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21792" y="1490472"/>
            <a:ext cx="475488" cy="475488"/>
          </a:xfrm>
          <a:prstGeom prst="oval">
            <a:avLst/>
          </a:prstGeom>
          <a:solidFill>
            <a:srgbClr val="6B46C1">
              <a:alpha val="75000"/>
            </a:srgbClr>
          </a:solidFill>
          <a:ln w="12700">
            <a:solidFill>
              <a:srgbClr val="6B46C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14904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207008" y="1453896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Sean Lee Combs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207008" y="1719072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B4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21792" y="2075688"/>
            <a:ext cx="2331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vision, architecture, GTM. Raised $1.5B+ in career. Patent holder. Airline &amp; medevac pilot.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91840" y="1325880"/>
            <a:ext cx="2606040" cy="1389888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91840" y="1325880"/>
            <a:ext cx="2606040" cy="5029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56432" y="1490472"/>
            <a:ext cx="475488" cy="475488"/>
          </a:xfrm>
          <a:prstGeom prst="oval">
            <a:avLst/>
          </a:prstGeom>
          <a:solidFill>
            <a:srgbClr val="3B82F6">
              <a:alpha val="75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56432" y="14904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041648" y="1453896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Kent Redwine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041648" y="1719072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CFO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456432" y="2075688"/>
            <a:ext cx="2331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$20B+ M&amp;A experience. 19 years Climate Tech. Finance, ops, fundraise.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126480" y="1325880"/>
            <a:ext cx="2606040" cy="1389888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26480" y="1325880"/>
            <a:ext cx="2606040" cy="5029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91072" y="1490472"/>
            <a:ext cx="475488" cy="475488"/>
          </a:xfrm>
          <a:prstGeom prst="oval">
            <a:avLst/>
          </a:prstGeom>
          <a:solidFill>
            <a:srgbClr val="059669">
              <a:alpha val="75000"/>
            </a:srgbClr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91072" y="14904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KB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876288" y="1453896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Kim Bennett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876288" y="1719072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GovTech &amp; RE Lead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291072" y="2075688"/>
            <a:ext cx="2331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sector strategy, government partnerships, real estate vertical.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57200" y="2926080"/>
            <a:ext cx="2606040" cy="1389888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" y="2926080"/>
            <a:ext cx="2606040" cy="502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21792" y="3090672"/>
            <a:ext cx="475488" cy="475488"/>
          </a:xfrm>
          <a:prstGeom prst="oval">
            <a:avLst/>
          </a:prstGeom>
          <a:solidFill>
            <a:srgbClr val="D97706">
              <a:alpha val="75000"/>
            </a:srgbClr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1792" y="30906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VK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207008" y="3054096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Vishal Kumar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207008" y="3319272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Engineer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21792" y="3675888"/>
            <a:ext cx="2331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years. React architecture, dashboard, chat interface.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291840" y="2926080"/>
            <a:ext cx="2606040" cy="1389888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291840" y="2926080"/>
            <a:ext cx="2606040" cy="50292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456432" y="3090672"/>
            <a:ext cx="475488" cy="475488"/>
          </a:xfrm>
          <a:prstGeom prst="oval">
            <a:avLst/>
          </a:prstGeom>
          <a:solidFill>
            <a:srgbClr val="EC4899">
              <a:alpha val="75000"/>
            </a:srgbClr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456432" y="30906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MK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4041648" y="3054096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Manpreet Kaur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041648" y="3319272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Engineer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3456432" y="3675888"/>
            <a:ext cx="2331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years. Cloud infrastructure, AI integration, rules engine.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57200" y="4434840"/>
            <a:ext cx="8229600" cy="347472"/>
          </a:xfrm>
          <a:prstGeom prst="rect">
            <a:avLst/>
          </a:prstGeom>
          <a:solidFill>
            <a:srgbClr val="6B46C1">
              <a:alpha val="20000"/>
            </a:srgbClr>
          </a:solidFill>
          <a:ln w="6350">
            <a:solidFill>
              <a:srgbClr val="A78BF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200" y="4453128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Advisor: Scott Eschelman — BUILD SF · $500M+ RE Capital Deployed · Stanford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FFFFFF">
              <a:alpha val="8000"/>
            </a:srgbClr>
          </a:solidFill>
          <a:ln w="635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57200" y="4846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titleapp.ai  ·  Rules + AI-as-a-Service  ·  March 2026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8412480" y="484632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9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0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882396" cy="256032"/>
          </a:xfrm>
          <a:prstGeom prst="rect">
            <a:avLst/>
          </a:prstGeom>
          <a:solidFill>
            <a:srgbClr val="6B46C1"/>
          </a:solidFill>
          <a:ln w="12700">
            <a:solidFill>
              <a:srgbClr val="6B46C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823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5029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6B4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$2.5M Raise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Post-Money SAFE  ·  $15M Valuation Cap  ·  20% Discount</a:t>
            </a:r>
            <a:endParaRPr lang="en-US" sz="14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303520" y="822960"/>
          <a:ext cx="347472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1691640"/>
            <a:ext cx="457200" cy="320040"/>
          </a:xfrm>
          <a:prstGeom prst="rect">
            <a:avLst/>
          </a:prstGeom>
          <a:solidFill>
            <a:srgbClr val="6B46C1"/>
          </a:solidFill>
          <a:ln w="12700">
            <a:solidFill>
              <a:srgbClr val="6B46C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16916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1024128" y="171907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$920K  —  Product &amp; Engineering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57200" y="2148840"/>
            <a:ext cx="457200" cy="320040"/>
          </a:xfrm>
          <a:prstGeom prst="rect">
            <a:avLst/>
          </a:prstGeom>
          <a:solidFill>
            <a:srgbClr val="6B46C1">
              <a:alpha val="88000"/>
            </a:srgbClr>
          </a:solidFill>
          <a:ln w="12700">
            <a:solidFill>
              <a:srgbClr val="6B46C1">
                <a:alpha val="88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21488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1024128" y="217627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$575K  —  GTM &amp; Sales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57200" y="2606040"/>
            <a:ext cx="457200" cy="320040"/>
          </a:xfrm>
          <a:prstGeom prst="rect">
            <a:avLst/>
          </a:prstGeom>
          <a:solidFill>
            <a:srgbClr val="6B46C1">
              <a:alpha val="76000"/>
            </a:srgbClr>
          </a:solidFill>
          <a:ln w="12700">
            <a:solidFill>
              <a:srgbClr val="6B46C1">
                <a:alpha val="76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57200" y="26060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1024128" y="263347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$460K  —  Operations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457200" y="3063240"/>
            <a:ext cx="457200" cy="320040"/>
          </a:xfrm>
          <a:prstGeom prst="rect">
            <a:avLst/>
          </a:prstGeom>
          <a:solidFill>
            <a:srgbClr val="6B46C1">
              <a:alpha val="64000"/>
            </a:srgbClr>
          </a:solidFill>
          <a:ln w="12700">
            <a:solidFill>
              <a:srgbClr val="6B46C1">
                <a:alpha val="6400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57200" y="30632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1024128" y="309067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$230K  —  Vertical Expansion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457200" y="3520440"/>
            <a:ext cx="457200" cy="320040"/>
          </a:xfrm>
          <a:prstGeom prst="rect">
            <a:avLst/>
          </a:prstGeom>
          <a:solidFill>
            <a:srgbClr val="6B46C1">
              <a:alpha val="52000"/>
            </a:srgbClr>
          </a:solidFill>
          <a:ln w="12700">
            <a:solidFill>
              <a:srgbClr val="6B46C1">
                <a:alpha val="52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57200" y="35204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1024128" y="354787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$115K  —  Reserve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457200" y="3931920"/>
            <a:ext cx="4754880" cy="658368"/>
          </a:xfrm>
          <a:prstGeom prst="rect">
            <a:avLst/>
          </a:prstGeom>
          <a:solidFill>
            <a:srgbClr val="EDE9FE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94360" y="3977640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Burn: 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$38K/mo  </a:t>
            </a:r>
            <a:pPr indent="0" marL="0">
              <a:buNone/>
            </a:pPr>
            <a:r>
              <a:rPr lang="en-US" sz="1100" b="1" dirty="0">
                <a:solidFill>
                  <a:srgbClr val="0F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Runway: 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months (zero revenue)  </a:t>
            </a:r>
            <a:pPr indent="0" marL="0">
              <a:buNone/>
            </a:pPr>
            <a:r>
              <a:rPr lang="en-US" sz="1100" b="1" dirty="0">
                <a:solidFill>
                  <a:srgbClr val="0F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CF+: </a:t>
            </a:r>
            <a:pPr indent="0" marL="0">
              <a:buNone/>
            </a:pPr>
            <a:r>
              <a:rPr lang="en-US" sz="11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2027 base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6B46C1">
              <a:alpha val="6000"/>
            </a:srgbClr>
          </a:solidFill>
          <a:ln w="6350">
            <a:solidFill>
              <a:srgbClr val="DDD6FE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57200" y="4846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titleapp.ai  ·  Rules + AI-as-a-Service  ·  March 2026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8412480" y="484632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9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6B46C1"/>
          </a:solidFill>
          <a:ln w="12700">
            <a:solidFill>
              <a:srgbClr val="6B46C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0"/>
            <a:ext cx="2743200" cy="5143500"/>
          </a:xfrm>
          <a:prstGeom prst="rect">
            <a:avLst/>
          </a:prstGeom>
          <a:solidFill>
            <a:srgbClr val="6B46C1">
              <a:alpha val="80000"/>
            </a:srgbClr>
          </a:solidFill>
          <a:ln w="12700">
            <a:solidFill>
              <a:srgbClr val="6B46C1">
                <a:alpha val="5000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57200"/>
            <a:ext cx="54864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88720" y="4572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8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TITLEAPP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457200" y="1188720"/>
            <a:ext cx="56692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Build the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Layer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Regulated AI.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457200" y="2788920"/>
            <a:ext cx="5669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taking a waitlist of qualified investors.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Valuation and terms available upon request.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57200" y="3520440"/>
            <a:ext cx="1719072" cy="868680"/>
          </a:xfrm>
          <a:prstGeom prst="rect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66928" y="3593592"/>
            <a:ext cx="1508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Sean Lee Combs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566928" y="3813048"/>
            <a:ext cx="1508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566928" y="4005072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sean@titleapp.ai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566928" y="4178808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(310) 430-0780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2331720" y="3520440"/>
            <a:ext cx="1719072" cy="868680"/>
          </a:xfrm>
          <a:prstGeom prst="rect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441448" y="3593592"/>
            <a:ext cx="1508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Kent Redwine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2441448" y="3813048"/>
            <a:ext cx="1508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CFO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2441448" y="4005072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kent@titleapp.ai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4206240" y="3520440"/>
            <a:ext cx="1719072" cy="868680"/>
          </a:xfrm>
          <a:prstGeom prst="rect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315968" y="3593592"/>
            <a:ext cx="1508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4315968" y="3813048"/>
            <a:ext cx="1508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Relations AI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4315968" y="4005072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alex@titleapp.ai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4315968" y="4178808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24/7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457200" y="480060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presentation does not constitute an offer to sell securities. Forward-looking statements are identified as such.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TitleApp Investor Deck v7</dc:title>
  <dc:subject>PptxGenJS Presentation</dc:subject>
  <dc:creator>PptxGenJS</dc:creator>
  <cp:lastModifiedBy>PptxGenJS</cp:lastModifiedBy>
  <cp:revision>1</cp:revision>
  <dcterms:created xsi:type="dcterms:W3CDTF">2026-03-11T08:09:03Z</dcterms:created>
  <dcterms:modified xsi:type="dcterms:W3CDTF">2026-03-11T08:09:03Z</dcterms:modified>
</cp:coreProperties>
</file>
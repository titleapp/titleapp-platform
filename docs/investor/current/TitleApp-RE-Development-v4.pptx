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B7A6E">
              <a:alpha val="12000"/>
            </a:srgbClr>
          </a:solidFill>
          <a:ln w="12700">
            <a:solidFill>
              <a:srgbClr val="0B7A6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4389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8992" y="9326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0D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RE-001–052  ·  52 Digital Workers  ·  Tech Fee + Subscription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1353312"/>
            <a:ext cx="55778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Suite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256032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7180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AI-powered workers for developers, GCs,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investors, and property managers.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3739896"/>
            <a:ext cx="36576" cy="20116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74904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$300–500/hr consultants replaced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041648"/>
            <a:ext cx="36576" cy="20116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0507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Lender-ready draw packages — automated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36576" cy="20116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35254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waterfalls &amp; K-1s — no Excel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645152"/>
            <a:ext cx="36576" cy="20116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65429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IBC, ADA, CEQA — hard stops, not hope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335378" cy="27432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335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Runs on Spreadsheets and Manual Labor.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is liability. Every delay is cash out the door.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931920" cy="1389888"/>
          </a:xfrm>
          <a:prstGeom prst="rect">
            <a:avLst/>
          </a:prstGeom>
          <a:solidFill>
            <a:srgbClr val="1E3A4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27632"/>
            <a:ext cx="3931920" cy="43891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105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75564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Admin Bottleneck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22219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draw packages assembled manually. One missing document stops the draw. Every delay costs $50K–$150K in carrying costs. GCs stop work. Projects go sideways.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627632"/>
            <a:ext cx="3931920" cy="1389888"/>
          </a:xfrm>
          <a:prstGeom prst="rect">
            <a:avLst/>
          </a:prstGeom>
          <a:solidFill>
            <a:srgbClr val="1E3A4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627632"/>
            <a:ext cx="3931920" cy="438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105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4104" y="175564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Reporting Chaos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65192" y="22219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get quarterly PDFs with no traceability. Waterfall calculations done in Excel. One formula error = distribution dispute. K-1s late every year.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63824"/>
            <a:ext cx="3931920" cy="1389888"/>
          </a:xfrm>
          <a:prstGeom prst="rect">
            <a:avLst/>
          </a:prstGeom>
          <a:solidFill>
            <a:srgbClr val="1E3A4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163824"/>
            <a:ext cx="3931920" cy="4389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4670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0704" y="329184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Exposure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" y="3758184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IBC, ADA, CEQA, OSHA, prevailing wage, Davis-Bacon — managed in spreadsheets. One missed requirement = stop-work order, agency fine, or litigation.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00600" y="3163824"/>
            <a:ext cx="3931920" cy="1389888"/>
          </a:xfrm>
          <a:prstGeom prst="rect">
            <a:avLst/>
          </a:prstGeom>
          <a:solidFill>
            <a:srgbClr val="1E3A4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3163824"/>
            <a:ext cx="3931920" cy="43891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34670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04104" y="329184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Cost Bleed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65192" y="3758184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$300–$500/hr for consultants doing repeatable tasks. Entitlement, environmental review, investor reporting — all systematizable. None of it automated yet.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Real Estate Development Suite  ·  alex@titleapp.ai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412480" y="485546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424989" cy="27432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42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WORKERS. EVERY PHASE.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Pre-Development to Stabilized Asset. Every Worker Shares One Vault.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216152"/>
            <a:ext cx="114300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0759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Entitle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1216152"/>
            <a:ext cx="1143000" cy="160020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0759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08760" y="19019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103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216152"/>
            <a:ext cx="1143000" cy="1600200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30759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743200" y="19019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2103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77640" y="1216152"/>
            <a:ext cx="1143000" cy="160020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30759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77640" y="19019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7640" y="2103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Draw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1216152"/>
            <a:ext cx="1143000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30759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212080" y="19019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2103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1216152"/>
            <a:ext cx="1143000" cy="1600200"/>
          </a:xfrm>
          <a:prstGeom prst="rect">
            <a:avLst/>
          </a:prstGeom>
          <a:solidFill>
            <a:srgbClr val="0D9B8C"/>
          </a:solidFill>
          <a:ln w="12700">
            <a:solidFill>
              <a:srgbClr val="0D9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30759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46520" y="19019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2103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0" y="1216152"/>
            <a:ext cx="1143000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1307592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680960" y="19019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0" y="21031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Mgmt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971800"/>
            <a:ext cx="8595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99008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Alex — Your AI Chief of Staff  </a:t>
            </a:r>
            <a:pPr indent="0" marL="0">
              <a:buNone/>
            </a:pPr>
            <a:r>
              <a:rPr lang="en-US" sz="10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3+ active worker subscriptions  ·  Daily project briefing  ·  Draw status  ·  Investor alert  ·  Deadline tracking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58444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36758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workers  ·  ~$1,800/mo peak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90288" y="358444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27448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Contractor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10528" y="36758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workers  ·  ~$630/mo peak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10565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178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/ Syndicator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194560" y="419709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workers  ·  ~$740/mo peak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90288" y="410565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4178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10528" y="419709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workers  ·  ~$520/mo ongoing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F45"/>
          </a:solidFill>
          <a:ln w="6350">
            <a:solidFill>
              <a:srgbClr val="0B7A6E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Real Estate Development Suite  ·  alex@titleapp.ai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485546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3052267" cy="27432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052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ADMINISTRATION — AUTOMATED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Lender-Ready Draw Packages. Generated Automatically.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delay costs $50K–$150K in carrying costs. This is not optional.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502920" cy="54864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6184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Request Initiated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872" y="16642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13632" y="16184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submits G702/G703. Worker validates completeness, checks against approved budget, flags over-budget line items.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502920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94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240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Waivers Collected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7872" y="228600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13632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and unconditional lien waivers requested from all subs and suppliers. Tracked until received. Hard stop — no draw without them.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82296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16352"/>
            <a:ext cx="5029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2862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Confirmation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47872" y="29077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13632" y="2862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inspector report ingested. Worker cross-checks inspector approval against line items requested.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82296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38144"/>
            <a:ext cx="502920" cy="548640"/>
          </a:xfrm>
          <a:prstGeom prst="rect">
            <a:avLst/>
          </a:prstGeom>
          <a:solidFill>
            <a:srgbClr val="0D9B8C"/>
          </a:solidFill>
          <a:ln w="12700">
            <a:solidFill>
              <a:srgbClr val="0D9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381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4838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Package Assembled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47872" y="35295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13632" y="34838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 forms, lien waivers, inspection report, budget reconciliation — assembled in lender-required format. No manual compilation.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059936"/>
            <a:ext cx="82296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59936"/>
            <a:ext cx="5029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599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8992" y="4105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Tracked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47872" y="415137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913632" y="41056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instructions verified via callback. Funding confirmation logged in Vault. GC and subs notified.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Real Estate Development Suite  ·  alex@titleapp.ai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85546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97710" cy="27432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PRICING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Priced Individually by Tier.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included. Overage billed automatically at $0.02/credit via Stripe.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2578608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7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36192"/>
            <a:ext cx="2578608" cy="43891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444752" y="201168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 Tier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tracking, notifications,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reporting, portal access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2578608" cy="320040"/>
          </a:xfrm>
          <a:prstGeom prst="rect">
            <a:avLst/>
          </a:prstGeom>
          <a:solidFill>
            <a:srgbClr val="0B7A6E">
              <a:alpha val="18000"/>
            </a:srgbClr>
          </a:solidFill>
          <a:ln w="12700">
            <a:solidFill>
              <a:srgbClr val="0B7A6E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credits/mo included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536192"/>
            <a:ext cx="2578608" cy="2057400"/>
          </a:xfrm>
          <a:prstGeom prst="rect">
            <a:avLst/>
          </a:prstGeom>
          <a:solidFill>
            <a:srgbClr val="0B7A6E"/>
          </a:solidFill>
          <a:ln w="25400">
            <a:solidFill>
              <a:srgbClr val="0B7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536192"/>
            <a:ext cx="2578608" cy="43891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66420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251960" y="201168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 Tier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administration, investor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permit tracking, lease-up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3246120"/>
            <a:ext cx="2578608" cy="320040"/>
          </a:xfrm>
          <a:prstGeom prst="rect">
            <a:avLst/>
          </a:prstGeom>
          <a:solidFill>
            <a:srgbClr val="0B7A6E">
              <a:alpha val="18000"/>
            </a:srgbClr>
          </a:solidFill>
          <a:ln w="12700">
            <a:solidFill>
              <a:srgbClr val="0B7A6E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32461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credits/mo included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71616" y="1536192"/>
            <a:ext cx="2578608" cy="2057400"/>
          </a:xfrm>
          <a:prstGeom prst="rect">
            <a:avLst/>
          </a:prstGeom>
          <a:solidFill>
            <a:srgbClr val="0D1B2A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536192"/>
            <a:ext cx="2578608" cy="43891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66420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059168" y="201168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 Tier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08776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compliance, CEQA,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prevailing wage, audit readiness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3246120"/>
            <a:ext cx="2578608" cy="320040"/>
          </a:xfrm>
          <a:prstGeom prst="rect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32461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credits/mo included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49040"/>
            <a:ext cx="2029968" cy="36576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workers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005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off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is FREE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33472" y="3749040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33472" y="3749040"/>
            <a:ext cx="2029968" cy="36576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workers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24912" y="4005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724912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9744" y="3749040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9744" y="3749040"/>
            <a:ext cx="2029968" cy="36576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workers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01184" y="4005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off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01184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~$1,800/mo dev stack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86016" y="3749040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86016" y="3749040"/>
            <a:ext cx="2029968" cy="36576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77456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77456" y="4005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free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77456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your rate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F45"/>
          </a:solidFill>
          <a:ln w="6350">
            <a:solidFill>
              <a:srgbClr val="0B7A6E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Real Estate Development Suite  ·  alex@titleapp.ai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485546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97710" cy="27432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BILLING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Billing Lines. Separate. Transparent.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0881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serves a different purpose. Each appears as a distinct Stripe line item.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2606040" cy="3035808"/>
          </a:xfrm>
          <a:prstGeom prst="rect">
            <a:avLst/>
          </a:prstGeom>
          <a:solidFill>
            <a:srgbClr val="1E3A4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36192"/>
            <a:ext cx="2606040" cy="43891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916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7007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92" y="21396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Credits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" y="2441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 / credit overage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" y="27157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~80–85% platform margin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" y="2971800"/>
            <a:ext cx="2240280" cy="182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04495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includes monthly credits. Run out? $0.02 per additional credit, auto-billed at cycle close via Stripe.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" y="3840480"/>
            <a:ext cx="2331720" cy="530352"/>
          </a:xfrm>
          <a:prstGeom prst="rect">
            <a:avLst/>
          </a:prstGeom>
          <a:solidFill>
            <a:srgbClr val="0B7A6E">
              <a:alpha val="12000"/>
            </a:srgbClr>
          </a:solidFill>
          <a:ln w="12700">
            <a:solidFill>
              <a:srgbClr val="0B7A6E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87705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earns 20% of platform margin on overage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73552" y="1536192"/>
            <a:ext cx="2606040" cy="3035808"/>
          </a:xfrm>
          <a:prstGeom prst="rect">
            <a:avLst/>
          </a:prstGeom>
          <a:solidFill>
            <a:srgbClr val="1E3A4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73552" y="1536192"/>
            <a:ext cx="2606040" cy="43891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69164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95344" y="17007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38144" y="21396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Pass-Through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438144" y="2441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 × 2.0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438144" y="27157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platform margin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38144" y="2971800"/>
            <a:ext cx="2240280" cy="182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38144" y="304495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workers call external data APIs (property records, FAA registry, weather). Billed at cost × 2.0 markup. Separate line item — not credits.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438144" y="3840480"/>
            <a:ext cx="2331720" cy="530352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29584" y="387705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only — 0% creator share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089904" y="1536192"/>
            <a:ext cx="2606040" cy="3035808"/>
          </a:xfrm>
          <a:prstGeom prst="rect">
            <a:avLst/>
          </a:prstGeom>
          <a:solidFill>
            <a:srgbClr val="1E3A4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89904" y="1536192"/>
            <a:ext cx="2606040" cy="438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91640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11696" y="17007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254496" y="21396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6254496" y="2441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$0.005 / record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254496" y="27157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platform margin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254496" y="2971800"/>
            <a:ext cx="2240280" cy="182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254496" y="304495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action is hashed, timestamped, and written to an immutable on-chain audit record. Court-ready. Cannot be altered.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254496" y="3840480"/>
            <a:ext cx="2331720" cy="530352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45936" y="387705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only — 0% creator share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Real Estate Development Suite  ·  alex@titleapp.ai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8412480" y="485546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B7A6E">
              <a:alpha val="12000"/>
            </a:srgbClr>
          </a:solidFill>
          <a:ln w="12700">
            <a:solidFill>
              <a:srgbClr val="0B7A6E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384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Development Suite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Workers. Every Phase. One Vault.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21945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130552"/>
            <a:ext cx="2514600" cy="548640"/>
          </a:xfrm>
          <a:prstGeom prst="rect">
            <a:avLst/>
          </a:prstGeom>
          <a:solidFill>
            <a:srgbClr val="1E3A4F"/>
          </a:solidFill>
          <a:ln w="12700">
            <a:solidFill>
              <a:srgbClr val="0B7A6E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18541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4323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2130552"/>
            <a:ext cx="2514600" cy="548640"/>
          </a:xfrm>
          <a:prstGeom prst="rect">
            <a:avLst/>
          </a:prstGeom>
          <a:solidFill>
            <a:srgbClr val="1E3A4F"/>
          </a:solidFill>
          <a:ln w="12700">
            <a:solidFill>
              <a:srgbClr val="0B7A6E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218541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Money Back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91840" y="24323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2514600" cy="548640"/>
          </a:xfrm>
          <a:prstGeom prst="rect">
            <a:avLst/>
          </a:prstGeom>
          <a:solidFill>
            <a:srgbClr val="1E3A4F"/>
          </a:solidFill>
          <a:ln w="12700">
            <a:solidFill>
              <a:srgbClr val="0B7A6E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84378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309067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54680" y="2788920"/>
            <a:ext cx="2514600" cy="548640"/>
          </a:xfrm>
          <a:prstGeom prst="rect">
            <a:avLst/>
          </a:prstGeom>
          <a:solidFill>
            <a:srgbClr val="1E3A4F"/>
          </a:solidFill>
          <a:ln w="12700">
            <a:solidFill>
              <a:srgbClr val="0B7A6E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284378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Guarantee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291840" y="309067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3566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→  titleapp.ai/development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3977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RE-001  Project Setup &amp; Entitlement  ($49/mo)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0" y="3977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RE-019  Draw Administration  ($49/mo)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2793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RE-031  Investor Reporting &amp; Waterfall  ($79/mo)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0" y="42793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RE-049  Alex — Chief of Staff  (FREE)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72200" y="1051560"/>
            <a:ext cx="475488" cy="475488"/>
          </a:xfrm>
          <a:prstGeom prst="oval">
            <a:avLst/>
          </a:prstGeom>
          <a:solidFill>
            <a:srgbClr val="0B7A6E">
              <a:alpha val="75000"/>
            </a:srgbClr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48272" y="106984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48272" y="1325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Chief of Staff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748272" y="15270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172200" y="2258568"/>
            <a:ext cx="475488" cy="475488"/>
          </a:xfrm>
          <a:prstGeom prst="oval">
            <a:avLst/>
          </a:prstGeom>
          <a:solidFill>
            <a:srgbClr val="0B7A6E">
              <a:alpha val="75000"/>
            </a:srgbClr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72200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48272" y="227685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Combs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748272" y="2532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TitleApp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748272" y="27340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172200" y="3465576"/>
            <a:ext cx="475488" cy="475488"/>
          </a:xfrm>
          <a:prstGeom prst="oval">
            <a:avLst/>
          </a:prstGeom>
          <a:solidFill>
            <a:srgbClr val="0B7A6E">
              <a:alpha val="75000"/>
            </a:srgbClr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72200" y="3465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748272" y="348386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Redwine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48272" y="37398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TitleApp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748272" y="394106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kent@titleapp.ai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65760" y="48646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Real Estate Development Suite  ·  alex@titleapp.ai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2026-03-11T08:16:22Z</dcterms:created>
  <dcterms:modified xsi:type="dcterms:W3CDTF">2026-03-11T08:16:22Z</dcterms:modified>
</cp:coreProperties>
</file>
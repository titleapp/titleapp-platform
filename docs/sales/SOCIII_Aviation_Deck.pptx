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816"/>
        </a:solidFill>
      </p:bgPr>
    </p:bg>
    <p:spTree>
      <p:nvGrpSpPr>
        <p:cNvPr id="1" name=""/>
        <p:cNvGrpSpPr/>
        <p:nvPr/>
      </p:nvGrpSpPr>
      <p:grpSpPr>
        <a:xfrm>
          <a:off x="0" y="0"/>
          <a:ext cx="0" cy="0"/>
          <a:chOff x="0" y="0"/>
          <a:chExt cx="0" cy="0"/>
        </a:xfrm>
      </p:grpSpPr>
      <p:pic>
        <p:nvPicPr>
          <p:cNvPr id="2" name="Image 0" descr="assets/lockup_header_navy.png">    </p:cNvPr>
          <p:cNvPicPr>
            <a:picLocks noChangeAspect="1"/>
          </p:cNvPicPr>
          <p:nvPr/>
        </p:nvPicPr>
        <p:blipFill>
          <a:blip r:embed="rId1"/>
          <a:stretch>
            <a:fillRect/>
          </a:stretch>
        </p:blipFill>
        <p:spPr>
          <a:xfrm>
            <a:off x="640080" y="502920"/>
            <a:ext cx="868680" cy="941832"/>
          </a:xfrm>
          <a:prstGeom prst="rect">
            <a:avLst/>
          </a:prstGeom>
        </p:spPr>
      </p:pic>
      <p:sp>
        <p:nvSpPr>
          <p:cNvPr id="3" name="Text 0"/>
          <p:cNvSpPr/>
          <p:nvPr/>
        </p:nvSpPr>
        <p:spPr>
          <a:xfrm>
            <a:off x="640080" y="2880360"/>
            <a:ext cx="7315200" cy="320040"/>
          </a:xfrm>
          <a:prstGeom prst="rect">
            <a:avLst/>
          </a:prstGeom>
          <a:noFill/>
          <a:ln/>
        </p:spPr>
        <p:txBody>
          <a:bodyPr wrap="square" rtlCol="0" anchor="ctr"/>
          <a:lstStyle/>
          <a:p>
            <a:pPr indent="0" marL="0">
              <a:buNone/>
            </a:pPr>
            <a:r>
              <a:rPr lang="en-US" sz="1300" b="1" spc="300" kern="0" dirty="0">
                <a:solidFill>
                  <a:srgbClr val="A78BFA"/>
                </a:solidFill>
                <a:latin typeface="Arial" pitchFamily="34" charset="0"/>
                <a:ea typeface="Arial" pitchFamily="34" charset="-122"/>
                <a:cs typeface="Arial" pitchFamily="34" charset="-120"/>
              </a:rPr>
              <a:t>AVIATION VERTICAL</a:t>
            </a:r>
            <a:endParaRPr lang="en-US" sz="1300" dirty="0"/>
          </a:p>
        </p:txBody>
      </p:sp>
      <p:sp>
        <p:nvSpPr>
          <p:cNvPr id="4" name="Text 1"/>
          <p:cNvSpPr/>
          <p:nvPr/>
        </p:nvSpPr>
        <p:spPr>
          <a:xfrm>
            <a:off x="640080" y="3200400"/>
            <a:ext cx="9601200" cy="1554480"/>
          </a:xfrm>
          <a:prstGeom prst="rect">
            <a:avLst/>
          </a:prstGeom>
          <a:noFill/>
          <a:ln/>
        </p:spPr>
        <p:txBody>
          <a:bodyPr wrap="square" rtlCol="0" anchor="ctr"/>
          <a:lstStyle/>
          <a:p>
            <a:pPr indent="0" marL="0">
              <a:lnSpc>
                <a:spcPct val="110000"/>
              </a:lnSpc>
              <a:buNone/>
            </a:pPr>
            <a:r>
              <a:rPr lang="en-US" sz="3800" b="1" dirty="0">
                <a:solidFill>
                  <a:srgbClr val="FFFFFF"/>
                </a:solidFill>
                <a:latin typeface="Arial" pitchFamily="34" charset="0"/>
                <a:ea typeface="Arial" pitchFamily="34" charset="-122"/>
                <a:cs typeface="Arial" pitchFamily="34" charset="-120"/>
              </a:rPr>
              <a:t>Your Operations Stack Is Running Out of Time to Catch Up</a:t>
            </a:r>
            <a:endParaRPr lang="en-US" sz="3800" dirty="0"/>
          </a:p>
        </p:txBody>
      </p:sp>
      <p:sp>
        <p:nvSpPr>
          <p:cNvPr id="5" name="Text 2"/>
          <p:cNvSpPr/>
          <p:nvPr/>
        </p:nvSpPr>
        <p:spPr>
          <a:xfrm>
            <a:off x="640080" y="4709160"/>
            <a:ext cx="7863840" cy="685800"/>
          </a:xfrm>
          <a:prstGeom prst="rect">
            <a:avLst/>
          </a:prstGeom>
          <a:noFill/>
          <a:ln/>
        </p:spPr>
        <p:txBody>
          <a:bodyPr wrap="square" rtlCol="0" anchor="ctr"/>
          <a:lstStyle/>
          <a:p>
            <a:pPr indent="0" marL="0">
              <a:lnSpc>
                <a:spcPct val="125000"/>
              </a:lnSpc>
              <a:buNone/>
            </a:pPr>
            <a:r>
              <a:rPr lang="en-US" sz="1400" dirty="0">
                <a:solidFill>
                  <a:srgbClr val="CBD5E1"/>
                </a:solidFill>
                <a:latin typeface="Arial" pitchFamily="34" charset="0"/>
                <a:ea typeface="Arial" pitchFamily="34" charset="-122"/>
                <a:cs typeface="Arial" pitchFamily="34" charset="-120"/>
              </a:rPr>
              <a:t>Append-only records and governed operational architecture — the platform aviation is already moving toward, from student pilot to Part 135 fleet to autonomous cargo.</a:t>
            </a:r>
            <a:endParaRPr lang="en-US" sz="1400" dirty="0"/>
          </a:p>
        </p:txBody>
      </p:sp>
      <p:sp>
        <p:nvSpPr>
          <p:cNvPr id="6" name="Shape 3"/>
          <p:cNvSpPr/>
          <p:nvPr/>
        </p:nvSpPr>
        <p:spPr>
          <a:xfrm>
            <a:off x="640080" y="5623560"/>
            <a:ext cx="1417320" cy="20117"/>
          </a:xfrm>
          <a:prstGeom prst="rect">
            <a:avLst/>
          </a:prstGeom>
          <a:solidFill>
            <a:srgbClr val="7C3AED"/>
          </a:solidFill>
          <a:ln/>
        </p:spPr>
      </p:sp>
      <p:sp>
        <p:nvSpPr>
          <p:cNvPr id="7" name="Shape 4"/>
          <p:cNvSpPr/>
          <p:nvPr/>
        </p:nvSpPr>
        <p:spPr>
          <a:xfrm>
            <a:off x="2240280" y="5623560"/>
            <a:ext cx="1417320" cy="20117"/>
          </a:xfrm>
          <a:prstGeom prst="rect">
            <a:avLst/>
          </a:prstGeom>
          <a:solidFill>
            <a:srgbClr val="3E9B5F"/>
          </a:solidFill>
          <a:ln/>
        </p:spPr>
      </p:sp>
      <p:sp>
        <p:nvSpPr>
          <p:cNvPr id="8" name="Text 5"/>
          <p:cNvSpPr/>
          <p:nvPr/>
        </p:nvSpPr>
        <p:spPr>
          <a:xfrm>
            <a:off x="1874520" y="5468112"/>
            <a:ext cx="365760" cy="329184"/>
          </a:xfrm>
          <a:prstGeom prst="rect">
            <a:avLst/>
          </a:prstGeom>
          <a:noFill/>
          <a:ln/>
        </p:spPr>
        <p:txBody>
          <a:bodyPr wrap="square" rtlCol="0" anchor="ctr"/>
          <a:lstStyle/>
          <a:p>
            <a:pPr algn="ctr" indent="0" marL="0">
              <a:buNone/>
            </a:pPr>
            <a:r>
              <a:rPr lang="en-US" sz="1300" dirty="0">
                <a:solidFill>
                  <a:srgbClr val="A78BFA"/>
                </a:solidFill>
                <a:latin typeface="Arial" pitchFamily="34" charset="0"/>
                <a:ea typeface="Arial" pitchFamily="34" charset="-122"/>
                <a:cs typeface="Arial" pitchFamily="34" charset="-120"/>
              </a:rPr>
              <a:t>✳</a:t>
            </a:r>
            <a:endParaRPr lang="en-US" sz="1300" dirty="0"/>
          </a:p>
        </p:txBody>
      </p:sp>
      <p:sp>
        <p:nvSpPr>
          <p:cNvPr id="9" name="Text 6"/>
          <p:cNvSpPr/>
          <p:nvPr/>
        </p:nvSpPr>
        <p:spPr>
          <a:xfrm>
            <a:off x="640080" y="5806440"/>
            <a:ext cx="5486400" cy="274320"/>
          </a:xfrm>
          <a:prstGeom prst="rect">
            <a:avLst/>
          </a:prstGeom>
          <a:noFill/>
          <a:ln/>
        </p:spPr>
        <p:txBody>
          <a:bodyPr wrap="square" rtlCol="0" anchor="ctr"/>
          <a:lstStyle/>
          <a:p>
            <a:pPr indent="0" marL="0">
              <a:buNone/>
            </a:pPr>
            <a:r>
              <a:rPr lang="en-US" sz="950" spc="200" kern="0" dirty="0">
                <a:solidFill>
                  <a:srgbClr val="94A3B8"/>
                </a:solidFill>
                <a:latin typeface="Arial" pitchFamily="34" charset="0"/>
                <a:ea typeface="Arial" pitchFamily="34" charset="-122"/>
                <a:cs typeface="Arial" pitchFamily="34" charset="-120"/>
              </a:rPr>
              <a:t>COLLABORATIVE INTELLIGENCE   ✳   PARTICIPATION</a:t>
            </a:r>
            <a:endParaRPr lang="en-US" sz="950" dirty="0"/>
          </a:p>
        </p:txBody>
      </p:sp>
      <p:sp>
        <p:nvSpPr>
          <p:cNvPr id="10" name="Text 7"/>
          <p:cNvSpPr/>
          <p:nvPr/>
        </p:nvSpPr>
        <p:spPr>
          <a:xfrm>
            <a:off x="640080" y="6446520"/>
            <a:ext cx="2743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July 2026 · SOCIII Inc.</a:t>
            </a:r>
            <a:endParaRPr lang="en-US" sz="900" dirty="0"/>
          </a:p>
        </p:txBody>
      </p:sp>
      <p:sp>
        <p:nvSpPr>
          <p:cNvPr id="11" name="Text 8"/>
          <p:cNvSpPr/>
          <p:nvPr/>
        </p:nvSpPr>
        <p:spPr>
          <a:xfrm>
            <a:off x="7589520" y="6446520"/>
            <a:ext cx="411480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Patent pending (USPTO filings May 2026) · sean@sociii.ai</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WHY NOW</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The FAA's Enforcement Posture Is Not Softening</a:t>
            </a:r>
            <a:endParaRPr lang="en-US" sz="2600" dirty="0"/>
          </a:p>
        </p:txBody>
      </p:sp>
      <p:sp>
        <p:nvSpPr>
          <p:cNvPr id="4" name="Shape 2"/>
          <p:cNvSpPr/>
          <p:nvPr/>
        </p:nvSpPr>
        <p:spPr>
          <a:xfrm>
            <a:off x="548640" y="1335024"/>
            <a:ext cx="11091672" cy="27432"/>
          </a:xfrm>
          <a:prstGeom prst="rect">
            <a:avLst/>
          </a:prstGeom>
          <a:solidFill>
            <a:srgbClr val="7C3AED"/>
          </a:solidFill>
          <a:ln/>
        </p:spPr>
      </p:sp>
      <p:sp>
        <p:nvSpPr>
          <p:cNvPr id="5" name="Text 3"/>
          <p:cNvSpPr/>
          <p:nvPr/>
        </p:nvSpPr>
        <p:spPr>
          <a:xfrm>
            <a:off x="548640" y="1600200"/>
            <a:ext cx="6675120" cy="1554480"/>
          </a:xfrm>
          <a:prstGeom prst="rect">
            <a:avLst/>
          </a:prstGeom>
          <a:noFill/>
          <a:ln/>
        </p:spPr>
        <p:txBody>
          <a:bodyPr wrap="square" rtlCol="0" anchor="ctr"/>
          <a:lstStyle/>
          <a:p>
            <a:pPr indent="0" marL="0">
              <a:lnSpc>
                <a:spcPct val="130000"/>
              </a:lnSpc>
              <a:buNone/>
            </a:pPr>
            <a:r>
              <a:rPr lang="en-US" sz="1400" dirty="0">
                <a:solidFill>
                  <a:srgbClr val="1A202C"/>
                </a:solidFill>
                <a:latin typeface="Arial" pitchFamily="34" charset="0"/>
                <a:ea typeface="Arial" pitchFamily="34" charset="-122"/>
                <a:cs typeface="Arial" pitchFamily="34" charset="-120"/>
              </a:rPr>
              <a:t>Certificate actions for documentation failures — currency lapses, training record gaps, maintenance discrepancies — are increasing. Operators who scale past 15 aircraft without a coordination system aren't being careful. They're being lucky. Luck is not a compliance strategy.</a:t>
            </a:r>
            <a:endParaRPr lang="en-US" sz="1400" dirty="0"/>
          </a:p>
        </p:txBody>
      </p:sp>
      <p:sp>
        <p:nvSpPr>
          <p:cNvPr id="6" name="Text 4"/>
          <p:cNvSpPr/>
          <p:nvPr/>
        </p:nvSpPr>
        <p:spPr>
          <a:xfrm>
            <a:off x="548640" y="3246120"/>
            <a:ext cx="6675120" cy="1554480"/>
          </a:xfrm>
          <a:prstGeom prst="rect">
            <a:avLst/>
          </a:prstGeom>
          <a:noFill/>
          <a:ln/>
        </p:spPr>
        <p:txBody>
          <a:bodyPr wrap="square" rtlCol="0" anchor="ctr"/>
          <a:lstStyle/>
          <a:p>
            <a:pPr indent="0" marL="0">
              <a:lnSpc>
                <a:spcPct val="130000"/>
              </a:lnSpc>
              <a:buNone/>
            </a:pPr>
            <a:r>
              <a:rPr lang="en-US" sz="1400" dirty="0">
                <a:solidFill>
                  <a:srgbClr val="1A202C"/>
                </a:solidFill>
                <a:latin typeface="Arial" pitchFamily="34" charset="0"/>
                <a:ea typeface="Arial" pitchFamily="34" charset="-122"/>
                <a:cs typeface="Arial" pitchFamily="34" charset="-120"/>
              </a:rPr>
              <a:t>Palantir charges the DoD hundreds of millions of dollars for governed AI over operational data with an append-only audit trail. A 10-aircraft charter operator gets the same architecture from SOCIII — and the pending patent application covers operators at every scale, not just the ones with government budgets.</a:t>
            </a:r>
            <a:endParaRPr lang="en-US" sz="1400" dirty="0"/>
          </a:p>
        </p:txBody>
      </p:sp>
      <p:sp>
        <p:nvSpPr>
          <p:cNvPr id="7" name="Shape 5"/>
          <p:cNvSpPr/>
          <p:nvPr/>
        </p:nvSpPr>
        <p:spPr>
          <a:xfrm>
            <a:off x="7635240" y="1737360"/>
            <a:ext cx="4023360" cy="1234440"/>
          </a:xfrm>
          <a:prstGeom prst="rect">
            <a:avLst/>
          </a:prstGeom>
          <a:solidFill>
            <a:srgbClr val="F8FAFC"/>
          </a:solidFill>
          <a:ln w="9525">
            <a:solidFill>
              <a:srgbClr val="E2E8F0"/>
            </a:solidFill>
            <a:prstDash val="solid"/>
          </a:ln>
        </p:spPr>
      </p:sp>
      <p:sp>
        <p:nvSpPr>
          <p:cNvPr id="8" name="Shape 6"/>
          <p:cNvSpPr/>
          <p:nvPr/>
        </p:nvSpPr>
        <p:spPr>
          <a:xfrm>
            <a:off x="7635240" y="1737360"/>
            <a:ext cx="4023360" cy="45720"/>
          </a:xfrm>
          <a:prstGeom prst="rect">
            <a:avLst/>
          </a:prstGeom>
          <a:solidFill>
            <a:srgbClr val="7C3AED"/>
          </a:solidFill>
          <a:ln/>
        </p:spPr>
      </p:sp>
      <p:sp>
        <p:nvSpPr>
          <p:cNvPr id="9" name="Text 7"/>
          <p:cNvSpPr/>
          <p:nvPr/>
        </p:nvSpPr>
        <p:spPr>
          <a:xfrm>
            <a:off x="7818120" y="1856232"/>
            <a:ext cx="3657600" cy="45720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106</a:t>
            </a:r>
            <a:endParaRPr lang="en-US" sz="2400" dirty="0"/>
          </a:p>
        </p:txBody>
      </p:sp>
      <p:sp>
        <p:nvSpPr>
          <p:cNvPr id="10" name="Text 8"/>
          <p:cNvSpPr/>
          <p:nvPr/>
        </p:nvSpPr>
        <p:spPr>
          <a:xfrm>
            <a:off x="7818120" y="2331720"/>
            <a:ext cx="3657600" cy="548640"/>
          </a:xfrm>
          <a:prstGeom prst="rect">
            <a:avLst/>
          </a:prstGeom>
          <a:noFill/>
          <a:ln/>
        </p:spPr>
        <p:txBody>
          <a:bodyPr wrap="square" rtlCol="0" anchor="ctr"/>
          <a:lstStyle/>
          <a:p>
            <a:pPr indent="0" marL="0">
              <a:lnSpc>
                <a:spcPct val="115000"/>
              </a:lnSpc>
              <a:buNone/>
            </a:pPr>
            <a:r>
              <a:rPr lang="en-US" sz="950" dirty="0">
                <a:solidFill>
                  <a:srgbClr val="64748B"/>
                </a:solidFill>
                <a:latin typeface="Arial" pitchFamily="34" charset="0"/>
                <a:ea typeface="Arial" pitchFamily="34" charset="-122"/>
                <a:cs typeface="Arial" pitchFamily="34" charset="-120"/>
              </a:rPr>
              <a:t>Fatal GA accidents in 2023 with pilot-related causal factors (AOPA Air Safety Institute)</a:t>
            </a:r>
            <a:endParaRPr lang="en-US" sz="950" dirty="0"/>
          </a:p>
        </p:txBody>
      </p:sp>
      <p:sp>
        <p:nvSpPr>
          <p:cNvPr id="11" name="Shape 9"/>
          <p:cNvSpPr/>
          <p:nvPr/>
        </p:nvSpPr>
        <p:spPr>
          <a:xfrm>
            <a:off x="7635240" y="3218688"/>
            <a:ext cx="4023360" cy="1234440"/>
          </a:xfrm>
          <a:prstGeom prst="rect">
            <a:avLst/>
          </a:prstGeom>
          <a:solidFill>
            <a:srgbClr val="F8FAFC"/>
          </a:solidFill>
          <a:ln w="9525">
            <a:solidFill>
              <a:srgbClr val="E2E8F0"/>
            </a:solidFill>
            <a:prstDash val="solid"/>
          </a:ln>
        </p:spPr>
      </p:sp>
      <p:sp>
        <p:nvSpPr>
          <p:cNvPr id="12" name="Shape 10"/>
          <p:cNvSpPr/>
          <p:nvPr/>
        </p:nvSpPr>
        <p:spPr>
          <a:xfrm>
            <a:off x="7635240" y="3218688"/>
            <a:ext cx="4023360" cy="45720"/>
          </a:xfrm>
          <a:prstGeom prst="rect">
            <a:avLst/>
          </a:prstGeom>
          <a:solidFill>
            <a:srgbClr val="7C3AED"/>
          </a:solidFill>
          <a:ln/>
        </p:spPr>
      </p:sp>
      <p:sp>
        <p:nvSpPr>
          <p:cNvPr id="13" name="Text 11"/>
          <p:cNvSpPr/>
          <p:nvPr/>
        </p:nvSpPr>
        <p:spPr>
          <a:xfrm>
            <a:off x="7818120" y="3337560"/>
            <a:ext cx="3657600" cy="45720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220,000</a:t>
            </a:r>
            <a:endParaRPr lang="en-US" sz="2400" dirty="0"/>
          </a:p>
        </p:txBody>
      </p:sp>
      <p:sp>
        <p:nvSpPr>
          <p:cNvPr id="14" name="Text 12"/>
          <p:cNvSpPr/>
          <p:nvPr/>
        </p:nvSpPr>
        <p:spPr>
          <a:xfrm>
            <a:off x="7818120" y="3813048"/>
            <a:ext cx="3657600" cy="548640"/>
          </a:xfrm>
          <a:prstGeom prst="rect">
            <a:avLst/>
          </a:prstGeom>
          <a:noFill/>
          <a:ln/>
        </p:spPr>
        <p:txBody>
          <a:bodyPr wrap="square" rtlCol="0" anchor="ctr"/>
          <a:lstStyle/>
          <a:p>
            <a:pPr indent="0" marL="0">
              <a:lnSpc>
                <a:spcPct val="115000"/>
              </a:lnSpc>
              <a:buNone/>
            </a:pPr>
            <a:r>
              <a:rPr lang="en-US" sz="950" dirty="0">
                <a:solidFill>
                  <a:srgbClr val="64748B"/>
                </a:solidFill>
                <a:latin typeface="Arial" pitchFamily="34" charset="0"/>
                <a:ea typeface="Arial" pitchFamily="34" charset="-122"/>
                <a:cs typeface="Arial" pitchFamily="34" charset="-120"/>
              </a:rPr>
              <a:t>Active general aviation aircraft in the U.S.</a:t>
            </a:r>
            <a:endParaRPr lang="en-US" sz="950" dirty="0"/>
          </a:p>
        </p:txBody>
      </p:sp>
      <p:sp>
        <p:nvSpPr>
          <p:cNvPr id="15" name="Shape 13"/>
          <p:cNvSpPr/>
          <p:nvPr/>
        </p:nvSpPr>
        <p:spPr>
          <a:xfrm>
            <a:off x="7635240" y="4700016"/>
            <a:ext cx="4023360" cy="1234440"/>
          </a:xfrm>
          <a:prstGeom prst="rect">
            <a:avLst/>
          </a:prstGeom>
          <a:solidFill>
            <a:srgbClr val="F8FAFC"/>
          </a:solidFill>
          <a:ln w="9525">
            <a:solidFill>
              <a:srgbClr val="E2E8F0"/>
            </a:solidFill>
            <a:prstDash val="solid"/>
          </a:ln>
        </p:spPr>
      </p:sp>
      <p:sp>
        <p:nvSpPr>
          <p:cNvPr id="16" name="Shape 14"/>
          <p:cNvSpPr/>
          <p:nvPr/>
        </p:nvSpPr>
        <p:spPr>
          <a:xfrm>
            <a:off x="7635240" y="4700016"/>
            <a:ext cx="4023360" cy="45720"/>
          </a:xfrm>
          <a:prstGeom prst="rect">
            <a:avLst/>
          </a:prstGeom>
          <a:solidFill>
            <a:srgbClr val="7C3AED"/>
          </a:solidFill>
          <a:ln/>
        </p:spPr>
      </p:sp>
      <p:sp>
        <p:nvSpPr>
          <p:cNvPr id="17" name="Text 15"/>
          <p:cNvSpPr/>
          <p:nvPr/>
        </p:nvSpPr>
        <p:spPr>
          <a:xfrm>
            <a:off x="7818120" y="4818888"/>
            <a:ext cx="3657600" cy="45720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3</a:t>
            </a:r>
            <a:endParaRPr lang="en-US" sz="2400" dirty="0"/>
          </a:p>
        </p:txBody>
      </p:sp>
      <p:sp>
        <p:nvSpPr>
          <p:cNvPr id="18" name="Text 16"/>
          <p:cNvSpPr/>
          <p:nvPr/>
        </p:nvSpPr>
        <p:spPr>
          <a:xfrm>
            <a:off x="7818120" y="5294376"/>
            <a:ext cx="3657600" cy="548640"/>
          </a:xfrm>
          <a:prstGeom prst="rect">
            <a:avLst/>
          </a:prstGeom>
          <a:noFill/>
          <a:ln/>
        </p:spPr>
        <p:txBody>
          <a:bodyPr wrap="square" rtlCol="0" anchor="ctr"/>
          <a:lstStyle/>
          <a:p>
            <a:pPr indent="0" marL="0">
              <a:lnSpc>
                <a:spcPct val="115000"/>
              </a:lnSpc>
              <a:buNone/>
            </a:pPr>
            <a:r>
              <a:rPr lang="en-US" sz="950" dirty="0">
                <a:solidFill>
                  <a:srgbClr val="64748B"/>
                </a:solidFill>
                <a:latin typeface="Arial" pitchFamily="34" charset="0"/>
                <a:ea typeface="Arial" pitchFamily="34" charset="-122"/>
                <a:cs typeface="Arial" pitchFamily="34" charset="-120"/>
              </a:rPr>
              <a:t>Senior roles a 10-aircraft operator needs today — without SOCIII</a:t>
            </a:r>
            <a:endParaRPr lang="en-US" sz="950" dirty="0"/>
          </a:p>
        </p:txBody>
      </p:sp>
      <p:sp>
        <p:nvSpPr>
          <p:cNvPr id="19" name="Text 17"/>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Aviation vertical — in evaluation with two operators: a Western US charter operator and a medevac operator network</a:t>
            </a:r>
            <a:endParaRPr lang="en-US" sz="750" dirty="0"/>
          </a:p>
        </p:txBody>
      </p:sp>
      <p:sp>
        <p:nvSpPr>
          <p:cNvPr id="20" name="Text 18"/>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THE OLD MODEL</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Three Senior Hires, Plus a Six-Figure Compliance Tool</a:t>
            </a:r>
            <a:endParaRPr lang="en-US" sz="2600" dirty="0"/>
          </a:p>
        </p:txBody>
      </p:sp>
      <p:sp>
        <p:nvSpPr>
          <p:cNvPr id="4" name="Shape 2"/>
          <p:cNvSpPr/>
          <p:nvPr/>
        </p:nvSpPr>
        <p:spPr>
          <a:xfrm>
            <a:off x="548640" y="1335024"/>
            <a:ext cx="11091672" cy="27432"/>
          </a:xfrm>
          <a:prstGeom prst="rect">
            <a:avLst/>
          </a:prstGeom>
          <a:solidFill>
            <a:srgbClr val="7C3AED"/>
          </a:solidFill>
          <a:ln/>
        </p:spPr>
      </p:sp>
      <p:sp>
        <p:nvSpPr>
          <p:cNvPr id="5" name="Shape 3"/>
          <p:cNvSpPr/>
          <p:nvPr/>
        </p:nvSpPr>
        <p:spPr>
          <a:xfrm>
            <a:off x="548640" y="1737360"/>
            <a:ext cx="310896" cy="310896"/>
          </a:xfrm>
          <a:prstGeom prst="ellipse">
            <a:avLst/>
          </a:prstGeom>
          <a:solidFill>
            <a:srgbClr val="F8FAFC"/>
          </a:solidFill>
          <a:ln w="15875">
            <a:solidFill>
              <a:srgbClr val="7C3AED"/>
            </a:solidFill>
            <a:prstDash val="solid"/>
          </a:ln>
        </p:spPr>
      </p:sp>
      <p:sp>
        <p:nvSpPr>
          <p:cNvPr id="6" name="Text 4"/>
          <p:cNvSpPr/>
          <p:nvPr/>
        </p:nvSpPr>
        <p:spPr>
          <a:xfrm>
            <a:off x="548640" y="1737360"/>
            <a:ext cx="310896" cy="310896"/>
          </a:xfrm>
          <a:prstGeom prst="rect">
            <a:avLst/>
          </a:prstGeom>
          <a:noFill/>
          <a:ln/>
        </p:spPr>
        <p:txBody>
          <a:bodyPr wrap="square" rtlCol="0" anchor="ctr"/>
          <a:lstStyle/>
          <a:p>
            <a:pPr algn="ctr" indent="0" marL="0">
              <a:buNone/>
            </a:pPr>
            <a:r>
              <a:rPr lang="en-US" sz="1200" b="1" dirty="0">
                <a:solidFill>
                  <a:srgbClr val="7C3AED"/>
                </a:solidFill>
                <a:latin typeface="Arial" pitchFamily="34" charset="0"/>
                <a:ea typeface="Arial" pitchFamily="34" charset="-122"/>
                <a:cs typeface="Arial" pitchFamily="34" charset="-120"/>
              </a:rPr>
              <a:t>1</a:t>
            </a:r>
            <a:endParaRPr lang="en-US" sz="1200" dirty="0"/>
          </a:p>
        </p:txBody>
      </p:sp>
      <p:sp>
        <p:nvSpPr>
          <p:cNvPr id="7" name="Text 5"/>
          <p:cNvSpPr/>
          <p:nvPr/>
        </p:nvSpPr>
        <p:spPr>
          <a:xfrm>
            <a:off x="1051560" y="1691640"/>
            <a:ext cx="5852160" cy="402336"/>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Chief Pilot</a:t>
            </a:r>
            <a:endParaRPr lang="en-US" sz="1500" dirty="0"/>
          </a:p>
        </p:txBody>
      </p:sp>
      <p:sp>
        <p:nvSpPr>
          <p:cNvPr id="8" name="Text 6"/>
          <p:cNvSpPr/>
          <p:nvPr/>
        </p:nvSpPr>
        <p:spPr>
          <a:xfrm>
            <a:off x="7040880" y="1691640"/>
            <a:ext cx="2926080" cy="402336"/>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$120,000 – 180,000/year</a:t>
            </a:r>
            <a:endParaRPr lang="en-US" sz="1400" dirty="0"/>
          </a:p>
        </p:txBody>
      </p:sp>
      <p:sp>
        <p:nvSpPr>
          <p:cNvPr id="9" name="Shape 7"/>
          <p:cNvSpPr/>
          <p:nvPr/>
        </p:nvSpPr>
        <p:spPr>
          <a:xfrm>
            <a:off x="548640" y="2194560"/>
            <a:ext cx="9418320" cy="10973"/>
          </a:xfrm>
          <a:prstGeom prst="rect">
            <a:avLst/>
          </a:prstGeom>
          <a:solidFill>
            <a:srgbClr val="E2E8F0"/>
          </a:solidFill>
          <a:ln/>
        </p:spPr>
      </p:sp>
      <p:sp>
        <p:nvSpPr>
          <p:cNvPr id="10" name="Shape 8"/>
          <p:cNvSpPr/>
          <p:nvPr/>
        </p:nvSpPr>
        <p:spPr>
          <a:xfrm>
            <a:off x="548640" y="2450592"/>
            <a:ext cx="310896" cy="310896"/>
          </a:xfrm>
          <a:prstGeom prst="ellipse">
            <a:avLst/>
          </a:prstGeom>
          <a:solidFill>
            <a:srgbClr val="F8FAFC"/>
          </a:solidFill>
          <a:ln w="15875">
            <a:solidFill>
              <a:srgbClr val="7C3AED"/>
            </a:solidFill>
            <a:prstDash val="solid"/>
          </a:ln>
        </p:spPr>
      </p:sp>
      <p:sp>
        <p:nvSpPr>
          <p:cNvPr id="11" name="Text 9"/>
          <p:cNvSpPr/>
          <p:nvPr/>
        </p:nvSpPr>
        <p:spPr>
          <a:xfrm>
            <a:off x="548640" y="2450592"/>
            <a:ext cx="310896" cy="310896"/>
          </a:xfrm>
          <a:prstGeom prst="rect">
            <a:avLst/>
          </a:prstGeom>
          <a:noFill/>
          <a:ln/>
        </p:spPr>
        <p:txBody>
          <a:bodyPr wrap="square" rtlCol="0" anchor="ctr"/>
          <a:lstStyle/>
          <a:p>
            <a:pPr algn="ctr" indent="0" marL="0">
              <a:buNone/>
            </a:pPr>
            <a:r>
              <a:rPr lang="en-US" sz="1200" b="1" dirty="0">
                <a:solidFill>
                  <a:srgbClr val="7C3AED"/>
                </a:solidFill>
                <a:latin typeface="Arial" pitchFamily="34" charset="0"/>
                <a:ea typeface="Arial" pitchFamily="34" charset="-122"/>
                <a:cs typeface="Arial" pitchFamily="34" charset="-120"/>
              </a:rPr>
              <a:t>2</a:t>
            </a:r>
            <a:endParaRPr lang="en-US" sz="1200" dirty="0"/>
          </a:p>
        </p:txBody>
      </p:sp>
      <p:sp>
        <p:nvSpPr>
          <p:cNvPr id="12" name="Text 10"/>
          <p:cNvSpPr/>
          <p:nvPr/>
        </p:nvSpPr>
        <p:spPr>
          <a:xfrm>
            <a:off x="1051560" y="2404872"/>
            <a:ext cx="5852160" cy="402336"/>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Director of Operations</a:t>
            </a:r>
            <a:endParaRPr lang="en-US" sz="1500" dirty="0"/>
          </a:p>
        </p:txBody>
      </p:sp>
      <p:sp>
        <p:nvSpPr>
          <p:cNvPr id="13" name="Text 11"/>
          <p:cNvSpPr/>
          <p:nvPr/>
        </p:nvSpPr>
        <p:spPr>
          <a:xfrm>
            <a:off x="7040880" y="2404872"/>
            <a:ext cx="2926080" cy="402336"/>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$90,000 – 120,000/year</a:t>
            </a:r>
            <a:endParaRPr lang="en-US" sz="1400" dirty="0"/>
          </a:p>
        </p:txBody>
      </p:sp>
      <p:sp>
        <p:nvSpPr>
          <p:cNvPr id="14" name="Shape 12"/>
          <p:cNvSpPr/>
          <p:nvPr/>
        </p:nvSpPr>
        <p:spPr>
          <a:xfrm>
            <a:off x="548640" y="2907792"/>
            <a:ext cx="9418320" cy="10973"/>
          </a:xfrm>
          <a:prstGeom prst="rect">
            <a:avLst/>
          </a:prstGeom>
          <a:solidFill>
            <a:srgbClr val="E2E8F0"/>
          </a:solidFill>
          <a:ln/>
        </p:spPr>
      </p:sp>
      <p:sp>
        <p:nvSpPr>
          <p:cNvPr id="15" name="Shape 13"/>
          <p:cNvSpPr/>
          <p:nvPr/>
        </p:nvSpPr>
        <p:spPr>
          <a:xfrm>
            <a:off x="548640" y="3163824"/>
            <a:ext cx="310896" cy="310896"/>
          </a:xfrm>
          <a:prstGeom prst="ellipse">
            <a:avLst/>
          </a:prstGeom>
          <a:solidFill>
            <a:srgbClr val="F8FAFC"/>
          </a:solidFill>
          <a:ln w="15875">
            <a:solidFill>
              <a:srgbClr val="7C3AED"/>
            </a:solidFill>
            <a:prstDash val="solid"/>
          </a:ln>
        </p:spPr>
      </p:sp>
      <p:sp>
        <p:nvSpPr>
          <p:cNvPr id="16" name="Text 14"/>
          <p:cNvSpPr/>
          <p:nvPr/>
        </p:nvSpPr>
        <p:spPr>
          <a:xfrm>
            <a:off x="548640" y="3163824"/>
            <a:ext cx="310896" cy="310896"/>
          </a:xfrm>
          <a:prstGeom prst="rect">
            <a:avLst/>
          </a:prstGeom>
          <a:noFill/>
          <a:ln/>
        </p:spPr>
        <p:txBody>
          <a:bodyPr wrap="square" rtlCol="0" anchor="ctr"/>
          <a:lstStyle/>
          <a:p>
            <a:pPr algn="ctr" indent="0" marL="0">
              <a:buNone/>
            </a:pPr>
            <a:r>
              <a:rPr lang="en-US" sz="1200" b="1" dirty="0">
                <a:solidFill>
                  <a:srgbClr val="7C3AED"/>
                </a:solidFill>
                <a:latin typeface="Arial" pitchFamily="34" charset="0"/>
                <a:ea typeface="Arial" pitchFamily="34" charset="-122"/>
                <a:cs typeface="Arial" pitchFamily="34" charset="-120"/>
              </a:rPr>
              <a:t>3</a:t>
            </a:r>
            <a:endParaRPr lang="en-US" sz="1200" dirty="0"/>
          </a:p>
        </p:txBody>
      </p:sp>
      <p:sp>
        <p:nvSpPr>
          <p:cNvPr id="17" name="Text 15"/>
          <p:cNvSpPr/>
          <p:nvPr/>
        </p:nvSpPr>
        <p:spPr>
          <a:xfrm>
            <a:off x="1051560" y="3118104"/>
            <a:ext cx="5852160" cy="402336"/>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Director of Training</a:t>
            </a:r>
            <a:endParaRPr lang="en-US" sz="1500" dirty="0"/>
          </a:p>
        </p:txBody>
      </p:sp>
      <p:sp>
        <p:nvSpPr>
          <p:cNvPr id="18" name="Text 16"/>
          <p:cNvSpPr/>
          <p:nvPr/>
        </p:nvSpPr>
        <p:spPr>
          <a:xfrm>
            <a:off x="7040880" y="3118104"/>
            <a:ext cx="2926080" cy="402336"/>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$80,000 – 100,000/year</a:t>
            </a:r>
            <a:endParaRPr lang="en-US" sz="1400" dirty="0"/>
          </a:p>
        </p:txBody>
      </p:sp>
      <p:sp>
        <p:nvSpPr>
          <p:cNvPr id="19" name="Shape 17"/>
          <p:cNvSpPr/>
          <p:nvPr/>
        </p:nvSpPr>
        <p:spPr>
          <a:xfrm>
            <a:off x="548640" y="3621024"/>
            <a:ext cx="9418320" cy="10973"/>
          </a:xfrm>
          <a:prstGeom prst="rect">
            <a:avLst/>
          </a:prstGeom>
          <a:solidFill>
            <a:srgbClr val="E2E8F0"/>
          </a:solidFill>
          <a:ln/>
        </p:spPr>
      </p:sp>
      <p:sp>
        <p:nvSpPr>
          <p:cNvPr id="20" name="Shape 18"/>
          <p:cNvSpPr/>
          <p:nvPr/>
        </p:nvSpPr>
        <p:spPr>
          <a:xfrm>
            <a:off x="548640" y="3877056"/>
            <a:ext cx="310896" cy="310896"/>
          </a:xfrm>
          <a:prstGeom prst="ellipse">
            <a:avLst/>
          </a:prstGeom>
          <a:solidFill>
            <a:srgbClr val="F8FAFC"/>
          </a:solidFill>
          <a:ln w="15875">
            <a:solidFill>
              <a:srgbClr val="7C3AED"/>
            </a:solidFill>
            <a:prstDash val="solid"/>
          </a:ln>
        </p:spPr>
      </p:sp>
      <p:sp>
        <p:nvSpPr>
          <p:cNvPr id="21" name="Text 19"/>
          <p:cNvSpPr/>
          <p:nvPr/>
        </p:nvSpPr>
        <p:spPr>
          <a:xfrm>
            <a:off x="548640" y="3877056"/>
            <a:ext cx="310896" cy="310896"/>
          </a:xfrm>
          <a:prstGeom prst="rect">
            <a:avLst/>
          </a:prstGeom>
          <a:noFill/>
          <a:ln/>
        </p:spPr>
        <p:txBody>
          <a:bodyPr wrap="square" rtlCol="0" anchor="ctr"/>
          <a:lstStyle/>
          <a:p>
            <a:pPr algn="ctr" indent="0" marL="0">
              <a:buNone/>
            </a:pPr>
            <a:r>
              <a:rPr lang="en-US" sz="1200" b="1" dirty="0">
                <a:solidFill>
                  <a:srgbClr val="7C3AED"/>
                </a:solidFill>
                <a:latin typeface="Arial" pitchFamily="34" charset="0"/>
                <a:ea typeface="Arial" pitchFamily="34" charset="-122"/>
                <a:cs typeface="Arial" pitchFamily="34" charset="-120"/>
              </a:rPr>
              <a:t>4</a:t>
            </a:r>
            <a:endParaRPr lang="en-US" sz="1200" dirty="0"/>
          </a:p>
        </p:txBody>
      </p:sp>
      <p:sp>
        <p:nvSpPr>
          <p:cNvPr id="22" name="Text 20"/>
          <p:cNvSpPr/>
          <p:nvPr/>
        </p:nvSpPr>
        <p:spPr>
          <a:xfrm>
            <a:off x="1051560" y="3831336"/>
            <a:ext cx="5852160" cy="402336"/>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CAMP Systems (maintenance tracking)</a:t>
            </a:r>
            <a:endParaRPr lang="en-US" sz="1500" dirty="0"/>
          </a:p>
        </p:txBody>
      </p:sp>
      <p:sp>
        <p:nvSpPr>
          <p:cNvPr id="23" name="Text 21"/>
          <p:cNvSpPr/>
          <p:nvPr/>
        </p:nvSpPr>
        <p:spPr>
          <a:xfrm>
            <a:off x="7040880" y="3831336"/>
            <a:ext cx="2926080" cy="402336"/>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$50,000 – 200,000/year</a:t>
            </a:r>
            <a:endParaRPr lang="en-US" sz="1400" dirty="0"/>
          </a:p>
        </p:txBody>
      </p:sp>
      <p:sp>
        <p:nvSpPr>
          <p:cNvPr id="24" name="Shape 22"/>
          <p:cNvSpPr/>
          <p:nvPr/>
        </p:nvSpPr>
        <p:spPr>
          <a:xfrm>
            <a:off x="548640" y="4334256"/>
            <a:ext cx="9418320" cy="10973"/>
          </a:xfrm>
          <a:prstGeom prst="rect">
            <a:avLst/>
          </a:prstGeom>
          <a:solidFill>
            <a:srgbClr val="E2E8F0"/>
          </a:solidFill>
          <a:ln/>
        </p:spPr>
      </p:sp>
      <p:sp>
        <p:nvSpPr>
          <p:cNvPr id="25" name="Shape 23"/>
          <p:cNvSpPr/>
          <p:nvPr/>
        </p:nvSpPr>
        <p:spPr>
          <a:xfrm>
            <a:off x="548640" y="4654296"/>
            <a:ext cx="9418320" cy="822960"/>
          </a:xfrm>
          <a:prstGeom prst="rect">
            <a:avLst/>
          </a:prstGeom>
          <a:solidFill>
            <a:srgbClr val="F5F3FF"/>
          </a:solidFill>
          <a:ln/>
        </p:spPr>
      </p:sp>
      <p:sp>
        <p:nvSpPr>
          <p:cNvPr id="26" name="Text 24"/>
          <p:cNvSpPr/>
          <p:nvPr/>
        </p:nvSpPr>
        <p:spPr>
          <a:xfrm>
            <a:off x="777240" y="4818888"/>
            <a:ext cx="5029200" cy="502920"/>
          </a:xfrm>
          <a:prstGeom prst="rect">
            <a:avLst/>
          </a:prstGeom>
          <a:noFill/>
          <a:ln/>
        </p:spPr>
        <p:txBody>
          <a:bodyPr wrap="square" rtlCol="0" anchor="ctr"/>
          <a:lstStyle/>
          <a:p>
            <a:pPr indent="0" marL="0">
              <a:buNone/>
            </a:pPr>
            <a:r>
              <a:rPr lang="en-US" sz="1700" b="1" dirty="0">
                <a:solidFill>
                  <a:srgbClr val="0F172A"/>
                </a:solidFill>
                <a:latin typeface="Arial" pitchFamily="34" charset="0"/>
                <a:ea typeface="Arial" pitchFamily="34" charset="-122"/>
                <a:cs typeface="Arial" pitchFamily="34" charset="-120"/>
              </a:rPr>
              <a:t>Total: $340,000 – 600,000/year</a:t>
            </a:r>
            <a:endParaRPr lang="en-US" sz="1700" dirty="0"/>
          </a:p>
        </p:txBody>
      </p:sp>
      <p:sp>
        <p:nvSpPr>
          <p:cNvPr id="27" name="Text 25"/>
          <p:cNvSpPr/>
          <p:nvPr/>
        </p:nvSpPr>
        <p:spPr>
          <a:xfrm>
            <a:off x="6766560" y="4818888"/>
            <a:ext cx="3017520" cy="502920"/>
          </a:xfrm>
          <a:prstGeom prst="rect">
            <a:avLst/>
          </a:prstGeom>
          <a:noFill/>
          <a:ln/>
        </p:spPr>
        <p:txBody>
          <a:bodyPr wrap="square" rtlCol="0" anchor="ctr"/>
          <a:lstStyle/>
          <a:p>
            <a:pPr algn="r" indent="0" marL="0">
              <a:buNone/>
            </a:pPr>
            <a:r>
              <a:rPr lang="en-US" sz="1700" b="1" dirty="0">
                <a:solidFill>
                  <a:srgbClr val="3E9B5F"/>
                </a:solidFill>
                <a:latin typeface="Arial" pitchFamily="34" charset="0"/>
                <a:ea typeface="Arial" pitchFamily="34" charset="-122"/>
                <a:cs typeface="Arial" pitchFamily="34" charset="-120"/>
              </a:rPr>
              <a:t>SOCIII: $99/mo + $5/seat</a:t>
            </a:r>
            <a:endParaRPr lang="en-US" sz="1700" dirty="0"/>
          </a:p>
        </p:txBody>
      </p:sp>
      <p:sp>
        <p:nvSpPr>
          <p:cNvPr id="28" name="Text 26"/>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Aviation vertical — in evaluation with two operators: a Western US charter operator and a medevac operator network</a:t>
            </a:r>
            <a:endParaRPr lang="en-US" sz="750" dirty="0"/>
          </a:p>
        </p:txBody>
      </p:sp>
      <p:sp>
        <p:nvSpPr>
          <p:cNvPr id="29" name="Text 27"/>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THE SOCIII ANSWER</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Outcomes, Not Features</a:t>
            </a:r>
            <a:endParaRPr lang="en-US" sz="2600" dirty="0"/>
          </a:p>
        </p:txBody>
      </p:sp>
      <p:sp>
        <p:nvSpPr>
          <p:cNvPr id="4" name="Shape 2"/>
          <p:cNvSpPr/>
          <p:nvPr/>
        </p:nvSpPr>
        <p:spPr>
          <a:xfrm>
            <a:off x="548640" y="1335024"/>
            <a:ext cx="11091672" cy="27432"/>
          </a:xfrm>
          <a:prstGeom prst="rect">
            <a:avLst/>
          </a:prstGeom>
          <a:solidFill>
            <a:srgbClr val="7C3AED"/>
          </a:solidFill>
          <a:ln/>
        </p:spPr>
      </p:sp>
      <p:sp>
        <p:nvSpPr>
          <p:cNvPr id="5" name="Shape 3"/>
          <p:cNvSpPr/>
          <p:nvPr/>
        </p:nvSpPr>
        <p:spPr>
          <a:xfrm>
            <a:off x="548640" y="1691640"/>
            <a:ext cx="5349240" cy="1965960"/>
          </a:xfrm>
          <a:prstGeom prst="rect">
            <a:avLst/>
          </a:prstGeom>
          <a:solidFill>
            <a:srgbClr val="F8FAFC"/>
          </a:solidFill>
          <a:ln w="9525">
            <a:solidFill>
              <a:srgbClr val="E2E8F0"/>
            </a:solidFill>
            <a:prstDash val="solid"/>
          </a:ln>
        </p:spPr>
      </p:sp>
      <p:sp>
        <p:nvSpPr>
          <p:cNvPr id="6" name="Shape 4"/>
          <p:cNvSpPr/>
          <p:nvPr/>
        </p:nvSpPr>
        <p:spPr>
          <a:xfrm>
            <a:off x="804672" y="1947672"/>
            <a:ext cx="457200" cy="457200"/>
          </a:xfrm>
          <a:prstGeom prst="ellipse">
            <a:avLst/>
          </a:prstGeom>
          <a:solidFill>
            <a:srgbClr val="7C3AED"/>
          </a:solidFill>
          <a:ln/>
        </p:spPr>
      </p:sp>
      <p:sp>
        <p:nvSpPr>
          <p:cNvPr id="7" name="Text 5"/>
          <p:cNvSpPr/>
          <p:nvPr/>
        </p:nvSpPr>
        <p:spPr>
          <a:xfrm>
            <a:off x="804672" y="1947672"/>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6"/>
          <p:cNvSpPr/>
          <p:nvPr/>
        </p:nvSpPr>
        <p:spPr>
          <a:xfrm>
            <a:off x="1417320" y="1929384"/>
            <a:ext cx="4251960" cy="50292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Tracks every pilot's currency in real time</a:t>
            </a:r>
            <a:endParaRPr lang="en-US" sz="1450" dirty="0"/>
          </a:p>
        </p:txBody>
      </p:sp>
      <p:sp>
        <p:nvSpPr>
          <p:cNvPr id="9" name="Text 7"/>
          <p:cNvSpPr/>
          <p:nvPr/>
        </p:nvSpPr>
        <p:spPr>
          <a:xfrm>
            <a:off x="804672" y="2560320"/>
            <a:ext cx="4837176" cy="960120"/>
          </a:xfrm>
          <a:prstGeom prst="rect">
            <a:avLst/>
          </a:prstGeom>
          <a:noFill/>
          <a:ln/>
        </p:spPr>
        <p:txBody>
          <a:bodyPr wrap="square" rtlCol="0" anchor="ctr"/>
          <a:lstStyle/>
          <a:p>
            <a:pPr indent="0" marL="0">
              <a:lnSpc>
                <a:spcPct val="125000"/>
              </a:lnSpc>
              <a:buNone/>
            </a:pPr>
            <a:r>
              <a:rPr lang="en-US" sz="1150" dirty="0">
                <a:solidFill>
                  <a:srgbClr val="475569"/>
                </a:solidFill>
                <a:latin typeface="Arial" pitchFamily="34" charset="0"/>
                <a:ea typeface="Arial" pitchFamily="34" charset="-122"/>
                <a:cs typeface="Arial" pitchFamily="34" charset="-120"/>
              </a:rPr>
              <a:t>Alex flags anyone within 30 days of expiration before you think to check.</a:t>
            </a:r>
            <a:endParaRPr lang="en-US" sz="1150" dirty="0"/>
          </a:p>
        </p:txBody>
      </p:sp>
      <p:sp>
        <p:nvSpPr>
          <p:cNvPr id="10" name="Shape 8"/>
          <p:cNvSpPr/>
          <p:nvPr/>
        </p:nvSpPr>
        <p:spPr>
          <a:xfrm>
            <a:off x="6153912" y="1691640"/>
            <a:ext cx="5349240" cy="1965960"/>
          </a:xfrm>
          <a:prstGeom prst="rect">
            <a:avLst/>
          </a:prstGeom>
          <a:solidFill>
            <a:srgbClr val="F8FAFC"/>
          </a:solidFill>
          <a:ln w="9525">
            <a:solidFill>
              <a:srgbClr val="E2E8F0"/>
            </a:solidFill>
            <a:prstDash val="solid"/>
          </a:ln>
        </p:spPr>
      </p:sp>
      <p:sp>
        <p:nvSpPr>
          <p:cNvPr id="11" name="Shape 9"/>
          <p:cNvSpPr/>
          <p:nvPr/>
        </p:nvSpPr>
        <p:spPr>
          <a:xfrm>
            <a:off x="6409944" y="1947672"/>
            <a:ext cx="457200" cy="457200"/>
          </a:xfrm>
          <a:prstGeom prst="ellipse">
            <a:avLst/>
          </a:prstGeom>
          <a:solidFill>
            <a:srgbClr val="7C3AED"/>
          </a:solidFill>
          <a:ln/>
        </p:spPr>
      </p:sp>
      <p:sp>
        <p:nvSpPr>
          <p:cNvPr id="12" name="Text 10"/>
          <p:cNvSpPr/>
          <p:nvPr/>
        </p:nvSpPr>
        <p:spPr>
          <a:xfrm>
            <a:off x="6409944" y="1947672"/>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7022592" y="1929384"/>
            <a:ext cx="4251960" cy="50292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Maintains a portable, append-only pilot record</a:t>
            </a:r>
            <a:endParaRPr lang="en-US" sz="1450" dirty="0"/>
          </a:p>
        </p:txBody>
      </p:sp>
      <p:sp>
        <p:nvSpPr>
          <p:cNvPr id="14" name="Text 12"/>
          <p:cNvSpPr/>
          <p:nvPr/>
        </p:nvSpPr>
        <p:spPr>
          <a:xfrm>
            <a:off x="6409944" y="2560320"/>
            <a:ext cx="4837176" cy="960120"/>
          </a:xfrm>
          <a:prstGeom prst="rect">
            <a:avLst/>
          </a:prstGeom>
          <a:noFill/>
          <a:ln/>
        </p:spPr>
        <p:txBody>
          <a:bodyPr wrap="square" rtlCol="0" anchor="ctr"/>
          <a:lstStyle/>
          <a:p>
            <a:pPr indent="0" marL="0">
              <a:lnSpc>
                <a:spcPct val="125000"/>
              </a:lnSpc>
              <a:buNone/>
            </a:pPr>
            <a:r>
              <a:rPr lang="en-US" sz="1150" dirty="0">
                <a:solidFill>
                  <a:srgbClr val="475569"/>
                </a:solidFill>
                <a:latin typeface="Arial" pitchFamily="34" charset="0"/>
                <a:ea typeface="Arial" pitchFamily="34" charset="-122"/>
                <a:cs typeface="Arial" pitchFamily="34" charset="-120"/>
              </a:rPr>
              <a:t>Every training event, checkride, and recurrent is logged chronologically — the record travels with the pilot.</a:t>
            </a:r>
            <a:endParaRPr lang="en-US" sz="1150" dirty="0"/>
          </a:p>
        </p:txBody>
      </p:sp>
      <p:sp>
        <p:nvSpPr>
          <p:cNvPr id="15" name="Shape 13"/>
          <p:cNvSpPr/>
          <p:nvPr/>
        </p:nvSpPr>
        <p:spPr>
          <a:xfrm>
            <a:off x="548640" y="3913632"/>
            <a:ext cx="5349240" cy="1965960"/>
          </a:xfrm>
          <a:prstGeom prst="rect">
            <a:avLst/>
          </a:prstGeom>
          <a:solidFill>
            <a:srgbClr val="F8FAFC"/>
          </a:solidFill>
          <a:ln w="9525">
            <a:solidFill>
              <a:srgbClr val="E2E8F0"/>
            </a:solidFill>
            <a:prstDash val="solid"/>
          </a:ln>
        </p:spPr>
      </p:sp>
      <p:sp>
        <p:nvSpPr>
          <p:cNvPr id="16" name="Shape 14"/>
          <p:cNvSpPr/>
          <p:nvPr/>
        </p:nvSpPr>
        <p:spPr>
          <a:xfrm>
            <a:off x="804672" y="4169664"/>
            <a:ext cx="457200" cy="457200"/>
          </a:xfrm>
          <a:prstGeom prst="ellipse">
            <a:avLst/>
          </a:prstGeom>
          <a:solidFill>
            <a:srgbClr val="7C3AED"/>
          </a:solidFill>
          <a:ln/>
        </p:spPr>
      </p:sp>
      <p:sp>
        <p:nvSpPr>
          <p:cNvPr id="17" name="Text 15"/>
          <p:cNvSpPr/>
          <p:nvPr/>
        </p:nvSpPr>
        <p:spPr>
          <a:xfrm>
            <a:off x="804672" y="4169664"/>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Text 16"/>
          <p:cNvSpPr/>
          <p:nvPr/>
        </p:nvSpPr>
        <p:spPr>
          <a:xfrm>
            <a:off x="1417320" y="4151376"/>
            <a:ext cx="4251960" cy="50292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Runs maintenance discrepancy tracking</a:t>
            </a:r>
            <a:endParaRPr lang="en-US" sz="1450" dirty="0"/>
          </a:p>
        </p:txBody>
      </p:sp>
      <p:sp>
        <p:nvSpPr>
          <p:cNvPr id="19" name="Text 17"/>
          <p:cNvSpPr/>
          <p:nvPr/>
        </p:nvSpPr>
        <p:spPr>
          <a:xfrm>
            <a:off x="804672" y="4782312"/>
            <a:ext cx="4837176" cy="960120"/>
          </a:xfrm>
          <a:prstGeom prst="rect">
            <a:avLst/>
          </a:prstGeom>
          <a:noFill/>
          <a:ln/>
        </p:spPr>
        <p:txBody>
          <a:bodyPr wrap="square" rtlCol="0" anchor="ctr"/>
          <a:lstStyle/>
          <a:p>
            <a:pPr indent="0" marL="0">
              <a:lnSpc>
                <a:spcPct val="125000"/>
              </a:lnSpc>
              <a:buNone/>
            </a:pPr>
            <a:r>
              <a:rPr lang="en-US" sz="1150" dirty="0">
                <a:solidFill>
                  <a:srgbClr val="475569"/>
                </a:solidFill>
                <a:latin typeface="Arial" pitchFamily="34" charset="0"/>
                <a:ea typeface="Arial" pitchFamily="34" charset="-122"/>
                <a:cs typeface="Arial" pitchFamily="34" charset="-120"/>
              </a:rPr>
              <a:t>MEL items, deferred maintenance, and upcoming inspections surface automatically.</a:t>
            </a:r>
            <a:endParaRPr lang="en-US" sz="1150" dirty="0"/>
          </a:p>
        </p:txBody>
      </p:sp>
      <p:sp>
        <p:nvSpPr>
          <p:cNvPr id="20" name="Shape 18"/>
          <p:cNvSpPr/>
          <p:nvPr/>
        </p:nvSpPr>
        <p:spPr>
          <a:xfrm>
            <a:off x="6153912" y="3913632"/>
            <a:ext cx="5349240" cy="1965960"/>
          </a:xfrm>
          <a:prstGeom prst="rect">
            <a:avLst/>
          </a:prstGeom>
          <a:solidFill>
            <a:srgbClr val="F8FAFC"/>
          </a:solidFill>
          <a:ln w="9525">
            <a:solidFill>
              <a:srgbClr val="E2E8F0"/>
            </a:solidFill>
            <a:prstDash val="solid"/>
          </a:ln>
        </p:spPr>
      </p:sp>
      <p:sp>
        <p:nvSpPr>
          <p:cNvPr id="21" name="Shape 19"/>
          <p:cNvSpPr/>
          <p:nvPr/>
        </p:nvSpPr>
        <p:spPr>
          <a:xfrm>
            <a:off x="6409944" y="4169664"/>
            <a:ext cx="457200" cy="457200"/>
          </a:xfrm>
          <a:prstGeom prst="ellipse">
            <a:avLst/>
          </a:prstGeom>
          <a:solidFill>
            <a:srgbClr val="7C3AED"/>
          </a:solidFill>
          <a:ln/>
        </p:spPr>
      </p:sp>
      <p:sp>
        <p:nvSpPr>
          <p:cNvPr id="22" name="Text 20"/>
          <p:cNvSpPr/>
          <p:nvPr/>
        </p:nvSpPr>
        <p:spPr>
          <a:xfrm>
            <a:off x="6409944" y="4169664"/>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3" name="Text 21"/>
          <p:cNvSpPr/>
          <p:nvPr/>
        </p:nvSpPr>
        <p:spPr>
          <a:xfrm>
            <a:off x="7022592" y="4151376"/>
            <a:ext cx="4251960" cy="50292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Manages dispatch release coordination</a:t>
            </a:r>
            <a:endParaRPr lang="en-US" sz="1450" dirty="0"/>
          </a:p>
        </p:txBody>
      </p:sp>
      <p:sp>
        <p:nvSpPr>
          <p:cNvPr id="24" name="Text 22"/>
          <p:cNvSpPr/>
          <p:nvPr/>
        </p:nvSpPr>
        <p:spPr>
          <a:xfrm>
            <a:off x="6409944" y="4782312"/>
            <a:ext cx="4837176" cy="960120"/>
          </a:xfrm>
          <a:prstGeom prst="rect">
            <a:avLst/>
          </a:prstGeom>
          <a:noFill/>
          <a:ln/>
        </p:spPr>
        <p:txBody>
          <a:bodyPr wrap="square" rtlCol="0" anchor="ctr"/>
          <a:lstStyle/>
          <a:p>
            <a:pPr indent="0" marL="0">
              <a:lnSpc>
                <a:spcPct val="125000"/>
              </a:lnSpc>
              <a:buNone/>
            </a:pPr>
            <a:r>
              <a:rPr lang="en-US" sz="1150" dirty="0">
                <a:solidFill>
                  <a:srgbClr val="475569"/>
                </a:solidFill>
                <a:latin typeface="Arial" pitchFamily="34" charset="0"/>
                <a:ea typeface="Arial" pitchFamily="34" charset="-122"/>
                <a:cs typeface="Arial" pitchFamily="34" charset="-120"/>
              </a:rPr>
              <a:t>Flight brief, weather, NOTAMs, and go/no-go documentation in one place.</a:t>
            </a:r>
            <a:endParaRPr lang="en-US" sz="1150" dirty="0"/>
          </a:p>
        </p:txBody>
      </p:sp>
      <p:sp>
        <p:nvSpPr>
          <p:cNvPr id="25" name="Text 23"/>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Aviation vertical — in evaluation with two operators: a Western US charter operator and a medevac operator network</a:t>
            </a:r>
            <a:endParaRPr lang="en-US" sz="750" dirty="0"/>
          </a:p>
        </p:txBody>
      </p:sp>
      <p:sp>
        <p:nvSpPr>
          <p:cNvPr id="26" name="Text 24"/>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THE FINANCIAL CASE</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For a 10-Aircraft Operator</a:t>
            </a:r>
            <a:endParaRPr lang="en-US" sz="2600" dirty="0"/>
          </a:p>
        </p:txBody>
      </p:sp>
      <p:sp>
        <p:nvSpPr>
          <p:cNvPr id="4" name="Shape 2"/>
          <p:cNvSpPr/>
          <p:nvPr/>
        </p:nvSpPr>
        <p:spPr>
          <a:xfrm>
            <a:off x="548640" y="1335024"/>
            <a:ext cx="11091672" cy="27432"/>
          </a:xfrm>
          <a:prstGeom prst="rect">
            <a:avLst/>
          </a:prstGeom>
          <a:solidFill>
            <a:srgbClr val="7C3AED"/>
          </a:solidFill>
          <a:ln/>
        </p:spPr>
      </p:sp>
      <p:sp>
        <p:nvSpPr>
          <p:cNvPr id="5" name="Shape 3"/>
          <p:cNvSpPr/>
          <p:nvPr/>
        </p:nvSpPr>
        <p:spPr>
          <a:xfrm>
            <a:off x="548640" y="1691640"/>
            <a:ext cx="5349240" cy="4160520"/>
          </a:xfrm>
          <a:prstGeom prst="rect">
            <a:avLst/>
          </a:prstGeom>
          <a:solidFill>
            <a:srgbClr val="F8FAFC"/>
          </a:solidFill>
          <a:ln w="9525">
            <a:solidFill>
              <a:srgbClr val="E2E8F0"/>
            </a:solidFill>
            <a:prstDash val="solid"/>
          </a:ln>
        </p:spPr>
      </p:sp>
      <p:sp>
        <p:nvSpPr>
          <p:cNvPr id="6" name="Text 4"/>
          <p:cNvSpPr/>
          <p:nvPr/>
        </p:nvSpPr>
        <p:spPr>
          <a:xfrm>
            <a:off x="822960" y="1920240"/>
            <a:ext cx="4572000" cy="320040"/>
          </a:xfrm>
          <a:prstGeom prst="rect">
            <a:avLst/>
          </a:prstGeom>
          <a:noFill/>
          <a:ln/>
        </p:spPr>
        <p:txBody>
          <a:bodyPr wrap="square" rtlCol="0" anchor="ctr"/>
          <a:lstStyle/>
          <a:p>
            <a:pPr indent="0" marL="0">
              <a:buNone/>
            </a:pPr>
            <a:r>
              <a:rPr lang="en-US" sz="1100" b="1" spc="150" kern="0" dirty="0">
                <a:solidFill>
                  <a:srgbClr val="64748B"/>
                </a:solidFill>
                <a:latin typeface="Arial" pitchFamily="34" charset="0"/>
                <a:ea typeface="Arial" pitchFamily="34" charset="-122"/>
                <a:cs typeface="Arial" pitchFamily="34" charset="-120"/>
              </a:rPr>
              <a:t>BEFORE</a:t>
            </a:r>
            <a:endParaRPr lang="en-US" sz="1100" dirty="0"/>
          </a:p>
        </p:txBody>
      </p:sp>
      <p:sp>
        <p:nvSpPr>
          <p:cNvPr id="7" name="Text 5"/>
          <p:cNvSpPr/>
          <p:nvPr/>
        </p:nvSpPr>
        <p:spPr>
          <a:xfrm>
            <a:off x="822960" y="2240280"/>
            <a:ext cx="4572000" cy="685800"/>
          </a:xfrm>
          <a:prstGeom prst="rect">
            <a:avLst/>
          </a:prstGeom>
          <a:noFill/>
          <a:ln/>
        </p:spPr>
        <p:txBody>
          <a:bodyPr wrap="square" rtlCol="0" anchor="ctr"/>
          <a:lstStyle/>
          <a:p>
            <a:pPr indent="0" marL="0">
              <a:buNone/>
            </a:pPr>
            <a:r>
              <a:rPr lang="en-US" sz="3600" b="1" dirty="0">
                <a:solidFill>
                  <a:srgbClr val="0F172A"/>
                </a:solidFill>
                <a:latin typeface="Arial" pitchFamily="34" charset="0"/>
                <a:ea typeface="Arial" pitchFamily="34" charset="-122"/>
                <a:cs typeface="Arial" pitchFamily="34" charset="-120"/>
              </a:rPr>
              <a:t>$450,000/yr</a:t>
            </a:r>
            <a:endParaRPr lang="en-US" sz="3600" dirty="0"/>
          </a:p>
        </p:txBody>
      </p:sp>
      <p:sp>
        <p:nvSpPr>
          <p:cNvPr id="8" name="Text 6"/>
          <p:cNvSpPr/>
          <p:nvPr/>
        </p:nvSpPr>
        <p:spPr>
          <a:xfrm>
            <a:off x="822960" y="2971800"/>
            <a:ext cx="4754880" cy="914400"/>
          </a:xfrm>
          <a:prstGeom prst="rect">
            <a:avLst/>
          </a:prstGeom>
          <a:noFill/>
          <a:ln/>
        </p:spPr>
        <p:txBody>
          <a:bodyPr wrap="square" rtlCol="0" anchor="ctr"/>
          <a:lstStyle/>
          <a:p>
            <a:pPr indent="0" marL="0">
              <a:lnSpc>
                <a:spcPct val="130000"/>
              </a:lnSpc>
              <a:buNone/>
            </a:pPr>
            <a:r>
              <a:rPr lang="en-US" sz="1250" dirty="0">
                <a:solidFill>
                  <a:srgbClr val="475569"/>
                </a:solidFill>
                <a:latin typeface="Arial" pitchFamily="34" charset="0"/>
                <a:ea typeface="Arial" pitchFamily="34" charset="-122"/>
                <a:cs typeface="Arial" pitchFamily="34" charset="-120"/>
              </a:rPr>
              <a:t>Three managers doing information management — Chief Pilot, Director of Operations, and Director of Training — plus a maintenance-tracking subscription that doesn't talk to anything else.</a:t>
            </a:r>
            <a:endParaRPr lang="en-US" sz="1250" dirty="0"/>
          </a:p>
        </p:txBody>
      </p:sp>
      <p:sp>
        <p:nvSpPr>
          <p:cNvPr id="9" name="Shape 7"/>
          <p:cNvSpPr/>
          <p:nvPr/>
        </p:nvSpPr>
        <p:spPr>
          <a:xfrm>
            <a:off x="822960" y="4023360"/>
            <a:ext cx="4754880" cy="10973"/>
          </a:xfrm>
          <a:prstGeom prst="rect">
            <a:avLst/>
          </a:prstGeom>
          <a:solidFill>
            <a:srgbClr val="CBD5E1"/>
          </a:solidFill>
          <a:ln/>
        </p:spPr>
      </p:sp>
      <p:sp>
        <p:nvSpPr>
          <p:cNvPr id="10" name="Text 8"/>
          <p:cNvSpPr/>
          <p:nvPr/>
        </p:nvSpPr>
        <p:spPr>
          <a:xfrm>
            <a:off x="822960" y="4206240"/>
            <a:ext cx="4754880" cy="1371600"/>
          </a:xfrm>
          <a:prstGeom prst="rect">
            <a:avLst/>
          </a:prstGeom>
          <a:noFill/>
          <a:ln/>
        </p:spPr>
        <p:txBody>
          <a:bodyPr wrap="square" rtlCol="0" anchor="ctr"/>
          <a:lstStyle/>
          <a:p>
            <a:pPr indent="0" marL="0">
              <a:lnSpc>
                <a:spcPct val="130000"/>
              </a:lnSpc>
              <a:buNone/>
            </a:pPr>
            <a:r>
              <a:rPr lang="en-US" sz="1250" dirty="0">
                <a:solidFill>
                  <a:srgbClr val="475569"/>
                </a:solidFill>
                <a:latin typeface="Arial" pitchFamily="34" charset="0"/>
                <a:ea typeface="Arial" pitchFamily="34" charset="-122"/>
                <a:cs typeface="Arial" pitchFamily="34" charset="-120"/>
              </a:rPr>
              <a:t>CAMP Systems, dispatch software, crew scheduling — 5–10 disconnected tools, none of them talking to each other.</a:t>
            </a:r>
            <a:endParaRPr lang="en-US" sz="1250" dirty="0"/>
          </a:p>
        </p:txBody>
      </p:sp>
      <p:sp>
        <p:nvSpPr>
          <p:cNvPr id="11" name="Shape 9"/>
          <p:cNvSpPr/>
          <p:nvPr/>
        </p:nvSpPr>
        <p:spPr>
          <a:xfrm>
            <a:off x="6172200" y="1691640"/>
            <a:ext cx="5349240" cy="4160520"/>
          </a:xfrm>
          <a:prstGeom prst="rect">
            <a:avLst/>
          </a:prstGeom>
          <a:solidFill>
            <a:srgbClr val="F5F3FF"/>
          </a:solidFill>
          <a:ln w="12700">
            <a:solidFill>
              <a:srgbClr val="7C3AED"/>
            </a:solidFill>
            <a:prstDash val="solid"/>
          </a:ln>
        </p:spPr>
      </p:sp>
      <p:sp>
        <p:nvSpPr>
          <p:cNvPr id="12" name="Text 10"/>
          <p:cNvSpPr/>
          <p:nvPr/>
        </p:nvSpPr>
        <p:spPr>
          <a:xfrm>
            <a:off x="6446520" y="1920240"/>
            <a:ext cx="4572000" cy="320040"/>
          </a:xfrm>
          <a:prstGeom prst="rect">
            <a:avLst/>
          </a:prstGeom>
          <a:noFill/>
          <a:ln/>
        </p:spPr>
        <p:txBody>
          <a:bodyPr wrap="square" rtlCol="0" anchor="ctr"/>
          <a:lstStyle/>
          <a:p>
            <a:pPr indent="0" marL="0">
              <a:buNone/>
            </a:pPr>
            <a:r>
              <a:rPr lang="en-US" sz="1100" b="1" spc="150" kern="0" dirty="0">
                <a:solidFill>
                  <a:srgbClr val="7C3AED"/>
                </a:solidFill>
                <a:latin typeface="Arial" pitchFamily="34" charset="0"/>
                <a:ea typeface="Arial" pitchFamily="34" charset="-122"/>
                <a:cs typeface="Arial" pitchFamily="34" charset="-120"/>
              </a:rPr>
              <a:t>AFTER — SOCIII</a:t>
            </a:r>
            <a:endParaRPr lang="en-US" sz="1100" dirty="0"/>
          </a:p>
        </p:txBody>
      </p:sp>
      <p:sp>
        <p:nvSpPr>
          <p:cNvPr id="13" name="Text 11"/>
          <p:cNvSpPr/>
          <p:nvPr/>
        </p:nvSpPr>
        <p:spPr>
          <a:xfrm>
            <a:off x="6446520" y="2240280"/>
            <a:ext cx="4846320" cy="685800"/>
          </a:xfrm>
          <a:prstGeom prst="rect">
            <a:avLst/>
          </a:prstGeom>
          <a:noFill/>
          <a:ln/>
        </p:spPr>
        <p:txBody>
          <a:bodyPr wrap="square" rtlCol="0" anchor="ctr"/>
          <a:lstStyle/>
          <a:p>
            <a:pPr indent="0" marL="0">
              <a:buNone/>
            </a:pPr>
            <a:r>
              <a:rPr lang="en-US" sz="3300" b="1" dirty="0">
                <a:solidFill>
                  <a:srgbClr val="3E9B5F"/>
                </a:solidFill>
                <a:latin typeface="Arial" pitchFamily="34" charset="0"/>
                <a:ea typeface="Arial" pitchFamily="34" charset="-122"/>
                <a:cs typeface="Arial" pitchFamily="34" charset="-120"/>
              </a:rPr>
              <a:t>$99/mo + $5/seat</a:t>
            </a:r>
            <a:endParaRPr lang="en-US" sz="3300" dirty="0"/>
          </a:p>
        </p:txBody>
      </p:sp>
      <p:sp>
        <p:nvSpPr>
          <p:cNvPr id="14" name="Text 12"/>
          <p:cNvSpPr/>
          <p:nvPr/>
        </p:nvSpPr>
        <p:spPr>
          <a:xfrm>
            <a:off x="6446520" y="2971800"/>
            <a:ext cx="4754880" cy="914400"/>
          </a:xfrm>
          <a:prstGeom prst="rect">
            <a:avLst/>
          </a:prstGeom>
          <a:noFill/>
          <a:ln/>
        </p:spPr>
        <p:txBody>
          <a:bodyPr wrap="square" rtlCol="0" anchor="ctr"/>
          <a:lstStyle/>
          <a:p>
            <a:pPr indent="0" marL="0">
              <a:lnSpc>
                <a:spcPct val="130000"/>
              </a:lnSpc>
              <a:buNone/>
            </a:pPr>
            <a:r>
              <a:rPr lang="en-US" sz="1250" dirty="0">
                <a:solidFill>
                  <a:srgbClr val="1A202C"/>
                </a:solidFill>
                <a:latin typeface="Arial" pitchFamily="34" charset="0"/>
                <a:ea typeface="Arial" pitchFamily="34" charset="-122"/>
                <a:cs typeface="Arial" pitchFamily="34" charset="-120"/>
              </a:rPr>
              <a:t>One Chief Pilot — irreplaceable, still holds the certificate — plus SOCIII running currency tracking, maintenance, dispatch, and training continuously.</a:t>
            </a:r>
            <a:endParaRPr lang="en-US" sz="1250" dirty="0"/>
          </a:p>
        </p:txBody>
      </p:sp>
      <p:sp>
        <p:nvSpPr>
          <p:cNvPr id="15" name="Shape 13"/>
          <p:cNvSpPr/>
          <p:nvPr/>
        </p:nvSpPr>
        <p:spPr>
          <a:xfrm>
            <a:off x="6446520" y="4023360"/>
            <a:ext cx="4754880" cy="10973"/>
          </a:xfrm>
          <a:prstGeom prst="rect">
            <a:avLst/>
          </a:prstGeom>
          <a:solidFill>
            <a:srgbClr val="A78BFA"/>
          </a:solidFill>
          <a:ln/>
        </p:spPr>
      </p:sp>
      <p:sp>
        <p:nvSpPr>
          <p:cNvPr id="16" name="Text 14"/>
          <p:cNvSpPr/>
          <p:nvPr/>
        </p:nvSpPr>
        <p:spPr>
          <a:xfrm>
            <a:off x="6446520" y="4206240"/>
            <a:ext cx="4754880" cy="1371600"/>
          </a:xfrm>
          <a:prstGeom prst="rect">
            <a:avLst/>
          </a:prstGeom>
          <a:noFill/>
          <a:ln/>
        </p:spPr>
        <p:txBody>
          <a:bodyPr wrap="square" rtlCol="0" anchor="ctr"/>
          <a:lstStyle/>
          <a:p>
            <a:pPr indent="0" marL="0">
              <a:lnSpc>
                <a:spcPct val="130000"/>
              </a:lnSpc>
              <a:buNone/>
            </a:pPr>
            <a:r>
              <a:rPr lang="en-US" sz="1250" dirty="0">
                <a:solidFill>
                  <a:srgbClr val="1A202C"/>
                </a:solidFill>
                <a:latin typeface="Arial" pitchFamily="34" charset="0"/>
                <a:ea typeface="Arial" pitchFamily="34" charset="-122"/>
                <a:cs typeface="Arial" pitchFamily="34" charset="-120"/>
              </a:rPr>
              <a:t>Every worker, every record type, one Chief of Staff — included, not billed as separate line items.</a:t>
            </a:r>
            <a:endParaRPr lang="en-US" sz="1250" dirty="0"/>
          </a:p>
        </p:txBody>
      </p:sp>
      <p:sp>
        <p:nvSpPr>
          <p:cNvPr id="17" name="Text 15"/>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Aviation vertical — in evaluation with two operators: a Western US charter operator and a medevac operator network</a:t>
            </a:r>
            <a:endParaRPr lang="en-US" sz="750" dirty="0"/>
          </a:p>
        </p:txBody>
      </p:sp>
      <p:sp>
        <p:nvSpPr>
          <p:cNvPr id="18" name="Text 16"/>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THE FORCE MULTIPLIER</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Why You Don't Need Three Managers</a:t>
            </a:r>
            <a:endParaRPr lang="en-US" sz="2600" dirty="0"/>
          </a:p>
        </p:txBody>
      </p:sp>
      <p:sp>
        <p:nvSpPr>
          <p:cNvPr id="4" name="Shape 2"/>
          <p:cNvSpPr/>
          <p:nvPr/>
        </p:nvSpPr>
        <p:spPr>
          <a:xfrm>
            <a:off x="548640" y="1335024"/>
            <a:ext cx="11091672" cy="27432"/>
          </a:xfrm>
          <a:prstGeom prst="rect">
            <a:avLst/>
          </a:prstGeom>
          <a:solidFill>
            <a:srgbClr val="7C3AED"/>
          </a:solidFill>
          <a:ln/>
        </p:spPr>
      </p:sp>
      <p:sp>
        <p:nvSpPr>
          <p:cNvPr id="5" name="Shape 3"/>
          <p:cNvSpPr/>
          <p:nvPr/>
        </p:nvSpPr>
        <p:spPr>
          <a:xfrm>
            <a:off x="548640" y="1783080"/>
            <a:ext cx="11091672" cy="1417320"/>
          </a:xfrm>
          <a:prstGeom prst="rect">
            <a:avLst/>
          </a:prstGeom>
          <a:solidFill>
            <a:srgbClr val="F8FAFC"/>
          </a:solidFill>
          <a:ln/>
        </p:spPr>
      </p:sp>
      <p:sp>
        <p:nvSpPr>
          <p:cNvPr id="6" name="Text 4"/>
          <p:cNvSpPr/>
          <p:nvPr/>
        </p:nvSpPr>
        <p:spPr>
          <a:xfrm>
            <a:off x="868680" y="1965960"/>
            <a:ext cx="2743200" cy="292608"/>
          </a:xfrm>
          <a:prstGeom prst="rect">
            <a:avLst/>
          </a:prstGeom>
          <a:noFill/>
          <a:ln/>
        </p:spPr>
        <p:txBody>
          <a:bodyPr wrap="square" rtlCol="0" anchor="ctr"/>
          <a:lstStyle/>
          <a:p>
            <a:pPr indent="0" marL="0">
              <a:buNone/>
            </a:pPr>
            <a:r>
              <a:rPr lang="en-US" sz="1000" b="1" spc="150" kern="0" dirty="0">
                <a:solidFill>
                  <a:srgbClr val="64748B"/>
                </a:solidFill>
                <a:latin typeface="Arial" pitchFamily="34" charset="0"/>
                <a:ea typeface="Arial" pitchFamily="34" charset="-122"/>
                <a:cs typeface="Arial" pitchFamily="34" charset="-120"/>
              </a:rPr>
              <a:t>BEFORE</a:t>
            </a:r>
            <a:endParaRPr lang="en-US" sz="1000" dirty="0"/>
          </a:p>
        </p:txBody>
      </p:sp>
      <p:sp>
        <p:nvSpPr>
          <p:cNvPr id="7" name="Text 5"/>
          <p:cNvSpPr/>
          <p:nvPr/>
        </p:nvSpPr>
        <p:spPr>
          <a:xfrm>
            <a:off x="868680" y="2267712"/>
            <a:ext cx="10424160" cy="822960"/>
          </a:xfrm>
          <a:prstGeom prst="rect">
            <a:avLst/>
          </a:prstGeom>
          <a:noFill/>
          <a:ln/>
        </p:spPr>
        <p:txBody>
          <a:bodyPr wrap="square" rtlCol="0" anchor="ctr"/>
          <a:lstStyle/>
          <a:p>
            <a:pPr indent="0" marL="0">
              <a:lnSpc>
                <a:spcPct val="125000"/>
              </a:lnSpc>
              <a:buNone/>
            </a:pPr>
            <a:r>
              <a:rPr lang="en-US" sz="1400" dirty="0">
                <a:solidFill>
                  <a:srgbClr val="1A202C"/>
                </a:solidFill>
                <a:latin typeface="Arial" pitchFamily="34" charset="0"/>
                <a:ea typeface="Arial" pitchFamily="34" charset="-122"/>
                <a:cs typeface="Arial" pitchFamily="34" charset="-120"/>
              </a:rPr>
              <a:t>Chief Pilot + Director of Operations + Director of Training — three senior hires to run a 10-aircraft operation without a documentation gap.</a:t>
            </a:r>
            <a:endParaRPr lang="en-US" sz="1400" dirty="0"/>
          </a:p>
        </p:txBody>
      </p:sp>
      <p:sp>
        <p:nvSpPr>
          <p:cNvPr id="8" name="Shape 6"/>
          <p:cNvSpPr/>
          <p:nvPr/>
        </p:nvSpPr>
        <p:spPr>
          <a:xfrm>
            <a:off x="548640" y="3337560"/>
            <a:ext cx="11091672" cy="1417320"/>
          </a:xfrm>
          <a:prstGeom prst="rect">
            <a:avLst/>
          </a:prstGeom>
          <a:solidFill>
            <a:srgbClr val="F5F3FF"/>
          </a:solidFill>
          <a:ln/>
        </p:spPr>
      </p:sp>
      <p:sp>
        <p:nvSpPr>
          <p:cNvPr id="9" name="Text 7"/>
          <p:cNvSpPr/>
          <p:nvPr/>
        </p:nvSpPr>
        <p:spPr>
          <a:xfrm>
            <a:off x="868680" y="3520440"/>
            <a:ext cx="2743200" cy="292608"/>
          </a:xfrm>
          <a:prstGeom prst="rect">
            <a:avLst/>
          </a:prstGeom>
          <a:noFill/>
          <a:ln/>
        </p:spPr>
        <p:txBody>
          <a:bodyPr wrap="square" rtlCol="0" anchor="ctr"/>
          <a:lstStyle/>
          <a:p>
            <a:pPr indent="0" marL="0">
              <a:buNone/>
            </a:pPr>
            <a:r>
              <a:rPr lang="en-US" sz="1000" b="1" spc="150" kern="0" dirty="0">
                <a:solidFill>
                  <a:srgbClr val="7C3AED"/>
                </a:solidFill>
                <a:latin typeface="Arial" pitchFamily="34" charset="0"/>
                <a:ea typeface="Arial" pitchFamily="34" charset="-122"/>
                <a:cs typeface="Arial" pitchFamily="34" charset="-120"/>
              </a:rPr>
              <a:t>AFTER</a:t>
            </a:r>
            <a:endParaRPr lang="en-US" sz="1000" dirty="0"/>
          </a:p>
        </p:txBody>
      </p:sp>
      <p:sp>
        <p:nvSpPr>
          <p:cNvPr id="10" name="Text 8"/>
          <p:cNvSpPr/>
          <p:nvPr/>
        </p:nvSpPr>
        <p:spPr>
          <a:xfrm>
            <a:off x="868680" y="3822192"/>
            <a:ext cx="10424160" cy="822960"/>
          </a:xfrm>
          <a:prstGeom prst="rect">
            <a:avLst/>
          </a:prstGeom>
          <a:noFill/>
          <a:ln/>
        </p:spPr>
        <p:txBody>
          <a:bodyPr wrap="square" rtlCol="0" anchor="ctr"/>
          <a:lstStyle/>
          <a:p>
            <a:pPr indent="0" marL="0">
              <a:lnSpc>
                <a:spcPct val="125000"/>
              </a:lnSpc>
              <a:buNone/>
            </a:pPr>
            <a:r>
              <a:rPr lang="en-US" sz="1400" dirty="0">
                <a:solidFill>
                  <a:srgbClr val="0F172A"/>
                </a:solidFill>
                <a:latin typeface="Arial" pitchFamily="34" charset="0"/>
                <a:ea typeface="Arial" pitchFamily="34" charset="-122"/>
                <a:cs typeface="Arial" pitchFamily="34" charset="-120"/>
              </a:rPr>
              <a:t>Chief Pilot + SOCIII. One qualified Chief Pilot still holds the certificate, makes judgment calls, and is accountable to the FAA — irreplaceable. Everything else runs continuously in the background.</a:t>
            </a:r>
            <a:endParaRPr lang="en-US" sz="1400" dirty="0"/>
          </a:p>
        </p:txBody>
      </p:sp>
      <p:sp>
        <p:nvSpPr>
          <p:cNvPr id="11" name="Text 9"/>
          <p:cNvSpPr/>
          <p:nvPr/>
        </p:nvSpPr>
        <p:spPr>
          <a:xfrm>
            <a:off x="548640" y="5074920"/>
            <a:ext cx="11064240" cy="777240"/>
          </a:xfrm>
          <a:prstGeom prst="rect">
            <a:avLst/>
          </a:prstGeom>
          <a:noFill/>
          <a:ln/>
        </p:spPr>
        <p:txBody>
          <a:bodyPr wrap="square" rtlCol="0" anchor="ctr"/>
          <a:lstStyle/>
          <a:p>
            <a:pPr indent="0" marL="0">
              <a:lnSpc>
                <a:spcPct val="130000"/>
              </a:lnSpc>
              <a:buNone/>
            </a:pPr>
            <a:r>
              <a:rPr lang="en-US" sz="1350" i="1" dirty="0">
                <a:solidFill>
                  <a:srgbClr val="475569"/>
                </a:solidFill>
                <a:latin typeface="Arial" pitchFamily="34" charset="0"/>
                <a:ea typeface="Arial" pitchFamily="34" charset="-122"/>
                <a:cs typeface="Arial" pitchFamily="34" charset="-120"/>
              </a:rPr>
              <a:t>The savings are not incremental. They are structural — the business model of a small Part 135 operator changes when the management overhead that used to require three people requires one.</a:t>
            </a:r>
            <a:endParaRPr lang="en-US" sz="1350" dirty="0"/>
          </a:p>
        </p:txBody>
      </p:sp>
      <p:sp>
        <p:nvSpPr>
          <p:cNvPr id="12" name="Text 10"/>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Aviation vertical — in evaluation with two operators: a Western US charter operator and a medevac operator network</a:t>
            </a:r>
            <a:endParaRPr lang="en-US" sz="750" dirty="0"/>
          </a:p>
        </p:txBody>
      </p:sp>
      <p:sp>
        <p:nvSpPr>
          <p:cNvPr id="13" name="Text 11"/>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THE ARCHITECTURE</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Append-Only Records, Anchored for Tamper-Evidence</a:t>
            </a:r>
            <a:endParaRPr lang="en-US" sz="2600" dirty="0"/>
          </a:p>
        </p:txBody>
      </p:sp>
      <p:sp>
        <p:nvSpPr>
          <p:cNvPr id="4" name="Shape 2"/>
          <p:cNvSpPr/>
          <p:nvPr/>
        </p:nvSpPr>
        <p:spPr>
          <a:xfrm>
            <a:off x="548640" y="1335024"/>
            <a:ext cx="11091672" cy="27432"/>
          </a:xfrm>
          <a:prstGeom prst="rect">
            <a:avLst/>
          </a:prstGeom>
          <a:solidFill>
            <a:srgbClr val="7C3AED"/>
          </a:solidFill>
          <a:ln/>
        </p:spPr>
      </p:sp>
      <p:sp>
        <p:nvSpPr>
          <p:cNvPr id="5" name="Text 3"/>
          <p:cNvSpPr/>
          <p:nvPr/>
        </p:nvSpPr>
        <p:spPr>
          <a:xfrm>
            <a:off x="548640" y="1645920"/>
            <a:ext cx="5120640" cy="2194560"/>
          </a:xfrm>
          <a:prstGeom prst="rect">
            <a:avLst/>
          </a:prstGeom>
          <a:noFill/>
          <a:ln/>
        </p:spPr>
        <p:txBody>
          <a:bodyPr wrap="square" rtlCol="0" anchor="ctr"/>
          <a:lstStyle/>
          <a:p>
            <a:pPr indent="0" marL="0">
              <a:lnSpc>
                <a:spcPct val="135000"/>
              </a:lnSpc>
              <a:buNone/>
            </a:pPr>
            <a:r>
              <a:rPr lang="en-US" sz="1400" dirty="0">
                <a:solidFill>
                  <a:srgbClr val="1A202C"/>
                </a:solidFill>
                <a:latin typeface="Arial" pitchFamily="34" charset="0"/>
                <a:ea typeface="Arial" pitchFamily="34" charset="-122"/>
                <a:cs typeface="Arial" pitchFamily="34" charset="-120"/>
              </a:rPr>
              <a:t>Every event — a currency check, a squawk, a dispatch release — is written once and never overwritten. Each entry references the one before it, forming a chain. A cryptographic hash of each record is anchored to the Base blockchain by default — publicly verifiable tamper-evidence, not a consumer crypto product.</a:t>
            </a:r>
            <a:endParaRPr lang="en-US" sz="1400" dirty="0"/>
          </a:p>
        </p:txBody>
      </p:sp>
      <p:sp>
        <p:nvSpPr>
          <p:cNvPr id="6" name="Text 4"/>
          <p:cNvSpPr/>
          <p:nvPr/>
        </p:nvSpPr>
        <p:spPr>
          <a:xfrm>
            <a:off x="548640" y="3931920"/>
            <a:ext cx="5120640" cy="1737360"/>
          </a:xfrm>
          <a:prstGeom prst="rect">
            <a:avLst/>
          </a:prstGeom>
          <a:noFill/>
          <a:ln/>
        </p:spPr>
        <p:txBody>
          <a:bodyPr wrap="square" rtlCol="0" anchor="ctr"/>
          <a:lstStyle/>
          <a:p>
            <a:pPr indent="0" marL="0">
              <a:lnSpc>
                <a:spcPct val="135000"/>
              </a:lnSpc>
              <a:buNone/>
            </a:pPr>
            <a:r>
              <a:rPr lang="en-US" sz="1400" dirty="0">
                <a:solidFill>
                  <a:srgbClr val="1A202C"/>
                </a:solidFill>
                <a:latin typeface="Arial" pitchFamily="34" charset="0"/>
                <a:ea typeface="Arial" pitchFamily="34" charset="-122"/>
                <a:cs typeface="Arial" pitchFamily="34" charset="-120"/>
              </a:rPr>
              <a:t>The AI validates every output against a rule before it becomes a record. The decision logic is transparent, auditable, and portable across AI model providers — switch from Claude to GPT-4 to Gemini with no change to business logic.</a:t>
            </a:r>
            <a:endParaRPr lang="en-US" sz="1400" dirty="0"/>
          </a:p>
        </p:txBody>
      </p:sp>
      <p:sp>
        <p:nvSpPr>
          <p:cNvPr id="7" name="Shape 5"/>
          <p:cNvSpPr/>
          <p:nvPr/>
        </p:nvSpPr>
        <p:spPr>
          <a:xfrm>
            <a:off x="6446520" y="2377440"/>
            <a:ext cx="1554480" cy="777240"/>
          </a:xfrm>
          <a:prstGeom prst="rect">
            <a:avLst/>
          </a:prstGeom>
          <a:solidFill>
            <a:srgbClr val="F5F3FF"/>
          </a:solidFill>
          <a:ln w="12700">
            <a:solidFill>
              <a:srgbClr val="7C3AED"/>
            </a:solidFill>
            <a:prstDash val="solid"/>
          </a:ln>
        </p:spPr>
      </p:sp>
      <p:sp>
        <p:nvSpPr>
          <p:cNvPr id="8" name="Text 6"/>
          <p:cNvSpPr/>
          <p:nvPr/>
        </p:nvSpPr>
        <p:spPr>
          <a:xfrm>
            <a:off x="6446520" y="2377440"/>
            <a:ext cx="1554480" cy="777240"/>
          </a:xfrm>
          <a:prstGeom prst="rect">
            <a:avLst/>
          </a:prstGeom>
          <a:noFill/>
          <a:ln/>
        </p:spPr>
        <p:txBody>
          <a:bodyPr wrap="square" rtlCol="0" anchor="ctr"/>
          <a:lstStyle/>
          <a:p>
            <a:pPr algn="ctr" indent="0" marL="0">
              <a:buNone/>
            </a:pPr>
            <a:r>
              <a:rPr lang="en-US" sz="1050" b="1" dirty="0">
                <a:solidFill>
                  <a:srgbClr val="0F172A"/>
                </a:solidFill>
                <a:latin typeface="Arial" pitchFamily="34" charset="0"/>
                <a:ea typeface="Arial" pitchFamily="34" charset="-122"/>
                <a:cs typeface="Arial" pitchFamily="34" charset="-120"/>
              </a:rPr>
              <a:t>Currency</a:t>
            </a:r>
            <a:endParaRPr lang="en-US" sz="1050" dirty="0"/>
          </a:p>
          <a:p>
            <a:pPr algn="ctr" indent="0" marL="0">
              <a:buNone/>
            </a:pPr>
            <a:r>
              <a:rPr lang="en-US" sz="1050" b="1" dirty="0">
                <a:solidFill>
                  <a:srgbClr val="0F172A"/>
                </a:solidFill>
                <a:latin typeface="Arial" pitchFamily="34" charset="0"/>
                <a:ea typeface="Arial" pitchFamily="34" charset="-122"/>
                <a:cs typeface="Arial" pitchFamily="34" charset="-120"/>
              </a:rPr>
              <a:t>check</a:t>
            </a:r>
            <a:endParaRPr lang="en-US" sz="1050" dirty="0"/>
          </a:p>
        </p:txBody>
      </p:sp>
      <p:sp>
        <p:nvSpPr>
          <p:cNvPr id="9" name="Text 7"/>
          <p:cNvSpPr/>
          <p:nvPr/>
        </p:nvSpPr>
        <p:spPr>
          <a:xfrm>
            <a:off x="8001000" y="2377440"/>
            <a:ext cx="502920" cy="777240"/>
          </a:xfrm>
          <a:prstGeom prst="rect">
            <a:avLst/>
          </a:prstGeom>
          <a:noFill/>
          <a:ln/>
        </p:spPr>
        <p:txBody>
          <a:bodyPr wrap="square" rtlCol="0" anchor="ctr"/>
          <a:lstStyle/>
          <a:p>
            <a:pPr algn="ctr" indent="0" marL="0">
              <a:buNone/>
            </a:pPr>
            <a:r>
              <a:rPr lang="en-US" sz="1600" dirty="0">
                <a:solidFill>
                  <a:srgbClr val="64748B"/>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8503920" y="2377440"/>
            <a:ext cx="1554480" cy="777240"/>
          </a:xfrm>
          <a:prstGeom prst="rect">
            <a:avLst/>
          </a:prstGeom>
          <a:solidFill>
            <a:srgbClr val="EFFAF3"/>
          </a:solidFill>
          <a:ln w="12700">
            <a:solidFill>
              <a:srgbClr val="3E9B5F"/>
            </a:solidFill>
            <a:prstDash val="solid"/>
          </a:ln>
        </p:spPr>
      </p:sp>
      <p:sp>
        <p:nvSpPr>
          <p:cNvPr id="11" name="Text 9"/>
          <p:cNvSpPr/>
          <p:nvPr/>
        </p:nvSpPr>
        <p:spPr>
          <a:xfrm>
            <a:off x="8503920" y="2377440"/>
            <a:ext cx="1554480" cy="777240"/>
          </a:xfrm>
          <a:prstGeom prst="rect">
            <a:avLst/>
          </a:prstGeom>
          <a:noFill/>
          <a:ln/>
        </p:spPr>
        <p:txBody>
          <a:bodyPr wrap="square" rtlCol="0" anchor="ctr"/>
          <a:lstStyle/>
          <a:p>
            <a:pPr algn="ctr" indent="0" marL="0">
              <a:buNone/>
            </a:pPr>
            <a:r>
              <a:rPr lang="en-US" sz="1050" b="1" dirty="0">
                <a:solidFill>
                  <a:srgbClr val="0F172A"/>
                </a:solidFill>
                <a:latin typeface="Arial" pitchFamily="34" charset="0"/>
                <a:ea typeface="Arial" pitchFamily="34" charset="-122"/>
                <a:cs typeface="Arial" pitchFamily="34" charset="-120"/>
              </a:rPr>
              <a:t>Squawk</a:t>
            </a:r>
            <a:endParaRPr lang="en-US" sz="1050" dirty="0"/>
          </a:p>
          <a:p>
            <a:pPr algn="ctr" indent="0" marL="0">
              <a:buNone/>
            </a:pPr>
            <a:r>
              <a:rPr lang="en-US" sz="1050" b="1" dirty="0">
                <a:solidFill>
                  <a:srgbClr val="0F172A"/>
                </a:solidFill>
                <a:latin typeface="Arial" pitchFamily="34" charset="0"/>
                <a:ea typeface="Arial" pitchFamily="34" charset="-122"/>
                <a:cs typeface="Arial" pitchFamily="34" charset="-120"/>
              </a:rPr>
              <a:t>logged</a:t>
            </a:r>
            <a:endParaRPr lang="en-US" sz="1050" dirty="0"/>
          </a:p>
        </p:txBody>
      </p:sp>
      <p:sp>
        <p:nvSpPr>
          <p:cNvPr id="12" name="Text 10"/>
          <p:cNvSpPr/>
          <p:nvPr/>
        </p:nvSpPr>
        <p:spPr>
          <a:xfrm>
            <a:off x="10058400" y="2377440"/>
            <a:ext cx="502920" cy="777240"/>
          </a:xfrm>
          <a:prstGeom prst="rect">
            <a:avLst/>
          </a:prstGeom>
          <a:noFill/>
          <a:ln/>
        </p:spPr>
        <p:txBody>
          <a:bodyPr wrap="square" rtlCol="0" anchor="ctr"/>
          <a:lstStyle/>
          <a:p>
            <a:pPr algn="ctr" indent="0" marL="0">
              <a:buNone/>
            </a:pPr>
            <a:r>
              <a:rPr lang="en-US" sz="1600" dirty="0">
                <a:solidFill>
                  <a:srgbClr val="64748B"/>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10561320" y="2377440"/>
            <a:ext cx="1554480" cy="777240"/>
          </a:xfrm>
          <a:prstGeom prst="rect">
            <a:avLst/>
          </a:prstGeom>
          <a:solidFill>
            <a:srgbClr val="F5F3FF"/>
          </a:solidFill>
          <a:ln w="12700">
            <a:solidFill>
              <a:srgbClr val="7C3AED"/>
            </a:solidFill>
            <a:prstDash val="solid"/>
          </a:ln>
        </p:spPr>
      </p:sp>
      <p:sp>
        <p:nvSpPr>
          <p:cNvPr id="14" name="Text 12"/>
          <p:cNvSpPr/>
          <p:nvPr/>
        </p:nvSpPr>
        <p:spPr>
          <a:xfrm>
            <a:off x="10561320" y="2377440"/>
            <a:ext cx="1554480" cy="777240"/>
          </a:xfrm>
          <a:prstGeom prst="rect">
            <a:avLst/>
          </a:prstGeom>
          <a:noFill/>
          <a:ln/>
        </p:spPr>
        <p:txBody>
          <a:bodyPr wrap="square" rtlCol="0" anchor="ctr"/>
          <a:lstStyle/>
          <a:p>
            <a:pPr algn="ctr" indent="0" marL="0">
              <a:buNone/>
            </a:pPr>
            <a:r>
              <a:rPr lang="en-US" sz="1050" b="1" dirty="0">
                <a:solidFill>
                  <a:srgbClr val="0F172A"/>
                </a:solidFill>
                <a:latin typeface="Arial" pitchFamily="34" charset="0"/>
                <a:ea typeface="Arial" pitchFamily="34" charset="-122"/>
                <a:cs typeface="Arial" pitchFamily="34" charset="-120"/>
              </a:rPr>
              <a:t>Dispatch</a:t>
            </a:r>
            <a:endParaRPr lang="en-US" sz="1050" dirty="0"/>
          </a:p>
          <a:p>
            <a:pPr algn="ctr" indent="0" marL="0">
              <a:buNone/>
            </a:pPr>
            <a:r>
              <a:rPr lang="en-US" sz="1050" b="1" dirty="0">
                <a:solidFill>
                  <a:srgbClr val="0F172A"/>
                </a:solidFill>
                <a:latin typeface="Arial" pitchFamily="34" charset="0"/>
                <a:ea typeface="Arial" pitchFamily="34" charset="-122"/>
                <a:cs typeface="Arial" pitchFamily="34" charset="-120"/>
              </a:rPr>
              <a:t>release</a:t>
            </a:r>
            <a:endParaRPr lang="en-US" sz="1050" dirty="0"/>
          </a:p>
        </p:txBody>
      </p:sp>
      <p:sp>
        <p:nvSpPr>
          <p:cNvPr id="15" name="Text 13"/>
          <p:cNvSpPr/>
          <p:nvPr/>
        </p:nvSpPr>
        <p:spPr>
          <a:xfrm>
            <a:off x="12115800" y="2377440"/>
            <a:ext cx="502920" cy="777240"/>
          </a:xfrm>
          <a:prstGeom prst="rect">
            <a:avLst/>
          </a:prstGeom>
          <a:noFill/>
          <a:ln/>
        </p:spPr>
        <p:txBody>
          <a:bodyPr wrap="square" rtlCol="0" anchor="ctr"/>
          <a:lstStyle/>
          <a:p>
            <a:pPr algn="ctr" indent="0" marL="0">
              <a:buNone/>
            </a:pPr>
            <a:r>
              <a:rPr lang="en-US" sz="1600" dirty="0">
                <a:solidFill>
                  <a:srgbClr val="64748B"/>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12618720" y="2377440"/>
            <a:ext cx="1554480" cy="777240"/>
          </a:xfrm>
          <a:prstGeom prst="rect">
            <a:avLst/>
          </a:prstGeom>
          <a:solidFill>
            <a:srgbClr val="EFFAF3"/>
          </a:solidFill>
          <a:ln w="12700">
            <a:solidFill>
              <a:srgbClr val="3E9B5F"/>
            </a:solidFill>
            <a:prstDash val="solid"/>
          </a:ln>
        </p:spPr>
      </p:sp>
      <p:sp>
        <p:nvSpPr>
          <p:cNvPr id="17" name="Text 15"/>
          <p:cNvSpPr/>
          <p:nvPr/>
        </p:nvSpPr>
        <p:spPr>
          <a:xfrm>
            <a:off x="12618720" y="2377440"/>
            <a:ext cx="1554480" cy="777240"/>
          </a:xfrm>
          <a:prstGeom prst="rect">
            <a:avLst/>
          </a:prstGeom>
          <a:noFill/>
          <a:ln/>
        </p:spPr>
        <p:txBody>
          <a:bodyPr wrap="square" rtlCol="0" anchor="ctr"/>
          <a:lstStyle/>
          <a:p>
            <a:pPr algn="ctr" indent="0" marL="0">
              <a:buNone/>
            </a:pPr>
            <a:r>
              <a:rPr lang="en-US" sz="1050" b="1" dirty="0">
                <a:solidFill>
                  <a:srgbClr val="0F172A"/>
                </a:solidFill>
                <a:latin typeface="Arial" pitchFamily="34" charset="0"/>
                <a:ea typeface="Arial" pitchFamily="34" charset="-122"/>
                <a:cs typeface="Arial" pitchFamily="34" charset="-120"/>
              </a:rPr>
              <a:t>MEL</a:t>
            </a:r>
            <a:endParaRPr lang="en-US" sz="1050" dirty="0"/>
          </a:p>
          <a:p>
            <a:pPr algn="ctr" indent="0" marL="0">
              <a:buNone/>
            </a:pPr>
            <a:r>
              <a:rPr lang="en-US" sz="1050" b="1" dirty="0">
                <a:solidFill>
                  <a:srgbClr val="0F172A"/>
                </a:solidFill>
                <a:latin typeface="Arial" pitchFamily="34" charset="0"/>
                <a:ea typeface="Arial" pitchFamily="34" charset="-122"/>
                <a:cs typeface="Arial" pitchFamily="34" charset="-120"/>
              </a:rPr>
              <a:t>cleared</a:t>
            </a:r>
            <a:endParaRPr lang="en-US" sz="1050" dirty="0"/>
          </a:p>
        </p:txBody>
      </p:sp>
      <p:sp>
        <p:nvSpPr>
          <p:cNvPr id="18" name="Text 16"/>
          <p:cNvSpPr/>
          <p:nvPr/>
        </p:nvSpPr>
        <p:spPr>
          <a:xfrm>
            <a:off x="6446520" y="3383280"/>
            <a:ext cx="5120640" cy="548640"/>
          </a:xfrm>
          <a:prstGeom prst="rect">
            <a:avLst/>
          </a:prstGeom>
          <a:noFill/>
          <a:ln/>
        </p:spPr>
        <p:txBody>
          <a:bodyPr wrap="square" rtlCol="0" anchor="ctr"/>
          <a:lstStyle/>
          <a:p>
            <a:pPr indent="0" marL="0">
              <a:lnSpc>
                <a:spcPct val="125000"/>
              </a:lnSpc>
              <a:buNone/>
            </a:pPr>
            <a:r>
              <a:rPr lang="en-US" sz="1100" i="1" dirty="0">
                <a:solidFill>
                  <a:srgbClr val="64748B"/>
                </a:solidFill>
                <a:latin typeface="Arial" pitchFamily="34" charset="0"/>
                <a:ea typeface="Arial" pitchFamily="34" charset="-122"/>
                <a:cs typeface="Arial" pitchFamily="34" charset="-120"/>
              </a:rPr>
              <a:t>Each event is timestamped, hashed, and chained to the one before it — the ledger is the audit file.</a:t>
            </a:r>
            <a:endParaRPr lang="en-US" sz="1100" dirty="0"/>
          </a:p>
        </p:txBody>
      </p:sp>
      <p:sp>
        <p:nvSpPr>
          <p:cNvPr id="19" name="Shape 17"/>
          <p:cNvSpPr/>
          <p:nvPr/>
        </p:nvSpPr>
        <p:spPr>
          <a:xfrm>
            <a:off x="6446520" y="3931920"/>
            <a:ext cx="5193792" cy="1737360"/>
          </a:xfrm>
          <a:prstGeom prst="rect">
            <a:avLst/>
          </a:prstGeom>
          <a:solidFill>
            <a:srgbClr val="F8FAFC"/>
          </a:solidFill>
          <a:ln w="9525">
            <a:solidFill>
              <a:srgbClr val="E2E8F0"/>
            </a:solidFill>
            <a:prstDash val="solid"/>
          </a:ln>
        </p:spPr>
      </p:sp>
      <p:sp>
        <p:nvSpPr>
          <p:cNvPr id="20" name="Text 18"/>
          <p:cNvSpPr/>
          <p:nvPr/>
        </p:nvSpPr>
        <p:spPr>
          <a:xfrm>
            <a:off x="6675120" y="4114800"/>
            <a:ext cx="4754880" cy="1371600"/>
          </a:xfrm>
          <a:prstGeom prst="rect">
            <a:avLst/>
          </a:prstGeom>
          <a:noFill/>
          <a:ln/>
        </p:spPr>
        <p:txBody>
          <a:bodyPr wrap="square" rtlCol="0" anchor="ctr"/>
          <a:lstStyle/>
          <a:p>
            <a:pPr indent="0" marL="0">
              <a:lnSpc>
                <a:spcPct val="130000"/>
              </a:lnSpc>
              <a:buNone/>
            </a:pPr>
            <a:r>
              <a:rPr lang="en-US" sz="1250" i="1" dirty="0">
                <a:solidFill>
                  <a:srgbClr val="0F172A"/>
                </a:solidFill>
                <a:latin typeface="Arial" pitchFamily="34" charset="0"/>
                <a:ea typeface="Arial" pitchFamily="34" charset="-122"/>
                <a:cs typeface="Arial" pitchFamily="34" charset="-120"/>
              </a:rPr>
              <a:t>“The AI proposed this action, the rules engine validated it against FAR 91.409, and the pilot approved it — here is the timestamped record.”</a:t>
            </a:r>
            <a:endParaRPr lang="en-US" sz="1250" dirty="0"/>
          </a:p>
        </p:txBody>
      </p:sp>
      <p:sp>
        <p:nvSpPr>
          <p:cNvPr id="21" name="Text 19"/>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Aviation vertical — in evaluation with two operators: a Western US charter operator and a medevac operator network</a:t>
            </a:r>
            <a:endParaRPr lang="en-US" sz="750" dirty="0"/>
          </a:p>
        </p:txBody>
      </p:sp>
      <p:sp>
        <p:nvSpPr>
          <p:cNvPr id="22" name="Text 20"/>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THE STACK</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Six Workers, One Chief of Staff</a:t>
            </a:r>
            <a:endParaRPr lang="en-US" sz="2600" dirty="0"/>
          </a:p>
        </p:txBody>
      </p:sp>
      <p:sp>
        <p:nvSpPr>
          <p:cNvPr id="4" name="Shape 2"/>
          <p:cNvSpPr/>
          <p:nvPr/>
        </p:nvSpPr>
        <p:spPr>
          <a:xfrm>
            <a:off x="548640" y="1335024"/>
            <a:ext cx="11091672" cy="27432"/>
          </a:xfrm>
          <a:prstGeom prst="rect">
            <a:avLst/>
          </a:prstGeom>
          <a:solidFill>
            <a:srgbClr val="7C3AED"/>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3566160"/>
        </p:xfrm>
        <a:graphic>
          <a:graphicData uri="http://schemas.openxmlformats.org/drawingml/2006/table">
            <a:tbl>
              <a:tblPr/>
              <a:tblGrid>
                <a:gridCol w="1920240"/>
                <a:gridCol w="6428232"/>
                <a:gridCol w="2743200"/>
              </a:tblGrid>
              <a:tr h="548640">
                <a:tc>
                  <a:txBody>
                    <a:bodyPr/>
                    <a:lstStyle/>
                    <a:p>
                      <a:pPr indent="0" marL="0">
                        <a:buNone/>
                      </a:pPr>
                      <a:r>
                        <a:rPr lang="en-US" sz="1050" b="1" dirty="0">
                          <a:solidFill>
                            <a:srgbClr val="64748B"/>
                          </a:solidFill>
                        </a:rPr>
                        <a:t>Worker</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b="1" dirty="0">
                          <a:solidFill>
                            <a:srgbClr val="64748B"/>
                          </a:solidFill>
                        </a:rPr>
                        <a:t>What It Does</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b="1" dirty="0">
                          <a:solidFill>
                            <a:srgbClr val="64748B"/>
                          </a:solidFill>
                        </a:rPr>
                        <a:t>Record It Creates</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548640">
                <a:tc>
                  <a:txBody>
                    <a:bodyPr/>
                    <a:lstStyle/>
                    <a:p>
                      <a:pPr indent="0" marL="0">
                        <a:buNone/>
                      </a:pPr>
                      <a:r>
                        <a:rPr lang="en-US" sz="1150" b="1" dirty="0">
                          <a:solidFill>
                            <a:srgbClr val="0F172A"/>
                          </a:solidFill>
                          <a:latin typeface="Arial" pitchFamily="34" charset="0"/>
                          <a:ea typeface="Arial" pitchFamily="34" charset="-122"/>
                          <a:cs typeface="Arial" pitchFamily="34" charset="-120"/>
                        </a:rPr>
                        <a:t>CoPilot</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Arial" pitchFamily="34" charset="0"/>
                          <a:ea typeface="Arial" pitchFamily="34" charset="-122"/>
                          <a:cs typeface="Arial" pitchFamily="34" charset="-120"/>
                        </a:rPr>
                        <a:t>Pre-flight briefing, currency check, NOTAM digest, route weather</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Courier New" pitchFamily="34" charset="0"/>
                          <a:ea typeface="Courier New" pitchFamily="34" charset="-122"/>
                          <a:cs typeface="Courier New" pitchFamily="34" charset="-120"/>
                        </a:rPr>
                        <a:t>flight-brief/v1</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150" b="1" dirty="0">
                          <a:solidFill>
                            <a:srgbClr val="0F172A"/>
                          </a:solidFill>
                          <a:latin typeface="Arial" pitchFamily="34" charset="0"/>
                          <a:ea typeface="Arial" pitchFamily="34" charset="-122"/>
                          <a:cs typeface="Arial" pitchFamily="34" charset="-120"/>
                        </a:rPr>
                        <a:t>MX</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Arial" pitchFamily="34" charset="0"/>
                          <a:ea typeface="Arial" pitchFamily="34" charset="-122"/>
                          <a:cs typeface="Arial" pitchFamily="34" charset="-120"/>
                        </a:rPr>
                        <a:t>Squawk logging, AD compliance, maintenance-due calendar</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Courier New" pitchFamily="34" charset="0"/>
                          <a:ea typeface="Courier New" pitchFamily="34" charset="-122"/>
                          <a:cs typeface="Courier New" pitchFamily="34" charset="-120"/>
                        </a:rPr>
                        <a:t>mx-report/v1</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150" b="1" dirty="0">
                          <a:solidFill>
                            <a:srgbClr val="0F172A"/>
                          </a:solidFill>
                          <a:latin typeface="Arial" pitchFamily="34" charset="0"/>
                          <a:ea typeface="Arial" pitchFamily="34" charset="-122"/>
                          <a:cs typeface="Arial" pitchFamily="34" charset="-120"/>
                        </a:rPr>
                        <a:t>Dispatch</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Arial" pitchFamily="34" charset="0"/>
                          <a:ea typeface="Arial" pitchFamily="34" charset="-122"/>
                          <a:cs typeface="Arial" pitchFamily="34" charset="-120"/>
                        </a:rPr>
                        <a:t>Full dispatch release — weather, NOTAMs, W&amp;B, currency cleared</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Courier New" pitchFamily="34" charset="0"/>
                          <a:ea typeface="Courier New" pitchFamily="34" charset="-122"/>
                          <a:cs typeface="Courier New" pitchFamily="34" charset="-120"/>
                        </a:rPr>
                        <a:t>dispatch-release/v1</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150" b="1" dirty="0">
                          <a:solidFill>
                            <a:srgbClr val="0F172A"/>
                          </a:solidFill>
                          <a:latin typeface="Arial" pitchFamily="34" charset="0"/>
                          <a:ea typeface="Arial" pitchFamily="34" charset="-122"/>
                          <a:cs typeface="Arial" pitchFamily="34" charset="-120"/>
                        </a:rPr>
                        <a:t>Training</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Arial" pitchFamily="34" charset="0"/>
                          <a:ea typeface="Arial" pitchFamily="34" charset="-122"/>
                          <a:cs typeface="Arial" pitchFamily="34" charset="-120"/>
                        </a:rPr>
                        <a:t>Certificate tracking, check ride scheduling, recency management</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Courier New" pitchFamily="34" charset="0"/>
                          <a:ea typeface="Courier New" pitchFamily="34" charset="-122"/>
                          <a:cs typeface="Courier New" pitchFamily="34" charset="-120"/>
                        </a:rPr>
                        <a:t>training-record/v1</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150" b="1" dirty="0">
                          <a:solidFill>
                            <a:srgbClr val="0F172A"/>
                          </a:solidFill>
                          <a:latin typeface="Arial" pitchFamily="34" charset="0"/>
                          <a:ea typeface="Arial" pitchFamily="34" charset="-122"/>
                          <a:cs typeface="Arial" pitchFamily="34" charset="-120"/>
                        </a:rPr>
                        <a:t>HR</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Arial" pitchFamily="34" charset="0"/>
                          <a:ea typeface="Arial" pitchFamily="34" charset="-122"/>
                          <a:cs typeface="Arial" pitchFamily="34" charset="-120"/>
                        </a:rPr>
                        <a:t>Crew scheduling, rest tracking, contract management</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Courier New" pitchFamily="34" charset="0"/>
                          <a:ea typeface="Courier New" pitchFamily="34" charset="-122"/>
                          <a:cs typeface="Courier New" pitchFamily="34" charset="-120"/>
                        </a:rPr>
                        <a:t>staff-record/v1</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150" b="1" dirty="0">
                          <a:solidFill>
                            <a:srgbClr val="0F172A"/>
                          </a:solidFill>
                          <a:latin typeface="Arial" pitchFamily="34" charset="0"/>
                          <a:ea typeface="Arial" pitchFamily="34" charset="-122"/>
                          <a:cs typeface="Arial" pitchFamily="34" charset="-120"/>
                        </a:rPr>
                        <a:t>Accounting</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Arial" pitchFamily="34" charset="0"/>
                          <a:ea typeface="Arial" pitchFamily="34" charset="-122"/>
                          <a:cs typeface="Arial" pitchFamily="34" charset="-120"/>
                        </a:rPr>
                        <a:t>Flight hour billing, fuel cost tracking, cost-per-tail</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Courier New" pitchFamily="34" charset="0"/>
                          <a:ea typeface="Courier New" pitchFamily="34" charset="-122"/>
                          <a:cs typeface="Courier New" pitchFamily="34" charset="-120"/>
                        </a:rPr>
                        <a:t>accounting-bundle/v1</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bl>
          </a:graphicData>
        </a:graphic>
      </p:graphicFrame>
      <p:sp>
        <p:nvSpPr>
          <p:cNvPr id="6" name="Text 3"/>
          <p:cNvSpPr/>
          <p:nvPr/>
        </p:nvSpPr>
        <p:spPr>
          <a:xfrm>
            <a:off x="548640" y="5486400"/>
            <a:ext cx="11064240" cy="594360"/>
          </a:xfrm>
          <a:prstGeom prst="rect">
            <a:avLst/>
          </a:prstGeom>
          <a:noFill/>
          <a:ln/>
        </p:spPr>
        <p:txBody>
          <a:bodyPr wrap="square" rtlCol="0" anchor="ctr"/>
          <a:lstStyle/>
          <a:p>
            <a:pPr indent="0" marL="0">
              <a:lnSpc>
                <a:spcPct val="125000"/>
              </a:lnSpc>
              <a:buNone/>
            </a:pPr>
            <a:r>
              <a:rPr lang="en-US" sz="1250" i="1" dirty="0">
                <a:solidFill>
                  <a:srgbClr val="475569"/>
                </a:solidFill>
                <a:latin typeface="Arial" pitchFamily="34" charset="0"/>
                <a:ea typeface="Arial" pitchFamily="34" charset="-122"/>
                <a:cs typeface="Arial" pitchFamily="34" charset="-120"/>
              </a:rPr>
              <a:t>Alex, the Chief of Staff, monitors the fleet in real time — alerting on approaching currency expirations, maintenance-due items, and dispatch anomalies before they become operational surprises.</a:t>
            </a:r>
            <a:endParaRPr lang="en-US" sz="1250" dirty="0"/>
          </a:p>
        </p:txBody>
      </p:sp>
      <p:sp>
        <p:nvSpPr>
          <p:cNvPr id="7" name="Text 4"/>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Aviation vertical — in evaluation with two operators: a Western US charter operator and a medevac operator network</a:t>
            </a:r>
            <a:endParaRPr lang="en-US" sz="750" dirty="0"/>
          </a:p>
        </p:txBody>
      </p:sp>
      <p:sp>
        <p:nvSpPr>
          <p:cNvPr id="8" name="Text 5"/>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THE PILOT</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Two Operators, Active Evaluation</a:t>
            </a:r>
            <a:endParaRPr lang="en-US" sz="2600" dirty="0"/>
          </a:p>
        </p:txBody>
      </p:sp>
      <p:sp>
        <p:nvSpPr>
          <p:cNvPr id="4" name="Shape 2"/>
          <p:cNvSpPr/>
          <p:nvPr/>
        </p:nvSpPr>
        <p:spPr>
          <a:xfrm>
            <a:off x="548640" y="1335024"/>
            <a:ext cx="11091672" cy="27432"/>
          </a:xfrm>
          <a:prstGeom prst="rect">
            <a:avLst/>
          </a:prstGeom>
          <a:solidFill>
            <a:srgbClr val="7C3AED"/>
          </a:solidFill>
          <a:ln/>
        </p:spPr>
      </p:sp>
      <p:sp>
        <p:nvSpPr>
          <p:cNvPr id="5" name="Text 3"/>
          <p:cNvSpPr/>
          <p:nvPr/>
        </p:nvSpPr>
        <p:spPr>
          <a:xfrm>
            <a:off x="548640" y="1691640"/>
            <a:ext cx="6675120" cy="1280160"/>
          </a:xfrm>
          <a:prstGeom prst="rect">
            <a:avLst/>
          </a:prstGeom>
          <a:noFill/>
          <a:ln/>
        </p:spPr>
        <p:txBody>
          <a:bodyPr wrap="square" rtlCol="0" anchor="ctr"/>
          <a:lstStyle/>
          <a:p>
            <a:pPr indent="0" marL="0">
              <a:lnSpc>
                <a:spcPct val="135000"/>
              </a:lnSpc>
              <a:buNone/>
            </a:pPr>
            <a:r>
              <a:rPr lang="en-US" sz="1500" dirty="0">
                <a:solidFill>
                  <a:srgbClr val="1A202C"/>
                </a:solidFill>
                <a:latin typeface="Arial" pitchFamily="34" charset="0"/>
                <a:ea typeface="Arial" pitchFamily="34" charset="-122"/>
                <a:cs typeface="Arial" pitchFamily="34" charset="-120"/>
              </a:rPr>
              <a:t>Two aviation operators — a Western US charter operator and a medevac operator network — are currently evaluating SOCIII for their fleets.</a:t>
            </a:r>
            <a:endParaRPr lang="en-US" sz="1500" dirty="0"/>
          </a:p>
        </p:txBody>
      </p:sp>
      <p:sp>
        <p:nvSpPr>
          <p:cNvPr id="6" name="Text 4"/>
          <p:cNvSpPr/>
          <p:nvPr/>
        </p:nvSpPr>
        <p:spPr>
          <a:xfrm>
            <a:off x="548640" y="3108960"/>
            <a:ext cx="6675120" cy="2194560"/>
          </a:xfrm>
          <a:prstGeom prst="rect">
            <a:avLst/>
          </a:prstGeom>
          <a:noFill/>
          <a:ln/>
        </p:spPr>
        <p:txBody>
          <a:bodyPr wrap="square" rtlCol="0" anchor="ctr"/>
          <a:lstStyle/>
          <a:p>
            <a:pPr indent="0" marL="0">
              <a:lnSpc>
                <a:spcPct val="135000"/>
              </a:lnSpc>
              <a:buNone/>
            </a:pPr>
            <a:r>
              <a:rPr lang="en-US" sz="1300" dirty="0">
                <a:solidFill>
                  <a:srgbClr val="475569"/>
                </a:solidFill>
                <a:latin typeface="Arial" pitchFamily="34" charset="0"/>
                <a:ea typeface="Arial" pitchFamily="34" charset="-122"/>
                <a:cs typeface="Arial" pitchFamily="34" charset="-120"/>
              </a:rPr>
              <a:t>The medevac conversation matters most: the NTSB has repeatedly documented that crew rest determination, weather briefings, and terrain awareness in air medical operations are made in information environments not adequate for the decisions being made. If adopted, SOCIII would give the humans making life-or-death decisions the data they need, when they need it — logged as an immutable record.</a:t>
            </a:r>
            <a:endParaRPr lang="en-US" sz="1300" dirty="0"/>
          </a:p>
        </p:txBody>
      </p:sp>
      <p:sp>
        <p:nvSpPr>
          <p:cNvPr id="7" name="Shape 5"/>
          <p:cNvSpPr/>
          <p:nvPr/>
        </p:nvSpPr>
        <p:spPr>
          <a:xfrm>
            <a:off x="7635240" y="1691640"/>
            <a:ext cx="4023360" cy="4160520"/>
          </a:xfrm>
          <a:prstGeom prst="rect">
            <a:avLst/>
          </a:prstGeom>
          <a:solidFill>
            <a:srgbClr val="F8FAFC"/>
          </a:solidFill>
          <a:ln w="9525">
            <a:solidFill>
              <a:srgbClr val="E2E8F0"/>
            </a:solidFill>
            <a:prstDash val="solid"/>
          </a:ln>
        </p:spPr>
      </p:sp>
      <p:sp>
        <p:nvSpPr>
          <p:cNvPr id="8" name="Shape 6"/>
          <p:cNvSpPr/>
          <p:nvPr/>
        </p:nvSpPr>
        <p:spPr>
          <a:xfrm>
            <a:off x="7635240" y="1691640"/>
            <a:ext cx="4023360" cy="45720"/>
          </a:xfrm>
          <a:prstGeom prst="rect">
            <a:avLst/>
          </a:prstGeom>
          <a:solidFill>
            <a:srgbClr val="3E9B5F"/>
          </a:solidFill>
          <a:ln/>
        </p:spPr>
      </p:sp>
      <p:sp>
        <p:nvSpPr>
          <p:cNvPr id="9" name="Text 7"/>
          <p:cNvSpPr/>
          <p:nvPr/>
        </p:nvSpPr>
        <p:spPr>
          <a:xfrm>
            <a:off x="7909560" y="1965960"/>
            <a:ext cx="3566160" cy="502920"/>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2</a:t>
            </a:r>
            <a:endParaRPr lang="en-US" sz="2600" dirty="0"/>
          </a:p>
        </p:txBody>
      </p:sp>
      <p:sp>
        <p:nvSpPr>
          <p:cNvPr id="10" name="Text 8"/>
          <p:cNvSpPr/>
          <p:nvPr/>
        </p:nvSpPr>
        <p:spPr>
          <a:xfrm>
            <a:off x="7909560" y="2468880"/>
            <a:ext cx="3566160" cy="548640"/>
          </a:xfrm>
          <a:prstGeom prst="rect">
            <a:avLst/>
          </a:prstGeom>
          <a:noFill/>
          <a:ln/>
        </p:spPr>
        <p:txBody>
          <a:bodyPr wrap="square" rtlCol="0" anchor="ctr"/>
          <a:lstStyle/>
          <a:p>
            <a:pPr indent="0" marL="0">
              <a:lnSpc>
                <a:spcPct val="120000"/>
              </a:lnSpc>
              <a:buNone/>
            </a:pPr>
            <a:r>
              <a:rPr lang="en-US" sz="1100" dirty="0">
                <a:solidFill>
                  <a:srgbClr val="64748B"/>
                </a:solidFill>
                <a:latin typeface="Arial" pitchFamily="34" charset="0"/>
                <a:ea typeface="Arial" pitchFamily="34" charset="-122"/>
                <a:cs typeface="Arial" pitchFamily="34" charset="-120"/>
              </a:rPr>
              <a:t>Aviation operators currently evaluating SOCIII — charter and medevac</a:t>
            </a:r>
            <a:endParaRPr lang="en-US" sz="1100" dirty="0"/>
          </a:p>
        </p:txBody>
      </p:sp>
      <p:sp>
        <p:nvSpPr>
          <p:cNvPr id="11" name="Text 9"/>
          <p:cNvSpPr/>
          <p:nvPr/>
        </p:nvSpPr>
        <p:spPr>
          <a:xfrm>
            <a:off x="7909560" y="3246120"/>
            <a:ext cx="3566160" cy="502920"/>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6</a:t>
            </a:r>
            <a:endParaRPr lang="en-US" sz="2600" dirty="0"/>
          </a:p>
        </p:txBody>
      </p:sp>
      <p:sp>
        <p:nvSpPr>
          <p:cNvPr id="12" name="Text 10"/>
          <p:cNvSpPr/>
          <p:nvPr/>
        </p:nvSpPr>
        <p:spPr>
          <a:xfrm>
            <a:off x="7909560" y="3749040"/>
            <a:ext cx="3566160" cy="548640"/>
          </a:xfrm>
          <a:prstGeom prst="rect">
            <a:avLst/>
          </a:prstGeom>
          <a:noFill/>
          <a:ln/>
        </p:spPr>
        <p:txBody>
          <a:bodyPr wrap="square" rtlCol="0" anchor="ctr"/>
          <a:lstStyle/>
          <a:p>
            <a:pPr indent="0" marL="0">
              <a:lnSpc>
                <a:spcPct val="120000"/>
              </a:lnSpc>
              <a:buNone/>
            </a:pPr>
            <a:r>
              <a:rPr lang="en-US" sz="1100" dirty="0">
                <a:solidFill>
                  <a:srgbClr val="64748B"/>
                </a:solidFill>
                <a:latin typeface="Arial" pitchFamily="34" charset="0"/>
                <a:ea typeface="Arial" pitchFamily="34" charset="-122"/>
                <a:cs typeface="Arial" pitchFamily="34" charset="-120"/>
              </a:rPr>
              <a:t>Digital Workers ready for aviation operations today</a:t>
            </a:r>
            <a:endParaRPr lang="en-US" sz="1100" dirty="0"/>
          </a:p>
        </p:txBody>
      </p:sp>
      <p:sp>
        <p:nvSpPr>
          <p:cNvPr id="13" name="Text 11"/>
          <p:cNvSpPr/>
          <p:nvPr/>
        </p:nvSpPr>
        <p:spPr>
          <a:xfrm>
            <a:off x="7909560" y="4526280"/>
            <a:ext cx="3566160" cy="502920"/>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0</a:t>
            </a:r>
            <a:endParaRPr lang="en-US" sz="2600" dirty="0"/>
          </a:p>
        </p:txBody>
      </p:sp>
      <p:sp>
        <p:nvSpPr>
          <p:cNvPr id="14" name="Text 12"/>
          <p:cNvSpPr/>
          <p:nvPr/>
        </p:nvSpPr>
        <p:spPr>
          <a:xfrm>
            <a:off x="7909560" y="5029200"/>
            <a:ext cx="3566160" cy="548640"/>
          </a:xfrm>
          <a:prstGeom prst="rect">
            <a:avLst/>
          </a:prstGeom>
          <a:noFill/>
          <a:ln/>
        </p:spPr>
        <p:txBody>
          <a:bodyPr wrap="square" rtlCol="0" anchor="ctr"/>
          <a:lstStyle/>
          <a:p>
            <a:pPr indent="0" marL="0">
              <a:lnSpc>
                <a:spcPct val="120000"/>
              </a:lnSpc>
              <a:buNone/>
            </a:pPr>
            <a:r>
              <a:rPr lang="en-US" sz="1100" dirty="0">
                <a:solidFill>
                  <a:srgbClr val="64748B"/>
                </a:solidFill>
                <a:latin typeface="Arial" pitchFamily="34" charset="0"/>
                <a:ea typeface="Arial" pitchFamily="34" charset="-122"/>
                <a:cs typeface="Arial" pitchFamily="34" charset="-120"/>
              </a:rPr>
              <a:t>Silent data gaps — unconfigured sources are flagged, not fabricated</a:t>
            </a:r>
            <a:endParaRPr lang="en-US" sz="1100" dirty="0"/>
          </a:p>
        </p:txBody>
      </p:sp>
      <p:sp>
        <p:nvSpPr>
          <p:cNvPr id="15" name="Text 13"/>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Aviation vertical — in evaluation with two operators: a Western US charter operator and a medevac operator network</a:t>
            </a:r>
            <a:endParaRPr lang="en-US" sz="750" dirty="0"/>
          </a:p>
        </p:txBody>
      </p:sp>
      <p:sp>
        <p:nvSpPr>
          <p:cNvPr id="16" name="Text 14"/>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816"/>
        </a:solidFill>
      </p:bgPr>
    </p:bg>
    <p:spTree>
      <p:nvGrpSpPr>
        <p:cNvPr id="1" name=""/>
        <p:cNvGrpSpPr/>
        <p:nvPr/>
      </p:nvGrpSpPr>
      <p:grpSpPr>
        <a:xfrm>
          <a:off x="0" y="0"/>
          <a:ext cx="0" cy="0"/>
          <a:chOff x="0" y="0"/>
          <a:chExt cx="0" cy="0"/>
        </a:xfrm>
      </p:grpSpPr>
      <p:pic>
        <p:nvPicPr>
          <p:cNvPr id="2" name="Image 0" descr="assets/lockup_header_navy.png">    </p:cNvPr>
          <p:cNvPicPr>
            <a:picLocks noChangeAspect="1"/>
          </p:cNvPicPr>
          <p:nvPr/>
        </p:nvPicPr>
        <p:blipFill>
          <a:blip r:embed="rId1"/>
          <a:stretch>
            <a:fillRect/>
          </a:stretch>
        </p:blipFill>
        <p:spPr>
          <a:xfrm>
            <a:off x="548640" y="457200"/>
            <a:ext cx="566928" cy="612648"/>
          </a:xfrm>
          <a:prstGeom prst="rect">
            <a:avLst/>
          </a:prstGeom>
        </p:spPr>
      </p:pic>
      <p:sp>
        <p:nvSpPr>
          <p:cNvPr id="3" name="Text 0"/>
          <p:cNvSpPr/>
          <p:nvPr/>
        </p:nvSpPr>
        <p:spPr>
          <a:xfrm>
            <a:off x="1280160" y="502920"/>
            <a:ext cx="5486400" cy="457200"/>
          </a:xfrm>
          <a:prstGeom prst="rect">
            <a:avLst/>
          </a:prstGeom>
          <a:noFill/>
          <a:ln/>
        </p:spPr>
        <p:txBody>
          <a:bodyPr wrap="square" rtlCol="0" anchor="ctr"/>
          <a:lstStyle/>
          <a:p>
            <a:pPr indent="0" marL="0">
              <a:buNone/>
            </a:pPr>
            <a:r>
              <a:rPr lang="en-US" sz="1300" b="1" spc="250" kern="0" dirty="0">
                <a:solidFill>
                  <a:srgbClr val="A78BFA"/>
                </a:solidFill>
                <a:latin typeface="Arial" pitchFamily="34" charset="0"/>
                <a:ea typeface="Arial" pitchFamily="34" charset="-122"/>
                <a:cs typeface="Arial" pitchFamily="34" charset="-120"/>
              </a:rPr>
              <a:t>JUST TALK TO IT</a:t>
            </a:r>
            <a:endParaRPr lang="en-US" sz="1300" dirty="0"/>
          </a:p>
        </p:txBody>
      </p:sp>
      <p:sp>
        <p:nvSpPr>
          <p:cNvPr id="4" name="Shape 1"/>
          <p:cNvSpPr/>
          <p:nvPr/>
        </p:nvSpPr>
        <p:spPr>
          <a:xfrm>
            <a:off x="548640" y="1417320"/>
            <a:ext cx="11091672" cy="1417320"/>
          </a:xfrm>
          <a:prstGeom prst="rect">
            <a:avLst/>
          </a:prstGeom>
          <a:solidFill>
            <a:srgbClr val="0D1420"/>
          </a:solidFill>
          <a:ln w="9525">
            <a:solidFill>
              <a:srgbClr val="1F2937"/>
            </a:solidFill>
            <a:prstDash val="solid"/>
          </a:ln>
        </p:spPr>
      </p:sp>
      <p:sp>
        <p:nvSpPr>
          <p:cNvPr id="5" name="Text 2"/>
          <p:cNvSpPr/>
          <p:nvPr/>
        </p:nvSpPr>
        <p:spPr>
          <a:xfrm>
            <a:off x="822960" y="1554480"/>
            <a:ext cx="10515600" cy="502920"/>
          </a:xfrm>
          <a:prstGeom prst="rect">
            <a:avLst/>
          </a:prstGeom>
          <a:noFill/>
          <a:ln/>
        </p:spPr>
        <p:txBody>
          <a:bodyPr wrap="square" rtlCol="0" anchor="ctr"/>
          <a:lstStyle/>
          <a:p>
            <a:pPr indent="0" marL="0">
              <a:buNone/>
            </a:pPr>
            <a:r>
              <a:rPr lang="en-US" sz="1300" i="1" dirty="0">
                <a:solidFill>
                  <a:srgbClr val="FFFFFF"/>
                </a:solidFill>
                <a:latin typeface="Arial" pitchFamily="34" charset="0"/>
                <a:ea typeface="Arial" pitchFamily="34" charset="-122"/>
                <a:cs typeface="Arial" pitchFamily="34" charset="-120"/>
              </a:rPr>
              <a:t>“I run a 5-aircraft charter operation out of Centennial. Which pilots are current this week?”</a:t>
            </a:r>
            <a:endParaRPr lang="en-US" sz="1300" dirty="0"/>
          </a:p>
        </p:txBody>
      </p:sp>
      <p:sp>
        <p:nvSpPr>
          <p:cNvPr id="6" name="Text 3"/>
          <p:cNvSpPr/>
          <p:nvPr/>
        </p:nvSpPr>
        <p:spPr>
          <a:xfrm>
            <a:off x="822960" y="2057400"/>
            <a:ext cx="10515600" cy="685800"/>
          </a:xfrm>
          <a:prstGeom prst="rect">
            <a:avLst/>
          </a:prstGeom>
          <a:noFill/>
          <a:ln/>
        </p:spPr>
        <p:txBody>
          <a:bodyPr wrap="square" rtlCol="0" anchor="ctr"/>
          <a:lstStyle/>
          <a:p>
            <a:pPr indent="0" marL="0">
              <a:lnSpc>
                <a:spcPct val="125000"/>
              </a:lnSpc>
              <a:buNone/>
            </a:pPr>
            <a:r>
              <a:rPr lang="en-US" sz="1150" dirty="0">
                <a:solidFill>
                  <a:srgbClr val="CBD5E1"/>
                </a:solidFill>
                <a:latin typeface="Arial" pitchFamily="34" charset="0"/>
                <a:ea typeface="Arial" pitchFamily="34" charset="-122"/>
                <a:cs typeface="Arial" pitchFamily="34" charset="-120"/>
              </a:rPr>
              <a:t>Alex pulls all currency dates, flags anyone within 30 days of expiration, and surfaces the specific certificates or recurrents coming due — before you have opened a single spreadsheet.</a:t>
            </a:r>
            <a:endParaRPr lang="en-US" sz="1150" dirty="0"/>
          </a:p>
        </p:txBody>
      </p:sp>
      <p:sp>
        <p:nvSpPr>
          <p:cNvPr id="7" name="Shape 4"/>
          <p:cNvSpPr/>
          <p:nvPr/>
        </p:nvSpPr>
        <p:spPr>
          <a:xfrm>
            <a:off x="548640" y="3017520"/>
            <a:ext cx="11091672" cy="1417320"/>
          </a:xfrm>
          <a:prstGeom prst="rect">
            <a:avLst/>
          </a:prstGeom>
          <a:solidFill>
            <a:srgbClr val="0D1420"/>
          </a:solidFill>
          <a:ln w="9525">
            <a:solidFill>
              <a:srgbClr val="1F2937"/>
            </a:solidFill>
            <a:prstDash val="solid"/>
          </a:ln>
        </p:spPr>
      </p:sp>
      <p:sp>
        <p:nvSpPr>
          <p:cNvPr id="8" name="Text 5"/>
          <p:cNvSpPr/>
          <p:nvPr/>
        </p:nvSpPr>
        <p:spPr>
          <a:xfrm>
            <a:off x="822960" y="3154680"/>
            <a:ext cx="10515600" cy="502920"/>
          </a:xfrm>
          <a:prstGeom prst="rect">
            <a:avLst/>
          </a:prstGeom>
          <a:noFill/>
          <a:ln/>
        </p:spPr>
        <p:txBody>
          <a:bodyPr wrap="square" rtlCol="0" anchor="ctr"/>
          <a:lstStyle/>
          <a:p>
            <a:pPr indent="0" marL="0">
              <a:buNone/>
            </a:pPr>
            <a:r>
              <a:rPr lang="en-US" sz="1300" i="1" dirty="0">
                <a:solidFill>
                  <a:srgbClr val="FFFFFF"/>
                </a:solidFill>
                <a:latin typeface="Arial" pitchFamily="34" charset="0"/>
                <a:ea typeface="Arial" pitchFamily="34" charset="-122"/>
                <a:cs typeface="Arial" pitchFamily="34" charset="-120"/>
              </a:rPr>
              <a:t>“A squawk just came in on N412SP. What's the MEL status?”</a:t>
            </a:r>
            <a:endParaRPr lang="en-US" sz="1300" dirty="0"/>
          </a:p>
        </p:txBody>
      </p:sp>
      <p:sp>
        <p:nvSpPr>
          <p:cNvPr id="9" name="Text 6"/>
          <p:cNvSpPr/>
          <p:nvPr/>
        </p:nvSpPr>
        <p:spPr>
          <a:xfrm>
            <a:off x="822960" y="3657600"/>
            <a:ext cx="10515600" cy="685800"/>
          </a:xfrm>
          <a:prstGeom prst="rect">
            <a:avLst/>
          </a:prstGeom>
          <a:noFill/>
          <a:ln/>
        </p:spPr>
        <p:txBody>
          <a:bodyPr wrap="square" rtlCol="0" anchor="ctr"/>
          <a:lstStyle/>
          <a:p>
            <a:pPr indent="0" marL="0">
              <a:lnSpc>
                <a:spcPct val="125000"/>
              </a:lnSpc>
              <a:buNone/>
            </a:pPr>
            <a:r>
              <a:rPr lang="en-US" sz="1150" dirty="0">
                <a:solidFill>
                  <a:srgbClr val="CBD5E1"/>
                </a:solidFill>
                <a:latin typeface="Arial" pitchFamily="34" charset="0"/>
                <a:ea typeface="Arial" pitchFamily="34" charset="-122"/>
                <a:cs typeface="Arial" pitchFamily="34" charset="-120"/>
              </a:rPr>
              <a:t>Alex checks the maintenance history, cross-references the MEL, and drafts the work order with the vendor's service contract attached — before anyone in the office knows the request came in.</a:t>
            </a:r>
            <a:endParaRPr lang="en-US" sz="1150" dirty="0"/>
          </a:p>
        </p:txBody>
      </p:sp>
      <p:sp>
        <p:nvSpPr>
          <p:cNvPr id="10" name="Shape 7"/>
          <p:cNvSpPr/>
          <p:nvPr/>
        </p:nvSpPr>
        <p:spPr>
          <a:xfrm>
            <a:off x="548640" y="4617720"/>
            <a:ext cx="11091672" cy="1417320"/>
          </a:xfrm>
          <a:prstGeom prst="rect">
            <a:avLst/>
          </a:prstGeom>
          <a:solidFill>
            <a:srgbClr val="0D1420"/>
          </a:solidFill>
          <a:ln w="9525">
            <a:solidFill>
              <a:srgbClr val="1F2937"/>
            </a:solidFill>
            <a:prstDash val="solid"/>
          </a:ln>
        </p:spPr>
      </p:sp>
      <p:sp>
        <p:nvSpPr>
          <p:cNvPr id="11" name="Text 8"/>
          <p:cNvSpPr/>
          <p:nvPr/>
        </p:nvSpPr>
        <p:spPr>
          <a:xfrm>
            <a:off x="822960" y="4754880"/>
            <a:ext cx="10515600" cy="502920"/>
          </a:xfrm>
          <a:prstGeom prst="rect">
            <a:avLst/>
          </a:prstGeom>
          <a:noFill/>
          <a:ln/>
        </p:spPr>
        <p:txBody>
          <a:bodyPr wrap="square" rtlCol="0" anchor="ctr"/>
          <a:lstStyle/>
          <a:p>
            <a:pPr indent="0" marL="0">
              <a:buNone/>
            </a:pPr>
            <a:r>
              <a:rPr lang="en-US" sz="1300" i="1" dirty="0">
                <a:solidFill>
                  <a:srgbClr val="FFFFFF"/>
                </a:solidFill>
                <a:latin typeface="Arial" pitchFamily="34" charset="0"/>
                <a:ea typeface="Arial" pitchFamily="34" charset="-122"/>
                <a:cs typeface="Arial" pitchFamily="34" charset="-120"/>
              </a:rPr>
              <a:t>“Build me the dispatch release for tomorrow's Aspen run.”</a:t>
            </a:r>
            <a:endParaRPr lang="en-US" sz="1300" dirty="0"/>
          </a:p>
        </p:txBody>
      </p:sp>
      <p:sp>
        <p:nvSpPr>
          <p:cNvPr id="12" name="Text 9"/>
          <p:cNvSpPr/>
          <p:nvPr/>
        </p:nvSpPr>
        <p:spPr>
          <a:xfrm>
            <a:off x="822960" y="5257800"/>
            <a:ext cx="10515600" cy="685800"/>
          </a:xfrm>
          <a:prstGeom prst="rect">
            <a:avLst/>
          </a:prstGeom>
          <a:noFill/>
          <a:ln/>
        </p:spPr>
        <p:txBody>
          <a:bodyPr wrap="square" rtlCol="0" anchor="ctr"/>
          <a:lstStyle/>
          <a:p>
            <a:pPr indent="0" marL="0">
              <a:lnSpc>
                <a:spcPct val="125000"/>
              </a:lnSpc>
              <a:buNone/>
            </a:pPr>
            <a:r>
              <a:rPr lang="en-US" sz="1150" dirty="0">
                <a:solidFill>
                  <a:srgbClr val="CBD5E1"/>
                </a:solidFill>
                <a:latin typeface="Arial" pitchFamily="34" charset="0"/>
                <a:ea typeface="Arial" pitchFamily="34" charset="-122"/>
                <a:cs typeface="Arial" pitchFamily="34" charset="-120"/>
              </a:rPr>
              <a:t>Alex assembles filtered NOTAMs, weather at the right resolution, weight and balance, and currency confirmation into one release — ready for your signature.</a:t>
            </a:r>
            <a:endParaRPr lang="en-US" sz="1150" dirty="0"/>
          </a:p>
        </p:txBody>
      </p:sp>
      <p:sp>
        <p:nvSpPr>
          <p:cNvPr id="13" name="Text 10"/>
          <p:cNvSpPr/>
          <p:nvPr/>
        </p:nvSpPr>
        <p:spPr>
          <a:xfrm>
            <a:off x="548640" y="6263640"/>
            <a:ext cx="7315200" cy="457200"/>
          </a:xfrm>
          <a:prstGeom prst="rect">
            <a:avLst/>
          </a:prstGeom>
          <a:noFill/>
          <a:ln/>
        </p:spPr>
        <p:txBody>
          <a:bodyPr wrap="square" rtlCol="0" anchor="ctr"/>
          <a:lstStyle/>
          <a:p>
            <a:pPr indent="0" marL="0">
              <a:buNone/>
            </a:pPr>
            <a:r>
              <a:rPr lang="en-US" sz="1300" dirty="0">
                <a:solidFill>
                  <a:srgbClr val="CBD5E1"/>
                </a:solidFill>
                <a:latin typeface="Arial" pitchFamily="34" charset="0"/>
                <a:ea typeface="Arial" pitchFamily="34" charset="-122"/>
                <a:cs typeface="Arial" pitchFamily="34" charset="-120"/>
              </a:rPr>
              <a:t>If you operate under Part 135 and want to see this run against your actual fleet data, the demo takes 30 minutes.</a:t>
            </a:r>
            <a:endParaRPr lang="en-US" sz="1300" dirty="0"/>
          </a:p>
        </p:txBody>
      </p:sp>
      <p:sp>
        <p:nvSpPr>
          <p:cNvPr id="14" name="Text 11"/>
          <p:cNvSpPr/>
          <p:nvPr/>
        </p:nvSpPr>
        <p:spPr>
          <a:xfrm>
            <a:off x="8686800" y="6263640"/>
            <a:ext cx="2926080" cy="457200"/>
          </a:xfrm>
          <a:prstGeom prst="rect">
            <a:avLst/>
          </a:prstGeom>
          <a:noFill/>
          <a:ln/>
        </p:spPr>
        <p:txBody>
          <a:bodyPr wrap="square" rtlCol="0" anchor="ctr"/>
          <a:lstStyle/>
          <a:p>
            <a:pPr algn="r" indent="0" marL="0">
              <a:buNone/>
            </a:pPr>
            <a:r>
              <a:rPr lang="en-US" sz="1600" b="1" dirty="0">
                <a:solidFill>
                  <a:srgbClr val="A78BFA"/>
                </a:solidFill>
                <a:latin typeface="Arial" pitchFamily="34" charset="0"/>
                <a:ea typeface="Arial" pitchFamily="34" charset="-122"/>
                <a:cs typeface="Arial" pitchFamily="34" charset="-120"/>
              </a:rPr>
              <a:t>sean@sociii.ai</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2026-07-29T15:53:48Z</dcterms:created>
  <dcterms:modified xsi:type="dcterms:W3CDTF">2026-07-29T15:53:48Z</dcterms:modified>
</cp:coreProperties>
</file>
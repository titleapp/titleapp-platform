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816"/>
        </a:solidFill>
      </p:bgPr>
    </p:bg>
    <p:spTree>
      <p:nvGrpSpPr>
        <p:cNvPr id="1" name=""/>
        <p:cNvGrpSpPr/>
        <p:nvPr/>
      </p:nvGrpSpPr>
      <p:grpSpPr>
        <a:xfrm>
          <a:off x="0" y="0"/>
          <a:ext cx="0" cy="0"/>
          <a:chOff x="0" y="0"/>
          <a:chExt cx="0" cy="0"/>
        </a:xfrm>
      </p:grpSpPr>
      <p:pic>
        <p:nvPicPr>
          <p:cNvPr id="2" name="Image 0" descr="assets/lockup_header_navy.png">    </p:cNvPr>
          <p:cNvPicPr>
            <a:picLocks noChangeAspect="1"/>
          </p:cNvPicPr>
          <p:nvPr/>
        </p:nvPicPr>
        <p:blipFill>
          <a:blip r:embed="rId1"/>
          <a:stretch>
            <a:fillRect/>
          </a:stretch>
        </p:blipFill>
        <p:spPr>
          <a:xfrm>
            <a:off x="640080" y="502920"/>
            <a:ext cx="868680" cy="941832"/>
          </a:xfrm>
          <a:prstGeom prst="rect">
            <a:avLst/>
          </a:prstGeom>
        </p:spPr>
      </p:pic>
      <p:sp>
        <p:nvSpPr>
          <p:cNvPr id="3" name="Text 0"/>
          <p:cNvSpPr/>
          <p:nvPr/>
        </p:nvSpPr>
        <p:spPr>
          <a:xfrm>
            <a:off x="640080" y="2880360"/>
            <a:ext cx="7315200" cy="320040"/>
          </a:xfrm>
          <a:prstGeom prst="rect">
            <a:avLst/>
          </a:prstGeom>
          <a:noFill/>
          <a:ln/>
        </p:spPr>
        <p:txBody>
          <a:bodyPr wrap="square" rtlCol="0" anchor="ctr"/>
          <a:lstStyle/>
          <a:p>
            <a:pPr indent="0" marL="0">
              <a:buNone/>
            </a:pPr>
            <a:r>
              <a:rPr lang="en-US" sz="1300" b="1" spc="300" kern="0" dirty="0">
                <a:solidFill>
                  <a:srgbClr val="A78BFA"/>
                </a:solidFill>
                <a:latin typeface="Arial" pitchFamily="34" charset="0"/>
                <a:ea typeface="Arial" pitchFamily="34" charset="-122"/>
                <a:cs typeface="Arial" pitchFamily="34" charset="-120"/>
              </a:rPr>
              <a:t>TITLE VERTICAL</a:t>
            </a:r>
            <a:endParaRPr lang="en-US" sz="1300" dirty="0"/>
          </a:p>
        </p:txBody>
      </p:sp>
      <p:sp>
        <p:nvSpPr>
          <p:cNvPr id="4" name="Text 1"/>
          <p:cNvSpPr/>
          <p:nvPr/>
        </p:nvSpPr>
        <p:spPr>
          <a:xfrm>
            <a:off x="640080" y="3200400"/>
            <a:ext cx="10058400" cy="1554480"/>
          </a:xfrm>
          <a:prstGeom prst="rect">
            <a:avLst/>
          </a:prstGeom>
          <a:noFill/>
          <a:ln/>
        </p:spPr>
        <p:txBody>
          <a:bodyPr wrap="square" rtlCol="0" anchor="ctr"/>
          <a:lstStyle/>
          <a:p>
            <a:pPr indent="0" marL="0">
              <a:lnSpc>
                <a:spcPct val="110000"/>
              </a:lnSpc>
              <a:buNone/>
            </a:pPr>
            <a:r>
              <a:rPr lang="en-US" sz="3400" b="1" dirty="0">
                <a:solidFill>
                  <a:srgbClr val="FFFFFF"/>
                </a:solidFill>
                <a:latin typeface="Arial" pitchFamily="34" charset="0"/>
                <a:ea typeface="Arial" pitchFamily="34" charset="-122"/>
                <a:cs typeface="Arial" pitchFamily="34" charset="-120"/>
              </a:rPr>
              <a:t>The Real Estate Transaction Stack Is Being Rebuilt From the Bottom</a:t>
            </a:r>
            <a:endParaRPr lang="en-US" sz="3400" dirty="0"/>
          </a:p>
        </p:txBody>
      </p:sp>
      <p:sp>
        <p:nvSpPr>
          <p:cNvPr id="5" name="Text 2"/>
          <p:cNvSpPr/>
          <p:nvPr/>
        </p:nvSpPr>
        <p:spPr>
          <a:xfrm>
            <a:off x="640080" y="4709160"/>
            <a:ext cx="8138160" cy="685800"/>
          </a:xfrm>
          <a:prstGeom prst="rect">
            <a:avLst/>
          </a:prstGeom>
          <a:noFill/>
          <a:ln/>
        </p:spPr>
        <p:txBody>
          <a:bodyPr wrap="square" rtlCol="0" anchor="ctr"/>
          <a:lstStyle/>
          <a:p>
            <a:pPr indent="0" marL="0">
              <a:lnSpc>
                <a:spcPct val="125000"/>
              </a:lnSpc>
              <a:buNone/>
            </a:pPr>
            <a:r>
              <a:rPr lang="en-US" sz="1400" dirty="0">
                <a:solidFill>
                  <a:srgbClr val="CBD5E1"/>
                </a:solidFill>
                <a:latin typeface="Arial" pitchFamily="34" charset="0"/>
                <a:ea typeface="Arial" pitchFamily="34" charset="-122"/>
                <a:cs typeface="Arial" pitchFamily="34" charset="-120"/>
              </a:rPr>
              <a:t>Append-only, blockchain-anchored title records and governed AI coordination — the infrastructure that makes chain-of-title a query instead of a research project.</a:t>
            </a:r>
            <a:endParaRPr lang="en-US" sz="1400" dirty="0"/>
          </a:p>
        </p:txBody>
      </p:sp>
      <p:sp>
        <p:nvSpPr>
          <p:cNvPr id="6" name="Shape 3"/>
          <p:cNvSpPr/>
          <p:nvPr/>
        </p:nvSpPr>
        <p:spPr>
          <a:xfrm>
            <a:off x="640080" y="5623560"/>
            <a:ext cx="1417320" cy="20117"/>
          </a:xfrm>
          <a:prstGeom prst="rect">
            <a:avLst/>
          </a:prstGeom>
          <a:solidFill>
            <a:srgbClr val="7C3AED"/>
          </a:solidFill>
          <a:ln/>
        </p:spPr>
      </p:sp>
      <p:sp>
        <p:nvSpPr>
          <p:cNvPr id="7" name="Shape 4"/>
          <p:cNvSpPr/>
          <p:nvPr/>
        </p:nvSpPr>
        <p:spPr>
          <a:xfrm>
            <a:off x="2240280" y="5623560"/>
            <a:ext cx="1417320" cy="20117"/>
          </a:xfrm>
          <a:prstGeom prst="rect">
            <a:avLst/>
          </a:prstGeom>
          <a:solidFill>
            <a:srgbClr val="3E9B5F"/>
          </a:solidFill>
          <a:ln/>
        </p:spPr>
      </p:sp>
      <p:sp>
        <p:nvSpPr>
          <p:cNvPr id="8" name="Text 5"/>
          <p:cNvSpPr/>
          <p:nvPr/>
        </p:nvSpPr>
        <p:spPr>
          <a:xfrm>
            <a:off x="1874520" y="5468112"/>
            <a:ext cx="365760" cy="329184"/>
          </a:xfrm>
          <a:prstGeom prst="rect">
            <a:avLst/>
          </a:prstGeom>
          <a:noFill/>
          <a:ln/>
        </p:spPr>
        <p:txBody>
          <a:bodyPr wrap="square" rtlCol="0" anchor="ctr"/>
          <a:lstStyle/>
          <a:p>
            <a:pPr algn="ctr" indent="0" marL="0">
              <a:buNone/>
            </a:pPr>
            <a:r>
              <a:rPr lang="en-US" sz="1300" dirty="0">
                <a:solidFill>
                  <a:srgbClr val="A78BFA"/>
                </a:solidFill>
                <a:latin typeface="Arial" pitchFamily="34" charset="0"/>
                <a:ea typeface="Arial" pitchFamily="34" charset="-122"/>
                <a:cs typeface="Arial" pitchFamily="34" charset="-120"/>
              </a:rPr>
              <a:t>✳</a:t>
            </a:r>
            <a:endParaRPr lang="en-US" sz="1300" dirty="0"/>
          </a:p>
        </p:txBody>
      </p:sp>
      <p:sp>
        <p:nvSpPr>
          <p:cNvPr id="9" name="Text 6"/>
          <p:cNvSpPr/>
          <p:nvPr/>
        </p:nvSpPr>
        <p:spPr>
          <a:xfrm>
            <a:off x="640080" y="5806440"/>
            <a:ext cx="5486400" cy="274320"/>
          </a:xfrm>
          <a:prstGeom prst="rect">
            <a:avLst/>
          </a:prstGeom>
          <a:noFill/>
          <a:ln/>
        </p:spPr>
        <p:txBody>
          <a:bodyPr wrap="square" rtlCol="0" anchor="ctr"/>
          <a:lstStyle/>
          <a:p>
            <a:pPr indent="0" marL="0">
              <a:buNone/>
            </a:pPr>
            <a:r>
              <a:rPr lang="en-US" sz="950" spc="200" kern="0" dirty="0">
                <a:solidFill>
                  <a:srgbClr val="94A3B8"/>
                </a:solidFill>
                <a:latin typeface="Arial" pitchFamily="34" charset="0"/>
                <a:ea typeface="Arial" pitchFamily="34" charset="-122"/>
                <a:cs typeface="Arial" pitchFamily="34" charset="-120"/>
              </a:rPr>
              <a:t>COLLABORATIVE INTELLIGENCE   ✳   PARTICIPATION</a:t>
            </a:r>
            <a:endParaRPr lang="en-US" sz="950" dirty="0"/>
          </a:p>
        </p:txBody>
      </p:sp>
      <p:sp>
        <p:nvSpPr>
          <p:cNvPr id="10" name="Text 7"/>
          <p:cNvSpPr/>
          <p:nvPr/>
        </p:nvSpPr>
        <p:spPr>
          <a:xfrm>
            <a:off x="640080" y="6446520"/>
            <a:ext cx="2743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July 2026 · SOCIII Inc.</a:t>
            </a:r>
            <a:endParaRPr lang="en-US" sz="900" dirty="0"/>
          </a:p>
        </p:txBody>
      </p:sp>
      <p:sp>
        <p:nvSpPr>
          <p:cNvPr id="11" name="Text 8"/>
          <p:cNvSpPr/>
          <p:nvPr/>
        </p:nvSpPr>
        <p:spPr>
          <a:xfrm>
            <a:off x="7589520" y="6446520"/>
            <a:ext cx="411480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Patent pending (USPTO filings May 2026) · sean@sociii.ai</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100" b="1" spc="200" kern="0" dirty="0">
                <a:solidFill>
                  <a:srgbClr val="7C3AED"/>
                </a:solidFill>
                <a:latin typeface="Arial" pitchFamily="34" charset="0"/>
                <a:ea typeface="Arial" pitchFamily="34" charset="-122"/>
                <a:cs typeface="Arial" pitchFamily="34" charset="-120"/>
              </a:rPr>
              <a:t>WHY NOW</a:t>
            </a:r>
            <a:endParaRPr lang="en-US" sz="11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Title Company Consolidation Is Accelerating</a:t>
            </a:r>
            <a:endParaRPr lang="en-US" sz="2600" dirty="0"/>
          </a:p>
        </p:txBody>
      </p:sp>
      <p:sp>
        <p:nvSpPr>
          <p:cNvPr id="4" name="Shape 2"/>
          <p:cNvSpPr/>
          <p:nvPr/>
        </p:nvSpPr>
        <p:spPr>
          <a:xfrm>
            <a:off x="548640" y="1335024"/>
            <a:ext cx="11091672" cy="27432"/>
          </a:xfrm>
          <a:prstGeom prst="rect">
            <a:avLst/>
          </a:prstGeom>
          <a:solidFill>
            <a:srgbClr val="7C3AED"/>
          </a:solidFill>
          <a:ln/>
        </p:spPr>
      </p:sp>
      <p:sp>
        <p:nvSpPr>
          <p:cNvPr id="5" name="Text 3"/>
          <p:cNvSpPr/>
          <p:nvPr/>
        </p:nvSpPr>
        <p:spPr>
          <a:xfrm>
            <a:off x="548640" y="1600200"/>
            <a:ext cx="6675120" cy="1554480"/>
          </a:xfrm>
          <a:prstGeom prst="rect">
            <a:avLst/>
          </a:prstGeom>
          <a:noFill/>
          <a:ln/>
        </p:spPr>
        <p:txBody>
          <a:bodyPr wrap="square" rtlCol="0" anchor="ctr"/>
          <a:lstStyle/>
          <a:p>
            <a:pPr indent="0" marL="0">
              <a:lnSpc>
                <a:spcPct val="130000"/>
              </a:lnSpc>
              <a:buNone/>
            </a:pPr>
            <a:r>
              <a:rPr lang="en-US" sz="1400" dirty="0">
                <a:solidFill>
                  <a:srgbClr val="1A202C"/>
                </a:solidFill>
                <a:latin typeface="Arial" pitchFamily="34" charset="0"/>
                <a:ea typeface="Arial" pitchFamily="34" charset="-122"/>
                <a:cs typeface="Arial" pitchFamily="34" charset="-120"/>
              </a:rPr>
              <a:t>The US title industry pays out hundreds of millions in claims annually. A significant portion traces back not to fraud or legal error — but to process failure: missed deadlines, overlooked encumbrances, documents that fell through the gap between five disconnected tools.</a:t>
            </a:r>
            <a:endParaRPr lang="en-US" sz="1400" dirty="0"/>
          </a:p>
        </p:txBody>
      </p:sp>
      <p:sp>
        <p:nvSpPr>
          <p:cNvPr id="6" name="Text 4"/>
          <p:cNvSpPr/>
          <p:nvPr/>
        </p:nvSpPr>
        <p:spPr>
          <a:xfrm>
            <a:off x="548640" y="3246120"/>
            <a:ext cx="6675120" cy="1554480"/>
          </a:xfrm>
          <a:prstGeom prst="rect">
            <a:avLst/>
          </a:prstGeom>
          <a:noFill/>
          <a:ln/>
        </p:spPr>
        <p:txBody>
          <a:bodyPr wrap="square" rtlCol="0" anchor="ctr"/>
          <a:lstStyle/>
          <a:p>
            <a:pPr indent="0" marL="0">
              <a:lnSpc>
                <a:spcPct val="130000"/>
              </a:lnSpc>
              <a:buNone/>
            </a:pPr>
            <a:r>
              <a:rPr lang="en-US" sz="1400" dirty="0">
                <a:solidFill>
                  <a:srgbClr val="1A202C"/>
                </a:solidFill>
                <a:latin typeface="Arial" pitchFamily="34" charset="0"/>
                <a:ea typeface="Arial" pitchFamily="34" charset="-122"/>
                <a:cs typeface="Arial" pitchFamily="34" charset="-120"/>
              </a:rPr>
              <a:t>The operations that scale past 20 orders per closer will not do it by hiring more staff. They will do it by solving the coordination problem that currently caps every closer at 5–7 active files. The window to build that infrastructure before the consolidation wave reaches your market is now.</a:t>
            </a:r>
            <a:endParaRPr lang="en-US" sz="1400" dirty="0"/>
          </a:p>
        </p:txBody>
      </p:sp>
      <p:sp>
        <p:nvSpPr>
          <p:cNvPr id="7" name="Shape 5"/>
          <p:cNvSpPr/>
          <p:nvPr/>
        </p:nvSpPr>
        <p:spPr>
          <a:xfrm>
            <a:off x="7635240" y="1737360"/>
            <a:ext cx="4023360" cy="1234440"/>
          </a:xfrm>
          <a:prstGeom prst="rect">
            <a:avLst/>
          </a:prstGeom>
          <a:solidFill>
            <a:srgbClr val="F8FAFC"/>
          </a:solidFill>
          <a:ln w="9525">
            <a:solidFill>
              <a:srgbClr val="E2E8F0"/>
            </a:solidFill>
            <a:prstDash val="solid"/>
          </a:ln>
        </p:spPr>
      </p:sp>
      <p:sp>
        <p:nvSpPr>
          <p:cNvPr id="8" name="Shape 6"/>
          <p:cNvSpPr/>
          <p:nvPr/>
        </p:nvSpPr>
        <p:spPr>
          <a:xfrm>
            <a:off x="7635240" y="1737360"/>
            <a:ext cx="4023360" cy="45720"/>
          </a:xfrm>
          <a:prstGeom prst="rect">
            <a:avLst/>
          </a:prstGeom>
          <a:solidFill>
            <a:srgbClr val="7C3AED"/>
          </a:solidFill>
          <a:ln/>
        </p:spPr>
      </p:sp>
      <p:sp>
        <p:nvSpPr>
          <p:cNvPr id="9" name="Text 7"/>
          <p:cNvSpPr/>
          <p:nvPr/>
        </p:nvSpPr>
        <p:spPr>
          <a:xfrm>
            <a:off x="7818120" y="1856232"/>
            <a:ext cx="3657600" cy="45720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$2T</a:t>
            </a:r>
            <a:endParaRPr lang="en-US" sz="2400" dirty="0"/>
          </a:p>
        </p:txBody>
      </p:sp>
      <p:sp>
        <p:nvSpPr>
          <p:cNvPr id="10" name="Text 8"/>
          <p:cNvSpPr/>
          <p:nvPr/>
        </p:nvSpPr>
        <p:spPr>
          <a:xfrm>
            <a:off x="7818120" y="2331720"/>
            <a:ext cx="3657600" cy="548640"/>
          </a:xfrm>
          <a:prstGeom prst="rect">
            <a:avLst/>
          </a:prstGeom>
          <a:noFill/>
          <a:ln/>
        </p:spPr>
        <p:txBody>
          <a:bodyPr wrap="square" rtlCol="0" anchor="ctr"/>
          <a:lstStyle/>
          <a:p>
            <a:pPr indent="0" marL="0">
              <a:lnSpc>
                <a:spcPct val="115000"/>
              </a:lnSpc>
              <a:buNone/>
            </a:pPr>
            <a:r>
              <a:rPr lang="en-US" sz="950" dirty="0">
                <a:solidFill>
                  <a:srgbClr val="64748B"/>
                </a:solidFill>
                <a:latin typeface="Arial" pitchFamily="34" charset="0"/>
                <a:ea typeface="Arial" pitchFamily="34" charset="-122"/>
                <a:cs typeface="Arial" pitchFamily="34" charset="-120"/>
              </a:rPr>
              <a:t>Annual US real estate transaction volume</a:t>
            </a:r>
            <a:endParaRPr lang="en-US" sz="950" dirty="0"/>
          </a:p>
        </p:txBody>
      </p:sp>
      <p:sp>
        <p:nvSpPr>
          <p:cNvPr id="11" name="Shape 9"/>
          <p:cNvSpPr/>
          <p:nvPr/>
        </p:nvSpPr>
        <p:spPr>
          <a:xfrm>
            <a:off x="7635240" y="3218688"/>
            <a:ext cx="4023360" cy="1234440"/>
          </a:xfrm>
          <a:prstGeom prst="rect">
            <a:avLst/>
          </a:prstGeom>
          <a:solidFill>
            <a:srgbClr val="F8FAFC"/>
          </a:solidFill>
          <a:ln w="9525">
            <a:solidFill>
              <a:srgbClr val="E2E8F0"/>
            </a:solidFill>
            <a:prstDash val="solid"/>
          </a:ln>
        </p:spPr>
      </p:sp>
      <p:sp>
        <p:nvSpPr>
          <p:cNvPr id="12" name="Shape 10"/>
          <p:cNvSpPr/>
          <p:nvPr/>
        </p:nvSpPr>
        <p:spPr>
          <a:xfrm>
            <a:off x="7635240" y="3218688"/>
            <a:ext cx="4023360" cy="45720"/>
          </a:xfrm>
          <a:prstGeom prst="rect">
            <a:avLst/>
          </a:prstGeom>
          <a:solidFill>
            <a:srgbClr val="7C3AED"/>
          </a:solidFill>
          <a:ln/>
        </p:spPr>
      </p:sp>
      <p:sp>
        <p:nvSpPr>
          <p:cNvPr id="13" name="Text 11"/>
          <p:cNvSpPr/>
          <p:nvPr/>
        </p:nvSpPr>
        <p:spPr>
          <a:xfrm>
            <a:off x="7818120" y="3337560"/>
            <a:ext cx="3657600" cy="45720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$20B</a:t>
            </a:r>
            <a:endParaRPr lang="en-US" sz="2400" dirty="0"/>
          </a:p>
        </p:txBody>
      </p:sp>
      <p:sp>
        <p:nvSpPr>
          <p:cNvPr id="14" name="Text 12"/>
          <p:cNvSpPr/>
          <p:nvPr/>
        </p:nvSpPr>
        <p:spPr>
          <a:xfrm>
            <a:off x="7818120" y="3813048"/>
            <a:ext cx="3657600" cy="548640"/>
          </a:xfrm>
          <a:prstGeom prst="rect">
            <a:avLst/>
          </a:prstGeom>
          <a:noFill/>
          <a:ln/>
        </p:spPr>
        <p:txBody>
          <a:bodyPr wrap="square" rtlCol="0" anchor="ctr"/>
          <a:lstStyle/>
          <a:p>
            <a:pPr indent="0" marL="0">
              <a:lnSpc>
                <a:spcPct val="115000"/>
              </a:lnSpc>
              <a:buNone/>
            </a:pPr>
            <a:r>
              <a:rPr lang="en-US" sz="950" dirty="0">
                <a:solidFill>
                  <a:srgbClr val="64748B"/>
                </a:solidFill>
                <a:latin typeface="Arial" pitchFamily="34" charset="0"/>
                <a:ea typeface="Arial" pitchFamily="34" charset="-122"/>
                <a:cs typeface="Arial" pitchFamily="34" charset="-120"/>
              </a:rPr>
              <a:t>Annual US title insurance premium — a tax on record fragmentation</a:t>
            </a:r>
            <a:endParaRPr lang="en-US" sz="950" dirty="0"/>
          </a:p>
        </p:txBody>
      </p:sp>
      <p:sp>
        <p:nvSpPr>
          <p:cNvPr id="15" name="Shape 13"/>
          <p:cNvSpPr/>
          <p:nvPr/>
        </p:nvSpPr>
        <p:spPr>
          <a:xfrm>
            <a:off x="7635240" y="4700016"/>
            <a:ext cx="4023360" cy="1234440"/>
          </a:xfrm>
          <a:prstGeom prst="rect">
            <a:avLst/>
          </a:prstGeom>
          <a:solidFill>
            <a:srgbClr val="F8FAFC"/>
          </a:solidFill>
          <a:ln w="9525">
            <a:solidFill>
              <a:srgbClr val="E2E8F0"/>
            </a:solidFill>
            <a:prstDash val="solid"/>
          </a:ln>
        </p:spPr>
      </p:sp>
      <p:sp>
        <p:nvSpPr>
          <p:cNvPr id="16" name="Shape 14"/>
          <p:cNvSpPr/>
          <p:nvPr/>
        </p:nvSpPr>
        <p:spPr>
          <a:xfrm>
            <a:off x="7635240" y="4700016"/>
            <a:ext cx="4023360" cy="45720"/>
          </a:xfrm>
          <a:prstGeom prst="rect">
            <a:avLst/>
          </a:prstGeom>
          <a:solidFill>
            <a:srgbClr val="7C3AED"/>
          </a:solidFill>
          <a:ln/>
        </p:spPr>
      </p:sp>
      <p:sp>
        <p:nvSpPr>
          <p:cNvPr id="17" name="Text 15"/>
          <p:cNvSpPr/>
          <p:nvPr/>
        </p:nvSpPr>
        <p:spPr>
          <a:xfrm>
            <a:off x="7818120" y="4818888"/>
            <a:ext cx="3657600" cy="45720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5–7</a:t>
            </a:r>
            <a:endParaRPr lang="en-US" sz="2400" dirty="0"/>
          </a:p>
        </p:txBody>
      </p:sp>
      <p:sp>
        <p:nvSpPr>
          <p:cNvPr id="18" name="Text 16"/>
          <p:cNvSpPr/>
          <p:nvPr/>
        </p:nvSpPr>
        <p:spPr>
          <a:xfrm>
            <a:off x="7818120" y="5294376"/>
            <a:ext cx="3657600" cy="548640"/>
          </a:xfrm>
          <a:prstGeom prst="rect">
            <a:avLst/>
          </a:prstGeom>
          <a:noFill/>
          <a:ln/>
        </p:spPr>
        <p:txBody>
          <a:bodyPr wrap="square" rtlCol="0" anchor="ctr"/>
          <a:lstStyle/>
          <a:p>
            <a:pPr indent="0" marL="0">
              <a:lnSpc>
                <a:spcPct val="115000"/>
              </a:lnSpc>
              <a:buNone/>
            </a:pPr>
            <a:r>
              <a:rPr lang="en-US" sz="950" dirty="0">
                <a:solidFill>
                  <a:srgbClr val="64748B"/>
                </a:solidFill>
                <a:latin typeface="Arial" pitchFamily="34" charset="0"/>
                <a:ea typeface="Arial" pitchFamily="34" charset="-122"/>
                <a:cs typeface="Arial" pitchFamily="34" charset="-120"/>
              </a:rPr>
              <a:t>Active files per closer today, capped by coordination overhead</a:t>
            </a:r>
            <a:endParaRPr lang="en-US" sz="950" dirty="0"/>
          </a:p>
        </p:txBody>
      </p:sp>
      <p:sp>
        <p:nvSpPr>
          <p:cNvPr id="19" name="Text 17"/>
          <p:cNvSpPr/>
          <p:nvPr/>
        </p:nvSpPr>
        <p:spPr>
          <a:xfrm>
            <a:off x="457200" y="6547104"/>
            <a:ext cx="8686800" cy="256032"/>
          </a:xfrm>
          <a:prstGeom prst="rect">
            <a:avLst/>
          </a:prstGeom>
          <a:noFill/>
          <a:ln/>
        </p:spPr>
        <p:txBody>
          <a:bodyPr wrap="square" rtlCol="0" anchor="ctr"/>
          <a:lstStyle/>
          <a:p>
            <a:pPr algn="l" indent="0" marL="0">
              <a:buNone/>
            </a:pPr>
            <a:r>
              <a:rPr lang="en-US" sz="750" dirty="0">
                <a:solidFill>
                  <a:srgbClr val="94A3B8"/>
                </a:solidFill>
                <a:latin typeface="Arial" pitchFamily="34" charset="0"/>
                <a:ea typeface="Arial" pitchFamily="34" charset="-122"/>
                <a:cs typeface="Arial" pitchFamily="34" charset="-120"/>
              </a:rPr>
              <a:t>SOCIII Inc. · Title vertical — pilot partner: regional title operation, target Q3 2026</a:t>
            </a:r>
            <a:endParaRPr lang="en-US" sz="750" dirty="0"/>
          </a:p>
        </p:txBody>
      </p:sp>
      <p:sp>
        <p:nvSpPr>
          <p:cNvPr id="20" name="Text 18"/>
          <p:cNvSpPr/>
          <p:nvPr/>
        </p:nvSpPr>
        <p:spPr>
          <a:xfrm>
            <a:off x="9418320" y="6547104"/>
            <a:ext cx="2313432" cy="256032"/>
          </a:xfrm>
          <a:prstGeom prst="rect">
            <a:avLst/>
          </a:prstGeom>
          <a:noFill/>
          <a:ln/>
        </p:spPr>
        <p:txBody>
          <a:bodyPr wrap="square" rtlCol="0" anchor="ctr"/>
          <a:lstStyle/>
          <a:p>
            <a:pPr algn="r" indent="0" marL="0">
              <a:buNone/>
            </a:pPr>
            <a:r>
              <a:rPr lang="en-US" sz="750" dirty="0">
                <a:solidFill>
                  <a:srgbClr val="94A3B8"/>
                </a:solidFill>
                <a:latin typeface="Arial" pitchFamily="34" charset="0"/>
                <a:ea typeface="Arial" pitchFamily="34" charset="-122"/>
                <a:cs typeface="Arial" pitchFamily="34" charset="-120"/>
              </a:rPr>
              <a:t>Patent pending (USPTO filings May 2026) · sociii.ai · 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100" b="1" spc="200" kern="0" dirty="0">
                <a:solidFill>
                  <a:srgbClr val="7C3AED"/>
                </a:solidFill>
                <a:latin typeface="Arial" pitchFamily="34" charset="0"/>
                <a:ea typeface="Arial" pitchFamily="34" charset="-122"/>
                <a:cs typeface="Arial" pitchFamily="34" charset="-120"/>
              </a:rPr>
              <a:t>THE OLD MODEL</a:t>
            </a:r>
            <a:endParaRPr lang="en-US" sz="11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Two Closers, One Coordinator, Five Disconnected Tools</a:t>
            </a:r>
            <a:endParaRPr lang="en-US" sz="2600" dirty="0"/>
          </a:p>
        </p:txBody>
      </p:sp>
      <p:sp>
        <p:nvSpPr>
          <p:cNvPr id="4" name="Shape 2"/>
          <p:cNvSpPr/>
          <p:nvPr/>
        </p:nvSpPr>
        <p:spPr>
          <a:xfrm>
            <a:off x="548640" y="1335024"/>
            <a:ext cx="11091672" cy="27432"/>
          </a:xfrm>
          <a:prstGeom prst="rect">
            <a:avLst/>
          </a:prstGeom>
          <a:solidFill>
            <a:srgbClr val="7C3AED"/>
          </a:solidFill>
          <a:ln/>
        </p:spPr>
      </p:sp>
      <p:sp>
        <p:nvSpPr>
          <p:cNvPr id="5" name="Shape 3"/>
          <p:cNvSpPr/>
          <p:nvPr/>
        </p:nvSpPr>
        <p:spPr>
          <a:xfrm>
            <a:off x="548640" y="1737360"/>
            <a:ext cx="310896" cy="310896"/>
          </a:xfrm>
          <a:prstGeom prst="ellipse">
            <a:avLst/>
          </a:prstGeom>
          <a:solidFill>
            <a:srgbClr val="F8FAFC"/>
          </a:solidFill>
          <a:ln w="15875">
            <a:solidFill>
              <a:srgbClr val="7C3AED"/>
            </a:solidFill>
            <a:prstDash val="solid"/>
          </a:ln>
        </p:spPr>
      </p:sp>
      <p:sp>
        <p:nvSpPr>
          <p:cNvPr id="6" name="Text 4"/>
          <p:cNvSpPr/>
          <p:nvPr/>
        </p:nvSpPr>
        <p:spPr>
          <a:xfrm>
            <a:off x="548640" y="1737360"/>
            <a:ext cx="310896" cy="310896"/>
          </a:xfrm>
          <a:prstGeom prst="rect">
            <a:avLst/>
          </a:prstGeom>
          <a:noFill/>
          <a:ln/>
        </p:spPr>
        <p:txBody>
          <a:bodyPr wrap="square" rtlCol="0" anchor="ctr"/>
          <a:lstStyle/>
          <a:p>
            <a:pPr algn="ctr" indent="0" marL="0">
              <a:buNone/>
            </a:pPr>
            <a:r>
              <a:rPr lang="en-US" sz="1200" b="1" dirty="0">
                <a:solidFill>
                  <a:srgbClr val="7C3AED"/>
                </a:solidFill>
                <a:latin typeface="Arial" pitchFamily="34" charset="0"/>
                <a:ea typeface="Arial" pitchFamily="34" charset="-122"/>
                <a:cs typeface="Arial" pitchFamily="34" charset="-120"/>
              </a:rPr>
              <a:t>1</a:t>
            </a:r>
            <a:endParaRPr lang="en-US" sz="1200" dirty="0"/>
          </a:p>
        </p:txBody>
      </p:sp>
      <p:sp>
        <p:nvSpPr>
          <p:cNvPr id="7" name="Text 5"/>
          <p:cNvSpPr/>
          <p:nvPr/>
        </p:nvSpPr>
        <p:spPr>
          <a:xfrm>
            <a:off x="1051560" y="1691640"/>
            <a:ext cx="5852160" cy="402336"/>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2 closers + 1 admin coordinator</a:t>
            </a:r>
            <a:endParaRPr lang="en-US" sz="1500" dirty="0"/>
          </a:p>
        </p:txBody>
      </p:sp>
      <p:sp>
        <p:nvSpPr>
          <p:cNvPr id="8" name="Text 6"/>
          <p:cNvSpPr/>
          <p:nvPr/>
        </p:nvSpPr>
        <p:spPr>
          <a:xfrm>
            <a:off x="7040880" y="1691640"/>
            <a:ext cx="2926080" cy="402336"/>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$180,000 – 280,000/year</a:t>
            </a:r>
            <a:endParaRPr lang="en-US" sz="1400" dirty="0"/>
          </a:p>
        </p:txBody>
      </p:sp>
      <p:sp>
        <p:nvSpPr>
          <p:cNvPr id="9" name="Shape 7"/>
          <p:cNvSpPr/>
          <p:nvPr/>
        </p:nvSpPr>
        <p:spPr>
          <a:xfrm>
            <a:off x="548640" y="2194560"/>
            <a:ext cx="9418320" cy="10973"/>
          </a:xfrm>
          <a:prstGeom prst="rect">
            <a:avLst/>
          </a:prstGeom>
          <a:solidFill>
            <a:srgbClr val="E2E8F0"/>
          </a:solidFill>
          <a:ln/>
        </p:spPr>
      </p:sp>
      <p:sp>
        <p:nvSpPr>
          <p:cNvPr id="10" name="Shape 8"/>
          <p:cNvSpPr/>
          <p:nvPr/>
        </p:nvSpPr>
        <p:spPr>
          <a:xfrm>
            <a:off x="548640" y="2450592"/>
            <a:ext cx="310896" cy="310896"/>
          </a:xfrm>
          <a:prstGeom prst="ellipse">
            <a:avLst/>
          </a:prstGeom>
          <a:solidFill>
            <a:srgbClr val="F8FAFC"/>
          </a:solidFill>
          <a:ln w="15875">
            <a:solidFill>
              <a:srgbClr val="7C3AED"/>
            </a:solidFill>
            <a:prstDash val="solid"/>
          </a:ln>
        </p:spPr>
      </p:sp>
      <p:sp>
        <p:nvSpPr>
          <p:cNvPr id="11" name="Text 9"/>
          <p:cNvSpPr/>
          <p:nvPr/>
        </p:nvSpPr>
        <p:spPr>
          <a:xfrm>
            <a:off x="548640" y="2450592"/>
            <a:ext cx="310896" cy="310896"/>
          </a:xfrm>
          <a:prstGeom prst="rect">
            <a:avLst/>
          </a:prstGeom>
          <a:noFill/>
          <a:ln/>
        </p:spPr>
        <p:txBody>
          <a:bodyPr wrap="square" rtlCol="0" anchor="ctr"/>
          <a:lstStyle/>
          <a:p>
            <a:pPr algn="ctr" indent="0" marL="0">
              <a:buNone/>
            </a:pPr>
            <a:r>
              <a:rPr lang="en-US" sz="1200" b="1" dirty="0">
                <a:solidFill>
                  <a:srgbClr val="7C3AED"/>
                </a:solidFill>
                <a:latin typeface="Arial" pitchFamily="34" charset="0"/>
                <a:ea typeface="Arial" pitchFamily="34" charset="-122"/>
                <a:cs typeface="Arial" pitchFamily="34" charset="-120"/>
              </a:rPr>
              <a:t>2</a:t>
            </a:r>
            <a:endParaRPr lang="en-US" sz="1200" dirty="0"/>
          </a:p>
        </p:txBody>
      </p:sp>
      <p:sp>
        <p:nvSpPr>
          <p:cNvPr id="12" name="Text 10"/>
          <p:cNvSpPr/>
          <p:nvPr/>
        </p:nvSpPr>
        <p:spPr>
          <a:xfrm>
            <a:off x="1051560" y="2404872"/>
            <a:ext cx="5852160" cy="402336"/>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CoStar or equivalent data subscription</a:t>
            </a:r>
            <a:endParaRPr lang="en-US" sz="1500" dirty="0"/>
          </a:p>
        </p:txBody>
      </p:sp>
      <p:sp>
        <p:nvSpPr>
          <p:cNvPr id="13" name="Text 11"/>
          <p:cNvSpPr/>
          <p:nvPr/>
        </p:nvSpPr>
        <p:spPr>
          <a:xfrm>
            <a:off x="7040880" y="2404872"/>
            <a:ext cx="2926080" cy="402336"/>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$6,000 – 15,000/year</a:t>
            </a:r>
            <a:endParaRPr lang="en-US" sz="1400" dirty="0"/>
          </a:p>
        </p:txBody>
      </p:sp>
      <p:sp>
        <p:nvSpPr>
          <p:cNvPr id="14" name="Shape 12"/>
          <p:cNvSpPr/>
          <p:nvPr/>
        </p:nvSpPr>
        <p:spPr>
          <a:xfrm>
            <a:off x="548640" y="2907792"/>
            <a:ext cx="9418320" cy="10973"/>
          </a:xfrm>
          <a:prstGeom prst="rect">
            <a:avLst/>
          </a:prstGeom>
          <a:solidFill>
            <a:srgbClr val="E2E8F0"/>
          </a:solidFill>
          <a:ln/>
        </p:spPr>
      </p:sp>
      <p:sp>
        <p:nvSpPr>
          <p:cNvPr id="15" name="Shape 13"/>
          <p:cNvSpPr/>
          <p:nvPr/>
        </p:nvSpPr>
        <p:spPr>
          <a:xfrm>
            <a:off x="548640" y="3163824"/>
            <a:ext cx="310896" cy="310896"/>
          </a:xfrm>
          <a:prstGeom prst="ellipse">
            <a:avLst/>
          </a:prstGeom>
          <a:solidFill>
            <a:srgbClr val="F8FAFC"/>
          </a:solidFill>
          <a:ln w="15875">
            <a:solidFill>
              <a:srgbClr val="7C3AED"/>
            </a:solidFill>
            <a:prstDash val="solid"/>
          </a:ln>
        </p:spPr>
      </p:sp>
      <p:sp>
        <p:nvSpPr>
          <p:cNvPr id="16" name="Text 14"/>
          <p:cNvSpPr/>
          <p:nvPr/>
        </p:nvSpPr>
        <p:spPr>
          <a:xfrm>
            <a:off x="548640" y="3163824"/>
            <a:ext cx="310896" cy="310896"/>
          </a:xfrm>
          <a:prstGeom prst="rect">
            <a:avLst/>
          </a:prstGeom>
          <a:noFill/>
          <a:ln/>
        </p:spPr>
        <p:txBody>
          <a:bodyPr wrap="square" rtlCol="0" anchor="ctr"/>
          <a:lstStyle/>
          <a:p>
            <a:pPr algn="ctr" indent="0" marL="0">
              <a:buNone/>
            </a:pPr>
            <a:r>
              <a:rPr lang="en-US" sz="1200" b="1" dirty="0">
                <a:solidFill>
                  <a:srgbClr val="7C3AED"/>
                </a:solidFill>
                <a:latin typeface="Arial" pitchFamily="34" charset="0"/>
                <a:ea typeface="Arial" pitchFamily="34" charset="-122"/>
                <a:cs typeface="Arial" pitchFamily="34" charset="-120"/>
              </a:rPr>
              <a:t>3</a:t>
            </a:r>
            <a:endParaRPr lang="en-US" sz="1200" dirty="0"/>
          </a:p>
        </p:txBody>
      </p:sp>
      <p:sp>
        <p:nvSpPr>
          <p:cNvPr id="17" name="Text 15"/>
          <p:cNvSpPr/>
          <p:nvPr/>
        </p:nvSpPr>
        <p:spPr>
          <a:xfrm>
            <a:off x="1051560" y="3118104"/>
            <a:ext cx="5852160" cy="402336"/>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Manual deadline tracking</a:t>
            </a:r>
            <a:endParaRPr lang="en-US" sz="1500" dirty="0"/>
          </a:p>
        </p:txBody>
      </p:sp>
      <p:sp>
        <p:nvSpPr>
          <p:cNvPr id="18" name="Text 16"/>
          <p:cNvSpPr/>
          <p:nvPr/>
        </p:nvSpPr>
        <p:spPr>
          <a:xfrm>
            <a:off x="7040880" y="3118104"/>
            <a:ext cx="2926080" cy="402336"/>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~20% of each closer's time</a:t>
            </a:r>
            <a:endParaRPr lang="en-US" sz="1400" dirty="0"/>
          </a:p>
        </p:txBody>
      </p:sp>
      <p:sp>
        <p:nvSpPr>
          <p:cNvPr id="19" name="Shape 17"/>
          <p:cNvSpPr/>
          <p:nvPr/>
        </p:nvSpPr>
        <p:spPr>
          <a:xfrm>
            <a:off x="548640" y="3621024"/>
            <a:ext cx="9418320" cy="10973"/>
          </a:xfrm>
          <a:prstGeom prst="rect">
            <a:avLst/>
          </a:prstGeom>
          <a:solidFill>
            <a:srgbClr val="E2E8F0"/>
          </a:solidFill>
          <a:ln/>
        </p:spPr>
      </p:sp>
      <p:sp>
        <p:nvSpPr>
          <p:cNvPr id="20" name="Shape 18"/>
          <p:cNvSpPr/>
          <p:nvPr/>
        </p:nvSpPr>
        <p:spPr>
          <a:xfrm>
            <a:off x="548640" y="3877056"/>
            <a:ext cx="310896" cy="310896"/>
          </a:xfrm>
          <a:prstGeom prst="ellipse">
            <a:avLst/>
          </a:prstGeom>
          <a:solidFill>
            <a:srgbClr val="F8FAFC"/>
          </a:solidFill>
          <a:ln w="15875">
            <a:solidFill>
              <a:srgbClr val="7C3AED"/>
            </a:solidFill>
            <a:prstDash val="solid"/>
          </a:ln>
        </p:spPr>
      </p:sp>
      <p:sp>
        <p:nvSpPr>
          <p:cNvPr id="21" name="Text 19"/>
          <p:cNvSpPr/>
          <p:nvPr/>
        </p:nvSpPr>
        <p:spPr>
          <a:xfrm>
            <a:off x="548640" y="3877056"/>
            <a:ext cx="310896" cy="310896"/>
          </a:xfrm>
          <a:prstGeom prst="rect">
            <a:avLst/>
          </a:prstGeom>
          <a:noFill/>
          <a:ln/>
        </p:spPr>
        <p:txBody>
          <a:bodyPr wrap="square" rtlCol="0" anchor="ctr"/>
          <a:lstStyle/>
          <a:p>
            <a:pPr algn="ctr" indent="0" marL="0">
              <a:buNone/>
            </a:pPr>
            <a:r>
              <a:rPr lang="en-US" sz="1200" b="1" dirty="0">
                <a:solidFill>
                  <a:srgbClr val="7C3AED"/>
                </a:solidFill>
                <a:latin typeface="Arial" pitchFamily="34" charset="0"/>
                <a:ea typeface="Arial" pitchFamily="34" charset="-122"/>
                <a:cs typeface="Arial" pitchFamily="34" charset="-120"/>
              </a:rPr>
              <a:t>4</a:t>
            </a:r>
            <a:endParaRPr lang="en-US" sz="1200" dirty="0"/>
          </a:p>
        </p:txBody>
      </p:sp>
      <p:sp>
        <p:nvSpPr>
          <p:cNvPr id="22" name="Text 20"/>
          <p:cNvSpPr/>
          <p:nvPr/>
        </p:nvSpPr>
        <p:spPr>
          <a:xfrm>
            <a:off x="1051560" y="3831336"/>
            <a:ext cx="5852160" cy="402336"/>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Audit reconstruction from paper</a:t>
            </a:r>
            <a:endParaRPr lang="en-US" sz="1500" dirty="0"/>
          </a:p>
        </p:txBody>
      </p:sp>
      <p:sp>
        <p:nvSpPr>
          <p:cNvPr id="23" name="Text 21"/>
          <p:cNvSpPr/>
          <p:nvPr/>
        </p:nvSpPr>
        <p:spPr>
          <a:xfrm>
            <a:off x="7040880" y="3831336"/>
            <a:ext cx="2926080" cy="402336"/>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4 – 8 hours per file</a:t>
            </a:r>
            <a:endParaRPr lang="en-US" sz="1400" dirty="0"/>
          </a:p>
        </p:txBody>
      </p:sp>
      <p:sp>
        <p:nvSpPr>
          <p:cNvPr id="24" name="Shape 22"/>
          <p:cNvSpPr/>
          <p:nvPr/>
        </p:nvSpPr>
        <p:spPr>
          <a:xfrm>
            <a:off x="548640" y="4334256"/>
            <a:ext cx="9418320" cy="10973"/>
          </a:xfrm>
          <a:prstGeom prst="rect">
            <a:avLst/>
          </a:prstGeom>
          <a:solidFill>
            <a:srgbClr val="E2E8F0"/>
          </a:solidFill>
          <a:ln/>
        </p:spPr>
      </p:sp>
      <p:sp>
        <p:nvSpPr>
          <p:cNvPr id="25" name="Shape 23"/>
          <p:cNvSpPr/>
          <p:nvPr/>
        </p:nvSpPr>
        <p:spPr>
          <a:xfrm>
            <a:off x="548640" y="4654296"/>
            <a:ext cx="9418320" cy="822960"/>
          </a:xfrm>
          <a:prstGeom prst="rect">
            <a:avLst/>
          </a:prstGeom>
          <a:solidFill>
            <a:srgbClr val="F5F3FF"/>
          </a:solidFill>
          <a:ln/>
        </p:spPr>
      </p:sp>
      <p:sp>
        <p:nvSpPr>
          <p:cNvPr id="26" name="Text 24"/>
          <p:cNvSpPr/>
          <p:nvPr/>
        </p:nvSpPr>
        <p:spPr>
          <a:xfrm>
            <a:off x="777240" y="4818888"/>
            <a:ext cx="5029200" cy="502920"/>
          </a:xfrm>
          <a:prstGeom prst="rect">
            <a:avLst/>
          </a:prstGeom>
          <a:noFill/>
          <a:ln/>
        </p:spPr>
        <p:txBody>
          <a:bodyPr wrap="square" rtlCol="0" anchor="ctr"/>
          <a:lstStyle/>
          <a:p>
            <a:pPr indent="0" marL="0">
              <a:buNone/>
            </a:pPr>
            <a:r>
              <a:rPr lang="en-US" sz="1700" b="1" dirty="0">
                <a:solidFill>
                  <a:srgbClr val="0F172A"/>
                </a:solidFill>
                <a:latin typeface="Arial" pitchFamily="34" charset="0"/>
                <a:ea typeface="Arial" pitchFamily="34" charset="-122"/>
                <a:cs typeface="Arial" pitchFamily="34" charset="-120"/>
              </a:rPr>
              <a:t>Total: $180,000 – 280,000/year</a:t>
            </a:r>
            <a:endParaRPr lang="en-US" sz="1700" dirty="0"/>
          </a:p>
        </p:txBody>
      </p:sp>
      <p:sp>
        <p:nvSpPr>
          <p:cNvPr id="27" name="Text 25"/>
          <p:cNvSpPr/>
          <p:nvPr/>
        </p:nvSpPr>
        <p:spPr>
          <a:xfrm>
            <a:off x="6766560" y="4818888"/>
            <a:ext cx="3017520" cy="502920"/>
          </a:xfrm>
          <a:prstGeom prst="rect">
            <a:avLst/>
          </a:prstGeom>
          <a:noFill/>
          <a:ln/>
        </p:spPr>
        <p:txBody>
          <a:bodyPr wrap="square" rtlCol="0" anchor="ctr"/>
          <a:lstStyle/>
          <a:p>
            <a:pPr algn="r" indent="0" marL="0">
              <a:buNone/>
            </a:pPr>
            <a:r>
              <a:rPr lang="en-US" sz="1700" b="1" dirty="0">
                <a:solidFill>
                  <a:srgbClr val="3E9B5F"/>
                </a:solidFill>
                <a:latin typeface="Arial" pitchFamily="34" charset="0"/>
                <a:ea typeface="Arial" pitchFamily="34" charset="-122"/>
                <a:cs typeface="Arial" pitchFamily="34" charset="-120"/>
              </a:rPr>
              <a:t>SOCIII: $99 – 499/month</a:t>
            </a:r>
            <a:endParaRPr lang="en-US" sz="1700" dirty="0"/>
          </a:p>
        </p:txBody>
      </p:sp>
      <p:sp>
        <p:nvSpPr>
          <p:cNvPr id="28" name="Text 26"/>
          <p:cNvSpPr/>
          <p:nvPr/>
        </p:nvSpPr>
        <p:spPr>
          <a:xfrm>
            <a:off x="457200" y="6547104"/>
            <a:ext cx="8686800" cy="256032"/>
          </a:xfrm>
          <a:prstGeom prst="rect">
            <a:avLst/>
          </a:prstGeom>
          <a:noFill/>
          <a:ln/>
        </p:spPr>
        <p:txBody>
          <a:bodyPr wrap="square" rtlCol="0" anchor="ctr"/>
          <a:lstStyle/>
          <a:p>
            <a:pPr algn="l" indent="0" marL="0">
              <a:buNone/>
            </a:pPr>
            <a:r>
              <a:rPr lang="en-US" sz="750" dirty="0">
                <a:solidFill>
                  <a:srgbClr val="94A3B8"/>
                </a:solidFill>
                <a:latin typeface="Arial" pitchFamily="34" charset="0"/>
                <a:ea typeface="Arial" pitchFamily="34" charset="-122"/>
                <a:cs typeface="Arial" pitchFamily="34" charset="-120"/>
              </a:rPr>
              <a:t>SOCIII Inc. · Title vertical — pilot partner: regional title operation, target Q3 2026</a:t>
            </a:r>
            <a:endParaRPr lang="en-US" sz="750" dirty="0"/>
          </a:p>
        </p:txBody>
      </p:sp>
      <p:sp>
        <p:nvSpPr>
          <p:cNvPr id="29" name="Text 27"/>
          <p:cNvSpPr/>
          <p:nvPr/>
        </p:nvSpPr>
        <p:spPr>
          <a:xfrm>
            <a:off x="9418320" y="6547104"/>
            <a:ext cx="2313432" cy="256032"/>
          </a:xfrm>
          <a:prstGeom prst="rect">
            <a:avLst/>
          </a:prstGeom>
          <a:noFill/>
          <a:ln/>
        </p:spPr>
        <p:txBody>
          <a:bodyPr wrap="square" rtlCol="0" anchor="ctr"/>
          <a:lstStyle/>
          <a:p>
            <a:pPr algn="r" indent="0" marL="0">
              <a:buNone/>
            </a:pPr>
            <a:r>
              <a:rPr lang="en-US" sz="750" dirty="0">
                <a:solidFill>
                  <a:srgbClr val="94A3B8"/>
                </a:solidFill>
                <a:latin typeface="Arial" pitchFamily="34" charset="0"/>
                <a:ea typeface="Arial" pitchFamily="34" charset="-122"/>
                <a:cs typeface="Arial" pitchFamily="34" charset="-120"/>
              </a:rPr>
              <a:t>Patent pending (USPTO filings May 2026) · sociii.ai · 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100" b="1" spc="200" kern="0" dirty="0">
                <a:solidFill>
                  <a:srgbClr val="7C3AED"/>
                </a:solidFill>
                <a:latin typeface="Arial" pitchFamily="34" charset="0"/>
                <a:ea typeface="Arial" pitchFamily="34" charset="-122"/>
                <a:cs typeface="Arial" pitchFamily="34" charset="-120"/>
              </a:rPr>
              <a:t>THE SOCIII ANSWER</a:t>
            </a:r>
            <a:endParaRPr lang="en-US" sz="11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Outcomes, Not Features</a:t>
            </a:r>
            <a:endParaRPr lang="en-US" sz="2600" dirty="0"/>
          </a:p>
        </p:txBody>
      </p:sp>
      <p:sp>
        <p:nvSpPr>
          <p:cNvPr id="4" name="Shape 2"/>
          <p:cNvSpPr/>
          <p:nvPr/>
        </p:nvSpPr>
        <p:spPr>
          <a:xfrm>
            <a:off x="548640" y="1335024"/>
            <a:ext cx="11091672" cy="27432"/>
          </a:xfrm>
          <a:prstGeom prst="rect">
            <a:avLst/>
          </a:prstGeom>
          <a:solidFill>
            <a:srgbClr val="7C3AED"/>
          </a:solidFill>
          <a:ln/>
        </p:spPr>
      </p:sp>
      <p:sp>
        <p:nvSpPr>
          <p:cNvPr id="5" name="Shape 3"/>
          <p:cNvSpPr/>
          <p:nvPr/>
        </p:nvSpPr>
        <p:spPr>
          <a:xfrm>
            <a:off x="548640" y="1691640"/>
            <a:ext cx="5349240" cy="1965960"/>
          </a:xfrm>
          <a:prstGeom prst="rect">
            <a:avLst/>
          </a:prstGeom>
          <a:solidFill>
            <a:srgbClr val="F8FAFC"/>
          </a:solidFill>
          <a:ln w="9525">
            <a:solidFill>
              <a:srgbClr val="E2E8F0"/>
            </a:solidFill>
            <a:prstDash val="solid"/>
          </a:ln>
        </p:spPr>
      </p:sp>
      <p:sp>
        <p:nvSpPr>
          <p:cNvPr id="6" name="Shape 4"/>
          <p:cNvSpPr/>
          <p:nvPr/>
        </p:nvSpPr>
        <p:spPr>
          <a:xfrm>
            <a:off x="804672" y="1947672"/>
            <a:ext cx="457200" cy="457200"/>
          </a:xfrm>
          <a:prstGeom prst="ellipse">
            <a:avLst/>
          </a:prstGeom>
          <a:solidFill>
            <a:srgbClr val="7C3AED"/>
          </a:solidFill>
          <a:ln/>
        </p:spPr>
      </p:sp>
      <p:sp>
        <p:nvSpPr>
          <p:cNvPr id="7" name="Text 5"/>
          <p:cNvSpPr/>
          <p:nvPr/>
        </p:nvSpPr>
        <p:spPr>
          <a:xfrm>
            <a:off x="804672" y="1947672"/>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6"/>
          <p:cNvSpPr/>
          <p:nvPr/>
        </p:nvSpPr>
        <p:spPr>
          <a:xfrm>
            <a:off x="1417320" y="1929384"/>
            <a:ext cx="4251960" cy="50292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Tracks every active order in one place</a:t>
            </a:r>
            <a:endParaRPr lang="en-US" sz="1450" dirty="0"/>
          </a:p>
        </p:txBody>
      </p:sp>
      <p:sp>
        <p:nvSpPr>
          <p:cNvPr id="9" name="Text 7"/>
          <p:cNvSpPr/>
          <p:nvPr/>
        </p:nvSpPr>
        <p:spPr>
          <a:xfrm>
            <a:off x="804672" y="2560320"/>
            <a:ext cx="4837176" cy="960120"/>
          </a:xfrm>
          <a:prstGeom prst="rect">
            <a:avLst/>
          </a:prstGeom>
          <a:noFill/>
          <a:ln/>
        </p:spPr>
        <p:txBody>
          <a:bodyPr wrap="square" rtlCol="0" anchor="ctr"/>
          <a:lstStyle/>
          <a:p>
            <a:pPr indent="0" marL="0">
              <a:lnSpc>
                <a:spcPct val="125000"/>
              </a:lnSpc>
              <a:buNone/>
            </a:pPr>
            <a:r>
              <a:rPr lang="en-US" sz="1150" dirty="0">
                <a:solidFill>
                  <a:srgbClr val="475569"/>
                </a:solidFill>
                <a:latin typeface="Arial" pitchFamily="34" charset="0"/>
                <a:ea typeface="Arial" pitchFamily="34" charset="-122"/>
                <a:cs typeface="Arial" pitchFamily="34" charset="-120"/>
              </a:rPr>
              <a:t>Alex, your Chief of Staff, monitors deadlines across all open files and flags anything at risk before you ask.</a:t>
            </a:r>
            <a:endParaRPr lang="en-US" sz="1150" dirty="0"/>
          </a:p>
        </p:txBody>
      </p:sp>
      <p:sp>
        <p:nvSpPr>
          <p:cNvPr id="10" name="Shape 8"/>
          <p:cNvSpPr/>
          <p:nvPr/>
        </p:nvSpPr>
        <p:spPr>
          <a:xfrm>
            <a:off x="6153912" y="1691640"/>
            <a:ext cx="5349240" cy="1965960"/>
          </a:xfrm>
          <a:prstGeom prst="rect">
            <a:avLst/>
          </a:prstGeom>
          <a:solidFill>
            <a:srgbClr val="F8FAFC"/>
          </a:solidFill>
          <a:ln w="9525">
            <a:solidFill>
              <a:srgbClr val="E2E8F0"/>
            </a:solidFill>
            <a:prstDash val="solid"/>
          </a:ln>
        </p:spPr>
      </p:sp>
      <p:sp>
        <p:nvSpPr>
          <p:cNvPr id="11" name="Shape 9"/>
          <p:cNvSpPr/>
          <p:nvPr/>
        </p:nvSpPr>
        <p:spPr>
          <a:xfrm>
            <a:off x="6409944" y="1947672"/>
            <a:ext cx="457200" cy="457200"/>
          </a:xfrm>
          <a:prstGeom prst="ellipse">
            <a:avLst/>
          </a:prstGeom>
          <a:solidFill>
            <a:srgbClr val="7C3AED"/>
          </a:solidFill>
          <a:ln/>
        </p:spPr>
      </p:sp>
      <p:sp>
        <p:nvSpPr>
          <p:cNvPr id="12" name="Text 10"/>
          <p:cNvSpPr/>
          <p:nvPr/>
        </p:nvSpPr>
        <p:spPr>
          <a:xfrm>
            <a:off x="6409944" y="1947672"/>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p:nvPr/>
        </p:nvSpPr>
        <p:spPr>
          <a:xfrm>
            <a:off x="7022592" y="1929384"/>
            <a:ext cx="4251960" cy="50292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Maintains an append-only record of every action</a:t>
            </a:r>
            <a:endParaRPr lang="en-US" sz="1450" dirty="0"/>
          </a:p>
        </p:txBody>
      </p:sp>
      <p:sp>
        <p:nvSpPr>
          <p:cNvPr id="14" name="Text 12"/>
          <p:cNvSpPr/>
          <p:nvPr/>
        </p:nvSpPr>
        <p:spPr>
          <a:xfrm>
            <a:off x="6409944" y="2560320"/>
            <a:ext cx="4837176" cy="960120"/>
          </a:xfrm>
          <a:prstGeom prst="rect">
            <a:avLst/>
          </a:prstGeom>
          <a:noFill/>
          <a:ln/>
        </p:spPr>
        <p:txBody>
          <a:bodyPr wrap="square" rtlCol="0" anchor="ctr"/>
          <a:lstStyle/>
          <a:p>
            <a:pPr indent="0" marL="0">
              <a:lnSpc>
                <a:spcPct val="125000"/>
              </a:lnSpc>
              <a:buNone/>
            </a:pPr>
            <a:r>
              <a:rPr lang="en-US" sz="1150" dirty="0">
                <a:solidFill>
                  <a:srgbClr val="475569"/>
                </a:solidFill>
                <a:latin typeface="Arial" pitchFamily="34" charset="0"/>
                <a:ea typeface="Arial" pitchFamily="34" charset="-122"/>
                <a:cs typeface="Arial" pitchFamily="34" charset="-120"/>
              </a:rPr>
              <a:t>Every document, status change, and communication is logged chronologically and cannot be altered — that record is your audit file.</a:t>
            </a:r>
            <a:endParaRPr lang="en-US" sz="1150" dirty="0"/>
          </a:p>
        </p:txBody>
      </p:sp>
      <p:sp>
        <p:nvSpPr>
          <p:cNvPr id="15" name="Shape 13"/>
          <p:cNvSpPr/>
          <p:nvPr/>
        </p:nvSpPr>
        <p:spPr>
          <a:xfrm>
            <a:off x="548640" y="3913632"/>
            <a:ext cx="5349240" cy="1965960"/>
          </a:xfrm>
          <a:prstGeom prst="rect">
            <a:avLst/>
          </a:prstGeom>
          <a:solidFill>
            <a:srgbClr val="F8FAFC"/>
          </a:solidFill>
          <a:ln w="9525">
            <a:solidFill>
              <a:srgbClr val="E2E8F0"/>
            </a:solidFill>
            <a:prstDash val="solid"/>
          </a:ln>
        </p:spPr>
      </p:sp>
      <p:sp>
        <p:nvSpPr>
          <p:cNvPr id="16" name="Shape 14"/>
          <p:cNvSpPr/>
          <p:nvPr/>
        </p:nvSpPr>
        <p:spPr>
          <a:xfrm>
            <a:off x="804672" y="4169664"/>
            <a:ext cx="457200" cy="457200"/>
          </a:xfrm>
          <a:prstGeom prst="ellipse">
            <a:avLst/>
          </a:prstGeom>
          <a:solidFill>
            <a:srgbClr val="7C3AED"/>
          </a:solidFill>
          <a:ln/>
        </p:spPr>
      </p:sp>
      <p:sp>
        <p:nvSpPr>
          <p:cNvPr id="17" name="Text 15"/>
          <p:cNvSpPr/>
          <p:nvPr/>
        </p:nvSpPr>
        <p:spPr>
          <a:xfrm>
            <a:off x="804672" y="4169664"/>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Text 16"/>
          <p:cNvSpPr/>
          <p:nvPr/>
        </p:nvSpPr>
        <p:spPr>
          <a:xfrm>
            <a:off x="1417320" y="4151376"/>
            <a:ext cx="4251960" cy="50292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Runs title search and chain-of-title analysis</a:t>
            </a:r>
            <a:endParaRPr lang="en-US" sz="1450" dirty="0"/>
          </a:p>
        </p:txBody>
      </p:sp>
      <p:sp>
        <p:nvSpPr>
          <p:cNvPr id="19" name="Text 17"/>
          <p:cNvSpPr/>
          <p:nvPr/>
        </p:nvSpPr>
        <p:spPr>
          <a:xfrm>
            <a:off x="804672" y="4782312"/>
            <a:ext cx="4837176" cy="960120"/>
          </a:xfrm>
          <a:prstGeom prst="rect">
            <a:avLst/>
          </a:prstGeom>
          <a:noFill/>
          <a:ln/>
        </p:spPr>
        <p:txBody>
          <a:bodyPr wrap="square" rtlCol="0" anchor="ctr"/>
          <a:lstStyle/>
          <a:p>
            <a:pPr indent="0" marL="0">
              <a:lnSpc>
                <a:spcPct val="125000"/>
              </a:lnSpc>
              <a:buNone/>
            </a:pPr>
            <a:r>
              <a:rPr lang="en-US" sz="1150" dirty="0">
                <a:solidFill>
                  <a:srgbClr val="475569"/>
                </a:solidFill>
                <a:latin typeface="Arial" pitchFamily="34" charset="0"/>
                <a:ea typeface="Arial" pitchFamily="34" charset="-122"/>
                <a:cs typeface="Arial" pitchFamily="34" charset="-120"/>
              </a:rPr>
              <a:t>Encumbrances, easements, and ownership gaps surface automatically against the underlying parcel record.</a:t>
            </a:r>
            <a:endParaRPr lang="en-US" sz="1150" dirty="0"/>
          </a:p>
        </p:txBody>
      </p:sp>
      <p:sp>
        <p:nvSpPr>
          <p:cNvPr id="20" name="Shape 18"/>
          <p:cNvSpPr/>
          <p:nvPr/>
        </p:nvSpPr>
        <p:spPr>
          <a:xfrm>
            <a:off x="6153912" y="3913632"/>
            <a:ext cx="5349240" cy="1965960"/>
          </a:xfrm>
          <a:prstGeom prst="rect">
            <a:avLst/>
          </a:prstGeom>
          <a:solidFill>
            <a:srgbClr val="F8FAFC"/>
          </a:solidFill>
          <a:ln w="9525">
            <a:solidFill>
              <a:srgbClr val="E2E8F0"/>
            </a:solidFill>
            <a:prstDash val="solid"/>
          </a:ln>
        </p:spPr>
      </p:sp>
      <p:sp>
        <p:nvSpPr>
          <p:cNvPr id="21" name="Shape 19"/>
          <p:cNvSpPr/>
          <p:nvPr/>
        </p:nvSpPr>
        <p:spPr>
          <a:xfrm>
            <a:off x="6409944" y="4169664"/>
            <a:ext cx="457200" cy="457200"/>
          </a:xfrm>
          <a:prstGeom prst="ellipse">
            <a:avLst/>
          </a:prstGeom>
          <a:solidFill>
            <a:srgbClr val="7C3AED"/>
          </a:solidFill>
          <a:ln/>
        </p:spPr>
      </p:sp>
      <p:sp>
        <p:nvSpPr>
          <p:cNvPr id="22" name="Text 20"/>
          <p:cNvSpPr/>
          <p:nvPr/>
        </p:nvSpPr>
        <p:spPr>
          <a:xfrm>
            <a:off x="6409944" y="4169664"/>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3" name="Text 21"/>
          <p:cNvSpPr/>
          <p:nvPr/>
        </p:nvSpPr>
        <p:spPr>
          <a:xfrm>
            <a:off x="7022592" y="4151376"/>
            <a:ext cx="4251960" cy="50292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Coordinates across workers in parallel</a:t>
            </a:r>
            <a:endParaRPr lang="en-US" sz="1450" dirty="0"/>
          </a:p>
        </p:txBody>
      </p:sp>
      <p:sp>
        <p:nvSpPr>
          <p:cNvPr id="24" name="Text 22"/>
          <p:cNvSpPr/>
          <p:nvPr/>
        </p:nvSpPr>
        <p:spPr>
          <a:xfrm>
            <a:off x="6409944" y="4782312"/>
            <a:ext cx="4837176" cy="960120"/>
          </a:xfrm>
          <a:prstGeom prst="rect">
            <a:avLst/>
          </a:prstGeom>
          <a:noFill/>
          <a:ln/>
        </p:spPr>
        <p:txBody>
          <a:bodyPr wrap="square" rtlCol="0" anchor="ctr"/>
          <a:lstStyle/>
          <a:p>
            <a:pPr indent="0" marL="0">
              <a:lnSpc>
                <a:spcPct val="125000"/>
              </a:lnSpc>
              <a:buNone/>
            </a:pPr>
            <a:r>
              <a:rPr lang="en-US" sz="1150" dirty="0">
                <a:solidFill>
                  <a:srgbClr val="475569"/>
                </a:solidFill>
                <a:latin typeface="Arial" pitchFamily="34" charset="0"/>
                <a:ea typeface="Arial" pitchFamily="34" charset="-122"/>
                <a:cs typeface="Arial" pitchFamily="34" charset="-120"/>
              </a:rPr>
              <a:t>Land use, zoning, and escrow checks run concurrently — not sequentially.</a:t>
            </a:r>
            <a:endParaRPr lang="en-US" sz="1150" dirty="0"/>
          </a:p>
        </p:txBody>
      </p:sp>
      <p:sp>
        <p:nvSpPr>
          <p:cNvPr id="25" name="Text 23"/>
          <p:cNvSpPr/>
          <p:nvPr/>
        </p:nvSpPr>
        <p:spPr>
          <a:xfrm>
            <a:off x="457200" y="6547104"/>
            <a:ext cx="8686800" cy="256032"/>
          </a:xfrm>
          <a:prstGeom prst="rect">
            <a:avLst/>
          </a:prstGeom>
          <a:noFill/>
          <a:ln/>
        </p:spPr>
        <p:txBody>
          <a:bodyPr wrap="square" rtlCol="0" anchor="ctr"/>
          <a:lstStyle/>
          <a:p>
            <a:pPr algn="l" indent="0" marL="0">
              <a:buNone/>
            </a:pPr>
            <a:r>
              <a:rPr lang="en-US" sz="750" dirty="0">
                <a:solidFill>
                  <a:srgbClr val="94A3B8"/>
                </a:solidFill>
                <a:latin typeface="Arial" pitchFamily="34" charset="0"/>
                <a:ea typeface="Arial" pitchFamily="34" charset="-122"/>
                <a:cs typeface="Arial" pitchFamily="34" charset="-120"/>
              </a:rPr>
              <a:t>SOCIII Inc. · Title vertical — pilot partner: regional title operation, target Q3 2026</a:t>
            </a:r>
            <a:endParaRPr lang="en-US" sz="750" dirty="0"/>
          </a:p>
        </p:txBody>
      </p:sp>
      <p:sp>
        <p:nvSpPr>
          <p:cNvPr id="26" name="Text 24"/>
          <p:cNvSpPr/>
          <p:nvPr/>
        </p:nvSpPr>
        <p:spPr>
          <a:xfrm>
            <a:off x="9418320" y="6547104"/>
            <a:ext cx="2313432" cy="256032"/>
          </a:xfrm>
          <a:prstGeom prst="rect">
            <a:avLst/>
          </a:prstGeom>
          <a:noFill/>
          <a:ln/>
        </p:spPr>
        <p:txBody>
          <a:bodyPr wrap="square" rtlCol="0" anchor="ctr"/>
          <a:lstStyle/>
          <a:p>
            <a:pPr algn="r" indent="0" marL="0">
              <a:buNone/>
            </a:pPr>
            <a:r>
              <a:rPr lang="en-US" sz="750" dirty="0">
                <a:solidFill>
                  <a:srgbClr val="94A3B8"/>
                </a:solidFill>
                <a:latin typeface="Arial" pitchFamily="34" charset="0"/>
                <a:ea typeface="Arial" pitchFamily="34" charset="-122"/>
                <a:cs typeface="Arial" pitchFamily="34" charset="-120"/>
              </a:rPr>
              <a:t>Patent pending (USPTO filings May 2026) · sociii.ai · 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100" b="1" spc="200" kern="0" dirty="0">
                <a:solidFill>
                  <a:srgbClr val="7C3AED"/>
                </a:solidFill>
                <a:latin typeface="Arial" pitchFamily="34" charset="0"/>
                <a:ea typeface="Arial" pitchFamily="34" charset="-122"/>
                <a:cs typeface="Arial" pitchFamily="34" charset="-120"/>
              </a:rPr>
              <a:t>THE FINANCIAL CASE</a:t>
            </a:r>
            <a:endParaRPr lang="en-US" sz="11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For a Title Office Handling 100 Orders a Month</a:t>
            </a:r>
            <a:endParaRPr lang="en-US" sz="2600" dirty="0"/>
          </a:p>
        </p:txBody>
      </p:sp>
      <p:sp>
        <p:nvSpPr>
          <p:cNvPr id="4" name="Shape 2"/>
          <p:cNvSpPr/>
          <p:nvPr/>
        </p:nvSpPr>
        <p:spPr>
          <a:xfrm>
            <a:off x="548640" y="1335024"/>
            <a:ext cx="11091672" cy="27432"/>
          </a:xfrm>
          <a:prstGeom prst="rect">
            <a:avLst/>
          </a:prstGeom>
          <a:solidFill>
            <a:srgbClr val="7C3AED"/>
          </a:solidFill>
          <a:ln/>
        </p:spPr>
      </p:sp>
      <p:sp>
        <p:nvSpPr>
          <p:cNvPr id="5" name="Shape 3"/>
          <p:cNvSpPr/>
          <p:nvPr/>
        </p:nvSpPr>
        <p:spPr>
          <a:xfrm>
            <a:off x="548640" y="1691640"/>
            <a:ext cx="5349240" cy="4160520"/>
          </a:xfrm>
          <a:prstGeom prst="rect">
            <a:avLst/>
          </a:prstGeom>
          <a:solidFill>
            <a:srgbClr val="F8FAFC"/>
          </a:solidFill>
          <a:ln w="9525">
            <a:solidFill>
              <a:srgbClr val="E2E8F0"/>
            </a:solidFill>
            <a:prstDash val="solid"/>
          </a:ln>
        </p:spPr>
      </p:sp>
      <p:sp>
        <p:nvSpPr>
          <p:cNvPr id="6" name="Text 4"/>
          <p:cNvSpPr/>
          <p:nvPr/>
        </p:nvSpPr>
        <p:spPr>
          <a:xfrm>
            <a:off x="822960" y="1920240"/>
            <a:ext cx="4572000" cy="320040"/>
          </a:xfrm>
          <a:prstGeom prst="rect">
            <a:avLst/>
          </a:prstGeom>
          <a:noFill/>
          <a:ln/>
        </p:spPr>
        <p:txBody>
          <a:bodyPr wrap="square" rtlCol="0" anchor="ctr"/>
          <a:lstStyle/>
          <a:p>
            <a:pPr indent="0" marL="0">
              <a:buNone/>
            </a:pPr>
            <a:r>
              <a:rPr lang="en-US" sz="1100" b="1" spc="150" kern="0" dirty="0">
                <a:solidFill>
                  <a:srgbClr val="64748B"/>
                </a:solidFill>
                <a:latin typeface="Arial" pitchFamily="34" charset="0"/>
                <a:ea typeface="Arial" pitchFamily="34" charset="-122"/>
                <a:cs typeface="Arial" pitchFamily="34" charset="-120"/>
              </a:rPr>
              <a:t>BEFORE</a:t>
            </a:r>
            <a:endParaRPr lang="en-US" sz="1100" dirty="0"/>
          </a:p>
        </p:txBody>
      </p:sp>
      <p:sp>
        <p:nvSpPr>
          <p:cNvPr id="7" name="Text 5"/>
          <p:cNvSpPr/>
          <p:nvPr/>
        </p:nvSpPr>
        <p:spPr>
          <a:xfrm>
            <a:off x="822960" y="2240280"/>
            <a:ext cx="4572000" cy="685800"/>
          </a:xfrm>
          <a:prstGeom prst="rect">
            <a:avLst/>
          </a:prstGeom>
          <a:noFill/>
          <a:ln/>
        </p:spPr>
        <p:txBody>
          <a:bodyPr wrap="square" rtlCol="0" anchor="ctr"/>
          <a:lstStyle/>
          <a:p>
            <a:pPr indent="0" marL="0">
              <a:buNone/>
            </a:pPr>
            <a:r>
              <a:rPr lang="en-US" sz="3200" b="1" dirty="0">
                <a:solidFill>
                  <a:srgbClr val="0F172A"/>
                </a:solidFill>
                <a:latin typeface="Arial" pitchFamily="34" charset="0"/>
                <a:ea typeface="Arial" pitchFamily="34" charset="-122"/>
                <a:cs typeface="Arial" pitchFamily="34" charset="-120"/>
              </a:rPr>
              <a:t>$180K–280K/yr</a:t>
            </a:r>
            <a:endParaRPr lang="en-US" sz="3200" dirty="0"/>
          </a:p>
        </p:txBody>
      </p:sp>
      <p:sp>
        <p:nvSpPr>
          <p:cNvPr id="8" name="Text 6"/>
          <p:cNvSpPr/>
          <p:nvPr/>
        </p:nvSpPr>
        <p:spPr>
          <a:xfrm>
            <a:off x="822960" y="2971800"/>
            <a:ext cx="4754880" cy="914400"/>
          </a:xfrm>
          <a:prstGeom prst="rect">
            <a:avLst/>
          </a:prstGeom>
          <a:noFill/>
          <a:ln/>
        </p:spPr>
        <p:txBody>
          <a:bodyPr wrap="square" rtlCol="0" anchor="ctr"/>
          <a:lstStyle/>
          <a:p>
            <a:pPr indent="0" marL="0">
              <a:lnSpc>
                <a:spcPct val="130000"/>
              </a:lnSpc>
              <a:buNone/>
            </a:pPr>
            <a:r>
              <a:rPr lang="en-US" sz="1250" dirty="0">
                <a:solidFill>
                  <a:srgbClr val="475569"/>
                </a:solidFill>
                <a:latin typeface="Arial" pitchFamily="34" charset="0"/>
                <a:ea typeface="Arial" pitchFamily="34" charset="-122"/>
                <a:cs typeface="Arial" pitchFamily="34" charset="-120"/>
              </a:rPr>
              <a:t>Two to four closers, a transaction coordinator, and a dedicated staff member managing the documentation trail across each file.</a:t>
            </a:r>
            <a:endParaRPr lang="en-US" sz="1250" dirty="0"/>
          </a:p>
        </p:txBody>
      </p:sp>
      <p:sp>
        <p:nvSpPr>
          <p:cNvPr id="9" name="Shape 7"/>
          <p:cNvSpPr/>
          <p:nvPr/>
        </p:nvSpPr>
        <p:spPr>
          <a:xfrm>
            <a:off x="822960" y="4023360"/>
            <a:ext cx="4754880" cy="10973"/>
          </a:xfrm>
          <a:prstGeom prst="rect">
            <a:avLst/>
          </a:prstGeom>
          <a:solidFill>
            <a:srgbClr val="CBD5E1"/>
          </a:solidFill>
          <a:ln/>
        </p:spPr>
      </p:sp>
      <p:sp>
        <p:nvSpPr>
          <p:cNvPr id="10" name="Text 8"/>
          <p:cNvSpPr/>
          <p:nvPr/>
        </p:nvSpPr>
        <p:spPr>
          <a:xfrm>
            <a:off x="822960" y="4206240"/>
            <a:ext cx="4754880" cy="1371600"/>
          </a:xfrm>
          <a:prstGeom prst="rect">
            <a:avLst/>
          </a:prstGeom>
          <a:noFill/>
          <a:ln/>
        </p:spPr>
        <p:txBody>
          <a:bodyPr wrap="square" rtlCol="0" anchor="ctr"/>
          <a:lstStyle/>
          <a:p>
            <a:pPr indent="0" marL="0">
              <a:lnSpc>
                <a:spcPct val="130000"/>
              </a:lnSpc>
              <a:buNone/>
            </a:pPr>
            <a:r>
              <a:rPr lang="en-US" sz="1250" dirty="0">
                <a:solidFill>
                  <a:srgbClr val="475569"/>
                </a:solidFill>
                <a:latin typeface="Arial" pitchFamily="34" charset="0"/>
                <a:ea typeface="Arial" pitchFamily="34" charset="-122"/>
                <a:cs typeface="Arial" pitchFamily="34" charset="-120"/>
              </a:rPr>
              <a:t>Five disconnected software subscriptions that don't talk to each other, plus the consultant who gets called in when something falls through the cracks.</a:t>
            </a:r>
            <a:endParaRPr lang="en-US" sz="1250" dirty="0"/>
          </a:p>
        </p:txBody>
      </p:sp>
      <p:sp>
        <p:nvSpPr>
          <p:cNvPr id="11" name="Shape 9"/>
          <p:cNvSpPr/>
          <p:nvPr/>
        </p:nvSpPr>
        <p:spPr>
          <a:xfrm>
            <a:off x="6172200" y="1691640"/>
            <a:ext cx="5349240" cy="4160520"/>
          </a:xfrm>
          <a:prstGeom prst="rect">
            <a:avLst/>
          </a:prstGeom>
          <a:solidFill>
            <a:srgbClr val="F5F3FF"/>
          </a:solidFill>
          <a:ln w="12700">
            <a:solidFill>
              <a:srgbClr val="7C3AED"/>
            </a:solidFill>
            <a:prstDash val="solid"/>
          </a:ln>
        </p:spPr>
      </p:sp>
      <p:sp>
        <p:nvSpPr>
          <p:cNvPr id="12" name="Text 10"/>
          <p:cNvSpPr/>
          <p:nvPr/>
        </p:nvSpPr>
        <p:spPr>
          <a:xfrm>
            <a:off x="6446520" y="1920240"/>
            <a:ext cx="4572000" cy="320040"/>
          </a:xfrm>
          <a:prstGeom prst="rect">
            <a:avLst/>
          </a:prstGeom>
          <a:noFill/>
          <a:ln/>
        </p:spPr>
        <p:txBody>
          <a:bodyPr wrap="square" rtlCol="0" anchor="ctr"/>
          <a:lstStyle/>
          <a:p>
            <a:pPr indent="0" marL="0">
              <a:buNone/>
            </a:pPr>
            <a:r>
              <a:rPr lang="en-US" sz="1100" b="1" spc="150" kern="0" dirty="0">
                <a:solidFill>
                  <a:srgbClr val="7C3AED"/>
                </a:solidFill>
                <a:latin typeface="Arial" pitchFamily="34" charset="0"/>
                <a:ea typeface="Arial" pitchFamily="34" charset="-122"/>
                <a:cs typeface="Arial" pitchFamily="34" charset="-120"/>
              </a:rPr>
              <a:t>AFTER — SOCIII</a:t>
            </a:r>
            <a:endParaRPr lang="en-US" sz="1100" dirty="0"/>
          </a:p>
        </p:txBody>
      </p:sp>
      <p:sp>
        <p:nvSpPr>
          <p:cNvPr id="13" name="Text 11"/>
          <p:cNvSpPr/>
          <p:nvPr/>
        </p:nvSpPr>
        <p:spPr>
          <a:xfrm>
            <a:off x="6446520" y="2240280"/>
            <a:ext cx="4846320" cy="685800"/>
          </a:xfrm>
          <a:prstGeom prst="rect">
            <a:avLst/>
          </a:prstGeom>
          <a:noFill/>
          <a:ln/>
        </p:spPr>
        <p:txBody>
          <a:bodyPr wrap="square" rtlCol="0" anchor="ctr"/>
          <a:lstStyle/>
          <a:p>
            <a:pPr indent="0" marL="0">
              <a:buNone/>
            </a:pPr>
            <a:r>
              <a:rPr lang="en-US" sz="3300" b="1" dirty="0">
                <a:solidFill>
                  <a:srgbClr val="3E9B5F"/>
                </a:solidFill>
                <a:latin typeface="Arial" pitchFamily="34" charset="0"/>
                <a:ea typeface="Arial" pitchFamily="34" charset="-122"/>
                <a:cs typeface="Arial" pitchFamily="34" charset="-120"/>
              </a:rPr>
              <a:t>$99–499/mo</a:t>
            </a:r>
            <a:endParaRPr lang="en-US" sz="3300" dirty="0"/>
          </a:p>
        </p:txBody>
      </p:sp>
      <p:sp>
        <p:nvSpPr>
          <p:cNvPr id="14" name="Text 12"/>
          <p:cNvSpPr/>
          <p:nvPr/>
        </p:nvSpPr>
        <p:spPr>
          <a:xfrm>
            <a:off x="6446520" y="2971800"/>
            <a:ext cx="4754880" cy="914400"/>
          </a:xfrm>
          <a:prstGeom prst="rect">
            <a:avLst/>
          </a:prstGeom>
          <a:noFill/>
          <a:ln/>
        </p:spPr>
        <p:txBody>
          <a:bodyPr wrap="square" rtlCol="0" anchor="ctr"/>
          <a:lstStyle/>
          <a:p>
            <a:pPr indent="0" marL="0">
              <a:lnSpc>
                <a:spcPct val="130000"/>
              </a:lnSpc>
              <a:buNone/>
            </a:pPr>
            <a:r>
              <a:rPr lang="en-US" sz="1250" dirty="0">
                <a:solidFill>
                  <a:srgbClr val="1A202C"/>
                </a:solidFill>
                <a:latin typeface="Arial" pitchFamily="34" charset="0"/>
                <a:ea typeface="Arial" pitchFamily="34" charset="-122"/>
                <a:cs typeface="Arial" pitchFamily="34" charset="-120"/>
              </a:rPr>
              <a:t>Alex tracks every order, every outstanding document, and every deadline simultaneously — the coordination overhead that previously required a dedicated coordinator.</a:t>
            </a:r>
            <a:endParaRPr lang="en-US" sz="1250" dirty="0"/>
          </a:p>
        </p:txBody>
      </p:sp>
      <p:sp>
        <p:nvSpPr>
          <p:cNvPr id="15" name="Shape 13"/>
          <p:cNvSpPr/>
          <p:nvPr/>
        </p:nvSpPr>
        <p:spPr>
          <a:xfrm>
            <a:off x="6446520" y="4023360"/>
            <a:ext cx="4754880" cy="10973"/>
          </a:xfrm>
          <a:prstGeom prst="rect">
            <a:avLst/>
          </a:prstGeom>
          <a:solidFill>
            <a:srgbClr val="A78BFA"/>
          </a:solidFill>
          <a:ln/>
        </p:spPr>
      </p:sp>
      <p:sp>
        <p:nvSpPr>
          <p:cNvPr id="16" name="Text 14"/>
          <p:cNvSpPr/>
          <p:nvPr/>
        </p:nvSpPr>
        <p:spPr>
          <a:xfrm>
            <a:off x="6446520" y="4206240"/>
            <a:ext cx="4754880" cy="1371600"/>
          </a:xfrm>
          <a:prstGeom prst="rect">
            <a:avLst/>
          </a:prstGeom>
          <a:noFill/>
          <a:ln/>
        </p:spPr>
        <p:txBody>
          <a:bodyPr wrap="square" rtlCol="0" anchor="ctr"/>
          <a:lstStyle/>
          <a:p>
            <a:pPr indent="0" marL="0">
              <a:lnSpc>
                <a:spcPct val="130000"/>
              </a:lnSpc>
              <a:buNone/>
            </a:pPr>
            <a:r>
              <a:rPr lang="en-US" sz="1250" dirty="0">
                <a:solidFill>
                  <a:srgbClr val="1A202C"/>
                </a:solidFill>
                <a:latin typeface="Arial" pitchFamily="34" charset="0"/>
                <a:ea typeface="Arial" pitchFamily="34" charset="-122"/>
                <a:cs typeface="Arial" pitchFamily="34" charset="-120"/>
              </a:rPr>
              <a:t>Every property record written into the SOCIII ledger compounds in value as the network grows — the next order on that property is faster and cheaper.</a:t>
            </a:r>
            <a:endParaRPr lang="en-US" sz="1250" dirty="0"/>
          </a:p>
        </p:txBody>
      </p:sp>
      <p:sp>
        <p:nvSpPr>
          <p:cNvPr id="17" name="Text 15"/>
          <p:cNvSpPr/>
          <p:nvPr/>
        </p:nvSpPr>
        <p:spPr>
          <a:xfrm>
            <a:off x="457200" y="6547104"/>
            <a:ext cx="8686800" cy="256032"/>
          </a:xfrm>
          <a:prstGeom prst="rect">
            <a:avLst/>
          </a:prstGeom>
          <a:noFill/>
          <a:ln/>
        </p:spPr>
        <p:txBody>
          <a:bodyPr wrap="square" rtlCol="0" anchor="ctr"/>
          <a:lstStyle/>
          <a:p>
            <a:pPr algn="l" indent="0" marL="0">
              <a:buNone/>
            </a:pPr>
            <a:r>
              <a:rPr lang="en-US" sz="750" dirty="0">
                <a:solidFill>
                  <a:srgbClr val="94A3B8"/>
                </a:solidFill>
                <a:latin typeface="Arial" pitchFamily="34" charset="0"/>
                <a:ea typeface="Arial" pitchFamily="34" charset="-122"/>
                <a:cs typeface="Arial" pitchFamily="34" charset="-120"/>
              </a:rPr>
              <a:t>SOCIII Inc. · Title vertical — pilot partner: regional title operation, target Q3 2026</a:t>
            </a:r>
            <a:endParaRPr lang="en-US" sz="750" dirty="0"/>
          </a:p>
        </p:txBody>
      </p:sp>
      <p:sp>
        <p:nvSpPr>
          <p:cNvPr id="18" name="Text 16"/>
          <p:cNvSpPr/>
          <p:nvPr/>
        </p:nvSpPr>
        <p:spPr>
          <a:xfrm>
            <a:off x="9418320" y="6547104"/>
            <a:ext cx="2313432" cy="256032"/>
          </a:xfrm>
          <a:prstGeom prst="rect">
            <a:avLst/>
          </a:prstGeom>
          <a:noFill/>
          <a:ln/>
        </p:spPr>
        <p:txBody>
          <a:bodyPr wrap="square" rtlCol="0" anchor="ctr"/>
          <a:lstStyle/>
          <a:p>
            <a:pPr algn="r" indent="0" marL="0">
              <a:buNone/>
            </a:pPr>
            <a:r>
              <a:rPr lang="en-US" sz="750" dirty="0">
                <a:solidFill>
                  <a:srgbClr val="94A3B8"/>
                </a:solidFill>
                <a:latin typeface="Arial" pitchFamily="34" charset="0"/>
                <a:ea typeface="Arial" pitchFamily="34" charset="-122"/>
                <a:cs typeface="Arial" pitchFamily="34" charset="-120"/>
              </a:rPr>
              <a:t>Patent pending (USPTO filings May 2026) · sociii.ai · 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100" b="1" spc="200" kern="0" dirty="0">
                <a:solidFill>
                  <a:srgbClr val="7C3AED"/>
                </a:solidFill>
                <a:latin typeface="Arial" pitchFamily="34" charset="0"/>
                <a:ea typeface="Arial" pitchFamily="34" charset="-122"/>
                <a:cs typeface="Arial" pitchFamily="34" charset="-120"/>
              </a:rPr>
              <a:t>THE FORCE MULTIPLIER</a:t>
            </a:r>
            <a:endParaRPr lang="en-US" sz="11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One Closer, Ten Active Orders</a:t>
            </a:r>
            <a:endParaRPr lang="en-US" sz="2600" dirty="0"/>
          </a:p>
        </p:txBody>
      </p:sp>
      <p:sp>
        <p:nvSpPr>
          <p:cNvPr id="4" name="Shape 2"/>
          <p:cNvSpPr/>
          <p:nvPr/>
        </p:nvSpPr>
        <p:spPr>
          <a:xfrm>
            <a:off x="548640" y="1335024"/>
            <a:ext cx="11091672" cy="27432"/>
          </a:xfrm>
          <a:prstGeom prst="rect">
            <a:avLst/>
          </a:prstGeom>
          <a:solidFill>
            <a:srgbClr val="7C3AED"/>
          </a:solidFill>
          <a:ln/>
        </p:spPr>
      </p:sp>
      <p:sp>
        <p:nvSpPr>
          <p:cNvPr id="5" name="Shape 3"/>
          <p:cNvSpPr/>
          <p:nvPr/>
        </p:nvSpPr>
        <p:spPr>
          <a:xfrm>
            <a:off x="548640" y="1783080"/>
            <a:ext cx="11091672" cy="1417320"/>
          </a:xfrm>
          <a:prstGeom prst="rect">
            <a:avLst/>
          </a:prstGeom>
          <a:solidFill>
            <a:srgbClr val="F8FAFC"/>
          </a:solidFill>
          <a:ln/>
        </p:spPr>
      </p:sp>
      <p:sp>
        <p:nvSpPr>
          <p:cNvPr id="6" name="Text 4"/>
          <p:cNvSpPr/>
          <p:nvPr/>
        </p:nvSpPr>
        <p:spPr>
          <a:xfrm>
            <a:off x="868680" y="1965960"/>
            <a:ext cx="2743200" cy="292608"/>
          </a:xfrm>
          <a:prstGeom prst="rect">
            <a:avLst/>
          </a:prstGeom>
          <a:noFill/>
          <a:ln/>
        </p:spPr>
        <p:txBody>
          <a:bodyPr wrap="square" rtlCol="0" anchor="ctr"/>
          <a:lstStyle/>
          <a:p>
            <a:pPr indent="0" marL="0">
              <a:buNone/>
            </a:pPr>
            <a:r>
              <a:rPr lang="en-US" sz="1000" b="1" spc="150" kern="0" dirty="0">
                <a:solidFill>
                  <a:srgbClr val="64748B"/>
                </a:solidFill>
                <a:latin typeface="Arial" pitchFamily="34" charset="0"/>
                <a:ea typeface="Arial" pitchFamily="34" charset="-122"/>
                <a:cs typeface="Arial" pitchFamily="34" charset="-120"/>
              </a:rPr>
              <a:t>BEFORE</a:t>
            </a:r>
            <a:endParaRPr lang="en-US" sz="1000" dirty="0"/>
          </a:p>
        </p:txBody>
      </p:sp>
      <p:sp>
        <p:nvSpPr>
          <p:cNvPr id="7" name="Text 5"/>
          <p:cNvSpPr/>
          <p:nvPr/>
        </p:nvSpPr>
        <p:spPr>
          <a:xfrm>
            <a:off x="868680" y="2267712"/>
            <a:ext cx="10424160" cy="822960"/>
          </a:xfrm>
          <a:prstGeom prst="rect">
            <a:avLst/>
          </a:prstGeom>
          <a:noFill/>
          <a:ln/>
        </p:spPr>
        <p:txBody>
          <a:bodyPr wrap="square" rtlCol="0" anchor="ctr"/>
          <a:lstStyle/>
          <a:p>
            <a:pPr indent="0" marL="0">
              <a:lnSpc>
                <a:spcPct val="125000"/>
              </a:lnSpc>
              <a:buNone/>
            </a:pPr>
            <a:r>
              <a:rPr lang="en-US" sz="1400" dirty="0">
                <a:solidFill>
                  <a:srgbClr val="1A202C"/>
                </a:solidFill>
                <a:latin typeface="Arial" pitchFamily="34" charset="0"/>
                <a:ea typeface="Arial" pitchFamily="34" charset="-122"/>
                <a:cs typeface="Arial" pitchFamily="34" charset="-120"/>
              </a:rPr>
              <a:t>1 closer manages 3–5 active orders before coordination overhead degrades quality.</a:t>
            </a:r>
            <a:endParaRPr lang="en-US" sz="1400" dirty="0"/>
          </a:p>
        </p:txBody>
      </p:sp>
      <p:sp>
        <p:nvSpPr>
          <p:cNvPr id="8" name="Shape 6"/>
          <p:cNvSpPr/>
          <p:nvPr/>
        </p:nvSpPr>
        <p:spPr>
          <a:xfrm>
            <a:off x="548640" y="3337560"/>
            <a:ext cx="11091672" cy="1417320"/>
          </a:xfrm>
          <a:prstGeom prst="rect">
            <a:avLst/>
          </a:prstGeom>
          <a:solidFill>
            <a:srgbClr val="F5F3FF"/>
          </a:solidFill>
          <a:ln/>
        </p:spPr>
      </p:sp>
      <p:sp>
        <p:nvSpPr>
          <p:cNvPr id="9" name="Text 7"/>
          <p:cNvSpPr/>
          <p:nvPr/>
        </p:nvSpPr>
        <p:spPr>
          <a:xfrm>
            <a:off x="868680" y="3520440"/>
            <a:ext cx="2743200" cy="292608"/>
          </a:xfrm>
          <a:prstGeom prst="rect">
            <a:avLst/>
          </a:prstGeom>
          <a:noFill/>
          <a:ln/>
        </p:spPr>
        <p:txBody>
          <a:bodyPr wrap="square" rtlCol="0" anchor="ctr"/>
          <a:lstStyle/>
          <a:p>
            <a:pPr indent="0" marL="0">
              <a:buNone/>
            </a:pPr>
            <a:r>
              <a:rPr lang="en-US" sz="1000" b="1" spc="150" kern="0" dirty="0">
                <a:solidFill>
                  <a:srgbClr val="7C3AED"/>
                </a:solidFill>
                <a:latin typeface="Arial" pitchFamily="34" charset="0"/>
                <a:ea typeface="Arial" pitchFamily="34" charset="-122"/>
                <a:cs typeface="Arial" pitchFamily="34" charset="-120"/>
              </a:rPr>
              <a:t>AFTER</a:t>
            </a:r>
            <a:endParaRPr lang="en-US" sz="1000" dirty="0"/>
          </a:p>
        </p:txBody>
      </p:sp>
      <p:sp>
        <p:nvSpPr>
          <p:cNvPr id="10" name="Text 8"/>
          <p:cNvSpPr/>
          <p:nvPr/>
        </p:nvSpPr>
        <p:spPr>
          <a:xfrm>
            <a:off x="868680" y="3822192"/>
            <a:ext cx="10424160" cy="822960"/>
          </a:xfrm>
          <a:prstGeom prst="rect">
            <a:avLst/>
          </a:prstGeom>
          <a:noFill/>
          <a:ln/>
        </p:spPr>
        <p:txBody>
          <a:bodyPr wrap="square" rtlCol="0" anchor="ctr"/>
          <a:lstStyle/>
          <a:p>
            <a:pPr indent="0" marL="0">
              <a:lnSpc>
                <a:spcPct val="125000"/>
              </a:lnSpc>
              <a:buNone/>
            </a:pPr>
            <a:r>
              <a:rPr lang="en-US" sz="1400" dirty="0">
                <a:solidFill>
                  <a:srgbClr val="0F172A"/>
                </a:solidFill>
                <a:latin typeface="Arial" pitchFamily="34" charset="0"/>
                <a:ea typeface="Arial" pitchFamily="34" charset="-122"/>
                <a:cs typeface="Arial" pitchFamily="34" charset="-120"/>
              </a:rPr>
              <a:t>1 closer manages 10+ active orders. Alex handles the coordination layer — deadlines, documents, and communications tracked across every open file simultaneously.</a:t>
            </a:r>
            <a:endParaRPr lang="en-US" sz="1400" dirty="0"/>
          </a:p>
        </p:txBody>
      </p:sp>
      <p:sp>
        <p:nvSpPr>
          <p:cNvPr id="11" name="Text 9"/>
          <p:cNvSpPr/>
          <p:nvPr/>
        </p:nvSpPr>
        <p:spPr>
          <a:xfrm>
            <a:off x="548640" y="5074920"/>
            <a:ext cx="11064240" cy="777240"/>
          </a:xfrm>
          <a:prstGeom prst="rect">
            <a:avLst/>
          </a:prstGeom>
          <a:noFill/>
          <a:ln/>
        </p:spPr>
        <p:txBody>
          <a:bodyPr wrap="square" rtlCol="0" anchor="ctr"/>
          <a:lstStyle/>
          <a:p>
            <a:pPr indent="0" marL="0">
              <a:lnSpc>
                <a:spcPct val="130000"/>
              </a:lnSpc>
              <a:buNone/>
            </a:pPr>
            <a:r>
              <a:rPr lang="en-US" sz="1350" i="1" dirty="0">
                <a:solidFill>
                  <a:srgbClr val="475569"/>
                </a:solidFill>
                <a:latin typeface="Arial" pitchFamily="34" charset="0"/>
                <a:ea typeface="Arial" pitchFamily="34" charset="-122"/>
                <a:cs typeface="Arial" pitchFamily="34" charset="-120"/>
              </a:rPr>
              <a:t>The savings are not incremental. They are structural — the operations that scale past 20 orders per closer will do it by solving coordination, not by hiring more staff.</a:t>
            </a:r>
            <a:endParaRPr lang="en-US" sz="1350" dirty="0"/>
          </a:p>
        </p:txBody>
      </p:sp>
      <p:sp>
        <p:nvSpPr>
          <p:cNvPr id="12" name="Text 10"/>
          <p:cNvSpPr/>
          <p:nvPr/>
        </p:nvSpPr>
        <p:spPr>
          <a:xfrm>
            <a:off x="457200" y="6547104"/>
            <a:ext cx="8686800" cy="256032"/>
          </a:xfrm>
          <a:prstGeom prst="rect">
            <a:avLst/>
          </a:prstGeom>
          <a:noFill/>
          <a:ln/>
        </p:spPr>
        <p:txBody>
          <a:bodyPr wrap="square" rtlCol="0" anchor="ctr"/>
          <a:lstStyle/>
          <a:p>
            <a:pPr algn="l" indent="0" marL="0">
              <a:buNone/>
            </a:pPr>
            <a:r>
              <a:rPr lang="en-US" sz="750" dirty="0">
                <a:solidFill>
                  <a:srgbClr val="94A3B8"/>
                </a:solidFill>
                <a:latin typeface="Arial" pitchFamily="34" charset="0"/>
                <a:ea typeface="Arial" pitchFamily="34" charset="-122"/>
                <a:cs typeface="Arial" pitchFamily="34" charset="-120"/>
              </a:rPr>
              <a:t>SOCIII Inc. · Title vertical — pilot partner: regional title operation, target Q3 2026</a:t>
            </a:r>
            <a:endParaRPr lang="en-US" sz="750" dirty="0"/>
          </a:p>
        </p:txBody>
      </p:sp>
      <p:sp>
        <p:nvSpPr>
          <p:cNvPr id="13" name="Text 11"/>
          <p:cNvSpPr/>
          <p:nvPr/>
        </p:nvSpPr>
        <p:spPr>
          <a:xfrm>
            <a:off x="9418320" y="6547104"/>
            <a:ext cx="2313432" cy="256032"/>
          </a:xfrm>
          <a:prstGeom prst="rect">
            <a:avLst/>
          </a:prstGeom>
          <a:noFill/>
          <a:ln/>
        </p:spPr>
        <p:txBody>
          <a:bodyPr wrap="square" rtlCol="0" anchor="ctr"/>
          <a:lstStyle/>
          <a:p>
            <a:pPr algn="r" indent="0" marL="0">
              <a:buNone/>
            </a:pPr>
            <a:r>
              <a:rPr lang="en-US" sz="750" dirty="0">
                <a:solidFill>
                  <a:srgbClr val="94A3B8"/>
                </a:solidFill>
                <a:latin typeface="Arial" pitchFamily="34" charset="0"/>
                <a:ea typeface="Arial" pitchFamily="34" charset="-122"/>
                <a:cs typeface="Arial" pitchFamily="34" charset="-120"/>
              </a:rPr>
              <a:t>Patent pending (USPTO filings May 2026) · sociii.ai · 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100" b="1" spc="200" kern="0" dirty="0">
                <a:solidFill>
                  <a:srgbClr val="7C3AED"/>
                </a:solidFill>
                <a:latin typeface="Arial" pitchFamily="34" charset="0"/>
                <a:ea typeface="Arial" pitchFamily="34" charset="-122"/>
                <a:cs typeface="Arial" pitchFamily="34" charset="-120"/>
              </a:rPr>
              <a:t>THE ARCHITECTURE</a:t>
            </a:r>
            <a:endParaRPr lang="en-US" sz="11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Append-Only Records, Anchored for Tamper-Evidence</a:t>
            </a:r>
            <a:endParaRPr lang="en-US" sz="2600" dirty="0"/>
          </a:p>
        </p:txBody>
      </p:sp>
      <p:sp>
        <p:nvSpPr>
          <p:cNvPr id="4" name="Shape 2"/>
          <p:cNvSpPr/>
          <p:nvPr/>
        </p:nvSpPr>
        <p:spPr>
          <a:xfrm>
            <a:off x="548640" y="1335024"/>
            <a:ext cx="11091672" cy="27432"/>
          </a:xfrm>
          <a:prstGeom prst="rect">
            <a:avLst/>
          </a:prstGeom>
          <a:solidFill>
            <a:srgbClr val="7C3AED"/>
          </a:solidFill>
          <a:ln/>
        </p:spPr>
      </p:sp>
      <p:sp>
        <p:nvSpPr>
          <p:cNvPr id="5" name="Text 3"/>
          <p:cNvSpPr/>
          <p:nvPr/>
        </p:nvSpPr>
        <p:spPr>
          <a:xfrm>
            <a:off x="548640" y="1645920"/>
            <a:ext cx="5120640" cy="2194560"/>
          </a:xfrm>
          <a:prstGeom prst="rect">
            <a:avLst/>
          </a:prstGeom>
          <a:noFill/>
          <a:ln/>
        </p:spPr>
        <p:txBody>
          <a:bodyPr wrap="square" rtlCol="0" anchor="ctr"/>
          <a:lstStyle/>
          <a:p>
            <a:pPr indent="0" marL="0">
              <a:lnSpc>
                <a:spcPct val="135000"/>
              </a:lnSpc>
              <a:buNone/>
            </a:pPr>
            <a:r>
              <a:rPr lang="en-US" sz="1400" dirty="0">
                <a:solidFill>
                  <a:srgbClr val="1A202C"/>
                </a:solidFill>
                <a:latin typeface="Arial" pitchFamily="34" charset="0"/>
                <a:ea typeface="Arial" pitchFamily="34" charset="-122"/>
                <a:cs typeface="Arial" pitchFamily="34" charset="-120"/>
              </a:rPr>
              <a:t>Every ownership transfer, lien attachment, release, judgment, and easement is written as an immutable event with a timestamp, a hash, and an AI-verifiable source citation. Once a property's full history is in that ledger, the next search doesn't start from county records — it starts from the last verified state.</a:t>
            </a:r>
            <a:endParaRPr lang="en-US" sz="1400" dirty="0"/>
          </a:p>
        </p:txBody>
      </p:sp>
      <p:sp>
        <p:nvSpPr>
          <p:cNvPr id="6" name="Text 4"/>
          <p:cNvSpPr/>
          <p:nvPr/>
        </p:nvSpPr>
        <p:spPr>
          <a:xfrm>
            <a:off x="548640" y="3931920"/>
            <a:ext cx="5120640" cy="1737360"/>
          </a:xfrm>
          <a:prstGeom prst="rect">
            <a:avLst/>
          </a:prstGeom>
          <a:noFill/>
          <a:ln/>
        </p:spPr>
        <p:txBody>
          <a:bodyPr wrap="square" rtlCol="0" anchor="ctr"/>
          <a:lstStyle/>
          <a:p>
            <a:pPr indent="0" marL="0">
              <a:lnSpc>
                <a:spcPct val="135000"/>
              </a:lnSpc>
              <a:buNone/>
            </a:pPr>
            <a:r>
              <a:rPr lang="en-US" sz="1400" dirty="0">
                <a:solidFill>
                  <a:srgbClr val="1A202C"/>
                </a:solidFill>
                <a:latin typeface="Arial" pitchFamily="34" charset="0"/>
                <a:ea typeface="Arial" pitchFamily="34" charset="-122"/>
                <a:cs typeface="Arial" pitchFamily="34" charset="-120"/>
              </a:rPr>
              <a:t>A cryptographic hash of each record is anchored to the Base blockchain by default — publicly verifiable tamper-evidence, not a consumer crypto product. The AI validates every output against a rule before it becomes a record, and the decision logic is portable across AI model providers.</a:t>
            </a:r>
            <a:endParaRPr lang="en-US" sz="1400" dirty="0"/>
          </a:p>
        </p:txBody>
      </p:sp>
      <p:sp>
        <p:nvSpPr>
          <p:cNvPr id="7" name="Shape 5"/>
          <p:cNvSpPr/>
          <p:nvPr/>
        </p:nvSpPr>
        <p:spPr>
          <a:xfrm>
            <a:off x="6446520" y="2377440"/>
            <a:ext cx="1554480" cy="777240"/>
          </a:xfrm>
          <a:prstGeom prst="rect">
            <a:avLst/>
          </a:prstGeom>
          <a:solidFill>
            <a:srgbClr val="F5F3FF"/>
          </a:solidFill>
          <a:ln w="12700">
            <a:solidFill>
              <a:srgbClr val="7C3AED"/>
            </a:solidFill>
            <a:prstDash val="solid"/>
          </a:ln>
        </p:spPr>
      </p:sp>
      <p:sp>
        <p:nvSpPr>
          <p:cNvPr id="8" name="Text 6"/>
          <p:cNvSpPr/>
          <p:nvPr/>
        </p:nvSpPr>
        <p:spPr>
          <a:xfrm>
            <a:off x="6446520" y="2377440"/>
            <a:ext cx="1554480" cy="777240"/>
          </a:xfrm>
          <a:prstGeom prst="rect">
            <a:avLst/>
          </a:prstGeom>
          <a:noFill/>
          <a:ln/>
        </p:spPr>
        <p:txBody>
          <a:bodyPr wrap="square" rtlCol="0" anchor="ctr"/>
          <a:lstStyle/>
          <a:p>
            <a:pPr algn="ctr" indent="0" marL="0">
              <a:buNone/>
            </a:pPr>
            <a:r>
              <a:rPr lang="en-US" sz="1050" b="1" dirty="0">
                <a:solidFill>
                  <a:srgbClr val="0F172A"/>
                </a:solidFill>
                <a:latin typeface="Arial" pitchFamily="34" charset="0"/>
                <a:ea typeface="Arial" pitchFamily="34" charset="-122"/>
                <a:cs typeface="Arial" pitchFamily="34" charset="-120"/>
              </a:rPr>
              <a:t>Ownership</a:t>
            </a:r>
            <a:endParaRPr lang="en-US" sz="1050" dirty="0"/>
          </a:p>
          <a:p>
            <a:pPr algn="ctr" indent="0" marL="0">
              <a:buNone/>
            </a:pPr>
            <a:r>
              <a:rPr lang="en-US" sz="1050" b="1" dirty="0">
                <a:solidFill>
                  <a:srgbClr val="0F172A"/>
                </a:solidFill>
                <a:latin typeface="Arial" pitchFamily="34" charset="0"/>
                <a:ea typeface="Arial" pitchFamily="34" charset="-122"/>
                <a:cs typeface="Arial" pitchFamily="34" charset="-120"/>
              </a:rPr>
              <a:t>transfer</a:t>
            </a:r>
            <a:endParaRPr lang="en-US" sz="1050" dirty="0"/>
          </a:p>
        </p:txBody>
      </p:sp>
      <p:sp>
        <p:nvSpPr>
          <p:cNvPr id="9" name="Text 7"/>
          <p:cNvSpPr/>
          <p:nvPr/>
        </p:nvSpPr>
        <p:spPr>
          <a:xfrm>
            <a:off x="8001000" y="2377440"/>
            <a:ext cx="502920" cy="777240"/>
          </a:xfrm>
          <a:prstGeom prst="rect">
            <a:avLst/>
          </a:prstGeom>
          <a:noFill/>
          <a:ln/>
        </p:spPr>
        <p:txBody>
          <a:bodyPr wrap="square" rtlCol="0" anchor="ctr"/>
          <a:lstStyle/>
          <a:p>
            <a:pPr algn="ctr" indent="0" marL="0">
              <a:buNone/>
            </a:pPr>
            <a:r>
              <a:rPr lang="en-US" sz="1600" dirty="0">
                <a:solidFill>
                  <a:srgbClr val="64748B"/>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8503920" y="2377440"/>
            <a:ext cx="1554480" cy="777240"/>
          </a:xfrm>
          <a:prstGeom prst="rect">
            <a:avLst/>
          </a:prstGeom>
          <a:solidFill>
            <a:srgbClr val="EFFAF3"/>
          </a:solidFill>
          <a:ln w="12700">
            <a:solidFill>
              <a:srgbClr val="3E9B5F"/>
            </a:solidFill>
            <a:prstDash val="solid"/>
          </a:ln>
        </p:spPr>
      </p:sp>
      <p:sp>
        <p:nvSpPr>
          <p:cNvPr id="11" name="Text 9"/>
          <p:cNvSpPr/>
          <p:nvPr/>
        </p:nvSpPr>
        <p:spPr>
          <a:xfrm>
            <a:off x="8503920" y="2377440"/>
            <a:ext cx="1554480" cy="777240"/>
          </a:xfrm>
          <a:prstGeom prst="rect">
            <a:avLst/>
          </a:prstGeom>
          <a:noFill/>
          <a:ln/>
        </p:spPr>
        <p:txBody>
          <a:bodyPr wrap="square" rtlCol="0" anchor="ctr"/>
          <a:lstStyle/>
          <a:p>
            <a:pPr algn="ctr" indent="0" marL="0">
              <a:buNone/>
            </a:pPr>
            <a:r>
              <a:rPr lang="en-US" sz="1050" b="1" dirty="0">
                <a:solidFill>
                  <a:srgbClr val="0F172A"/>
                </a:solidFill>
                <a:latin typeface="Arial" pitchFamily="34" charset="0"/>
                <a:ea typeface="Arial" pitchFamily="34" charset="-122"/>
                <a:cs typeface="Arial" pitchFamily="34" charset="-120"/>
              </a:rPr>
              <a:t>Lien</a:t>
            </a:r>
            <a:endParaRPr lang="en-US" sz="1050" dirty="0"/>
          </a:p>
          <a:p>
            <a:pPr algn="ctr" indent="0" marL="0">
              <a:buNone/>
            </a:pPr>
            <a:r>
              <a:rPr lang="en-US" sz="1050" b="1" dirty="0">
                <a:solidFill>
                  <a:srgbClr val="0F172A"/>
                </a:solidFill>
                <a:latin typeface="Arial" pitchFamily="34" charset="0"/>
                <a:ea typeface="Arial" pitchFamily="34" charset="-122"/>
                <a:cs typeface="Arial" pitchFamily="34" charset="-120"/>
              </a:rPr>
              <a:t>recorded</a:t>
            </a:r>
            <a:endParaRPr lang="en-US" sz="1050" dirty="0"/>
          </a:p>
        </p:txBody>
      </p:sp>
      <p:sp>
        <p:nvSpPr>
          <p:cNvPr id="12" name="Text 10"/>
          <p:cNvSpPr/>
          <p:nvPr/>
        </p:nvSpPr>
        <p:spPr>
          <a:xfrm>
            <a:off x="10058400" y="2377440"/>
            <a:ext cx="502920" cy="777240"/>
          </a:xfrm>
          <a:prstGeom prst="rect">
            <a:avLst/>
          </a:prstGeom>
          <a:noFill/>
          <a:ln/>
        </p:spPr>
        <p:txBody>
          <a:bodyPr wrap="square" rtlCol="0" anchor="ctr"/>
          <a:lstStyle/>
          <a:p>
            <a:pPr algn="ctr" indent="0" marL="0">
              <a:buNone/>
            </a:pPr>
            <a:r>
              <a:rPr lang="en-US" sz="1600" dirty="0">
                <a:solidFill>
                  <a:srgbClr val="64748B"/>
                </a:solidFill>
                <a:latin typeface="Arial" pitchFamily="34" charset="0"/>
                <a:ea typeface="Arial" pitchFamily="34" charset="-122"/>
                <a:cs typeface="Arial" pitchFamily="34" charset="-120"/>
              </a:rPr>
              <a:t>→</a:t>
            </a:r>
            <a:endParaRPr lang="en-US" sz="1600" dirty="0"/>
          </a:p>
        </p:txBody>
      </p:sp>
      <p:sp>
        <p:nvSpPr>
          <p:cNvPr id="13" name="Shape 11"/>
          <p:cNvSpPr/>
          <p:nvPr/>
        </p:nvSpPr>
        <p:spPr>
          <a:xfrm>
            <a:off x="10561320" y="2377440"/>
            <a:ext cx="1554480" cy="777240"/>
          </a:xfrm>
          <a:prstGeom prst="rect">
            <a:avLst/>
          </a:prstGeom>
          <a:solidFill>
            <a:srgbClr val="F5F3FF"/>
          </a:solidFill>
          <a:ln w="12700">
            <a:solidFill>
              <a:srgbClr val="7C3AED"/>
            </a:solidFill>
            <a:prstDash val="solid"/>
          </a:ln>
        </p:spPr>
      </p:sp>
      <p:sp>
        <p:nvSpPr>
          <p:cNvPr id="14" name="Text 12"/>
          <p:cNvSpPr/>
          <p:nvPr/>
        </p:nvSpPr>
        <p:spPr>
          <a:xfrm>
            <a:off x="10561320" y="2377440"/>
            <a:ext cx="1554480" cy="777240"/>
          </a:xfrm>
          <a:prstGeom prst="rect">
            <a:avLst/>
          </a:prstGeom>
          <a:noFill/>
          <a:ln/>
        </p:spPr>
        <p:txBody>
          <a:bodyPr wrap="square" rtlCol="0" anchor="ctr"/>
          <a:lstStyle/>
          <a:p>
            <a:pPr algn="ctr" indent="0" marL="0">
              <a:buNone/>
            </a:pPr>
            <a:r>
              <a:rPr lang="en-US" sz="1050" b="1" dirty="0">
                <a:solidFill>
                  <a:srgbClr val="0F172A"/>
                </a:solidFill>
                <a:latin typeface="Arial" pitchFamily="34" charset="0"/>
                <a:ea typeface="Arial" pitchFamily="34" charset="-122"/>
                <a:cs typeface="Arial" pitchFamily="34" charset="-120"/>
              </a:rPr>
              <a:t>Release</a:t>
            </a:r>
            <a:endParaRPr lang="en-US" sz="1050" dirty="0"/>
          </a:p>
          <a:p>
            <a:pPr algn="ctr" indent="0" marL="0">
              <a:buNone/>
            </a:pPr>
            <a:r>
              <a:rPr lang="en-US" sz="1050" b="1" dirty="0">
                <a:solidFill>
                  <a:srgbClr val="0F172A"/>
                </a:solidFill>
                <a:latin typeface="Arial" pitchFamily="34" charset="0"/>
                <a:ea typeface="Arial" pitchFamily="34" charset="-122"/>
                <a:cs typeface="Arial" pitchFamily="34" charset="-120"/>
              </a:rPr>
              <a:t>filed</a:t>
            </a:r>
            <a:endParaRPr lang="en-US" sz="1050" dirty="0"/>
          </a:p>
        </p:txBody>
      </p:sp>
      <p:sp>
        <p:nvSpPr>
          <p:cNvPr id="15" name="Text 13"/>
          <p:cNvSpPr/>
          <p:nvPr/>
        </p:nvSpPr>
        <p:spPr>
          <a:xfrm>
            <a:off x="12115800" y="2377440"/>
            <a:ext cx="502920" cy="777240"/>
          </a:xfrm>
          <a:prstGeom prst="rect">
            <a:avLst/>
          </a:prstGeom>
          <a:noFill/>
          <a:ln/>
        </p:spPr>
        <p:txBody>
          <a:bodyPr wrap="square" rtlCol="0" anchor="ctr"/>
          <a:lstStyle/>
          <a:p>
            <a:pPr algn="ctr" indent="0" marL="0">
              <a:buNone/>
            </a:pPr>
            <a:r>
              <a:rPr lang="en-US" sz="1600" dirty="0">
                <a:solidFill>
                  <a:srgbClr val="64748B"/>
                </a:solidFill>
                <a:latin typeface="Arial" pitchFamily="34" charset="0"/>
                <a:ea typeface="Arial" pitchFamily="34" charset="-122"/>
                <a:cs typeface="Arial" pitchFamily="34" charset="-120"/>
              </a:rPr>
              <a:t>→</a:t>
            </a:r>
            <a:endParaRPr lang="en-US" sz="1600" dirty="0"/>
          </a:p>
        </p:txBody>
      </p:sp>
      <p:sp>
        <p:nvSpPr>
          <p:cNvPr id="16" name="Shape 14"/>
          <p:cNvSpPr/>
          <p:nvPr/>
        </p:nvSpPr>
        <p:spPr>
          <a:xfrm>
            <a:off x="12618720" y="2377440"/>
            <a:ext cx="1554480" cy="777240"/>
          </a:xfrm>
          <a:prstGeom prst="rect">
            <a:avLst/>
          </a:prstGeom>
          <a:solidFill>
            <a:srgbClr val="EFFAF3"/>
          </a:solidFill>
          <a:ln w="12700">
            <a:solidFill>
              <a:srgbClr val="3E9B5F"/>
            </a:solidFill>
            <a:prstDash val="solid"/>
          </a:ln>
        </p:spPr>
      </p:sp>
      <p:sp>
        <p:nvSpPr>
          <p:cNvPr id="17" name="Text 15"/>
          <p:cNvSpPr/>
          <p:nvPr/>
        </p:nvSpPr>
        <p:spPr>
          <a:xfrm>
            <a:off x="12618720" y="2377440"/>
            <a:ext cx="1554480" cy="777240"/>
          </a:xfrm>
          <a:prstGeom prst="rect">
            <a:avLst/>
          </a:prstGeom>
          <a:noFill/>
          <a:ln/>
        </p:spPr>
        <p:txBody>
          <a:bodyPr wrap="square" rtlCol="0" anchor="ctr"/>
          <a:lstStyle/>
          <a:p>
            <a:pPr algn="ctr" indent="0" marL="0">
              <a:buNone/>
            </a:pPr>
            <a:r>
              <a:rPr lang="en-US" sz="1050" b="1" dirty="0">
                <a:solidFill>
                  <a:srgbClr val="0F172A"/>
                </a:solidFill>
                <a:latin typeface="Arial" pitchFamily="34" charset="0"/>
                <a:ea typeface="Arial" pitchFamily="34" charset="-122"/>
                <a:cs typeface="Arial" pitchFamily="34" charset="-120"/>
              </a:rPr>
              <a:t>Title</a:t>
            </a:r>
            <a:endParaRPr lang="en-US" sz="1050" dirty="0"/>
          </a:p>
          <a:p>
            <a:pPr algn="ctr" indent="0" marL="0">
              <a:buNone/>
            </a:pPr>
            <a:r>
              <a:rPr lang="en-US" sz="1050" b="1" dirty="0">
                <a:solidFill>
                  <a:srgbClr val="0F172A"/>
                </a:solidFill>
                <a:latin typeface="Arial" pitchFamily="34" charset="0"/>
                <a:ea typeface="Arial" pitchFamily="34" charset="-122"/>
                <a:cs typeface="Arial" pitchFamily="34" charset="-120"/>
              </a:rPr>
              <a:t>cleared</a:t>
            </a:r>
            <a:endParaRPr lang="en-US" sz="1050" dirty="0"/>
          </a:p>
        </p:txBody>
      </p:sp>
      <p:sp>
        <p:nvSpPr>
          <p:cNvPr id="18" name="Text 16"/>
          <p:cNvSpPr/>
          <p:nvPr/>
        </p:nvSpPr>
        <p:spPr>
          <a:xfrm>
            <a:off x="6446520" y="3383280"/>
            <a:ext cx="5120640" cy="548640"/>
          </a:xfrm>
          <a:prstGeom prst="rect">
            <a:avLst/>
          </a:prstGeom>
          <a:noFill/>
          <a:ln/>
        </p:spPr>
        <p:txBody>
          <a:bodyPr wrap="square" rtlCol="0" anchor="ctr"/>
          <a:lstStyle/>
          <a:p>
            <a:pPr indent="0" marL="0">
              <a:lnSpc>
                <a:spcPct val="125000"/>
              </a:lnSpc>
              <a:buNone/>
            </a:pPr>
            <a:r>
              <a:rPr lang="en-US" sz="1100" i="1" dirty="0">
                <a:solidFill>
                  <a:srgbClr val="64748B"/>
                </a:solidFill>
                <a:latin typeface="Arial" pitchFamily="34" charset="0"/>
                <a:ea typeface="Arial" pitchFamily="34" charset="-122"/>
                <a:cs typeface="Arial" pitchFamily="34" charset="-120"/>
              </a:rPr>
              <a:t>Each event is timestamped, hashed, and chained to the one before it — the ledger is the audit file.</a:t>
            </a:r>
            <a:endParaRPr lang="en-US" sz="1100" dirty="0"/>
          </a:p>
        </p:txBody>
      </p:sp>
      <p:sp>
        <p:nvSpPr>
          <p:cNvPr id="19" name="Shape 17"/>
          <p:cNvSpPr/>
          <p:nvPr/>
        </p:nvSpPr>
        <p:spPr>
          <a:xfrm>
            <a:off x="6446520" y="3931920"/>
            <a:ext cx="5193792" cy="1737360"/>
          </a:xfrm>
          <a:prstGeom prst="rect">
            <a:avLst/>
          </a:prstGeom>
          <a:solidFill>
            <a:srgbClr val="F8FAFC"/>
          </a:solidFill>
          <a:ln w="9525">
            <a:solidFill>
              <a:srgbClr val="E2E8F0"/>
            </a:solidFill>
            <a:prstDash val="solid"/>
          </a:ln>
        </p:spPr>
      </p:sp>
      <p:sp>
        <p:nvSpPr>
          <p:cNvPr id="20" name="Text 18"/>
          <p:cNvSpPr/>
          <p:nvPr/>
        </p:nvSpPr>
        <p:spPr>
          <a:xfrm>
            <a:off x="6675120" y="4114800"/>
            <a:ext cx="4754880" cy="1371600"/>
          </a:xfrm>
          <a:prstGeom prst="rect">
            <a:avLst/>
          </a:prstGeom>
          <a:noFill/>
          <a:ln/>
        </p:spPr>
        <p:txBody>
          <a:bodyPr wrap="square" rtlCol="0" anchor="ctr"/>
          <a:lstStyle/>
          <a:p>
            <a:pPr indent="0" marL="0">
              <a:lnSpc>
                <a:spcPct val="130000"/>
              </a:lnSpc>
              <a:buNone/>
            </a:pPr>
            <a:r>
              <a:rPr lang="en-US" sz="1250" i="1" dirty="0">
                <a:solidFill>
                  <a:srgbClr val="0F172A"/>
                </a:solidFill>
                <a:latin typeface="Arial" pitchFamily="34" charset="0"/>
                <a:ea typeface="Arial" pitchFamily="34" charset="-122"/>
                <a:cs typeface="Arial" pitchFamily="34" charset="-120"/>
              </a:rPr>
              <a:t>“No one can go back and change what the record showed in 2024 when a title dispute arrives in 2027 — the entry is a permanent event in the chain, not a field that can be edited.”</a:t>
            </a:r>
            <a:endParaRPr lang="en-US" sz="1250" dirty="0"/>
          </a:p>
        </p:txBody>
      </p:sp>
      <p:sp>
        <p:nvSpPr>
          <p:cNvPr id="21" name="Text 19"/>
          <p:cNvSpPr/>
          <p:nvPr/>
        </p:nvSpPr>
        <p:spPr>
          <a:xfrm>
            <a:off x="457200" y="6547104"/>
            <a:ext cx="8686800" cy="256032"/>
          </a:xfrm>
          <a:prstGeom prst="rect">
            <a:avLst/>
          </a:prstGeom>
          <a:noFill/>
          <a:ln/>
        </p:spPr>
        <p:txBody>
          <a:bodyPr wrap="square" rtlCol="0" anchor="ctr"/>
          <a:lstStyle/>
          <a:p>
            <a:pPr algn="l" indent="0" marL="0">
              <a:buNone/>
            </a:pPr>
            <a:r>
              <a:rPr lang="en-US" sz="750" dirty="0">
                <a:solidFill>
                  <a:srgbClr val="94A3B8"/>
                </a:solidFill>
                <a:latin typeface="Arial" pitchFamily="34" charset="0"/>
                <a:ea typeface="Arial" pitchFamily="34" charset="-122"/>
                <a:cs typeface="Arial" pitchFamily="34" charset="-120"/>
              </a:rPr>
              <a:t>SOCIII Inc. · Title vertical — pilot partner: regional title operation, target Q3 2026</a:t>
            </a:r>
            <a:endParaRPr lang="en-US" sz="750" dirty="0"/>
          </a:p>
        </p:txBody>
      </p:sp>
      <p:sp>
        <p:nvSpPr>
          <p:cNvPr id="22" name="Text 20"/>
          <p:cNvSpPr/>
          <p:nvPr/>
        </p:nvSpPr>
        <p:spPr>
          <a:xfrm>
            <a:off x="9418320" y="6547104"/>
            <a:ext cx="2313432" cy="256032"/>
          </a:xfrm>
          <a:prstGeom prst="rect">
            <a:avLst/>
          </a:prstGeom>
          <a:noFill/>
          <a:ln/>
        </p:spPr>
        <p:txBody>
          <a:bodyPr wrap="square" rtlCol="0" anchor="ctr"/>
          <a:lstStyle/>
          <a:p>
            <a:pPr algn="r" indent="0" marL="0">
              <a:buNone/>
            </a:pPr>
            <a:r>
              <a:rPr lang="en-US" sz="750" dirty="0">
                <a:solidFill>
                  <a:srgbClr val="94A3B8"/>
                </a:solidFill>
                <a:latin typeface="Arial" pitchFamily="34" charset="0"/>
                <a:ea typeface="Arial" pitchFamily="34" charset="-122"/>
                <a:cs typeface="Arial" pitchFamily="34" charset="-120"/>
              </a:rPr>
              <a:t>Patent pending (USPTO filings May 2026) · sociii.ai · 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100" b="1" spc="200" kern="0" dirty="0">
                <a:solidFill>
                  <a:srgbClr val="7C3AED"/>
                </a:solidFill>
                <a:latin typeface="Arial" pitchFamily="34" charset="0"/>
                <a:ea typeface="Arial" pitchFamily="34" charset="-122"/>
                <a:cs typeface="Arial" pitchFamily="34" charset="-120"/>
              </a:rPr>
              <a:t>THE STACK</a:t>
            </a:r>
            <a:endParaRPr lang="en-US" sz="11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Six Workers, One Chief of Staff</a:t>
            </a:r>
            <a:endParaRPr lang="en-US" sz="2600" dirty="0"/>
          </a:p>
        </p:txBody>
      </p:sp>
      <p:sp>
        <p:nvSpPr>
          <p:cNvPr id="4" name="Shape 2"/>
          <p:cNvSpPr/>
          <p:nvPr/>
        </p:nvSpPr>
        <p:spPr>
          <a:xfrm>
            <a:off x="548640" y="1335024"/>
            <a:ext cx="11091672" cy="27432"/>
          </a:xfrm>
          <a:prstGeom prst="rect">
            <a:avLst/>
          </a:prstGeom>
          <a:solidFill>
            <a:srgbClr val="7C3AED"/>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3566160"/>
        </p:xfrm>
        <a:graphic>
          <a:graphicData uri="http://schemas.openxmlformats.org/drawingml/2006/table">
            <a:tbl>
              <a:tblPr/>
              <a:tblGrid>
                <a:gridCol w="1920240"/>
                <a:gridCol w="6428232"/>
                <a:gridCol w="2743200"/>
              </a:tblGrid>
              <a:tr h="548640">
                <a:tc>
                  <a:txBody>
                    <a:bodyPr/>
                    <a:lstStyle/>
                    <a:p>
                      <a:pPr indent="0" marL="0">
                        <a:buNone/>
                      </a:pPr>
                      <a:r>
                        <a:rPr lang="en-US" sz="1050" b="1" dirty="0">
                          <a:solidFill>
                            <a:srgbClr val="64748B"/>
                          </a:solidFill>
                        </a:rPr>
                        <a:t>Worker</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b="1" dirty="0">
                          <a:solidFill>
                            <a:srgbClr val="64748B"/>
                          </a:solidFill>
                        </a:rPr>
                        <a:t>What It Does</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b="1" dirty="0">
                          <a:solidFill>
                            <a:srgbClr val="64748B"/>
                          </a:solidFill>
                        </a:rPr>
                        <a:t>Record It Creates</a:t>
                      </a:r>
                      <a:endParaRPr lang="en-US" sz="105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548640">
                <a:tc>
                  <a:txBody>
                    <a:bodyPr/>
                    <a:lstStyle/>
                    <a:p>
                      <a:pPr indent="0" marL="0">
                        <a:buNone/>
                      </a:pPr>
                      <a:r>
                        <a:rPr lang="en-US" sz="1150" b="1" dirty="0">
                          <a:solidFill>
                            <a:srgbClr val="0F172A"/>
                          </a:solidFill>
                          <a:latin typeface="Arial" pitchFamily="34" charset="0"/>
                          <a:ea typeface="Arial" pitchFamily="34" charset="-122"/>
                          <a:cs typeface="Arial" pitchFamily="34" charset="-120"/>
                        </a:rPr>
                        <a:t>Title Search</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Arial" pitchFamily="34" charset="0"/>
                          <a:ea typeface="Arial" pitchFamily="34" charset="-122"/>
                          <a:cs typeface="Arial" pitchFamily="34" charset="-120"/>
                        </a:rPr>
                        <a:t>Chain-of-title research, lien search, ownership verification</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Courier New" pitchFamily="34" charset="0"/>
                          <a:ea typeface="Courier New" pitchFamily="34" charset="-122"/>
                          <a:cs typeface="Courier New" pitchFamily="34" charset="-120"/>
                        </a:rPr>
                        <a:t>chain-of-title/v1</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548640">
                <a:tc>
                  <a:txBody>
                    <a:bodyPr/>
                    <a:lstStyle/>
                    <a:p>
                      <a:pPr indent="0" marL="0">
                        <a:buNone/>
                      </a:pPr>
                      <a:r>
                        <a:rPr lang="en-US" sz="1150" b="1" dirty="0">
                          <a:solidFill>
                            <a:srgbClr val="0F172A"/>
                          </a:solidFill>
                          <a:latin typeface="Arial" pitchFamily="34" charset="0"/>
                          <a:ea typeface="Arial" pitchFamily="34" charset="-122"/>
                          <a:cs typeface="Arial" pitchFamily="34" charset="-120"/>
                        </a:rPr>
                        <a:t>Escrow</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Arial" pitchFamily="34" charset="0"/>
                          <a:ea typeface="Arial" pitchFamily="34" charset="-122"/>
                          <a:cs typeface="Arial" pitchFamily="34" charset="-120"/>
                        </a:rPr>
                        <a:t>Escrow coordination, disbursement tracking, closing management</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Courier New" pitchFamily="34" charset="0"/>
                          <a:ea typeface="Courier New" pitchFamily="34" charset="-122"/>
                          <a:cs typeface="Courier New" pitchFamily="34" charset="-120"/>
                        </a:rPr>
                        <a:t>escrow-bundle/v1</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548640">
                <a:tc>
                  <a:txBody>
                    <a:bodyPr/>
                    <a:lstStyle/>
                    <a:p>
                      <a:pPr indent="0" marL="0">
                        <a:buNone/>
                      </a:pPr>
                      <a:r>
                        <a:rPr lang="en-US" sz="1150" b="1" dirty="0">
                          <a:solidFill>
                            <a:srgbClr val="0F172A"/>
                          </a:solidFill>
                          <a:latin typeface="Arial" pitchFamily="34" charset="0"/>
                          <a:ea typeface="Arial" pitchFamily="34" charset="-122"/>
                          <a:cs typeface="Arial" pitchFamily="34" charset="-120"/>
                        </a:rPr>
                        <a:t>Land Use / Zoning</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Arial" pitchFamily="34" charset="0"/>
                          <a:ea typeface="Arial" pitchFamily="34" charset="-122"/>
                          <a:cs typeface="Arial" pitchFamily="34" charset="-120"/>
                        </a:rPr>
                        <a:t>Permitted uses, overlay districts, variance history</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Courier New" pitchFamily="34" charset="0"/>
                          <a:ea typeface="Courier New" pitchFamily="34" charset="-122"/>
                          <a:cs typeface="Courier New" pitchFamily="34" charset="-120"/>
                        </a:rPr>
                        <a:t>land-use-bundle/v1</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548640">
                <a:tc>
                  <a:txBody>
                    <a:bodyPr/>
                    <a:lstStyle/>
                    <a:p>
                      <a:pPr indent="0" marL="0">
                        <a:buNone/>
                      </a:pPr>
                      <a:r>
                        <a:rPr lang="en-US" sz="1150" b="1" dirty="0">
                          <a:solidFill>
                            <a:srgbClr val="0F172A"/>
                          </a:solidFill>
                          <a:latin typeface="Arial" pitchFamily="34" charset="0"/>
                          <a:ea typeface="Arial" pitchFamily="34" charset="-122"/>
                          <a:cs typeface="Arial" pitchFamily="34" charset="-120"/>
                        </a:rPr>
                        <a:t>CRE Analyst</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Arial" pitchFamily="34" charset="0"/>
                          <a:ea typeface="Arial" pitchFamily="34" charset="-122"/>
                          <a:cs typeface="Arial" pitchFamily="34" charset="-120"/>
                        </a:rPr>
                        <a:t>Deal screening, comp analysis, market positioning</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Courier New" pitchFamily="34" charset="0"/>
                          <a:ea typeface="Courier New" pitchFamily="34" charset="-122"/>
                          <a:cs typeface="Courier New" pitchFamily="34" charset="-120"/>
                        </a:rPr>
                        <a:t>deal-analysis/v1</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548640">
                <a:tc>
                  <a:txBody>
                    <a:bodyPr/>
                    <a:lstStyle/>
                    <a:p>
                      <a:pPr indent="0" marL="0">
                        <a:buNone/>
                      </a:pPr>
                      <a:r>
                        <a:rPr lang="en-US" sz="1150" b="1" dirty="0">
                          <a:solidFill>
                            <a:srgbClr val="0F172A"/>
                          </a:solidFill>
                          <a:latin typeface="Arial" pitchFamily="34" charset="0"/>
                          <a:ea typeface="Arial" pitchFamily="34" charset="-122"/>
                          <a:cs typeface="Arial" pitchFamily="34" charset="-120"/>
                        </a:rPr>
                        <a:t>HR</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Arial" pitchFamily="34" charset="0"/>
                          <a:ea typeface="Arial" pitchFamily="34" charset="-122"/>
                          <a:cs typeface="Arial" pitchFamily="34" charset="-120"/>
                        </a:rPr>
                        <a:t>Staff records, scheduling, contract management</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Courier New" pitchFamily="34" charset="0"/>
                          <a:ea typeface="Courier New" pitchFamily="34" charset="-122"/>
                          <a:cs typeface="Courier New" pitchFamily="34" charset="-120"/>
                        </a:rPr>
                        <a:t>staff-record/v1</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548640">
                <a:tc>
                  <a:txBody>
                    <a:bodyPr/>
                    <a:lstStyle/>
                    <a:p>
                      <a:pPr indent="0" marL="0">
                        <a:buNone/>
                      </a:pPr>
                      <a:r>
                        <a:rPr lang="en-US" sz="1150" b="1" dirty="0">
                          <a:solidFill>
                            <a:srgbClr val="0F172A"/>
                          </a:solidFill>
                          <a:latin typeface="Arial" pitchFamily="34" charset="0"/>
                          <a:ea typeface="Arial" pitchFamily="34" charset="-122"/>
                          <a:cs typeface="Arial" pitchFamily="34" charset="-120"/>
                        </a:rPr>
                        <a:t>Marketing</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Arial" pitchFamily="34" charset="0"/>
                          <a:ea typeface="Arial" pitchFamily="34" charset="-122"/>
                          <a:cs typeface="Arial" pitchFamily="34" charset="-120"/>
                        </a:rPr>
                        <a:t>Listing coordination, client communications, pipeline</a:t>
                      </a:r>
                      <a:endParaRPr lang="en-US" sz="11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02C"/>
                          </a:solidFill>
                          <a:latin typeface="Courier New" pitchFamily="34" charset="0"/>
                          <a:ea typeface="Courier New" pitchFamily="34" charset="-122"/>
                          <a:cs typeface="Courier New" pitchFamily="34" charset="-120"/>
                        </a:rPr>
                        <a:t>marketing-bundle/v1</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bl>
          </a:graphicData>
        </a:graphic>
      </p:graphicFrame>
      <p:sp>
        <p:nvSpPr>
          <p:cNvPr id="6" name="Text 3"/>
          <p:cNvSpPr/>
          <p:nvPr/>
        </p:nvSpPr>
        <p:spPr>
          <a:xfrm>
            <a:off x="548640" y="5486400"/>
            <a:ext cx="11064240" cy="594360"/>
          </a:xfrm>
          <a:prstGeom prst="rect">
            <a:avLst/>
          </a:prstGeom>
          <a:noFill/>
          <a:ln/>
        </p:spPr>
        <p:txBody>
          <a:bodyPr wrap="square" rtlCol="0" anchor="ctr"/>
          <a:lstStyle/>
          <a:p>
            <a:pPr indent="0" marL="0">
              <a:lnSpc>
                <a:spcPct val="125000"/>
              </a:lnSpc>
              <a:buNone/>
            </a:pPr>
            <a:r>
              <a:rPr lang="en-US" sz="1250" i="1" dirty="0">
                <a:solidFill>
                  <a:srgbClr val="475569"/>
                </a:solidFill>
                <a:latin typeface="Arial" pitchFamily="34" charset="0"/>
                <a:ea typeface="Arial" pitchFamily="34" charset="-122"/>
                <a:cs typeface="Arial" pitchFamily="34" charset="-120"/>
              </a:rPr>
              <a:t>Alex, the Chief of Staff, monitors every order in real time — alerting on approaching deadlines, outstanding documents, and title issues before they become closing-day surprises.</a:t>
            </a:r>
            <a:endParaRPr lang="en-US" sz="1250" dirty="0"/>
          </a:p>
        </p:txBody>
      </p:sp>
      <p:sp>
        <p:nvSpPr>
          <p:cNvPr id="7" name="Text 4"/>
          <p:cNvSpPr/>
          <p:nvPr/>
        </p:nvSpPr>
        <p:spPr>
          <a:xfrm>
            <a:off x="457200" y="6547104"/>
            <a:ext cx="8686800" cy="256032"/>
          </a:xfrm>
          <a:prstGeom prst="rect">
            <a:avLst/>
          </a:prstGeom>
          <a:noFill/>
          <a:ln/>
        </p:spPr>
        <p:txBody>
          <a:bodyPr wrap="square" rtlCol="0" anchor="ctr"/>
          <a:lstStyle/>
          <a:p>
            <a:pPr algn="l" indent="0" marL="0">
              <a:buNone/>
            </a:pPr>
            <a:r>
              <a:rPr lang="en-US" sz="750" dirty="0">
                <a:solidFill>
                  <a:srgbClr val="94A3B8"/>
                </a:solidFill>
                <a:latin typeface="Arial" pitchFamily="34" charset="0"/>
                <a:ea typeface="Arial" pitchFamily="34" charset="-122"/>
                <a:cs typeface="Arial" pitchFamily="34" charset="-120"/>
              </a:rPr>
              <a:t>SOCIII Inc. · Title vertical — pilot partner: regional title operation, target Q3 2026</a:t>
            </a:r>
            <a:endParaRPr lang="en-US" sz="750" dirty="0"/>
          </a:p>
        </p:txBody>
      </p:sp>
      <p:sp>
        <p:nvSpPr>
          <p:cNvPr id="8" name="Text 5"/>
          <p:cNvSpPr/>
          <p:nvPr/>
        </p:nvSpPr>
        <p:spPr>
          <a:xfrm>
            <a:off x="9418320" y="6547104"/>
            <a:ext cx="2313432" cy="256032"/>
          </a:xfrm>
          <a:prstGeom prst="rect">
            <a:avLst/>
          </a:prstGeom>
          <a:noFill/>
          <a:ln/>
        </p:spPr>
        <p:txBody>
          <a:bodyPr wrap="square" rtlCol="0" anchor="ctr"/>
          <a:lstStyle/>
          <a:p>
            <a:pPr algn="r" indent="0" marL="0">
              <a:buNone/>
            </a:pPr>
            <a:r>
              <a:rPr lang="en-US" sz="750" dirty="0">
                <a:solidFill>
                  <a:srgbClr val="94A3B8"/>
                </a:solidFill>
                <a:latin typeface="Arial" pitchFamily="34" charset="0"/>
                <a:ea typeface="Arial" pitchFamily="34" charset="-122"/>
                <a:cs typeface="Arial" pitchFamily="34" charset="-120"/>
              </a:rPr>
              <a:t>Patent pending (USPTO filings May 2026) · sociii.ai · 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100" b="1" spc="200" kern="0" dirty="0">
                <a:solidFill>
                  <a:srgbClr val="7C3AED"/>
                </a:solidFill>
                <a:latin typeface="Arial" pitchFamily="34" charset="0"/>
                <a:ea typeface="Arial" pitchFamily="34" charset="-122"/>
                <a:cs typeface="Arial" pitchFamily="34" charset="-120"/>
              </a:rPr>
              <a:t>THE PILOT</a:t>
            </a:r>
            <a:endParaRPr lang="en-US" sz="1100" dirty="0"/>
          </a:p>
        </p:txBody>
      </p:sp>
      <p:sp>
        <p:nvSpPr>
          <p:cNvPr id="3" name="Text 1"/>
          <p:cNvSpPr/>
          <p:nvPr/>
        </p:nvSpPr>
        <p:spPr>
          <a:xfrm>
            <a:off x="548640" y="658368"/>
            <a:ext cx="11064240" cy="658368"/>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Targeted Deployment, Q3 2026</a:t>
            </a:r>
            <a:endParaRPr lang="en-US" sz="2600" dirty="0"/>
          </a:p>
        </p:txBody>
      </p:sp>
      <p:sp>
        <p:nvSpPr>
          <p:cNvPr id="4" name="Shape 2"/>
          <p:cNvSpPr/>
          <p:nvPr/>
        </p:nvSpPr>
        <p:spPr>
          <a:xfrm>
            <a:off x="548640" y="1335024"/>
            <a:ext cx="11091672" cy="27432"/>
          </a:xfrm>
          <a:prstGeom prst="rect">
            <a:avLst/>
          </a:prstGeom>
          <a:solidFill>
            <a:srgbClr val="7C3AED"/>
          </a:solidFill>
          <a:ln/>
        </p:spPr>
      </p:sp>
      <p:sp>
        <p:nvSpPr>
          <p:cNvPr id="5" name="Text 3"/>
          <p:cNvSpPr/>
          <p:nvPr/>
        </p:nvSpPr>
        <p:spPr>
          <a:xfrm>
            <a:off x="548640" y="1691640"/>
            <a:ext cx="6675120" cy="1280160"/>
          </a:xfrm>
          <a:prstGeom prst="rect">
            <a:avLst/>
          </a:prstGeom>
          <a:noFill/>
          <a:ln/>
        </p:spPr>
        <p:txBody>
          <a:bodyPr wrap="square" rtlCol="0" anchor="ctr"/>
          <a:lstStyle/>
          <a:p>
            <a:pPr indent="0" marL="0">
              <a:lnSpc>
                <a:spcPct val="135000"/>
              </a:lnSpc>
              <a:buNone/>
            </a:pPr>
            <a:r>
              <a:rPr lang="en-US" sz="1500" dirty="0">
                <a:solidFill>
                  <a:srgbClr val="1A202C"/>
                </a:solidFill>
                <a:latin typeface="Arial" pitchFamily="34" charset="0"/>
                <a:ea typeface="Arial" pitchFamily="34" charset="-122"/>
                <a:cs typeface="Arial" pitchFamily="34" charset="-120"/>
              </a:rPr>
              <a:t>A regional title operation is SOCIII's target pilot partner for Q3 2026 — an independent title agency that will run real orders, real deadlines, and real chain-of-title research on the platform once live.</a:t>
            </a:r>
            <a:endParaRPr lang="en-US" sz="1500" dirty="0"/>
          </a:p>
        </p:txBody>
      </p:sp>
      <p:sp>
        <p:nvSpPr>
          <p:cNvPr id="6" name="Text 4"/>
          <p:cNvSpPr/>
          <p:nvPr/>
        </p:nvSpPr>
        <p:spPr>
          <a:xfrm>
            <a:off x="548640" y="3108960"/>
            <a:ext cx="6675120" cy="2194560"/>
          </a:xfrm>
          <a:prstGeom prst="rect">
            <a:avLst/>
          </a:prstGeom>
          <a:noFill/>
          <a:ln/>
        </p:spPr>
        <p:txBody>
          <a:bodyPr wrap="square" rtlCol="0" anchor="ctr"/>
          <a:lstStyle/>
          <a:p>
            <a:pPr indent="0" marL="0">
              <a:lnSpc>
                <a:spcPct val="135000"/>
              </a:lnSpc>
              <a:buNone/>
            </a:pPr>
            <a:r>
              <a:rPr lang="en-US" sz="1300" dirty="0">
                <a:solidFill>
                  <a:srgbClr val="475569"/>
                </a:solidFill>
                <a:latin typeface="Arial" pitchFamily="34" charset="0"/>
                <a:ea typeface="Arial" pitchFamily="34" charset="-122"/>
                <a:cs typeface="Arial" pitchFamily="34" charset="-120"/>
              </a:rPr>
              <a:t>The planned deployment covers intake, title search, deadline tracking, and escrow coordination across active orders. Every finding will be written into the SOCIII ledger as an immutable event — so the next search on a previously-searched property starts from the last verified state, not from county records.</a:t>
            </a:r>
            <a:endParaRPr lang="en-US" sz="1300" dirty="0"/>
          </a:p>
        </p:txBody>
      </p:sp>
      <p:sp>
        <p:nvSpPr>
          <p:cNvPr id="7" name="Shape 5"/>
          <p:cNvSpPr/>
          <p:nvPr/>
        </p:nvSpPr>
        <p:spPr>
          <a:xfrm>
            <a:off x="7635240" y="1691640"/>
            <a:ext cx="4023360" cy="4160520"/>
          </a:xfrm>
          <a:prstGeom prst="rect">
            <a:avLst/>
          </a:prstGeom>
          <a:solidFill>
            <a:srgbClr val="F8FAFC"/>
          </a:solidFill>
          <a:ln w="9525">
            <a:solidFill>
              <a:srgbClr val="E2E8F0"/>
            </a:solidFill>
            <a:prstDash val="solid"/>
          </a:ln>
        </p:spPr>
      </p:sp>
      <p:sp>
        <p:nvSpPr>
          <p:cNvPr id="8" name="Shape 6"/>
          <p:cNvSpPr/>
          <p:nvPr/>
        </p:nvSpPr>
        <p:spPr>
          <a:xfrm>
            <a:off x="7635240" y="1691640"/>
            <a:ext cx="4023360" cy="45720"/>
          </a:xfrm>
          <a:prstGeom prst="rect">
            <a:avLst/>
          </a:prstGeom>
          <a:solidFill>
            <a:srgbClr val="3E9B5F"/>
          </a:solidFill>
          <a:ln/>
        </p:spPr>
      </p:sp>
      <p:sp>
        <p:nvSpPr>
          <p:cNvPr id="9" name="Text 7"/>
          <p:cNvSpPr/>
          <p:nvPr/>
        </p:nvSpPr>
        <p:spPr>
          <a:xfrm>
            <a:off x="7909560" y="1965960"/>
            <a:ext cx="3566160" cy="502920"/>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20+</a:t>
            </a:r>
            <a:endParaRPr lang="en-US" sz="2600" dirty="0"/>
          </a:p>
        </p:txBody>
      </p:sp>
      <p:sp>
        <p:nvSpPr>
          <p:cNvPr id="10" name="Text 8"/>
          <p:cNvSpPr/>
          <p:nvPr/>
        </p:nvSpPr>
        <p:spPr>
          <a:xfrm>
            <a:off x="7909560" y="2468880"/>
            <a:ext cx="3566160" cy="548640"/>
          </a:xfrm>
          <a:prstGeom prst="rect">
            <a:avLst/>
          </a:prstGeom>
          <a:noFill/>
          <a:ln/>
        </p:spPr>
        <p:txBody>
          <a:bodyPr wrap="square" rtlCol="0" anchor="ctr"/>
          <a:lstStyle/>
          <a:p>
            <a:pPr indent="0" marL="0">
              <a:lnSpc>
                <a:spcPct val="120000"/>
              </a:lnSpc>
              <a:buNone/>
            </a:pPr>
            <a:r>
              <a:rPr lang="en-US" sz="1100" dirty="0">
                <a:solidFill>
                  <a:srgbClr val="64748B"/>
                </a:solidFill>
                <a:latin typeface="Arial" pitchFamily="34" charset="0"/>
                <a:ea typeface="Arial" pitchFamily="34" charset="-122"/>
                <a:cs typeface="Arial" pitchFamily="34" charset="-120"/>
              </a:rPr>
              <a:t>Target orders/month once the pilot is live</a:t>
            </a:r>
            <a:endParaRPr lang="en-US" sz="1100" dirty="0"/>
          </a:p>
        </p:txBody>
      </p:sp>
      <p:sp>
        <p:nvSpPr>
          <p:cNvPr id="11" name="Text 9"/>
          <p:cNvSpPr/>
          <p:nvPr/>
        </p:nvSpPr>
        <p:spPr>
          <a:xfrm>
            <a:off x="7909560" y="3246120"/>
            <a:ext cx="3566160" cy="502920"/>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10+</a:t>
            </a:r>
            <a:endParaRPr lang="en-US" sz="2600" dirty="0"/>
          </a:p>
        </p:txBody>
      </p:sp>
      <p:sp>
        <p:nvSpPr>
          <p:cNvPr id="12" name="Text 10"/>
          <p:cNvSpPr/>
          <p:nvPr/>
        </p:nvSpPr>
        <p:spPr>
          <a:xfrm>
            <a:off x="7909560" y="3749040"/>
            <a:ext cx="3566160" cy="548640"/>
          </a:xfrm>
          <a:prstGeom prst="rect">
            <a:avLst/>
          </a:prstGeom>
          <a:noFill/>
          <a:ln/>
        </p:spPr>
        <p:txBody>
          <a:bodyPr wrap="square" rtlCol="0" anchor="ctr"/>
          <a:lstStyle/>
          <a:p>
            <a:pPr indent="0" marL="0">
              <a:lnSpc>
                <a:spcPct val="120000"/>
              </a:lnSpc>
              <a:buNone/>
            </a:pPr>
            <a:r>
              <a:rPr lang="en-US" sz="1100" dirty="0">
                <a:solidFill>
                  <a:srgbClr val="64748B"/>
                </a:solidFill>
                <a:latin typeface="Arial" pitchFamily="34" charset="0"/>
                <a:ea typeface="Arial" pitchFamily="34" charset="-122"/>
                <a:cs typeface="Arial" pitchFamily="34" charset="-120"/>
              </a:rPr>
              <a:t>Target active orders per closer, up from 3–5 today</a:t>
            </a:r>
            <a:endParaRPr lang="en-US" sz="1100" dirty="0"/>
          </a:p>
        </p:txBody>
      </p:sp>
      <p:sp>
        <p:nvSpPr>
          <p:cNvPr id="13" name="Text 11"/>
          <p:cNvSpPr/>
          <p:nvPr/>
        </p:nvSpPr>
        <p:spPr>
          <a:xfrm>
            <a:off x="7909560" y="4526280"/>
            <a:ext cx="3566160" cy="502920"/>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Q3 2026</a:t>
            </a:r>
            <a:endParaRPr lang="en-US" sz="2600" dirty="0"/>
          </a:p>
        </p:txBody>
      </p:sp>
      <p:sp>
        <p:nvSpPr>
          <p:cNvPr id="14" name="Text 12"/>
          <p:cNvSpPr/>
          <p:nvPr/>
        </p:nvSpPr>
        <p:spPr>
          <a:xfrm>
            <a:off x="7909560" y="5029200"/>
            <a:ext cx="3566160" cy="548640"/>
          </a:xfrm>
          <a:prstGeom prst="rect">
            <a:avLst/>
          </a:prstGeom>
          <a:noFill/>
          <a:ln/>
        </p:spPr>
        <p:txBody>
          <a:bodyPr wrap="square" rtlCol="0" anchor="ctr"/>
          <a:lstStyle/>
          <a:p>
            <a:pPr indent="0" marL="0">
              <a:lnSpc>
                <a:spcPct val="120000"/>
              </a:lnSpc>
              <a:buNone/>
            </a:pPr>
            <a:r>
              <a:rPr lang="en-US" sz="1100" dirty="0">
                <a:solidFill>
                  <a:srgbClr val="64748B"/>
                </a:solidFill>
                <a:latin typeface="Arial" pitchFamily="34" charset="0"/>
                <a:ea typeface="Arial" pitchFamily="34" charset="-122"/>
                <a:cs typeface="Arial" pitchFamily="34" charset="-120"/>
              </a:rPr>
              <a:t>Planned deployment start</a:t>
            </a:r>
            <a:endParaRPr lang="en-US" sz="1100" dirty="0"/>
          </a:p>
        </p:txBody>
      </p:sp>
      <p:sp>
        <p:nvSpPr>
          <p:cNvPr id="15" name="Text 13"/>
          <p:cNvSpPr/>
          <p:nvPr/>
        </p:nvSpPr>
        <p:spPr>
          <a:xfrm>
            <a:off x="457200" y="6547104"/>
            <a:ext cx="8686800" cy="256032"/>
          </a:xfrm>
          <a:prstGeom prst="rect">
            <a:avLst/>
          </a:prstGeom>
          <a:noFill/>
          <a:ln/>
        </p:spPr>
        <p:txBody>
          <a:bodyPr wrap="square" rtlCol="0" anchor="ctr"/>
          <a:lstStyle/>
          <a:p>
            <a:pPr algn="l" indent="0" marL="0">
              <a:buNone/>
            </a:pPr>
            <a:r>
              <a:rPr lang="en-US" sz="750" dirty="0">
                <a:solidFill>
                  <a:srgbClr val="94A3B8"/>
                </a:solidFill>
                <a:latin typeface="Arial" pitchFamily="34" charset="0"/>
                <a:ea typeface="Arial" pitchFamily="34" charset="-122"/>
                <a:cs typeface="Arial" pitchFamily="34" charset="-120"/>
              </a:rPr>
              <a:t>SOCIII Inc. · Title vertical — pilot partner: regional title operation, target Q3 2026</a:t>
            </a:r>
            <a:endParaRPr lang="en-US" sz="750" dirty="0"/>
          </a:p>
        </p:txBody>
      </p:sp>
      <p:sp>
        <p:nvSpPr>
          <p:cNvPr id="16" name="Text 14"/>
          <p:cNvSpPr/>
          <p:nvPr/>
        </p:nvSpPr>
        <p:spPr>
          <a:xfrm>
            <a:off x="9418320" y="6547104"/>
            <a:ext cx="2313432" cy="256032"/>
          </a:xfrm>
          <a:prstGeom prst="rect">
            <a:avLst/>
          </a:prstGeom>
          <a:noFill/>
          <a:ln/>
        </p:spPr>
        <p:txBody>
          <a:bodyPr wrap="square" rtlCol="0" anchor="ctr"/>
          <a:lstStyle/>
          <a:p>
            <a:pPr algn="r" indent="0" marL="0">
              <a:buNone/>
            </a:pPr>
            <a:r>
              <a:rPr lang="en-US" sz="750" dirty="0">
                <a:solidFill>
                  <a:srgbClr val="94A3B8"/>
                </a:solidFill>
                <a:latin typeface="Arial" pitchFamily="34" charset="0"/>
                <a:ea typeface="Arial" pitchFamily="34" charset="-122"/>
                <a:cs typeface="Arial" pitchFamily="34" charset="-120"/>
              </a:rPr>
              <a:t>Patent pending (USPTO filings May 2026) · sociii.ai · 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0816"/>
        </a:solidFill>
      </p:bgPr>
    </p:bg>
    <p:spTree>
      <p:nvGrpSpPr>
        <p:cNvPr id="1" name=""/>
        <p:cNvGrpSpPr/>
        <p:nvPr/>
      </p:nvGrpSpPr>
      <p:grpSpPr>
        <a:xfrm>
          <a:off x="0" y="0"/>
          <a:ext cx="0" cy="0"/>
          <a:chOff x="0" y="0"/>
          <a:chExt cx="0" cy="0"/>
        </a:xfrm>
      </p:grpSpPr>
      <p:pic>
        <p:nvPicPr>
          <p:cNvPr id="2" name="Image 0" descr="assets/lockup_header_navy.png">    </p:cNvPr>
          <p:cNvPicPr>
            <a:picLocks noChangeAspect="1"/>
          </p:cNvPicPr>
          <p:nvPr/>
        </p:nvPicPr>
        <p:blipFill>
          <a:blip r:embed="rId1"/>
          <a:stretch>
            <a:fillRect/>
          </a:stretch>
        </p:blipFill>
        <p:spPr>
          <a:xfrm>
            <a:off x="548640" y="457200"/>
            <a:ext cx="566928" cy="612648"/>
          </a:xfrm>
          <a:prstGeom prst="rect">
            <a:avLst/>
          </a:prstGeom>
        </p:spPr>
      </p:pic>
      <p:sp>
        <p:nvSpPr>
          <p:cNvPr id="3" name="Text 0"/>
          <p:cNvSpPr/>
          <p:nvPr/>
        </p:nvSpPr>
        <p:spPr>
          <a:xfrm>
            <a:off x="1280160" y="502920"/>
            <a:ext cx="5486400" cy="457200"/>
          </a:xfrm>
          <a:prstGeom prst="rect">
            <a:avLst/>
          </a:prstGeom>
          <a:noFill/>
          <a:ln/>
        </p:spPr>
        <p:txBody>
          <a:bodyPr wrap="square" rtlCol="0" anchor="ctr"/>
          <a:lstStyle/>
          <a:p>
            <a:pPr indent="0" marL="0">
              <a:buNone/>
            </a:pPr>
            <a:r>
              <a:rPr lang="en-US" sz="1300" b="1" spc="250" kern="0" dirty="0">
                <a:solidFill>
                  <a:srgbClr val="A78BFA"/>
                </a:solidFill>
                <a:latin typeface="Arial" pitchFamily="34" charset="0"/>
                <a:ea typeface="Arial" pitchFamily="34" charset="-122"/>
                <a:cs typeface="Arial" pitchFamily="34" charset="-120"/>
              </a:rPr>
              <a:t>JUST TALK TO IT</a:t>
            </a:r>
            <a:endParaRPr lang="en-US" sz="1300" dirty="0"/>
          </a:p>
        </p:txBody>
      </p:sp>
      <p:sp>
        <p:nvSpPr>
          <p:cNvPr id="4" name="Shape 1"/>
          <p:cNvSpPr/>
          <p:nvPr/>
        </p:nvSpPr>
        <p:spPr>
          <a:xfrm>
            <a:off x="548640" y="1417320"/>
            <a:ext cx="11091672" cy="1417320"/>
          </a:xfrm>
          <a:prstGeom prst="rect">
            <a:avLst/>
          </a:prstGeom>
          <a:solidFill>
            <a:srgbClr val="0D1420"/>
          </a:solidFill>
          <a:ln w="9525">
            <a:solidFill>
              <a:srgbClr val="1F2937"/>
            </a:solidFill>
            <a:prstDash val="solid"/>
          </a:ln>
        </p:spPr>
      </p:sp>
      <p:sp>
        <p:nvSpPr>
          <p:cNvPr id="5" name="Text 2"/>
          <p:cNvSpPr/>
          <p:nvPr/>
        </p:nvSpPr>
        <p:spPr>
          <a:xfrm>
            <a:off x="822960" y="1554480"/>
            <a:ext cx="10515600" cy="502920"/>
          </a:xfrm>
          <a:prstGeom prst="rect">
            <a:avLst/>
          </a:prstGeom>
          <a:noFill/>
          <a:ln/>
        </p:spPr>
        <p:txBody>
          <a:bodyPr wrap="square" rtlCol="0" anchor="ctr"/>
          <a:lstStyle/>
          <a:p>
            <a:pPr indent="0" marL="0">
              <a:buNone/>
            </a:pPr>
            <a:r>
              <a:rPr lang="en-US" sz="1300" i="1" dirty="0">
                <a:solidFill>
                  <a:srgbClr val="FFFFFF"/>
                </a:solidFill>
                <a:latin typeface="Arial" pitchFamily="34" charset="0"/>
                <a:ea typeface="Arial" pitchFamily="34" charset="-122"/>
                <a:cs typeface="Arial" pitchFamily="34" charset="-120"/>
              </a:rPr>
              <a:t>“I'm a title agent in Henderson County TX. I have three active orders. Help me track them.”</a:t>
            </a:r>
            <a:endParaRPr lang="en-US" sz="1300" dirty="0"/>
          </a:p>
        </p:txBody>
      </p:sp>
      <p:sp>
        <p:nvSpPr>
          <p:cNvPr id="6" name="Text 3"/>
          <p:cNvSpPr/>
          <p:nvPr/>
        </p:nvSpPr>
        <p:spPr>
          <a:xfrm>
            <a:off x="822960" y="2057400"/>
            <a:ext cx="10515600" cy="685800"/>
          </a:xfrm>
          <a:prstGeom prst="rect">
            <a:avLst/>
          </a:prstGeom>
          <a:noFill/>
          <a:ln/>
        </p:spPr>
        <p:txBody>
          <a:bodyPr wrap="square" rtlCol="0" anchor="ctr"/>
          <a:lstStyle/>
          <a:p>
            <a:pPr indent="0" marL="0">
              <a:lnSpc>
                <a:spcPct val="125000"/>
              </a:lnSpc>
              <a:buNone/>
            </a:pPr>
            <a:r>
              <a:rPr lang="en-US" sz="1150" dirty="0">
                <a:solidFill>
                  <a:srgbClr val="CBD5E1"/>
                </a:solidFill>
                <a:latin typeface="Arial" pitchFamily="34" charset="0"/>
                <a:ea typeface="Arial" pitchFamily="34" charset="-122"/>
                <a:cs typeface="Arial" pitchFamily="34" charset="-120"/>
              </a:rPr>
              <a:t>Alex pulls the files, maps the open items on each order, flags the ones with outstanding documents, and surfaces the deadlines. Done — you are tracking your orders through a conversation you just had.</a:t>
            </a:r>
            <a:endParaRPr lang="en-US" sz="1150" dirty="0"/>
          </a:p>
        </p:txBody>
      </p:sp>
      <p:sp>
        <p:nvSpPr>
          <p:cNvPr id="7" name="Shape 4"/>
          <p:cNvSpPr/>
          <p:nvPr/>
        </p:nvSpPr>
        <p:spPr>
          <a:xfrm>
            <a:off x="548640" y="3017520"/>
            <a:ext cx="11091672" cy="1417320"/>
          </a:xfrm>
          <a:prstGeom prst="rect">
            <a:avLst/>
          </a:prstGeom>
          <a:solidFill>
            <a:srgbClr val="0D1420"/>
          </a:solidFill>
          <a:ln w="9525">
            <a:solidFill>
              <a:srgbClr val="1F2937"/>
            </a:solidFill>
            <a:prstDash val="solid"/>
          </a:ln>
        </p:spPr>
      </p:sp>
      <p:sp>
        <p:nvSpPr>
          <p:cNvPr id="8" name="Text 5"/>
          <p:cNvSpPr/>
          <p:nvPr/>
        </p:nvSpPr>
        <p:spPr>
          <a:xfrm>
            <a:off x="822960" y="3154680"/>
            <a:ext cx="10515600" cy="502920"/>
          </a:xfrm>
          <a:prstGeom prst="rect">
            <a:avLst/>
          </a:prstGeom>
          <a:noFill/>
          <a:ln/>
        </p:spPr>
        <p:txBody>
          <a:bodyPr wrap="square" rtlCol="0" anchor="ctr"/>
          <a:lstStyle/>
          <a:p>
            <a:pPr indent="0" marL="0">
              <a:buNone/>
            </a:pPr>
            <a:r>
              <a:rPr lang="en-US" sz="1300" i="1" dirty="0">
                <a:solidFill>
                  <a:srgbClr val="FFFFFF"/>
                </a:solidFill>
                <a:latin typeface="Arial" pitchFamily="34" charset="0"/>
                <a:ea typeface="Arial" pitchFamily="34" charset="-122"/>
                <a:cs typeface="Arial" pitchFamily="34" charset="-120"/>
              </a:rPr>
              <a:t>“Pull what we have on this property and flag any title issues worth looking at before I open the order.”</a:t>
            </a:r>
            <a:endParaRPr lang="en-US" sz="1300" dirty="0"/>
          </a:p>
        </p:txBody>
      </p:sp>
      <p:sp>
        <p:nvSpPr>
          <p:cNvPr id="9" name="Text 6"/>
          <p:cNvSpPr/>
          <p:nvPr/>
        </p:nvSpPr>
        <p:spPr>
          <a:xfrm>
            <a:off x="822960" y="3657600"/>
            <a:ext cx="10515600" cy="685800"/>
          </a:xfrm>
          <a:prstGeom prst="rect">
            <a:avLst/>
          </a:prstGeom>
          <a:noFill/>
          <a:ln/>
        </p:spPr>
        <p:txBody>
          <a:bodyPr wrap="square" rtlCol="0" anchor="ctr"/>
          <a:lstStyle/>
          <a:p>
            <a:pPr indent="0" marL="0">
              <a:lnSpc>
                <a:spcPct val="125000"/>
              </a:lnSpc>
              <a:buNone/>
            </a:pPr>
            <a:r>
              <a:rPr lang="en-US" sz="1150" dirty="0">
                <a:solidFill>
                  <a:srgbClr val="CBD5E1"/>
                </a:solidFill>
                <a:latin typeface="Arial" pitchFamily="34" charset="0"/>
                <a:ea typeface="Arial" pitchFamily="34" charset="-122"/>
                <a:cs typeface="Arial" pitchFamily="34" charset="-120"/>
              </a:rPr>
              <a:t>Alex searches the SOCIII ledger, surfaces the relevant history from prior searches, and produces a preliminary findings summary — before you've opened a county recorder database.</a:t>
            </a:r>
            <a:endParaRPr lang="en-US" sz="1150" dirty="0"/>
          </a:p>
        </p:txBody>
      </p:sp>
      <p:sp>
        <p:nvSpPr>
          <p:cNvPr id="10" name="Shape 7"/>
          <p:cNvSpPr/>
          <p:nvPr/>
        </p:nvSpPr>
        <p:spPr>
          <a:xfrm>
            <a:off x="548640" y="4617720"/>
            <a:ext cx="11091672" cy="1417320"/>
          </a:xfrm>
          <a:prstGeom prst="rect">
            <a:avLst/>
          </a:prstGeom>
          <a:solidFill>
            <a:srgbClr val="0D1420"/>
          </a:solidFill>
          <a:ln w="9525">
            <a:solidFill>
              <a:srgbClr val="1F2937"/>
            </a:solidFill>
            <a:prstDash val="solid"/>
          </a:ln>
        </p:spPr>
      </p:sp>
      <p:sp>
        <p:nvSpPr>
          <p:cNvPr id="11" name="Text 8"/>
          <p:cNvSpPr/>
          <p:nvPr/>
        </p:nvSpPr>
        <p:spPr>
          <a:xfrm>
            <a:off x="822960" y="4754880"/>
            <a:ext cx="10515600" cy="502920"/>
          </a:xfrm>
          <a:prstGeom prst="rect">
            <a:avLst/>
          </a:prstGeom>
          <a:noFill/>
          <a:ln/>
        </p:spPr>
        <p:txBody>
          <a:bodyPr wrap="square" rtlCol="0" anchor="ctr"/>
          <a:lstStyle/>
          <a:p>
            <a:pPr indent="0" marL="0">
              <a:buNone/>
            </a:pPr>
            <a:r>
              <a:rPr lang="en-US" sz="1300" i="1" dirty="0">
                <a:solidFill>
                  <a:srgbClr val="FFFFFF"/>
                </a:solidFill>
                <a:latin typeface="Arial" pitchFamily="34" charset="0"/>
                <a:ea typeface="Arial" pitchFamily="34" charset="-122"/>
                <a:cs typeface="Arial" pitchFamily="34" charset="-120"/>
              </a:rPr>
              <a:t>“Which of my open orders have deadlines in the next 48 hours?”</a:t>
            </a:r>
            <a:endParaRPr lang="en-US" sz="1300" dirty="0"/>
          </a:p>
        </p:txBody>
      </p:sp>
      <p:sp>
        <p:nvSpPr>
          <p:cNvPr id="12" name="Text 9"/>
          <p:cNvSpPr/>
          <p:nvPr/>
        </p:nvSpPr>
        <p:spPr>
          <a:xfrm>
            <a:off x="822960" y="5257800"/>
            <a:ext cx="10515600" cy="685800"/>
          </a:xfrm>
          <a:prstGeom prst="rect">
            <a:avLst/>
          </a:prstGeom>
          <a:noFill/>
          <a:ln/>
        </p:spPr>
        <p:txBody>
          <a:bodyPr wrap="square" rtlCol="0" anchor="ctr"/>
          <a:lstStyle/>
          <a:p>
            <a:pPr indent="0" marL="0">
              <a:lnSpc>
                <a:spcPct val="125000"/>
              </a:lnSpc>
              <a:buNone/>
            </a:pPr>
            <a:r>
              <a:rPr lang="en-US" sz="1150" dirty="0">
                <a:solidFill>
                  <a:srgbClr val="CBD5E1"/>
                </a:solidFill>
                <a:latin typeface="Arial" pitchFamily="34" charset="0"/>
                <a:ea typeface="Arial" pitchFamily="34" charset="-122"/>
                <a:cs typeface="Arial" pitchFamily="34" charset="-120"/>
              </a:rPr>
              <a:t>Alex checks every active file simultaneously and surfaces the ones at risk — across your entire pipeline, not just the order you happened to have open.</a:t>
            </a:r>
            <a:endParaRPr lang="en-US" sz="1150" dirty="0"/>
          </a:p>
        </p:txBody>
      </p:sp>
      <p:sp>
        <p:nvSpPr>
          <p:cNvPr id="13" name="Text 10"/>
          <p:cNvSpPr/>
          <p:nvPr/>
        </p:nvSpPr>
        <p:spPr>
          <a:xfrm>
            <a:off x="548640" y="6263640"/>
            <a:ext cx="7315200" cy="457200"/>
          </a:xfrm>
          <a:prstGeom prst="rect">
            <a:avLst/>
          </a:prstGeom>
          <a:noFill/>
          <a:ln/>
        </p:spPr>
        <p:txBody>
          <a:bodyPr wrap="square" rtlCol="0" anchor="ctr"/>
          <a:lstStyle/>
          <a:p>
            <a:pPr indent="0" marL="0">
              <a:buNone/>
            </a:pPr>
            <a:r>
              <a:rPr lang="en-US" sz="1300" dirty="0">
                <a:solidFill>
                  <a:srgbClr val="CBD5E1"/>
                </a:solidFill>
                <a:latin typeface="Arial" pitchFamily="34" charset="0"/>
                <a:ea typeface="Arial" pitchFamily="34" charset="-122"/>
                <a:cs typeface="Arial" pitchFamily="34" charset="-120"/>
              </a:rPr>
              <a:t>Pilot deployment with a regional title operation is targeted for Q3 2026. If you run 20 or more orders per month, the conversation takes 30 minutes.</a:t>
            </a:r>
            <a:endParaRPr lang="en-US" sz="1300" dirty="0"/>
          </a:p>
        </p:txBody>
      </p:sp>
      <p:sp>
        <p:nvSpPr>
          <p:cNvPr id="14" name="Text 11"/>
          <p:cNvSpPr/>
          <p:nvPr/>
        </p:nvSpPr>
        <p:spPr>
          <a:xfrm>
            <a:off x="8686800" y="6263640"/>
            <a:ext cx="2926080" cy="457200"/>
          </a:xfrm>
          <a:prstGeom prst="rect">
            <a:avLst/>
          </a:prstGeom>
          <a:noFill/>
          <a:ln/>
        </p:spPr>
        <p:txBody>
          <a:bodyPr wrap="square" rtlCol="0" anchor="ctr"/>
          <a:lstStyle/>
          <a:p>
            <a:pPr algn="r" indent="0" marL="0">
              <a:buNone/>
            </a:pPr>
            <a:r>
              <a:rPr lang="en-US" sz="1600" b="1" dirty="0">
                <a:solidFill>
                  <a:srgbClr val="A78BFA"/>
                </a:solidFill>
                <a:latin typeface="Arial" pitchFamily="34" charset="0"/>
                <a:ea typeface="Arial" pitchFamily="34" charset="-122"/>
                <a:cs typeface="Arial" pitchFamily="34" charset="-120"/>
              </a:rPr>
              <a:t>sean@sociii.ai</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2026-07-29T15:53:48Z</dcterms:created>
  <dcterms:modified xsi:type="dcterms:W3CDTF">2026-07-29T15:53:48Z</dcterms:modified>
</cp:coreProperties>
</file>